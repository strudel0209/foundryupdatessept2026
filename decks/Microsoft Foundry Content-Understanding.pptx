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51A7F-A218-400D-B2AA-FF76126F9EDB}" type="datetimeFigureOut">
              <a:t>11/10/2026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7B249C-7B18-4306-9969-358784E20A6F}" type="slidenum">
              <a:t>‹#›</a:t>
            </a:fld>
            <a:endParaRPr lang="en-US"/>
          </a:p>
        </p:txBody>
      </p:sp>
    </p:spTree>
    <p:extLst>
      <p:ext uri="{BB962C8B-B14F-4D97-AF65-F5344CB8AC3E}">
        <p14:creationId xmlns:p14="http://schemas.microsoft.com/office/powerpoint/2010/main" val="3091364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session covers Azure Content Understanding: what it does, how the pipeline is built, and where it sits against the two things customers most often confuse it with.</a:t>
            </a:r>
          </a:p>
          <a:p>
            <a:r>
              <a:t>Three points of context before we start. First, the naming. Microsoft Learn does not use the label "version 2" anywhere. It uses API version strings. The names "1.0" and "2.0" appear only in the Foundry blog, so this deck states the API version wherever status matters, and I will be explicit about what is generally available and what is not.</a:t>
            </a:r>
          </a:p>
          <a:p>
            <a:r>
              <a:t>Second, the status split. API 2025-11-01 is generally available and is the version for production. API 2026-06-01-preview carries the newest capabilities and has no service level agreement. That distinction runs through the whole deck.</a:t>
            </a:r>
          </a:p>
          <a:p>
            <a:r>
              <a:t>Third, the branding. The service is now documented as Azure Content Understanding in Foundry Tools, and Azure Document Intelligence is now presented as part of it. That is a portfolio change, not a technical merge, and slide 8 explains exactly what it does and does not mean.</a:t>
            </a:r>
          </a:p>
          <a:p>
            <a:r>
              <a:t>Likely question: does this replace Document Intelligence? No. Microsoft states no migration is required. Slide 8.</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 is deliberate. Sections one and two describe the service as it is: what it does, and how a request actually flows through it. Those two sections are the foundation, and the architecture slide in section two is the one to spend time on.</a:t>
            </a:r>
          </a:p>
          <a:p>
            <a:r>
              <a:t>Section three answers the question most people arrive with: what changed this year. The honest answer has two halves, because some changes landed in the generally available API and some are preview only, and mixing them up leads to production commitments that cannot be met.</a:t>
            </a:r>
          </a:p>
          <a:p>
            <a:r>
              <a:t>Sections four and five are the decision material. The two comparison slides exist because these are the questions that come up in almost every architecture conversation: how does this differ from Document Intelligence, and how does it differ from simply calling an optical character recognition model.</a:t>
            </a:r>
          </a:p>
          <a:p>
            <a:r>
              <a:t>If you have limited time, slides 5, 8 and 9 carry the session. Slide 5 is the architecture, and slides 8 and 9 are the comparisons.</a:t>
            </a:r>
          </a:p>
          <a:p>
            <a:r>
              <a:t>Likely question: is there a sample repository? Yes, slide 10 names it, with a caveat about how current it 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the service exists to make unstructured content predictable enough to act on automatically.</a:t>
            </a:r>
          </a:p>
          <a:p>
            <a:r>
              <a:t>Two terms need defining before we go further, because the rest of the deck depends on them. An analyzer is a named, reusable configuration object. It holds the extraction settings, the field schema you defined, and which models to use. You create it once and reuse it across every file of that type. Grounding means that for each value returned, the service also returns the region of the source content it came from, so a reviewer can see the evidence rather than trusting the answer.</a:t>
            </a:r>
          </a:p>
          <a:p>
            <a:r>
              <a:t>The confidence score is the commercially interesting part. Microsoft describes the goal as straight-through processing with confidence scores: set a threshold, pass everything above it automatically, route the rest to a person. That threshold is where the saving comes from, and it is worth measuring on real documents before committing to a number.</a:t>
            </a:r>
          </a:p>
          <a:p>
            <a:r>
              <a:t>Note the honest limit: confidence scores and grounding are supported for document files only, not for image, audio or video.</a:t>
            </a:r>
          </a:p>
          <a:p>
            <a:r>
              <a:t>Likely question: do we need to train anything first? No. Field descriptions in plain language are enough to start, and labelled examples are optional afterwards.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this is one tool inside a Foundry resource, and the same analyzer handles all four content types rather than needing a separate service for each.</a:t>
            </a:r>
          </a:p>
          <a:p>
            <a:r>
              <a:t>The Document Intelligence box on the right is the part that causes confusion, so state it precisely. Microsoft has brought Document Intelligence under the Content Understanding brand, and the Azure product page now titles it accordingly. But the documentation is explicit that if you are running Document Intelligence in production, your APIs, endpoints, software development kits and billing are unchanged, and no migration is required. The merge is at the portfolio and branding level. Technically they remain two services with two APIs, and slide 8 covers how to choose between them.</a:t>
            </a:r>
          </a:p>
          <a:p>
            <a:r>
              <a:t>On outputs: the service returns both Markdown and typed JSON, and which one matters depends on the scenario. Retrieval and search pipelines consume the Markdown. Straight-through processing consumes the JSON fields, because those carry the confidence score and the source region.</a:t>
            </a:r>
          </a:p>
          <a:p>
            <a:r>
              <a:t>Likely question: does it need its own resource? No. It is provisioned as part of a Microsoft Foundry resource, which also supplies identity and regional placement.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there are two distinct stages doing very different work, and most misunderstandings come from collapsing them into one.</a:t>
            </a:r>
          </a:p>
          <a:p>
            <a:r>
              <a:t>Walk the numbers. Step one, content extraction: optical character recognition reads printed and handwritten text, tables, selection marks such as checkboxes, barcodes and formulas, and transcribes speech. This stage is deterministic and needs no language model. Step two, segmentation: a long file is split into sections, and each can be routed to a different analyzer, so a mixed batch is classified and split in one call. Step three, field extraction produces your schema, and this is the stage that uses a language model. Step four, the output.</a:t>
            </a:r>
          </a:p>
          <a:p>
            <a:r>
              <a:t>The contextualization layer beneath is worth naming explicitly because it is a separate line on your bill. It prepares the context sent to the model, normalises values such as dates into canonical form, and computes both the confidence score and the source region.</a:t>
            </a:r>
          </a:p>
          <a:p>
            <a:r>
              <a:t>The models are yours. The analyzer names a model and the resource maps it to a deployment you own, which is also why provisioned throughput works.</a:t>
            </a:r>
          </a:p>
          <a:p>
            <a:r>
              <a:t>Likely question: can we use it purely for optical character recognition? Yes, and slide 9 covers when that is the right choice.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the synchronous path is a convenience for a narrow case, not a faster version of the service.</a:t>
            </a:r>
          </a:p>
          <a:p>
            <a:r>
              <a:t>Walking the asynchronous flow. Your application posts to the analyze operation, referencing the file by URL or sending bytes directly. The service returns 202 Accepted with an operation location header. Poll that location until the status reads Succeeded, then read the result. One detail worth knowing: you can explicitly delete the result once retrieved, which matters when the content is sensitive.</a:t>
            </a:r>
          </a:p>
          <a:p>
            <a:r>
              <a:t>The synchronous path, in preview, removes the polling. The reason to care is not speed: the content is processed in memory rather than stored by the service, which is sometimes the deciding factor in a privacy review. The trade-offs are real — documents only, no custom field schema, ten megabytes, the first five pages, and roughly fifty per cent more per page.</a:t>
            </a:r>
          </a:p>
          <a:p>
            <a:r>
              <a:t>So the rule is simple. If you need your own fields, you are on the asynchronous path regardless.</a:t>
            </a:r>
          </a:p>
          <a:p>
            <a:r>
              <a:t>Likely question: how long does asynchronous processing take? Not documented as a guaranteed figure. Measure it on your own documents, and note that the Azure AI Search integration times out at five minutes.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the two columns carry different weight, and conflating them is how teams end up committing to something they cannot run in production.</a:t>
            </a:r>
          </a:p>
          <a:p>
            <a:r>
              <a:t>The left column is generally available today — improvements you inherit without changing your code. The token reduction is worth stating plainly, because it lowers the bill on your own model deployment rather than the service meter. The caution underneath is equally practical: the smaller model variants lose confidence quality, so if your threshold depends on that score, do not economise there.</a:t>
            </a:r>
          </a:p>
          <a:p>
            <a:r>
              <a:t>The right column is preview. Agentic mode is the headline and is genuinely new capability: it reasons over a document, performs calculations, validates against conditions. Two caveats belong in any plan. It is explicitly not a drop-in replacement for the retired pro mode — one file per request, no extracted fields. And it needs around four hundred thousand tokens per minute of capacity per job.</a:t>
            </a:r>
          </a:p>
          <a:p>
            <a:r>
              <a:t>Likely question: when does the preview become generally available? Not published. Plan on the generally available API and evaluate the preview alongside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is in the dark band at the top. Standard extraction locates a value that is written somewhere on the page. Agentic mode is for answers that are not written anywhere and have to be constructed — a total that needs reconciling, a condition that needs checking, a relationship between a contract and its amendment.</a:t>
            </a:r>
          </a:p>
          <a:p>
            <a:r>
              <a:t>Walking the flow. One input file goes in, and it may legitimately hold several related documents: Microsoft's own example is a contract with its appendix and the governing rules. The service then applies its highest reasoning effort across four capabilities — reading across separated parts, calculating derived values, validating against conditions you wrote into the field descriptions, and interpreting tables and figures as evidence. What comes out is the same typed schema a standard analyzer returns.</a:t>
            </a:r>
          </a:p>
          <a:p>
            <a:r>
              <a:t>Two honest cautions. The cost is real: the advanced billing rate, more tokens, longer latency, and roughly four hundred thousand tokens a minute per job — a provisioning decision, not a detail. And Microsoft states plainly that this is not a replacement for human review.</a:t>
            </a:r>
          </a:p>
          <a:p>
            <a:r>
              <a:t>Likely question: should we use it everywhere? No — for straightforward field extraction the standard analyzer is cheaper and faster.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what changed is not how you correct an analyzer, but what it keeps afterwards.</a:t>
            </a:r>
          </a:p>
          <a:p>
            <a:r>
              <a:t>The workflow across the top is identical in both API versions. Upload a document the analyzer got wrong. Auto label pre-fills the current analyzer's answers, so you edit rather than start from nothing. Correct what is wrong. Rebuild. On volume: one sample when templates barely vary, one per format when they do.</a:t>
            </a:r>
          </a:p>
          <a:p>
            <a:r>
              <a:t>The table underneath is the preview change, and it matters for two different reasons. The privacy reason is the obvious one — the built analyzer neither contains nor needs your labelled documents at analysis time, so training data stops travelling with the artefact. Those documents stay in your own storage account, for design purposes. The second reason is cost: distilling the patterns rather than carrying the documents means fewer tokens on every analysis afterwards, on your own model deployment.</a:t>
            </a:r>
          </a:p>
          <a:p>
            <a:r>
              <a:t>One limit for expectations: labelled samples teach layout and terminology but cannot fix character recognition errors. If a letter is misread as a digit, labelling it correctly will not help.</a:t>
            </a:r>
          </a:p>
          <a:p>
            <a:r>
              <a:t>Likely question: does this replace agentic mode? No — they solve different problems, and agentic mode cannot use labelled samples at all.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nothing has been retired, and no migration is required. Microsoft states that explicitly for anyone already running Document Intelligence in production — the APIs, endpoints, software development kits and billing are unchanged.</a:t>
            </a:r>
          </a:p>
          <a:p>
            <a:r>
              <a:t>What has changed is the packaging. Document Intelligence is now presented as part of Content Understanding, and the Azure product page is titled that way. Read that as a portfolio decision. Technically these remain two services with two APIs, and the guidance in the lower half is Microsoft's own, published as a decision table.</a:t>
            </a:r>
          </a:p>
          <a:p>
            <a:r>
              <a:t>Two rows deserve emphasis. First, inference: Content Understanding can return a value not written on the page, such as deriving a contract end date from a start date and a term. Document Intelligence cannot, by design. That is a governance difference as much as a capability one, because an inferred value needs a different review posture. Second, containers: if the requirement is on-premises or disconnected, Document Intelligence is the only option today.</a:t>
            </a:r>
          </a:p>
          <a:p>
            <a:r>
              <a:t>One caveat to carry: the guidance page was last updated in June 2026 and predates the current preview, so it compares the generally available versions.</a:t>
            </a:r>
          </a:p>
          <a:p>
            <a:r>
              <a:t>Likely question: will they eventually merge technically? Not announced. Plan on two services.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and it is the honest framing: these two things are not competing products, so a feature-by-feature scoreboard would mislead. One is a model that converts a file to text. The other is a configured pipeline that contains such a step.</a:t>
            </a:r>
          </a:p>
          <a:p>
            <a:r>
              <a:t>An important caveat, and please say it rather than imply it: Microsoft publishes no comparison between Content Understanding and Mistral OCR. What is verifiable is that Mistral optical character recognition models sit in the Foundry model catalog as models sold directly by Azure, so both are procurable in the same place. Everything in the table is a structural difference drawn from each product's own documentation, not a Microsoft ranking.</a:t>
            </a:r>
          </a:p>
          <a:p>
            <a:r>
              <a:t>The band in the middle resolves most of the confusion. Content Understanding has optical character recognition inside it: its read and layout analyzers require no language model, and Microsoft recommends them over Document Intelligence for plain reading. So the decision is not which vendor reads text better.</a:t>
            </a:r>
          </a:p>
          <a:p>
            <a:r>
              <a:t>Likely question: can we start with reading only and add fields later? Yes — the same analyzer object gains a field schema without changing the calling pattern.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takeaway: the cost model has three parts and only two of them appear on this service's bill, which is the single most common surprise in a first invoice.</a:t>
            </a:r>
          </a:p>
          <a:p>
            <a:r>
              <a:t>Read the billing rows carefully. Content extraction is metered per thousand pages, and the rate depends on the work actually performed rather than the analyzer you asked for — a digital document needing no optical character recognition is charged at the lowest tier even if you called a layout analyzer. Contextualization is metered per million tokens. The third part, model and embedding tokens, does not appear here at all: it lands on your own Foundry deployment.</a:t>
            </a:r>
          </a:p>
          <a:p>
            <a:r>
              <a:t>On the constraints, two are easy to miss when designing. Confidence and grounding are supported for documents only, so a straight-through design over images or audio has no score to threshold on. And regional availability is twelve regions at the time of writing, with Microsoft's own pages inconsistent on the number, so confirm it against the region page rather than any summary.</a:t>
            </a:r>
          </a:p>
          <a:p>
            <a:r>
              <a:t>Likely question: is there a published reference architecture? Yes, the multi-modal content processing pattern in the Azure Architecture Center, with a matching solution accelerator.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FOUNDRY TOOLS  ·  TECHNICAL DEEP DIVE</a:t>
            </a:r>
          </a:p>
        </p:txBody>
      </p:sp>
      <p:sp>
        <p:nvSpPr>
          <p:cNvPr id="5" name="TextBox 4"/>
          <p:cNvSpPr txBox="1"/>
          <p:nvPr/>
        </p:nvSpPr>
        <p:spPr>
          <a:xfrm>
            <a:off x="914400" y="2203704"/>
            <a:ext cx="10241280" cy="658368"/>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Segoe UI"/>
                <a:cs typeface="Segoe UI"/>
              </a:rPr>
              <a:t>Azure Content Understanding</a:t>
            </a:r>
          </a:p>
        </p:txBody>
      </p:sp>
      <p:sp>
        <p:nvSpPr>
          <p:cNvPr id="6" name="TextBox 5"/>
          <p:cNvSpPr txBox="1"/>
          <p:nvPr/>
        </p:nvSpPr>
        <p:spPr>
          <a:xfrm>
            <a:off x="914400" y="2962656"/>
            <a:ext cx="969264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Turning documents, images, audio and video into structured data —</a:t>
            </a:r>
          </a:p>
          <a:p>
            <a:pPr algn="l">
              <a:lnSpc>
                <a:spcPct val="132000"/>
              </a:lnSpc>
            </a:pPr>
            <a:r>
              <a:rPr sz="1450" b="0" i="0" dirty="0">
                <a:solidFill>
                  <a:srgbClr val="B9C2D6"/>
                </a:solidFill>
                <a:latin typeface="Segoe UI"/>
                <a:cs typeface="Segoe UI"/>
              </a:rPr>
              <a:t>what the service does, how it is built, and how it differs from the tools it is confused with</a:t>
            </a:r>
          </a:p>
        </p:txBody>
      </p:sp>
      <p:cxnSp>
        <p:nvCxnSpPr>
          <p:cNvPr id="7" name="Connector 6"/>
          <p:cNvCxnSpPr/>
          <p:nvPr/>
        </p:nvCxnSpPr>
        <p:spPr>
          <a:xfrm>
            <a:off x="914400" y="3895344"/>
            <a:ext cx="2011680" cy="0"/>
          </a:xfrm>
          <a:prstGeom prst="line">
            <a:avLst/>
          </a:prstGeom>
          <a:ln w="25400">
            <a:solidFill>
              <a:srgbClr val="00B39F"/>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developers,</a:t>
            </a:r>
          </a:p>
          <a:p>
            <a:pPr algn="l">
              <a:lnSpc>
                <a:spcPct val="128000"/>
              </a:lnSpc>
            </a:pPr>
            <a:r>
              <a:rPr sz="950" b="0" i="0" dirty="0">
                <a:solidFill>
                  <a:srgbClr val="B9C2D6"/>
                </a:solidFill>
                <a:latin typeface="Segoe UI"/>
                <a:cs typeface="Segoe UI"/>
              </a:rPr>
              <a:t>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API 2025-11-01 generally available</a:t>
            </a:r>
          </a:p>
          <a:p>
            <a:pPr algn="l">
              <a:lnSpc>
                <a:spcPct val="128000"/>
              </a:lnSpc>
            </a:pPr>
            <a:r>
              <a:rPr sz="950" b="0" i="0" dirty="0">
                <a:solidFill>
                  <a:srgbClr val="B9C2D6"/>
                </a:solidFill>
                <a:latin typeface="Segoe UI"/>
                <a:cs typeface="Segoe UI"/>
              </a:rPr>
              <a:t>API 2026-06-01-preview in preview</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30 September 2026</a:t>
            </a:r>
          </a:p>
          <a:p>
            <a:pPr algn="l">
              <a:lnSpc>
                <a:spcPct val="128000"/>
              </a:lnSpc>
            </a:pPr>
            <a:r>
              <a:rPr sz="950" b="0" i="0" dirty="0">
                <a:solidFill>
                  <a:srgbClr val="B9C2D6"/>
                </a:solidFill>
                <a:latin typeface="Segoe UI"/>
                <a:cs typeface="Segoe UI"/>
              </a:rPr>
              <a:t>Microsoft Learn and the Foundry blog</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September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AGENDA</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What we will cover</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What the service does, how the pipeline is built, and how to choose between it and its neighbours</a:t>
            </a:r>
          </a:p>
        </p:txBody>
      </p:sp>
      <p:sp>
        <p:nvSpPr>
          <p:cNvPr id="5" name="TextBox 4"/>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2</a:t>
            </a:r>
          </a:p>
        </p:txBody>
      </p:sp>
      <p:sp>
        <p:nvSpPr>
          <p:cNvPr id="6" name="Rectangle 5"/>
          <p:cNvSpPr/>
          <p:nvPr/>
        </p:nvSpPr>
        <p:spPr>
          <a:xfrm>
            <a:off x="457200"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7" name="Rectangle 6"/>
          <p:cNvSpPr/>
          <p:nvPr/>
        </p:nvSpPr>
        <p:spPr>
          <a:xfrm>
            <a:off x="457200" y="1554480"/>
            <a:ext cx="2148840" cy="41148"/>
          </a:xfrm>
          <a:prstGeom prst="rect">
            <a:avLst/>
          </a:prstGeom>
          <a:solidFill>
            <a:srgbClr val="00B39F"/>
          </a:solidFill>
          <a:ln>
            <a:noFill/>
          </a:ln>
          <a:effectLst/>
        </p:spPr>
        <p:txBody>
          <a:bodyPr wrap="square" rtlCol="0" anchor="ctr"/>
          <a:lstStyle/>
          <a:p>
            <a:endParaRPr/>
          </a:p>
        </p:txBody>
      </p:sp>
      <p:sp>
        <p:nvSpPr>
          <p:cNvPr id="8" name="TextBox 7"/>
          <p:cNvSpPr txBox="1"/>
          <p:nvPr/>
        </p:nvSpPr>
        <p:spPr>
          <a:xfrm>
            <a:off x="640080"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01</a:t>
            </a:r>
          </a:p>
        </p:txBody>
      </p:sp>
      <p:sp>
        <p:nvSpPr>
          <p:cNvPr id="9" name="TextBox 8"/>
          <p:cNvSpPr txBox="1"/>
          <p:nvPr/>
        </p:nvSpPr>
        <p:spPr>
          <a:xfrm>
            <a:off x="640080"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What it is</a:t>
            </a:r>
          </a:p>
        </p:txBody>
      </p:sp>
      <p:sp>
        <p:nvSpPr>
          <p:cNvPr id="10" name="TextBox 9"/>
          <p:cNvSpPr txBox="1"/>
          <p:nvPr/>
        </p:nvSpPr>
        <p:spPr>
          <a:xfrm>
            <a:off x="640080"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The problem it solves, where it sits</a:t>
            </a:r>
          </a:p>
          <a:p>
            <a:pPr algn="l">
              <a:lnSpc>
                <a:spcPct val="126000"/>
              </a:lnSpc>
            </a:pPr>
            <a:r>
              <a:rPr sz="850" b="0" i="0" dirty="0">
                <a:solidFill>
                  <a:srgbClr val="44495B"/>
                </a:solidFill>
                <a:latin typeface="Segoe UI"/>
                <a:cs typeface="Segoe UI"/>
              </a:rPr>
              <a:t>in the platform, and the four</a:t>
            </a:r>
          </a:p>
          <a:p>
            <a:pPr algn="l">
              <a:lnSpc>
                <a:spcPct val="126000"/>
              </a:lnSpc>
            </a:pPr>
            <a:r>
              <a:rPr sz="850" b="0" i="0" dirty="0">
                <a:solidFill>
                  <a:srgbClr val="44495B"/>
                </a:solidFill>
                <a:latin typeface="Segoe UI"/>
                <a:cs typeface="Segoe UI"/>
              </a:rPr>
              <a:t>content types it accepts</a:t>
            </a:r>
          </a:p>
        </p:txBody>
      </p:sp>
      <p:sp>
        <p:nvSpPr>
          <p:cNvPr id="11" name="Rectangle 10"/>
          <p:cNvSpPr/>
          <p:nvPr/>
        </p:nvSpPr>
        <p:spPr>
          <a:xfrm>
            <a:off x="640080"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3–4</a:t>
            </a:r>
          </a:p>
        </p:txBody>
      </p:sp>
      <p:sp>
        <p:nvSpPr>
          <p:cNvPr id="12" name="Rectangle 11"/>
          <p:cNvSpPr/>
          <p:nvPr/>
        </p:nvSpPr>
        <p:spPr>
          <a:xfrm>
            <a:off x="2724912"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2724912" y="1554480"/>
            <a:ext cx="2148840" cy="41148"/>
          </a:xfrm>
          <a:prstGeom prst="rect">
            <a:avLst/>
          </a:prstGeom>
          <a:solidFill>
            <a:srgbClr val="00B39F"/>
          </a:solidFill>
          <a:ln>
            <a:noFill/>
          </a:ln>
          <a:effectLst/>
        </p:spPr>
        <p:txBody>
          <a:bodyPr wrap="square" rtlCol="0" anchor="ctr"/>
          <a:lstStyle/>
          <a:p>
            <a:endParaRPr/>
          </a:p>
        </p:txBody>
      </p:sp>
      <p:sp>
        <p:nvSpPr>
          <p:cNvPr id="14" name="TextBox 13"/>
          <p:cNvSpPr txBox="1"/>
          <p:nvPr/>
        </p:nvSpPr>
        <p:spPr>
          <a:xfrm>
            <a:off x="2907792"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02</a:t>
            </a:r>
          </a:p>
        </p:txBody>
      </p:sp>
      <p:sp>
        <p:nvSpPr>
          <p:cNvPr id="15" name="TextBox 14"/>
          <p:cNvSpPr txBox="1"/>
          <p:nvPr/>
        </p:nvSpPr>
        <p:spPr>
          <a:xfrm>
            <a:off x="2907792"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How it works</a:t>
            </a:r>
          </a:p>
        </p:txBody>
      </p:sp>
      <p:sp>
        <p:nvSpPr>
          <p:cNvPr id="16" name="TextBox 15"/>
          <p:cNvSpPr txBox="1"/>
          <p:nvPr/>
        </p:nvSpPr>
        <p:spPr>
          <a:xfrm>
            <a:off x="2907792"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The analyzer pipeline end to end,</a:t>
            </a:r>
          </a:p>
          <a:p>
            <a:pPr algn="l">
              <a:lnSpc>
                <a:spcPct val="126000"/>
              </a:lnSpc>
            </a:pPr>
            <a:r>
              <a:rPr sz="850" b="0" i="0" dirty="0">
                <a:solidFill>
                  <a:srgbClr val="44495B"/>
                </a:solidFill>
                <a:latin typeface="Segoe UI"/>
                <a:cs typeface="Segoe UI"/>
              </a:rPr>
              <a:t>and the request flow for both</a:t>
            </a:r>
          </a:p>
          <a:p>
            <a:pPr algn="l">
              <a:lnSpc>
                <a:spcPct val="126000"/>
              </a:lnSpc>
            </a:pPr>
            <a:r>
              <a:rPr sz="850" b="0" i="0" dirty="0">
                <a:solidFill>
                  <a:srgbClr val="44495B"/>
                </a:solidFill>
                <a:latin typeface="Segoe UI"/>
                <a:cs typeface="Segoe UI"/>
              </a:rPr>
              <a:t>processing modes</a:t>
            </a:r>
          </a:p>
        </p:txBody>
      </p:sp>
      <p:sp>
        <p:nvSpPr>
          <p:cNvPr id="17" name="Rectangle 16"/>
          <p:cNvSpPr/>
          <p:nvPr/>
        </p:nvSpPr>
        <p:spPr>
          <a:xfrm>
            <a:off x="2907792"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5–6</a:t>
            </a:r>
          </a:p>
        </p:txBody>
      </p:sp>
      <p:sp>
        <p:nvSpPr>
          <p:cNvPr id="18" name="Rectangle 17"/>
          <p:cNvSpPr/>
          <p:nvPr/>
        </p:nvSpPr>
        <p:spPr>
          <a:xfrm>
            <a:off x="4992624"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4992624" y="1554480"/>
            <a:ext cx="2148840" cy="41148"/>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5175504"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03</a:t>
            </a:r>
          </a:p>
        </p:txBody>
      </p:sp>
      <p:sp>
        <p:nvSpPr>
          <p:cNvPr id="21" name="TextBox 20"/>
          <p:cNvSpPr txBox="1"/>
          <p:nvPr/>
        </p:nvSpPr>
        <p:spPr>
          <a:xfrm>
            <a:off x="5175504"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What changed in 2026</a:t>
            </a:r>
          </a:p>
        </p:txBody>
      </p:sp>
      <p:sp>
        <p:nvSpPr>
          <p:cNvPr id="22" name="TextBox 21"/>
          <p:cNvSpPr txBox="1"/>
          <p:nvPr/>
        </p:nvSpPr>
        <p:spPr>
          <a:xfrm>
            <a:off x="5175504"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The generally available refresh, the</a:t>
            </a:r>
          </a:p>
          <a:p>
            <a:pPr algn="l">
              <a:lnSpc>
                <a:spcPct val="126000"/>
              </a:lnSpc>
            </a:pPr>
            <a:r>
              <a:rPr sz="850" b="0" i="0" dirty="0">
                <a:solidFill>
                  <a:srgbClr val="44495B"/>
                </a:solidFill>
                <a:latin typeface="Segoe UI"/>
                <a:cs typeface="Segoe UI"/>
              </a:rPr>
              <a:t>preview wave, and the two preview</a:t>
            </a:r>
          </a:p>
          <a:p>
            <a:pPr algn="l">
              <a:lnSpc>
                <a:spcPct val="126000"/>
              </a:lnSpc>
            </a:pPr>
            <a:r>
              <a:rPr sz="850" b="0" i="0" dirty="0">
                <a:solidFill>
                  <a:srgbClr val="44495B"/>
                </a:solidFill>
                <a:latin typeface="Segoe UI"/>
                <a:cs typeface="Segoe UI"/>
              </a:rPr>
              <a:t>capabilities that change what is possible</a:t>
            </a:r>
          </a:p>
        </p:txBody>
      </p:sp>
      <p:sp>
        <p:nvSpPr>
          <p:cNvPr id="23" name="Rectangle 22"/>
          <p:cNvSpPr/>
          <p:nvPr/>
        </p:nvSpPr>
        <p:spPr>
          <a:xfrm>
            <a:off x="5175504"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7–9</a:t>
            </a:r>
          </a:p>
        </p:txBody>
      </p:sp>
      <p:sp>
        <p:nvSpPr>
          <p:cNvPr id="24" name="Rectangle 23"/>
          <p:cNvSpPr/>
          <p:nvPr/>
        </p:nvSpPr>
        <p:spPr>
          <a:xfrm>
            <a:off x="7260336"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25" name="Rectangle 24"/>
          <p:cNvSpPr/>
          <p:nvPr/>
        </p:nvSpPr>
        <p:spPr>
          <a:xfrm>
            <a:off x="7260336" y="1554480"/>
            <a:ext cx="2148840" cy="41148"/>
          </a:xfrm>
          <a:prstGeom prst="rect">
            <a:avLst/>
          </a:prstGeom>
          <a:solidFill>
            <a:srgbClr val="00B39F"/>
          </a:solidFill>
          <a:ln>
            <a:noFill/>
          </a:ln>
          <a:effectLst/>
        </p:spPr>
        <p:txBody>
          <a:bodyPr wrap="square" rtlCol="0" anchor="ctr"/>
          <a:lstStyle/>
          <a:p>
            <a:endParaRPr/>
          </a:p>
        </p:txBody>
      </p:sp>
      <p:sp>
        <p:nvSpPr>
          <p:cNvPr id="26" name="TextBox 25"/>
          <p:cNvSpPr txBox="1"/>
          <p:nvPr/>
        </p:nvSpPr>
        <p:spPr>
          <a:xfrm>
            <a:off x="7443215"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04</a:t>
            </a:r>
          </a:p>
        </p:txBody>
      </p:sp>
      <p:sp>
        <p:nvSpPr>
          <p:cNvPr id="27" name="TextBox 26"/>
          <p:cNvSpPr txBox="1"/>
          <p:nvPr/>
        </p:nvSpPr>
        <p:spPr>
          <a:xfrm>
            <a:off x="7443215"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Choosing between tools</a:t>
            </a:r>
          </a:p>
        </p:txBody>
      </p:sp>
      <p:sp>
        <p:nvSpPr>
          <p:cNvPr id="28" name="TextBox 27"/>
          <p:cNvSpPr txBox="1"/>
          <p:nvPr/>
        </p:nvSpPr>
        <p:spPr>
          <a:xfrm>
            <a:off x="7443215"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Compared with Azure Document</a:t>
            </a:r>
          </a:p>
          <a:p>
            <a:pPr algn="l">
              <a:lnSpc>
                <a:spcPct val="126000"/>
              </a:lnSpc>
            </a:pPr>
            <a:r>
              <a:rPr sz="850" b="0" i="0" dirty="0">
                <a:solidFill>
                  <a:srgbClr val="44495B"/>
                </a:solidFill>
                <a:latin typeface="Segoe UI"/>
                <a:cs typeface="Segoe UI"/>
              </a:rPr>
              <a:t>Intelligence, and compared with</a:t>
            </a:r>
          </a:p>
          <a:p>
            <a:pPr algn="l">
              <a:lnSpc>
                <a:spcPct val="126000"/>
              </a:lnSpc>
            </a:pPr>
            <a:r>
              <a:rPr sz="850" b="0" i="0" dirty="0">
                <a:solidFill>
                  <a:srgbClr val="44495B"/>
                </a:solidFill>
                <a:latin typeface="Segoe UI"/>
                <a:cs typeface="Segoe UI"/>
              </a:rPr>
              <a:t>a standalone OCR model</a:t>
            </a:r>
          </a:p>
        </p:txBody>
      </p:sp>
      <p:sp>
        <p:nvSpPr>
          <p:cNvPr id="29" name="Rectangle 28"/>
          <p:cNvSpPr/>
          <p:nvPr/>
        </p:nvSpPr>
        <p:spPr>
          <a:xfrm>
            <a:off x="7443215"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8–9</a:t>
            </a:r>
          </a:p>
        </p:txBody>
      </p:sp>
      <p:sp>
        <p:nvSpPr>
          <p:cNvPr id="30" name="Rectangle 29"/>
          <p:cNvSpPr/>
          <p:nvPr/>
        </p:nvSpPr>
        <p:spPr>
          <a:xfrm>
            <a:off x="9528048"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31" name="Rectangle 30"/>
          <p:cNvSpPr/>
          <p:nvPr/>
        </p:nvSpPr>
        <p:spPr>
          <a:xfrm>
            <a:off x="9528048" y="1554480"/>
            <a:ext cx="2148840" cy="41148"/>
          </a:xfrm>
          <a:prstGeom prst="rect">
            <a:avLst/>
          </a:prstGeom>
          <a:solidFill>
            <a:srgbClr val="00B39F"/>
          </a:solidFill>
          <a:ln>
            <a:noFill/>
          </a:ln>
          <a:effectLst/>
        </p:spPr>
        <p:txBody>
          <a:bodyPr wrap="square" rtlCol="0" anchor="ctr"/>
          <a:lstStyle/>
          <a:p>
            <a:endParaRPr/>
          </a:p>
        </p:txBody>
      </p:sp>
      <p:sp>
        <p:nvSpPr>
          <p:cNvPr id="32" name="TextBox 31"/>
          <p:cNvSpPr txBox="1"/>
          <p:nvPr/>
        </p:nvSpPr>
        <p:spPr>
          <a:xfrm>
            <a:off x="9710928"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05</a:t>
            </a:r>
          </a:p>
        </p:txBody>
      </p:sp>
      <p:sp>
        <p:nvSpPr>
          <p:cNvPr id="33" name="TextBox 32"/>
          <p:cNvSpPr txBox="1"/>
          <p:nvPr/>
        </p:nvSpPr>
        <p:spPr>
          <a:xfrm>
            <a:off x="9710928"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Running it</a:t>
            </a:r>
          </a:p>
        </p:txBody>
      </p:sp>
      <p:sp>
        <p:nvSpPr>
          <p:cNvPr id="34" name="TextBox 33"/>
          <p:cNvSpPr txBox="1"/>
          <p:nvPr/>
        </p:nvSpPr>
        <p:spPr>
          <a:xfrm>
            <a:off x="9710928"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Limits, the three-part cost model,</a:t>
            </a:r>
          </a:p>
          <a:p>
            <a:pPr algn="l">
              <a:lnSpc>
                <a:spcPct val="126000"/>
              </a:lnSpc>
            </a:pPr>
            <a:r>
              <a:rPr sz="850" b="0" i="0" dirty="0">
                <a:solidFill>
                  <a:srgbClr val="44495B"/>
                </a:solidFill>
                <a:latin typeface="Segoe UI"/>
                <a:cs typeface="Segoe UI"/>
              </a:rPr>
              <a:t>regional availability, and the</a:t>
            </a:r>
          </a:p>
          <a:p>
            <a:pPr algn="l">
              <a:lnSpc>
                <a:spcPct val="126000"/>
              </a:lnSpc>
            </a:pPr>
            <a:r>
              <a:rPr sz="850" b="0" i="0" dirty="0">
                <a:solidFill>
                  <a:srgbClr val="44495B"/>
                </a:solidFill>
                <a:latin typeface="Segoe UI"/>
                <a:cs typeface="Segoe UI"/>
              </a:rPr>
              <a:t>sources behind this deck</a:t>
            </a:r>
          </a:p>
        </p:txBody>
      </p:sp>
      <p:sp>
        <p:nvSpPr>
          <p:cNvPr id="35" name="Rectangle 34"/>
          <p:cNvSpPr/>
          <p:nvPr/>
        </p:nvSpPr>
        <p:spPr>
          <a:xfrm>
            <a:off x="9710928"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10</a:t>
            </a:r>
          </a:p>
        </p:txBody>
      </p:sp>
      <p:sp>
        <p:nvSpPr>
          <p:cNvPr id="36" name="Rectangle 35"/>
          <p:cNvSpPr/>
          <p:nvPr/>
        </p:nvSpPr>
        <p:spPr>
          <a:xfrm>
            <a:off x="457200" y="4334256"/>
            <a:ext cx="11277295" cy="676656"/>
          </a:xfrm>
          <a:prstGeom prst="rect">
            <a:avLst/>
          </a:prstGeom>
          <a:solidFill>
            <a:srgbClr val="EBEFF7"/>
          </a:solidFill>
          <a:ln>
            <a:noFill/>
          </a:ln>
          <a:effectLst/>
        </p:spPr>
        <p:txBody>
          <a:bodyPr wrap="square" rtlCol="0" anchor="ctr"/>
          <a:lstStyle/>
          <a:p>
            <a:endParaRPr/>
          </a:p>
        </p:txBody>
      </p:sp>
      <p:sp>
        <p:nvSpPr>
          <p:cNvPr id="37" name="Rectangle 36"/>
          <p:cNvSpPr/>
          <p:nvPr/>
        </p:nvSpPr>
        <p:spPr>
          <a:xfrm>
            <a:off x="457200" y="4334256"/>
            <a:ext cx="41148" cy="676656"/>
          </a:xfrm>
          <a:prstGeom prst="rect">
            <a:avLst/>
          </a:prstGeom>
          <a:solidFill>
            <a:srgbClr val="00B39F"/>
          </a:solidFill>
          <a:ln>
            <a:noFill/>
          </a:ln>
          <a:effectLst/>
        </p:spPr>
        <p:txBody>
          <a:bodyPr wrap="square" rtlCol="0" anchor="ctr"/>
          <a:lstStyle/>
          <a:p>
            <a:endParaRPr/>
          </a:p>
        </p:txBody>
      </p:sp>
      <p:sp>
        <p:nvSpPr>
          <p:cNvPr id="38" name="TextBox 37"/>
          <p:cNvSpPr txBox="1"/>
          <p:nvPr/>
        </p:nvSpPr>
        <p:spPr>
          <a:xfrm>
            <a:off x="694944" y="4434840"/>
            <a:ext cx="10856671" cy="493776"/>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A note on naming used throughout: Microsoft Learn identifies releases by API version, not by a product version number. Where this deck says “generally available” it means API 2025-11-01; where it says preview it means API 2026-06-01-preview, which carries no service level agreement.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WHAT IT IS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What the service does, and the problem it solves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configured analyzer turns unstructured files into predictable, schema-shaped output with a confidence score per value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3</a:t>
            </a:r>
          </a:p>
        </p:txBody>
      </p:sp>
      <p:sp>
        <p:nvSpPr>
          <p:cNvPr id="7" name="Rectangle 6"/>
          <p:cNvSpPr/>
          <p:nvPr/>
        </p:nvSpPr>
        <p:spPr>
          <a:xfrm>
            <a:off x="457200" y="1335024"/>
            <a:ext cx="11277295" cy="530352"/>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713232" y="1444752"/>
            <a:ext cx="10765231" cy="365760"/>
          </a:xfrm>
          <a:prstGeom prst="rect">
            <a:avLst/>
          </a:prstGeom>
          <a:noFill/>
        </p:spPr>
        <p:txBody>
          <a:bodyPr wrap="square" lIns="0" tIns="0" rIns="0" bIns="0" anchor="t">
            <a:spAutoFit/>
          </a:bodyPr>
          <a:lstStyle/>
          <a:p>
            <a:pPr algn="l">
              <a:lnSpc>
                <a:spcPct val="124000"/>
              </a:lnSpc>
            </a:pPr>
            <a:r>
              <a:rPr sz="1050" b="0" i="0" dirty="0">
                <a:solidFill>
                  <a:srgbClr val="FFFFFF"/>
                </a:solidFill>
                <a:latin typeface="Segoe UI"/>
                <a:cs typeface="Segoe UI"/>
              </a:rPr>
              <a:t>A Foundry Tool that processes documents, images, audio and video into an output format you define — extracting, classifying or generating each field, and returning where in the content each value came from.</a:t>
            </a:r>
          </a:p>
        </p:txBody>
      </p:sp>
      <p:sp>
        <p:nvSpPr>
          <p:cNvPr id="9" name="TextBox 8"/>
          <p:cNvSpPr txBox="1"/>
          <p:nvPr/>
        </p:nvSpPr>
        <p:spPr>
          <a:xfrm>
            <a:off x="457200" y="2048256"/>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PROBLEM, BEFORE A SERVICE LIKE THIS</a:t>
            </a:r>
          </a:p>
        </p:txBody>
      </p:sp>
      <p:sp>
        <p:nvSpPr>
          <p:cNvPr id="10" name="TextBox 9"/>
          <p:cNvSpPr txBox="1"/>
          <p:nvPr/>
        </p:nvSpPr>
        <p:spPr>
          <a:xfrm>
            <a:off x="6345936" y="2048256"/>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THE SERVICE PROVIDES INSTEAD</a:t>
            </a:r>
          </a:p>
        </p:txBody>
      </p:sp>
      <p:sp>
        <p:nvSpPr>
          <p:cNvPr id="11" name="Rectangle 10"/>
          <p:cNvSpPr/>
          <p:nvPr/>
        </p:nvSpPr>
        <p:spPr>
          <a:xfrm>
            <a:off x="457200" y="2304288"/>
            <a:ext cx="5394960" cy="786384"/>
          </a:xfrm>
          <a:prstGeom prst="rect">
            <a:avLst/>
          </a:prstGeom>
          <a:solidFill>
            <a:srgbClr val="F6F8FD"/>
          </a:solidFill>
          <a:ln w="9525">
            <a:solidFill>
              <a:srgbClr val="E1E7F4"/>
            </a:solidFill>
          </a:ln>
          <a:effectLst/>
        </p:spPr>
        <p:txBody>
          <a:bodyPr wrap="square" rtlCol="0" anchor="ctr"/>
          <a:lstStyle/>
          <a:p>
            <a:endParaRPr/>
          </a:p>
        </p:txBody>
      </p:sp>
      <p:sp>
        <p:nvSpPr>
          <p:cNvPr id="12" name="Rectangle 11"/>
          <p:cNvSpPr/>
          <p:nvPr/>
        </p:nvSpPr>
        <p:spPr>
          <a:xfrm>
            <a:off x="457200" y="2304288"/>
            <a:ext cx="41148" cy="786384"/>
          </a:xfrm>
          <a:prstGeom prst="rect">
            <a:avLst/>
          </a:prstGeom>
          <a:solidFill>
            <a:srgbClr val="44495B"/>
          </a:solidFill>
          <a:ln>
            <a:noFill/>
          </a:ln>
          <a:effectLst/>
        </p:spPr>
        <p:txBody>
          <a:bodyPr wrap="square" rtlCol="0" anchor="ctr"/>
          <a:lstStyle/>
          <a:p>
            <a:endParaRPr/>
          </a:p>
        </p:txBody>
      </p:sp>
      <p:sp>
        <p:nvSpPr>
          <p:cNvPr id="13" name="TextBox 12"/>
          <p:cNvSpPr txBox="1"/>
          <p:nvPr/>
        </p:nvSpPr>
        <p:spPr>
          <a:xfrm>
            <a:off x="658368" y="2414016"/>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Content arrives in many shapes</a:t>
            </a:r>
          </a:p>
        </p:txBody>
      </p:sp>
      <p:sp>
        <p:nvSpPr>
          <p:cNvPr id="14" name="TextBox 13"/>
          <p:cNvSpPr txBox="1"/>
          <p:nvPr/>
        </p:nvSpPr>
        <p:spPr>
          <a:xfrm>
            <a:off x="658368" y="2642616"/>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Scanned PDFs, digital documents, photographs, call recordings and video each need a different tool and a different pipeline.</a:t>
            </a:r>
          </a:p>
        </p:txBody>
      </p:sp>
      <p:sp>
        <p:nvSpPr>
          <p:cNvPr id="15" name="Rectangle 14"/>
          <p:cNvSpPr/>
          <p:nvPr/>
        </p:nvSpPr>
        <p:spPr>
          <a:xfrm>
            <a:off x="6345936" y="2304288"/>
            <a:ext cx="5394960" cy="786384"/>
          </a:xfrm>
          <a:prstGeom prst="rect">
            <a:avLst/>
          </a:prstGeom>
          <a:solidFill>
            <a:srgbClr val="FFFFFF"/>
          </a:solidFill>
          <a:ln w="9525">
            <a:solidFill>
              <a:srgbClr val="E1E7F4"/>
            </a:solidFill>
          </a:ln>
          <a:effectLst/>
        </p:spPr>
        <p:txBody>
          <a:bodyPr wrap="square" rtlCol="0" anchor="ctr"/>
          <a:lstStyle/>
          <a:p>
            <a:endParaRPr/>
          </a:p>
        </p:txBody>
      </p:sp>
      <p:sp>
        <p:nvSpPr>
          <p:cNvPr id="16" name="Rectangle 15"/>
          <p:cNvSpPr/>
          <p:nvPr/>
        </p:nvSpPr>
        <p:spPr>
          <a:xfrm>
            <a:off x="6345936" y="2304288"/>
            <a:ext cx="41148" cy="786384"/>
          </a:xfrm>
          <a:prstGeom prst="rect">
            <a:avLst/>
          </a:prstGeom>
          <a:solidFill>
            <a:srgbClr val="00B39F"/>
          </a:solidFill>
          <a:ln>
            <a:noFill/>
          </a:ln>
          <a:effectLst/>
        </p:spPr>
        <p:txBody>
          <a:bodyPr wrap="square" rtlCol="0" anchor="ctr"/>
          <a:lstStyle/>
          <a:p>
            <a:endParaRPr/>
          </a:p>
        </p:txBody>
      </p:sp>
      <p:sp>
        <p:nvSpPr>
          <p:cNvPr id="17" name="TextBox 16"/>
          <p:cNvSpPr txBox="1"/>
          <p:nvPr/>
        </p:nvSpPr>
        <p:spPr>
          <a:xfrm>
            <a:off x="6547104" y="2414016"/>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One analyzer, four content types</a:t>
            </a:r>
          </a:p>
        </p:txBody>
      </p:sp>
      <p:sp>
        <p:nvSpPr>
          <p:cNvPr id="18" name="TextBox 17"/>
          <p:cNvSpPr txBox="1"/>
          <p:nvPr/>
        </p:nvSpPr>
        <p:spPr>
          <a:xfrm>
            <a:off x="6547104" y="2642616"/>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The same configured object accepts documents, images, audio and video, and applies the same settings to everything you send it.</a:t>
            </a:r>
          </a:p>
        </p:txBody>
      </p:sp>
      <p:sp>
        <p:nvSpPr>
          <p:cNvPr id="19" name="Rectangle 18"/>
          <p:cNvSpPr/>
          <p:nvPr/>
        </p:nvSpPr>
        <p:spPr>
          <a:xfrm>
            <a:off x="457200" y="3182112"/>
            <a:ext cx="5394960" cy="786384"/>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57200" y="3182112"/>
            <a:ext cx="41148" cy="786384"/>
          </a:xfrm>
          <a:prstGeom prst="rect">
            <a:avLst/>
          </a:prstGeom>
          <a:solidFill>
            <a:srgbClr val="44495B"/>
          </a:solidFill>
          <a:ln>
            <a:noFill/>
          </a:ln>
          <a:effectLst/>
        </p:spPr>
        <p:txBody>
          <a:bodyPr wrap="square" rtlCol="0" anchor="ctr"/>
          <a:lstStyle/>
          <a:p>
            <a:endParaRPr/>
          </a:p>
        </p:txBody>
      </p:sp>
      <p:sp>
        <p:nvSpPr>
          <p:cNvPr id="21" name="TextBox 20"/>
          <p:cNvSpPr txBox="1"/>
          <p:nvPr/>
        </p:nvSpPr>
        <p:spPr>
          <a:xfrm>
            <a:off x="658368" y="3291840"/>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Output shape is unpredictable</a:t>
            </a:r>
          </a:p>
        </p:txBody>
      </p:sp>
      <p:sp>
        <p:nvSpPr>
          <p:cNvPr id="22" name="TextBox 21"/>
          <p:cNvSpPr txBox="1"/>
          <p:nvPr/>
        </p:nvSpPr>
        <p:spPr>
          <a:xfrm>
            <a:off x="658368" y="3520440"/>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Optical character recognition returns whatever text is on the page. The application still has to find the values it actually needs.</a:t>
            </a:r>
          </a:p>
        </p:txBody>
      </p:sp>
      <p:sp>
        <p:nvSpPr>
          <p:cNvPr id="23" name="Rectangle 22"/>
          <p:cNvSpPr/>
          <p:nvPr/>
        </p:nvSpPr>
        <p:spPr>
          <a:xfrm>
            <a:off x="6345936" y="3182112"/>
            <a:ext cx="5394960" cy="786384"/>
          </a:xfrm>
          <a:prstGeom prst="rect">
            <a:avLst/>
          </a:prstGeom>
          <a:solidFill>
            <a:srgbClr val="FFFFFF"/>
          </a:solidFill>
          <a:ln w="9525">
            <a:solidFill>
              <a:srgbClr val="E1E7F4"/>
            </a:solidFill>
          </a:ln>
          <a:effectLst/>
        </p:spPr>
        <p:txBody>
          <a:bodyPr wrap="square" rtlCol="0" anchor="ctr"/>
          <a:lstStyle/>
          <a:p>
            <a:endParaRPr/>
          </a:p>
        </p:txBody>
      </p:sp>
      <p:sp>
        <p:nvSpPr>
          <p:cNvPr id="24" name="Rectangle 23"/>
          <p:cNvSpPr/>
          <p:nvPr/>
        </p:nvSpPr>
        <p:spPr>
          <a:xfrm>
            <a:off x="6345936" y="3182112"/>
            <a:ext cx="41148" cy="786384"/>
          </a:xfrm>
          <a:prstGeom prst="rect">
            <a:avLst/>
          </a:prstGeom>
          <a:solidFill>
            <a:srgbClr val="00B39F"/>
          </a:solidFill>
          <a:ln>
            <a:noFill/>
          </a:ln>
          <a:effectLst/>
        </p:spPr>
        <p:txBody>
          <a:bodyPr wrap="square" rtlCol="0" anchor="ctr"/>
          <a:lstStyle/>
          <a:p>
            <a:endParaRPr/>
          </a:p>
        </p:txBody>
      </p:sp>
      <p:sp>
        <p:nvSpPr>
          <p:cNvPr id="25" name="TextBox 24"/>
          <p:cNvSpPr txBox="1"/>
          <p:nvPr/>
        </p:nvSpPr>
        <p:spPr>
          <a:xfrm>
            <a:off x="6547104" y="3291840"/>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You define the output schema</a:t>
            </a:r>
          </a:p>
        </p:txBody>
      </p:sp>
      <p:sp>
        <p:nvSpPr>
          <p:cNvPr id="26" name="TextBox 25"/>
          <p:cNvSpPr txBox="1"/>
          <p:nvPr/>
        </p:nvSpPr>
        <p:spPr>
          <a:xfrm>
            <a:off x="6547104" y="3520440"/>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Name the fields you want in plain language. The service returns exactly those fields, as typed JSON, alongside readable Markdown.</a:t>
            </a:r>
          </a:p>
        </p:txBody>
      </p:sp>
      <p:sp>
        <p:nvSpPr>
          <p:cNvPr id="27" name="Rectangle 26"/>
          <p:cNvSpPr/>
          <p:nvPr/>
        </p:nvSpPr>
        <p:spPr>
          <a:xfrm>
            <a:off x="457200" y="4059935"/>
            <a:ext cx="5394960" cy="786384"/>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457200" y="4059935"/>
            <a:ext cx="41148" cy="786384"/>
          </a:xfrm>
          <a:prstGeom prst="rect">
            <a:avLst/>
          </a:prstGeom>
          <a:solidFill>
            <a:srgbClr val="44495B"/>
          </a:solidFill>
          <a:ln>
            <a:noFill/>
          </a:ln>
          <a:effectLst/>
        </p:spPr>
        <p:txBody>
          <a:bodyPr wrap="square" rtlCol="0" anchor="ctr"/>
          <a:lstStyle/>
          <a:p>
            <a:endParaRPr/>
          </a:p>
        </p:txBody>
      </p:sp>
      <p:sp>
        <p:nvSpPr>
          <p:cNvPr id="29" name="TextBox 28"/>
          <p:cNvSpPr txBox="1"/>
          <p:nvPr/>
        </p:nvSpPr>
        <p:spPr>
          <a:xfrm>
            <a:off x="658368" y="4169663"/>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No measure of trust</a:t>
            </a:r>
          </a:p>
        </p:txBody>
      </p:sp>
      <p:sp>
        <p:nvSpPr>
          <p:cNvPr id="30" name="TextBox 29"/>
          <p:cNvSpPr txBox="1"/>
          <p:nvPr/>
        </p:nvSpPr>
        <p:spPr>
          <a:xfrm>
            <a:off x="658368" y="4398264"/>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A value is returned with no indication of how reliable it is, so either everything is reviewed by a person, or nothing is.</a:t>
            </a:r>
          </a:p>
        </p:txBody>
      </p:sp>
      <p:sp>
        <p:nvSpPr>
          <p:cNvPr id="31" name="Rectangle 30"/>
          <p:cNvSpPr/>
          <p:nvPr/>
        </p:nvSpPr>
        <p:spPr>
          <a:xfrm>
            <a:off x="6345936" y="4059935"/>
            <a:ext cx="5394960" cy="786384"/>
          </a:xfrm>
          <a:prstGeom prst="rect">
            <a:avLst/>
          </a:prstGeom>
          <a:solidFill>
            <a:srgbClr val="FFFFFF"/>
          </a:solidFill>
          <a:ln w="9525">
            <a:solidFill>
              <a:srgbClr val="E1E7F4"/>
            </a:solidFill>
          </a:ln>
          <a:effectLst/>
        </p:spPr>
        <p:txBody>
          <a:bodyPr wrap="square" rtlCol="0" anchor="ctr"/>
          <a:lstStyle/>
          <a:p>
            <a:endParaRPr/>
          </a:p>
        </p:txBody>
      </p:sp>
      <p:sp>
        <p:nvSpPr>
          <p:cNvPr id="32" name="Rectangle 31"/>
          <p:cNvSpPr/>
          <p:nvPr/>
        </p:nvSpPr>
        <p:spPr>
          <a:xfrm>
            <a:off x="6345936" y="4059935"/>
            <a:ext cx="41148" cy="786384"/>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6547104" y="4169663"/>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A confidence score per value</a:t>
            </a:r>
          </a:p>
        </p:txBody>
      </p:sp>
      <p:sp>
        <p:nvSpPr>
          <p:cNvPr id="34" name="TextBox 33"/>
          <p:cNvSpPr txBox="1"/>
          <p:nvPr/>
        </p:nvSpPr>
        <p:spPr>
          <a:xfrm>
            <a:off x="6547104" y="4398264"/>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Each extracted value carries a score between 0 and 1, so you can route low-scoring cases to a person and pass the rest straight through.</a:t>
            </a:r>
          </a:p>
        </p:txBody>
      </p:sp>
      <p:sp>
        <p:nvSpPr>
          <p:cNvPr id="35" name="Rectangle 34"/>
          <p:cNvSpPr/>
          <p:nvPr/>
        </p:nvSpPr>
        <p:spPr>
          <a:xfrm>
            <a:off x="457200" y="4937759"/>
            <a:ext cx="5394960" cy="786384"/>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457200" y="4937759"/>
            <a:ext cx="41148" cy="786384"/>
          </a:xfrm>
          <a:prstGeom prst="rect">
            <a:avLst/>
          </a:prstGeom>
          <a:solidFill>
            <a:srgbClr val="44495B"/>
          </a:solidFill>
          <a:ln>
            <a:noFill/>
          </a:ln>
          <a:effectLst/>
        </p:spPr>
        <p:txBody>
          <a:bodyPr wrap="square" rtlCol="0" anchor="ctr"/>
          <a:lstStyle/>
          <a:p>
            <a:endParaRPr/>
          </a:p>
        </p:txBody>
      </p:sp>
      <p:sp>
        <p:nvSpPr>
          <p:cNvPr id="37" name="TextBox 36"/>
          <p:cNvSpPr txBox="1"/>
          <p:nvPr/>
        </p:nvSpPr>
        <p:spPr>
          <a:xfrm>
            <a:off x="658368" y="5047488"/>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Prompt engineering per document type</a:t>
            </a:r>
          </a:p>
        </p:txBody>
      </p:sp>
      <p:sp>
        <p:nvSpPr>
          <p:cNvPr id="38" name="TextBox 37"/>
          <p:cNvSpPr txBox="1"/>
          <p:nvPr/>
        </p:nvSpPr>
        <p:spPr>
          <a:xfrm>
            <a:off x="658368" y="5276088"/>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Each new form or contract becomes a new prompt to write, test and maintain.</a:t>
            </a:r>
          </a:p>
        </p:txBody>
      </p:sp>
      <p:sp>
        <p:nvSpPr>
          <p:cNvPr id="39" name="Rectangle 38"/>
          <p:cNvSpPr/>
          <p:nvPr/>
        </p:nvSpPr>
        <p:spPr>
          <a:xfrm>
            <a:off x="6345936" y="4937759"/>
            <a:ext cx="5394960" cy="786384"/>
          </a:xfrm>
          <a:prstGeom prst="rect">
            <a:avLst/>
          </a:prstGeom>
          <a:solidFill>
            <a:srgbClr val="FFFFFF"/>
          </a:solidFill>
          <a:ln w="9525">
            <a:solidFill>
              <a:srgbClr val="E1E7F4"/>
            </a:solidFill>
          </a:ln>
          <a:effectLst/>
        </p:spPr>
        <p:txBody>
          <a:bodyPr wrap="square" rtlCol="0" anchor="ctr"/>
          <a:lstStyle/>
          <a:p>
            <a:endParaRPr/>
          </a:p>
        </p:txBody>
      </p:sp>
      <p:sp>
        <p:nvSpPr>
          <p:cNvPr id="40" name="Rectangle 39"/>
          <p:cNvSpPr/>
          <p:nvPr/>
        </p:nvSpPr>
        <p:spPr>
          <a:xfrm>
            <a:off x="6345936" y="4937759"/>
            <a:ext cx="41148" cy="786384"/>
          </a:xfrm>
          <a:prstGeom prst="rect">
            <a:avLst/>
          </a:prstGeom>
          <a:solidFill>
            <a:srgbClr val="00B39F"/>
          </a:solidFill>
          <a:ln>
            <a:noFill/>
          </a:ln>
          <a:effectLst/>
        </p:spPr>
        <p:txBody>
          <a:bodyPr wrap="square" rtlCol="0" anchor="ctr"/>
          <a:lstStyle/>
          <a:p>
            <a:endParaRPr/>
          </a:p>
        </p:txBody>
      </p:sp>
      <p:sp>
        <p:nvSpPr>
          <p:cNvPr id="41" name="TextBox 40"/>
          <p:cNvSpPr txBox="1"/>
          <p:nvPr/>
        </p:nvSpPr>
        <p:spPr>
          <a:xfrm>
            <a:off x="6547104" y="5047488"/>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No prompt engineering required</a:t>
            </a:r>
          </a:p>
        </p:txBody>
      </p:sp>
      <p:sp>
        <p:nvSpPr>
          <p:cNvPr id="42" name="TextBox 41"/>
          <p:cNvSpPr txBox="1"/>
          <p:nvPr/>
        </p:nvSpPr>
        <p:spPr>
          <a:xfrm>
            <a:off x="6547104" y="5276088"/>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A field description is the instruction. The service handles context, grounding and model selection behind the analyzer.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WHAT IT IS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Where it sits, and what it accepts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tool in the Foundry Tools family, with Azure Document Intelligence now presented as part of it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learn.microsoft.com/azure/ai-services/content-understanding/choosing-right-ai-tool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4</a:t>
            </a:r>
          </a:p>
        </p:txBody>
      </p:sp>
      <p:sp>
        <p:nvSpPr>
          <p:cNvPr id="7" name="Rectangle 6"/>
          <p:cNvSpPr/>
          <p:nvPr/>
        </p:nvSpPr>
        <p:spPr>
          <a:xfrm>
            <a:off x="457200" y="1371600"/>
            <a:ext cx="11277295" cy="420624"/>
          </a:xfrm>
          <a:prstGeom prst="rect">
            <a:avLst/>
          </a:prstGeom>
          <a:solidFill>
            <a:srgbClr val="EBEFF7"/>
          </a:solidFill>
          <a:ln w="9525">
            <a:solidFill>
              <a:srgbClr val="E1E7F4"/>
            </a:solidFill>
          </a:ln>
          <a:effectLst/>
        </p:spPr>
        <p:txBody>
          <a:bodyPr wrap="square" rtlCol="0" anchor="ctr"/>
          <a:lstStyle/>
          <a:p>
            <a:endParaRPr/>
          </a:p>
        </p:txBody>
      </p:sp>
      <p:sp>
        <p:nvSpPr>
          <p:cNvPr id="8" name="TextBox 7"/>
          <p:cNvSpPr txBox="1"/>
          <p:nvPr/>
        </p:nvSpPr>
        <p:spPr>
          <a:xfrm>
            <a:off x="694944" y="1472184"/>
            <a:ext cx="10801807" cy="237744"/>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Microsoft Foundry resource  —  one resource provides the tool, its identity and its regional placement</a:t>
            </a:r>
          </a:p>
        </p:txBody>
      </p:sp>
      <p:sp>
        <p:nvSpPr>
          <p:cNvPr id="9" name="TextBox 8"/>
          <p:cNvSpPr txBox="1"/>
          <p:nvPr/>
        </p:nvSpPr>
        <p:spPr>
          <a:xfrm>
            <a:off x="457200" y="1956816"/>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CONTENT IT ACCEPTS</a:t>
            </a:r>
          </a:p>
        </p:txBody>
      </p:sp>
      <p:sp>
        <p:nvSpPr>
          <p:cNvPr id="10" name="Rectangle 9"/>
          <p:cNvSpPr/>
          <p:nvPr/>
        </p:nvSpPr>
        <p:spPr>
          <a:xfrm>
            <a:off x="457200" y="2212848"/>
            <a:ext cx="3017520" cy="713232"/>
          </a:xfrm>
          <a:prstGeom prst="rect">
            <a:avLst/>
          </a:prstGeom>
          <a:solidFill>
            <a:srgbClr val="F6F8FD"/>
          </a:solidFill>
          <a:ln w="9525">
            <a:solidFill>
              <a:srgbClr val="E1E7F4"/>
            </a:solidFill>
          </a:ln>
          <a:effectLst/>
        </p:spPr>
        <p:txBody>
          <a:bodyPr wrap="square" rtlCol="0" anchor="ctr"/>
          <a:lstStyle/>
          <a:p>
            <a:endParaRPr/>
          </a:p>
        </p:txBody>
      </p:sp>
      <p:sp>
        <p:nvSpPr>
          <p:cNvPr id="11" name="Rectangle 10"/>
          <p:cNvSpPr/>
          <p:nvPr/>
        </p:nvSpPr>
        <p:spPr>
          <a:xfrm>
            <a:off x="457200" y="2212848"/>
            <a:ext cx="41148" cy="713232"/>
          </a:xfrm>
          <a:prstGeom prst="rect">
            <a:avLst/>
          </a:prstGeom>
          <a:solidFill>
            <a:srgbClr val="00B39F"/>
          </a:solidFill>
          <a:ln>
            <a:noFill/>
          </a:ln>
          <a:effectLst/>
        </p:spPr>
        <p:txBody>
          <a:bodyPr wrap="square" rtlCol="0" anchor="ctr"/>
          <a:lstStyle/>
          <a:p>
            <a:endParaRPr/>
          </a:p>
        </p:txBody>
      </p:sp>
      <p:sp>
        <p:nvSpPr>
          <p:cNvPr id="12" name="TextBox 11"/>
          <p:cNvSpPr txBox="1"/>
          <p:nvPr/>
        </p:nvSpPr>
        <p:spPr>
          <a:xfrm>
            <a:off x="640080" y="2313432"/>
            <a:ext cx="274320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Documents</a:t>
            </a:r>
          </a:p>
        </p:txBody>
      </p:sp>
      <p:sp>
        <p:nvSpPr>
          <p:cNvPr id="13" name="TextBox 12"/>
          <p:cNvSpPr txBox="1"/>
          <p:nvPr/>
        </p:nvSpPr>
        <p:spPr>
          <a:xfrm>
            <a:off x="640080" y="2514600"/>
            <a:ext cx="2743200" cy="36576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printed and handwritten text,</a:t>
            </a:r>
          </a:p>
          <a:p>
            <a:pPr algn="l">
              <a:lnSpc>
                <a:spcPct val="116000"/>
              </a:lnSpc>
            </a:pPr>
            <a:r>
              <a:rPr sz="750" b="0" i="0" dirty="0">
                <a:solidFill>
                  <a:srgbClr val="44495B"/>
                </a:solidFill>
                <a:latin typeface="Segoe UI"/>
                <a:cs typeface="Segoe UI"/>
              </a:rPr>
              <a:t>tables, selection marks,</a:t>
            </a:r>
          </a:p>
          <a:p>
            <a:pPr algn="l">
              <a:lnSpc>
                <a:spcPct val="116000"/>
              </a:lnSpc>
            </a:pPr>
            <a:r>
              <a:rPr sz="750" b="0" i="0" dirty="0">
                <a:solidFill>
                  <a:srgbClr val="44495B"/>
                </a:solidFill>
                <a:latin typeface="Segoe UI"/>
                <a:cs typeface="Segoe UI"/>
              </a:rPr>
              <a:t>barcodes, formulas, figures</a:t>
            </a:r>
          </a:p>
        </p:txBody>
      </p:sp>
      <p:sp>
        <p:nvSpPr>
          <p:cNvPr id="14" name="Rectangle 13"/>
          <p:cNvSpPr/>
          <p:nvPr/>
        </p:nvSpPr>
        <p:spPr>
          <a:xfrm>
            <a:off x="457200" y="2999232"/>
            <a:ext cx="3017520" cy="713232"/>
          </a:xfrm>
          <a:prstGeom prst="rect">
            <a:avLst/>
          </a:prstGeom>
          <a:solidFill>
            <a:srgbClr val="F6F8FD"/>
          </a:solidFill>
          <a:ln w="9525">
            <a:solidFill>
              <a:srgbClr val="E1E7F4"/>
            </a:solidFill>
          </a:ln>
          <a:effectLst/>
        </p:spPr>
        <p:txBody>
          <a:bodyPr wrap="square" rtlCol="0" anchor="ctr"/>
          <a:lstStyle/>
          <a:p>
            <a:endParaRPr/>
          </a:p>
        </p:txBody>
      </p:sp>
      <p:sp>
        <p:nvSpPr>
          <p:cNvPr id="15" name="Rectangle 14"/>
          <p:cNvSpPr/>
          <p:nvPr/>
        </p:nvSpPr>
        <p:spPr>
          <a:xfrm>
            <a:off x="457200" y="2999232"/>
            <a:ext cx="41148" cy="713232"/>
          </a:xfrm>
          <a:prstGeom prst="rect">
            <a:avLst/>
          </a:prstGeom>
          <a:solidFill>
            <a:srgbClr val="00B39F"/>
          </a:solidFill>
          <a:ln>
            <a:noFill/>
          </a:ln>
          <a:effectLst/>
        </p:spPr>
        <p:txBody>
          <a:bodyPr wrap="square" rtlCol="0" anchor="ctr"/>
          <a:lstStyle/>
          <a:p>
            <a:endParaRPr/>
          </a:p>
        </p:txBody>
      </p:sp>
      <p:sp>
        <p:nvSpPr>
          <p:cNvPr id="16" name="TextBox 15"/>
          <p:cNvSpPr txBox="1"/>
          <p:nvPr/>
        </p:nvSpPr>
        <p:spPr>
          <a:xfrm>
            <a:off x="640080" y="3099815"/>
            <a:ext cx="274320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Images</a:t>
            </a:r>
          </a:p>
        </p:txBody>
      </p:sp>
      <p:sp>
        <p:nvSpPr>
          <p:cNvPr id="17" name="TextBox 16"/>
          <p:cNvSpPr txBox="1"/>
          <p:nvPr/>
        </p:nvSpPr>
        <p:spPr>
          <a:xfrm>
            <a:off x="640080" y="3300984"/>
            <a:ext cx="2743200" cy="36576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schema-driven description</a:t>
            </a:r>
          </a:p>
          <a:p>
            <a:pPr algn="l">
              <a:lnSpc>
                <a:spcPct val="116000"/>
              </a:lnSpc>
            </a:pPr>
            <a:r>
              <a:rPr sz="750" b="0" i="0" dirty="0">
                <a:solidFill>
                  <a:srgbClr val="44495B"/>
                </a:solidFill>
                <a:latin typeface="Segoe UI"/>
                <a:cs typeface="Segoe UI"/>
              </a:rPr>
              <a:t>and classification</a:t>
            </a:r>
          </a:p>
        </p:txBody>
      </p:sp>
      <p:sp>
        <p:nvSpPr>
          <p:cNvPr id="18" name="Rectangle 17"/>
          <p:cNvSpPr/>
          <p:nvPr/>
        </p:nvSpPr>
        <p:spPr>
          <a:xfrm>
            <a:off x="457200" y="3785615"/>
            <a:ext cx="3017520" cy="713232"/>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457200" y="3785615"/>
            <a:ext cx="41148" cy="713232"/>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640080" y="3886200"/>
            <a:ext cx="274320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Audio</a:t>
            </a:r>
          </a:p>
        </p:txBody>
      </p:sp>
      <p:sp>
        <p:nvSpPr>
          <p:cNvPr id="21" name="TextBox 20"/>
          <p:cNvSpPr txBox="1"/>
          <p:nvPr/>
        </p:nvSpPr>
        <p:spPr>
          <a:xfrm>
            <a:off x="640080" y="4087368"/>
            <a:ext cx="2743200" cy="36576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transcription, speaker</a:t>
            </a:r>
          </a:p>
          <a:p>
            <a:pPr algn="l">
              <a:lnSpc>
                <a:spcPct val="116000"/>
              </a:lnSpc>
            </a:pPr>
            <a:r>
              <a:rPr sz="750" b="0" i="0" dirty="0">
                <a:solidFill>
                  <a:srgbClr val="44495B"/>
                </a:solidFill>
                <a:latin typeface="Segoe UI"/>
                <a:cs typeface="Segoe UI"/>
              </a:rPr>
              <a:t>separation, speaker role</a:t>
            </a:r>
          </a:p>
        </p:txBody>
      </p:sp>
      <p:sp>
        <p:nvSpPr>
          <p:cNvPr id="22" name="Rectangle 21"/>
          <p:cNvSpPr/>
          <p:nvPr/>
        </p:nvSpPr>
        <p:spPr>
          <a:xfrm>
            <a:off x="457200" y="4572000"/>
            <a:ext cx="3017520" cy="713232"/>
          </a:xfrm>
          <a:prstGeom prst="rect">
            <a:avLst/>
          </a:prstGeom>
          <a:solidFill>
            <a:srgbClr val="F6F8FD"/>
          </a:solidFill>
          <a:ln w="9525">
            <a:solidFill>
              <a:srgbClr val="E1E7F4"/>
            </a:solidFill>
          </a:ln>
          <a:effectLst/>
        </p:spPr>
        <p:txBody>
          <a:bodyPr wrap="square" rtlCol="0" anchor="ctr"/>
          <a:lstStyle/>
          <a:p>
            <a:endParaRPr/>
          </a:p>
        </p:txBody>
      </p:sp>
      <p:sp>
        <p:nvSpPr>
          <p:cNvPr id="23" name="Rectangle 22"/>
          <p:cNvSpPr/>
          <p:nvPr/>
        </p:nvSpPr>
        <p:spPr>
          <a:xfrm>
            <a:off x="457200" y="4572000"/>
            <a:ext cx="41148" cy="713232"/>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640080" y="4672584"/>
            <a:ext cx="274320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Video</a:t>
            </a:r>
          </a:p>
        </p:txBody>
      </p:sp>
      <p:sp>
        <p:nvSpPr>
          <p:cNvPr id="25" name="TextBox 24"/>
          <p:cNvSpPr txBox="1"/>
          <p:nvPr/>
        </p:nvSpPr>
        <p:spPr>
          <a:xfrm>
            <a:off x="640080" y="4873752"/>
            <a:ext cx="2743200" cy="36576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transcription plus key frames</a:t>
            </a:r>
          </a:p>
          <a:p>
            <a:pPr algn="l">
              <a:lnSpc>
                <a:spcPct val="116000"/>
              </a:lnSpc>
            </a:pPr>
            <a:r>
              <a:rPr sz="750" b="0" i="0" dirty="0">
                <a:solidFill>
                  <a:srgbClr val="44495B"/>
                </a:solidFill>
                <a:latin typeface="Segoe UI"/>
                <a:cs typeface="Segoe UI"/>
              </a:rPr>
              <a:t>and shot detection</a:t>
            </a:r>
          </a:p>
        </p:txBody>
      </p:sp>
      <p:sp>
        <p:nvSpPr>
          <p:cNvPr id="26" name="Rectangle 25"/>
          <p:cNvSpPr/>
          <p:nvPr/>
        </p:nvSpPr>
        <p:spPr>
          <a:xfrm>
            <a:off x="3877056" y="2212848"/>
            <a:ext cx="2926080" cy="2944368"/>
          </a:xfrm>
          <a:prstGeom prst="rect">
            <a:avLst/>
          </a:prstGeom>
          <a:solidFill>
            <a:srgbClr val="101A3C"/>
          </a:solidFill>
          <a:ln>
            <a:noFill/>
          </a:ln>
          <a:effectLst/>
        </p:spPr>
        <p:txBody>
          <a:bodyPr wrap="square" lIns="54864" tIns="18288" rIns="54864" bIns="18288" rtlCol="0" anchor="ctr"/>
          <a:lstStyle/>
          <a:p>
            <a:pPr algn="ctr">
              <a:lnSpc>
                <a:spcPct val="126000"/>
              </a:lnSpc>
            </a:pPr>
            <a:r>
              <a:rPr sz="1300" b="1" i="0" dirty="0">
                <a:solidFill>
                  <a:srgbClr val="FFFFFF"/>
                </a:solidFill>
                <a:latin typeface="Segoe UI"/>
                <a:cs typeface="Segoe UI"/>
              </a:rPr>
              <a:t>Azure Content</a:t>
            </a:r>
          </a:p>
          <a:p>
            <a:pPr algn="ctr">
              <a:lnSpc>
                <a:spcPct val="126000"/>
              </a:lnSpc>
            </a:pPr>
            <a:r>
              <a:rPr sz="1300" b="1" i="0" dirty="0">
                <a:solidFill>
                  <a:srgbClr val="FFFFFF"/>
                </a:solidFill>
                <a:latin typeface="Segoe UI"/>
                <a:cs typeface="Segoe UI"/>
              </a:rPr>
              <a:t>Understanding</a:t>
            </a:r>
          </a:p>
          <a:p>
            <a:pPr algn="ctr">
              <a:lnSpc>
                <a:spcPct val="126000"/>
              </a:lnSpc>
            </a:pPr>
            <a:r>
              <a:rPr sz="750" b="0" i="0" dirty="0">
                <a:solidFill>
                  <a:srgbClr val="101A3C"/>
                </a:solidFill>
                <a:latin typeface="Segoe UI"/>
                <a:cs typeface="Segoe UI"/>
              </a:rPr>
              <a:t> </a:t>
            </a:r>
          </a:p>
          <a:p>
            <a:pPr algn="ctr">
              <a:lnSpc>
                <a:spcPct val="126000"/>
              </a:lnSpc>
            </a:pPr>
            <a:r>
              <a:rPr sz="800" b="0" i="0" dirty="0">
                <a:solidFill>
                  <a:srgbClr val="B9C2D6"/>
                </a:solidFill>
                <a:latin typeface="Segoe UI"/>
                <a:cs typeface="Segoe UI"/>
              </a:rPr>
              <a:t>one analyzer applies the</a:t>
            </a:r>
          </a:p>
          <a:p>
            <a:pPr algn="ctr">
              <a:lnSpc>
                <a:spcPct val="126000"/>
              </a:lnSpc>
            </a:pPr>
            <a:r>
              <a:rPr sz="800" b="0" i="0" dirty="0">
                <a:solidFill>
                  <a:srgbClr val="B9C2D6"/>
                </a:solidFill>
                <a:latin typeface="Segoe UI"/>
                <a:cs typeface="Segoe UI"/>
              </a:rPr>
              <a:t>same settings to everything</a:t>
            </a:r>
          </a:p>
          <a:p>
            <a:pPr algn="ctr">
              <a:lnSpc>
                <a:spcPct val="126000"/>
              </a:lnSpc>
            </a:pPr>
            <a:r>
              <a:rPr sz="800" b="0" i="0" dirty="0">
                <a:solidFill>
                  <a:srgbClr val="B9C2D6"/>
                </a:solidFill>
                <a:latin typeface="Segoe UI"/>
                <a:cs typeface="Segoe UI"/>
              </a:rPr>
              <a:t>you send it</a:t>
            </a:r>
          </a:p>
        </p:txBody>
      </p:sp>
      <p:cxnSp>
        <p:nvCxnSpPr>
          <p:cNvPr id="27" name="Connector 26"/>
          <p:cNvCxnSpPr/>
          <p:nvPr/>
        </p:nvCxnSpPr>
        <p:spPr>
          <a:xfrm>
            <a:off x="3474720" y="2569464"/>
            <a:ext cx="402336"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74720" y="3355848"/>
            <a:ext cx="402336"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74720" y="4142232"/>
            <a:ext cx="402336"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474720" y="4928616"/>
            <a:ext cx="402336"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059168" y="1956816"/>
            <a:ext cx="47548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INSIDE THE SAME TOOL FAMILY</a:t>
            </a:r>
          </a:p>
        </p:txBody>
      </p:sp>
      <p:sp>
        <p:nvSpPr>
          <p:cNvPr id="32" name="Rectangle 31"/>
          <p:cNvSpPr/>
          <p:nvPr/>
        </p:nvSpPr>
        <p:spPr>
          <a:xfrm>
            <a:off x="7059168" y="2212848"/>
            <a:ext cx="4672584" cy="859536"/>
          </a:xfrm>
          <a:prstGeom prst="rect">
            <a:avLst/>
          </a:prstGeom>
          <a:solidFill>
            <a:srgbClr val="FFFFFF"/>
          </a:solidFill>
          <a:ln w="9525">
            <a:solidFill>
              <a:srgbClr val="E1E7F4"/>
            </a:solidFill>
          </a:ln>
          <a:effectLst/>
        </p:spPr>
        <p:txBody>
          <a:bodyPr wrap="square" rtlCol="0" anchor="ctr"/>
          <a:lstStyle/>
          <a:p>
            <a:endParaRPr/>
          </a:p>
        </p:txBody>
      </p:sp>
      <p:sp>
        <p:nvSpPr>
          <p:cNvPr id="33" name="TextBox 32"/>
          <p:cNvSpPr txBox="1"/>
          <p:nvPr/>
        </p:nvSpPr>
        <p:spPr>
          <a:xfrm>
            <a:off x="7242048" y="2322576"/>
            <a:ext cx="42976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Azure Document Intelligence</a:t>
            </a:r>
          </a:p>
        </p:txBody>
      </p:sp>
      <p:sp>
        <p:nvSpPr>
          <p:cNvPr id="34" name="TextBox 33"/>
          <p:cNvSpPr txBox="1"/>
          <p:nvPr/>
        </p:nvSpPr>
        <p:spPr>
          <a:xfrm>
            <a:off x="7242048" y="2542032"/>
            <a:ext cx="4297680" cy="438912"/>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Now presented as part of Content Understanding. Deterministic, high-accuracy extraction from structured forms. Its APIs, SDKs and billing are unchanged — no migration is required.</a:t>
            </a:r>
          </a:p>
        </p:txBody>
      </p:sp>
      <p:sp>
        <p:nvSpPr>
          <p:cNvPr id="35" name="TextBox 34"/>
          <p:cNvSpPr txBox="1"/>
          <p:nvPr/>
        </p:nvSpPr>
        <p:spPr>
          <a:xfrm>
            <a:off x="7059168" y="3255264"/>
            <a:ext cx="47548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IT PRODUCES</a:t>
            </a:r>
          </a:p>
        </p:txBody>
      </p:sp>
      <p:sp>
        <p:nvSpPr>
          <p:cNvPr id="36" name="Rectangle 35"/>
          <p:cNvSpPr/>
          <p:nvPr/>
        </p:nvSpPr>
        <p:spPr>
          <a:xfrm>
            <a:off x="7059168" y="3511296"/>
            <a:ext cx="4672584" cy="493776"/>
          </a:xfrm>
          <a:prstGeom prst="rect">
            <a:avLst/>
          </a:prstGeom>
          <a:solidFill>
            <a:srgbClr val="F6F8FD"/>
          </a:solidFill>
          <a:ln w="9525">
            <a:solidFill>
              <a:srgbClr val="E1E7F4"/>
            </a:solidFill>
          </a:ln>
          <a:effectLst/>
        </p:spPr>
        <p:txBody>
          <a:bodyPr wrap="square" rtlCol="0" anchor="ctr"/>
          <a:lstStyle/>
          <a:p>
            <a:endParaRPr/>
          </a:p>
        </p:txBody>
      </p:sp>
      <p:sp>
        <p:nvSpPr>
          <p:cNvPr id="37" name="TextBox 36"/>
          <p:cNvSpPr txBox="1"/>
          <p:nvPr/>
        </p:nvSpPr>
        <p:spPr>
          <a:xfrm>
            <a:off x="7242048" y="3575303"/>
            <a:ext cx="1481328" cy="365760"/>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Markdown</a:t>
            </a:r>
          </a:p>
        </p:txBody>
      </p:sp>
      <p:sp>
        <p:nvSpPr>
          <p:cNvPr id="38" name="TextBox 37"/>
          <p:cNvSpPr txBox="1"/>
          <p:nvPr/>
        </p:nvSpPr>
        <p:spPr>
          <a:xfrm>
            <a:off x="8796528" y="3575303"/>
            <a:ext cx="2788920" cy="365760"/>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readable text for search and for passing to a language model</a:t>
            </a:r>
          </a:p>
        </p:txBody>
      </p:sp>
      <p:sp>
        <p:nvSpPr>
          <p:cNvPr id="39" name="Rectangle 38"/>
          <p:cNvSpPr/>
          <p:nvPr/>
        </p:nvSpPr>
        <p:spPr>
          <a:xfrm>
            <a:off x="7059168" y="4078224"/>
            <a:ext cx="4672584" cy="493776"/>
          </a:xfrm>
          <a:prstGeom prst="rect">
            <a:avLst/>
          </a:prstGeom>
          <a:solidFill>
            <a:srgbClr val="FFFFFF"/>
          </a:solidFill>
          <a:ln w="9525">
            <a:solidFill>
              <a:srgbClr val="E1E7F4"/>
            </a:solidFill>
          </a:ln>
          <a:effectLst/>
        </p:spPr>
        <p:txBody>
          <a:bodyPr wrap="square" rtlCol="0" anchor="ctr"/>
          <a:lstStyle/>
          <a:p>
            <a:endParaRPr/>
          </a:p>
        </p:txBody>
      </p:sp>
      <p:sp>
        <p:nvSpPr>
          <p:cNvPr id="40" name="TextBox 39"/>
          <p:cNvSpPr txBox="1"/>
          <p:nvPr/>
        </p:nvSpPr>
        <p:spPr>
          <a:xfrm>
            <a:off x="7242048" y="4142232"/>
            <a:ext cx="1481328" cy="365760"/>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Typed JSON fields</a:t>
            </a:r>
          </a:p>
        </p:txBody>
      </p:sp>
      <p:sp>
        <p:nvSpPr>
          <p:cNvPr id="41" name="TextBox 40"/>
          <p:cNvSpPr txBox="1"/>
          <p:nvPr/>
        </p:nvSpPr>
        <p:spPr>
          <a:xfrm>
            <a:off x="8796528" y="4142232"/>
            <a:ext cx="2788920" cy="365760"/>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exactly the schema you defined, with a value, a confidence score and a source region</a:t>
            </a:r>
          </a:p>
        </p:txBody>
      </p:sp>
      <p:sp>
        <p:nvSpPr>
          <p:cNvPr id="42" name="TextBox 41"/>
          <p:cNvSpPr txBox="1"/>
          <p:nvPr/>
        </p:nvSpPr>
        <p:spPr>
          <a:xfrm>
            <a:off x="7059168" y="4663440"/>
            <a:ext cx="47548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WHERE THE OUTPUT GOES</a:t>
            </a:r>
          </a:p>
        </p:txBody>
      </p:sp>
      <p:sp>
        <p:nvSpPr>
          <p:cNvPr id="43" name="TextBox 42"/>
          <p:cNvSpPr txBox="1"/>
          <p:nvPr/>
        </p:nvSpPr>
        <p:spPr>
          <a:xfrm>
            <a:off x="7059168" y="4919472"/>
            <a:ext cx="1737360"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Azure AI Search</a:t>
            </a:r>
          </a:p>
        </p:txBody>
      </p:sp>
      <p:sp>
        <p:nvSpPr>
          <p:cNvPr id="44" name="TextBox 43"/>
          <p:cNvSpPr txBox="1"/>
          <p:nvPr/>
        </p:nvSpPr>
        <p:spPr>
          <a:xfrm>
            <a:off x="8869680" y="4919472"/>
            <a:ext cx="2862072" cy="310896"/>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a built-in skill does extraction and chunking in one step</a:t>
            </a:r>
          </a:p>
        </p:txBody>
      </p:sp>
      <p:sp>
        <p:nvSpPr>
          <p:cNvPr id="45" name="TextBox 44"/>
          <p:cNvSpPr txBox="1"/>
          <p:nvPr/>
        </p:nvSpPr>
        <p:spPr>
          <a:xfrm>
            <a:off x="7059168" y="5321808"/>
            <a:ext cx="1737360"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Agents and applications</a:t>
            </a:r>
          </a:p>
        </p:txBody>
      </p:sp>
      <p:sp>
        <p:nvSpPr>
          <p:cNvPr id="46" name="TextBox 45"/>
          <p:cNvSpPr txBox="1"/>
          <p:nvPr/>
        </p:nvSpPr>
        <p:spPr>
          <a:xfrm>
            <a:off x="8869680" y="5321808"/>
            <a:ext cx="2862072" cy="310896"/>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predictable input for a Foundry agent or your own code</a:t>
            </a:r>
          </a:p>
        </p:txBody>
      </p:sp>
      <p:sp>
        <p:nvSpPr>
          <p:cNvPr id="47" name="Rectangle 46"/>
          <p:cNvSpPr/>
          <p:nvPr/>
        </p:nvSpPr>
        <p:spPr>
          <a:xfrm>
            <a:off x="457200" y="5573268"/>
            <a:ext cx="146304" cy="91440"/>
          </a:xfrm>
          <a:prstGeom prst="rect">
            <a:avLst/>
          </a:prstGeom>
          <a:solidFill>
            <a:srgbClr val="101A3C"/>
          </a:solidFill>
          <a:ln>
            <a:noFill/>
          </a:ln>
          <a:effectLst/>
        </p:spPr>
        <p:txBody>
          <a:bodyPr wrap="square" rtlCol="0" anchor="ctr"/>
          <a:lstStyle/>
          <a:p>
            <a:endParaRPr/>
          </a:p>
        </p:txBody>
      </p:sp>
      <p:sp>
        <p:nvSpPr>
          <p:cNvPr id="48" name="TextBox 47"/>
          <p:cNvSpPr txBox="1"/>
          <p:nvPr/>
        </p:nvSpPr>
        <p:spPr>
          <a:xfrm>
            <a:off x="676656" y="55458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The service</a:t>
            </a:r>
          </a:p>
        </p:txBody>
      </p:sp>
      <p:sp>
        <p:nvSpPr>
          <p:cNvPr id="49" name="Rectangle 48"/>
          <p:cNvSpPr/>
          <p:nvPr/>
        </p:nvSpPr>
        <p:spPr>
          <a:xfrm>
            <a:off x="1339824" y="5573268"/>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0" name="TextBox 49"/>
          <p:cNvSpPr txBox="1"/>
          <p:nvPr/>
        </p:nvSpPr>
        <p:spPr>
          <a:xfrm>
            <a:off x="1559280" y="55458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Capability or output</a:t>
            </a:r>
          </a:p>
        </p:txBody>
      </p:sp>
      <p:sp>
        <p:nvSpPr>
          <p:cNvPr id="51" name="Rectangle 50"/>
          <p:cNvSpPr/>
          <p:nvPr/>
        </p:nvSpPr>
        <p:spPr>
          <a:xfrm>
            <a:off x="2697708" y="5573268"/>
            <a:ext cx="146304" cy="91440"/>
          </a:xfrm>
          <a:prstGeom prst="rect">
            <a:avLst/>
          </a:prstGeom>
          <a:solidFill>
            <a:srgbClr val="EBEFF7"/>
          </a:solidFill>
          <a:ln>
            <a:noFill/>
          </a:ln>
          <a:effectLst/>
        </p:spPr>
        <p:txBody>
          <a:bodyPr wrap="square" rtlCol="0" anchor="ctr"/>
          <a:lstStyle/>
          <a:p>
            <a:endParaRPr/>
          </a:p>
        </p:txBody>
      </p:sp>
      <p:sp>
        <p:nvSpPr>
          <p:cNvPr id="52" name="TextBox 51"/>
          <p:cNvSpPr txBox="1"/>
          <p:nvPr/>
        </p:nvSpPr>
        <p:spPr>
          <a:xfrm>
            <a:off x="2917164" y="55458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Containing resource</a:t>
            </a:r>
          </a:p>
        </p:txBody>
      </p:sp>
      <p:cxnSp>
        <p:nvCxnSpPr>
          <p:cNvPr id="53" name="Connector 52"/>
          <p:cNvCxnSpPr/>
          <p:nvPr/>
        </p:nvCxnSpPr>
        <p:spPr>
          <a:xfrm>
            <a:off x="4002785" y="5618988"/>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222242" y="55458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Content 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The analyzer pipeline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Five stages between the file you send and the structured output you get back</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learn.microsoft.com/azure/ai-services/content-understanding/concepts/analyzer-reference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5</a:t>
            </a:r>
          </a:p>
        </p:txBody>
      </p:sp>
      <p:sp>
        <p:nvSpPr>
          <p:cNvPr id="7" name="Rectangle 6"/>
          <p:cNvSpPr/>
          <p:nvPr/>
        </p:nvSpPr>
        <p:spPr>
          <a:xfrm>
            <a:off x="457200" y="1316736"/>
            <a:ext cx="11277295" cy="566928"/>
          </a:xfrm>
          <a:prstGeom prst="rect">
            <a:avLst/>
          </a:prstGeom>
          <a:solidFill>
            <a:srgbClr val="101A3C"/>
          </a:solidFill>
          <a:ln>
            <a:noFill/>
          </a:ln>
          <a:effectLst/>
        </p:spPr>
        <p:txBody>
          <a:bodyPr wrap="square" lIns="54864" tIns="18288" rIns="54864" bIns="18288" rtlCol="0" anchor="ctr"/>
          <a:lstStyle/>
          <a:p>
            <a:pPr algn="ctr">
              <a:lnSpc>
                <a:spcPct val="128000"/>
              </a:lnSpc>
            </a:pPr>
            <a:r>
              <a:rPr sz="1000" b="1" i="0" dirty="0">
                <a:solidFill>
                  <a:srgbClr val="FFFFFF"/>
                </a:solidFill>
                <a:latin typeface="Segoe UI"/>
                <a:cs typeface="Segoe UI"/>
              </a:rPr>
              <a:t>Analyzer  —  the reusable configuration you create once</a:t>
            </a:r>
          </a:p>
          <a:p>
            <a:pPr algn="ctr">
              <a:lnSpc>
                <a:spcPct val="128000"/>
              </a:lnSpc>
            </a:pPr>
            <a:r>
              <a:rPr sz="800" b="0" i="0" dirty="0">
                <a:solidFill>
                  <a:srgbClr val="B9C2D6"/>
                </a:solidFill>
                <a:latin typeface="Segoe UI"/>
                <a:cs typeface="Segoe UI"/>
              </a:rPr>
              <a:t>extraction settings   ·   field schema   ·   which Foundry models to use   ·   prebuilt or custom</a:t>
            </a:r>
          </a:p>
        </p:txBody>
      </p:sp>
      <p:sp>
        <p:nvSpPr>
          <p:cNvPr id="8" name="Rectangle 7"/>
          <p:cNvSpPr/>
          <p:nvPr/>
        </p:nvSpPr>
        <p:spPr>
          <a:xfrm>
            <a:off x="457200" y="2103120"/>
            <a:ext cx="1965960" cy="1335024"/>
          </a:xfrm>
          <a:prstGeom prst="rect">
            <a:avLst/>
          </a:prstGeom>
          <a:solidFill>
            <a:srgbClr val="EBEFF7"/>
          </a:solidFill>
          <a:ln w="9525">
            <a:solidFill>
              <a:srgbClr val="E1E7F4"/>
            </a:solidFill>
          </a:ln>
          <a:effectLst/>
        </p:spPr>
        <p:txBody>
          <a:bodyPr wrap="square" rtlCol="0" anchor="ctr"/>
          <a:lstStyle/>
          <a:p>
            <a:endParaRPr/>
          </a:p>
        </p:txBody>
      </p:sp>
      <p:sp>
        <p:nvSpPr>
          <p:cNvPr id="9" name="Rectangle 8"/>
          <p:cNvSpPr/>
          <p:nvPr/>
        </p:nvSpPr>
        <p:spPr>
          <a:xfrm>
            <a:off x="457200" y="2103120"/>
            <a:ext cx="1965960" cy="41148"/>
          </a:xfrm>
          <a:prstGeom prst="rect">
            <a:avLst/>
          </a:prstGeom>
          <a:solidFill>
            <a:srgbClr val="44495B"/>
          </a:solidFill>
          <a:ln>
            <a:noFill/>
          </a:ln>
          <a:effectLst/>
        </p:spPr>
        <p:txBody>
          <a:bodyPr wrap="square" rtlCol="0" anchor="ctr"/>
          <a:lstStyle/>
          <a:p>
            <a:endParaRPr/>
          </a:p>
        </p:txBody>
      </p:sp>
      <p:sp>
        <p:nvSpPr>
          <p:cNvPr id="10" name="TextBox 9"/>
          <p:cNvSpPr txBox="1"/>
          <p:nvPr/>
        </p:nvSpPr>
        <p:spPr>
          <a:xfrm>
            <a:off x="585216"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Input</a:t>
            </a:r>
          </a:p>
        </p:txBody>
      </p:sp>
      <p:sp>
        <p:nvSpPr>
          <p:cNvPr id="11" name="TextBox 10"/>
          <p:cNvSpPr txBox="1"/>
          <p:nvPr/>
        </p:nvSpPr>
        <p:spPr>
          <a:xfrm>
            <a:off x="585216"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a file by URL,</a:t>
            </a:r>
          </a:p>
          <a:p>
            <a:pPr algn="l">
              <a:lnSpc>
                <a:spcPct val="118000"/>
              </a:lnSpc>
            </a:pPr>
            <a:r>
              <a:rPr sz="750" b="0" i="0" dirty="0">
                <a:solidFill>
                  <a:srgbClr val="44495B"/>
                </a:solidFill>
                <a:latin typeface="Segoe UI"/>
                <a:cs typeface="Segoe UI"/>
              </a:rPr>
              <a:t>or bytes in the</a:t>
            </a:r>
          </a:p>
          <a:p>
            <a:pPr algn="l">
              <a:lnSpc>
                <a:spcPct val="118000"/>
              </a:lnSpc>
            </a:pPr>
            <a:r>
              <a:rPr sz="750" b="0" i="0" dirty="0">
                <a:solidFill>
                  <a:srgbClr val="44495B"/>
                </a:solidFill>
                <a:latin typeface="Segoe UI"/>
                <a:cs typeface="Segoe UI"/>
              </a:rPr>
              <a:t>request body</a:t>
            </a:r>
          </a:p>
        </p:txBody>
      </p:sp>
      <p:cxnSp>
        <p:nvCxnSpPr>
          <p:cNvPr id="12" name="Connector 11"/>
          <p:cNvCxnSpPr/>
          <p:nvPr/>
        </p:nvCxnSpPr>
        <p:spPr>
          <a:xfrm>
            <a:off x="2423160" y="2770632"/>
            <a:ext cx="24688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441448" y="2665475"/>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4" name="Rectangle 13"/>
          <p:cNvSpPr/>
          <p:nvPr/>
        </p:nvSpPr>
        <p:spPr>
          <a:xfrm>
            <a:off x="2670048" y="2103120"/>
            <a:ext cx="1965960" cy="1335024"/>
          </a:xfrm>
          <a:prstGeom prst="rect">
            <a:avLst/>
          </a:prstGeom>
          <a:solidFill>
            <a:srgbClr val="FFFFFF"/>
          </a:solidFill>
          <a:ln w="9525">
            <a:solidFill>
              <a:srgbClr val="E1E7F4"/>
            </a:solidFill>
          </a:ln>
          <a:effectLst/>
        </p:spPr>
        <p:txBody>
          <a:bodyPr wrap="square" rtlCol="0" anchor="ctr"/>
          <a:lstStyle/>
          <a:p>
            <a:endParaRPr/>
          </a:p>
        </p:txBody>
      </p:sp>
      <p:sp>
        <p:nvSpPr>
          <p:cNvPr id="15" name="Rectangle 14"/>
          <p:cNvSpPr/>
          <p:nvPr/>
        </p:nvSpPr>
        <p:spPr>
          <a:xfrm>
            <a:off x="2670048" y="2103120"/>
            <a:ext cx="1965960" cy="41148"/>
          </a:xfrm>
          <a:prstGeom prst="rect">
            <a:avLst/>
          </a:prstGeom>
          <a:solidFill>
            <a:srgbClr val="00B39F"/>
          </a:solidFill>
          <a:ln>
            <a:noFill/>
          </a:ln>
          <a:effectLst/>
        </p:spPr>
        <p:txBody>
          <a:bodyPr wrap="square" rtlCol="0" anchor="ctr"/>
          <a:lstStyle/>
          <a:p>
            <a:endParaRPr/>
          </a:p>
        </p:txBody>
      </p:sp>
      <p:sp>
        <p:nvSpPr>
          <p:cNvPr id="16" name="TextBox 15"/>
          <p:cNvSpPr txBox="1"/>
          <p:nvPr/>
        </p:nvSpPr>
        <p:spPr>
          <a:xfrm>
            <a:off x="2798064"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Content</a:t>
            </a:r>
          </a:p>
          <a:p>
            <a:pPr algn="l">
              <a:lnSpc>
                <a:spcPct val="106000"/>
              </a:lnSpc>
            </a:pPr>
            <a:r>
              <a:rPr sz="1000" b="1" i="0" dirty="0">
                <a:solidFill>
                  <a:srgbClr val="101A3C"/>
                </a:solidFill>
                <a:latin typeface="Segoe UI"/>
                <a:cs typeface="Segoe UI"/>
              </a:rPr>
              <a:t>extraction</a:t>
            </a:r>
          </a:p>
        </p:txBody>
      </p:sp>
      <p:sp>
        <p:nvSpPr>
          <p:cNvPr id="17" name="TextBox 16"/>
          <p:cNvSpPr txBox="1"/>
          <p:nvPr/>
        </p:nvSpPr>
        <p:spPr>
          <a:xfrm>
            <a:off x="2798064"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text by optical</a:t>
            </a:r>
          </a:p>
          <a:p>
            <a:pPr algn="l">
              <a:lnSpc>
                <a:spcPct val="118000"/>
              </a:lnSpc>
            </a:pPr>
            <a:r>
              <a:rPr sz="750" b="0" i="0" dirty="0">
                <a:solidFill>
                  <a:srgbClr val="44495B"/>
                </a:solidFill>
                <a:latin typeface="Segoe UI"/>
                <a:cs typeface="Segoe UI"/>
              </a:rPr>
              <a:t>character recognition,</a:t>
            </a:r>
          </a:p>
          <a:p>
            <a:pPr algn="l">
              <a:lnSpc>
                <a:spcPct val="118000"/>
              </a:lnSpc>
            </a:pPr>
            <a:r>
              <a:rPr sz="750" b="0" i="0" dirty="0">
                <a:solidFill>
                  <a:srgbClr val="44495B"/>
                </a:solidFill>
                <a:latin typeface="Segoe UI"/>
                <a:cs typeface="Segoe UI"/>
              </a:rPr>
              <a:t>tables, layout;</a:t>
            </a:r>
          </a:p>
          <a:p>
            <a:pPr algn="l">
              <a:lnSpc>
                <a:spcPct val="118000"/>
              </a:lnSpc>
            </a:pPr>
            <a:r>
              <a:rPr sz="750" b="0" i="0" dirty="0">
                <a:solidFill>
                  <a:srgbClr val="44495B"/>
                </a:solidFill>
                <a:latin typeface="Segoe UI"/>
                <a:cs typeface="Segoe UI"/>
              </a:rPr>
              <a:t>speech transcribed</a:t>
            </a:r>
          </a:p>
        </p:txBody>
      </p:sp>
      <p:cxnSp>
        <p:nvCxnSpPr>
          <p:cNvPr id="18" name="Connector 17"/>
          <p:cNvCxnSpPr/>
          <p:nvPr/>
        </p:nvCxnSpPr>
        <p:spPr>
          <a:xfrm>
            <a:off x="4636008" y="2770632"/>
            <a:ext cx="24688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654296" y="2665475"/>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0" name="Rectangle 19"/>
          <p:cNvSpPr/>
          <p:nvPr/>
        </p:nvSpPr>
        <p:spPr>
          <a:xfrm>
            <a:off x="4882896" y="2103120"/>
            <a:ext cx="1965960" cy="1335024"/>
          </a:xfrm>
          <a:prstGeom prst="rect">
            <a:avLst/>
          </a:prstGeom>
          <a:solidFill>
            <a:srgbClr val="FFFFFF"/>
          </a:solidFill>
          <a:ln w="9525">
            <a:solidFill>
              <a:srgbClr val="E1E7F4"/>
            </a:solidFill>
          </a:ln>
          <a:effectLst/>
        </p:spPr>
        <p:txBody>
          <a:bodyPr wrap="square" rtlCol="0" anchor="ctr"/>
          <a:lstStyle/>
          <a:p>
            <a:endParaRPr/>
          </a:p>
        </p:txBody>
      </p:sp>
      <p:sp>
        <p:nvSpPr>
          <p:cNvPr id="21" name="Rectangle 20"/>
          <p:cNvSpPr/>
          <p:nvPr/>
        </p:nvSpPr>
        <p:spPr>
          <a:xfrm>
            <a:off x="4882896" y="2103120"/>
            <a:ext cx="1965960" cy="41148"/>
          </a:xfrm>
          <a:prstGeom prst="rect">
            <a:avLst/>
          </a:prstGeom>
          <a:solidFill>
            <a:srgbClr val="00B39F"/>
          </a:solidFill>
          <a:ln>
            <a:noFill/>
          </a:ln>
          <a:effectLst/>
        </p:spPr>
        <p:txBody>
          <a:bodyPr wrap="square" rtlCol="0" anchor="ctr"/>
          <a:lstStyle/>
          <a:p>
            <a:endParaRPr/>
          </a:p>
        </p:txBody>
      </p:sp>
      <p:sp>
        <p:nvSpPr>
          <p:cNvPr id="22" name="TextBox 21"/>
          <p:cNvSpPr txBox="1"/>
          <p:nvPr/>
        </p:nvSpPr>
        <p:spPr>
          <a:xfrm>
            <a:off x="5010912"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Segmentation</a:t>
            </a:r>
          </a:p>
        </p:txBody>
      </p:sp>
      <p:sp>
        <p:nvSpPr>
          <p:cNvPr id="23" name="TextBox 22"/>
          <p:cNvSpPr txBox="1"/>
          <p:nvPr/>
        </p:nvSpPr>
        <p:spPr>
          <a:xfrm>
            <a:off x="5010912"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splits a long file</a:t>
            </a:r>
          </a:p>
          <a:p>
            <a:pPr algn="l">
              <a:lnSpc>
                <a:spcPct val="118000"/>
              </a:lnSpc>
            </a:pPr>
            <a:r>
              <a:rPr sz="750" b="0" i="0" dirty="0">
                <a:solidFill>
                  <a:srgbClr val="44495B"/>
                </a:solidFill>
                <a:latin typeface="Segoe UI"/>
                <a:cs typeface="Segoe UI"/>
              </a:rPr>
              <a:t>into logical sections,</a:t>
            </a:r>
          </a:p>
          <a:p>
            <a:pPr algn="l">
              <a:lnSpc>
                <a:spcPct val="118000"/>
              </a:lnSpc>
            </a:pPr>
            <a:r>
              <a:rPr sz="750" b="0" i="0" dirty="0">
                <a:solidFill>
                  <a:srgbClr val="44495B"/>
                </a:solidFill>
                <a:latin typeface="Segoe UI"/>
                <a:cs typeface="Segoe UI"/>
              </a:rPr>
              <a:t>and can route each</a:t>
            </a:r>
          </a:p>
          <a:p>
            <a:pPr algn="l">
              <a:lnSpc>
                <a:spcPct val="118000"/>
              </a:lnSpc>
            </a:pPr>
            <a:r>
              <a:rPr sz="750" b="0" i="0" dirty="0">
                <a:solidFill>
                  <a:srgbClr val="44495B"/>
                </a:solidFill>
                <a:latin typeface="Segoe UI"/>
                <a:cs typeface="Segoe UI"/>
              </a:rPr>
              <a:t>to a different analyzer</a:t>
            </a:r>
          </a:p>
        </p:txBody>
      </p:sp>
      <p:cxnSp>
        <p:nvCxnSpPr>
          <p:cNvPr id="24" name="Connector 23"/>
          <p:cNvCxnSpPr/>
          <p:nvPr/>
        </p:nvCxnSpPr>
        <p:spPr>
          <a:xfrm>
            <a:off x="6848856" y="2770632"/>
            <a:ext cx="24688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867144" y="2665475"/>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26" name="Rectangle 25"/>
          <p:cNvSpPr/>
          <p:nvPr/>
        </p:nvSpPr>
        <p:spPr>
          <a:xfrm>
            <a:off x="7095744" y="2103120"/>
            <a:ext cx="1965960" cy="1335024"/>
          </a:xfrm>
          <a:prstGeom prst="rect">
            <a:avLst/>
          </a:prstGeom>
          <a:solidFill>
            <a:srgbClr val="FFFFFF"/>
          </a:solidFill>
          <a:ln w="9525">
            <a:solidFill>
              <a:srgbClr val="E1E7F4"/>
            </a:solidFill>
          </a:ln>
          <a:effectLst/>
        </p:spPr>
        <p:txBody>
          <a:bodyPr wrap="square" rtlCol="0" anchor="ctr"/>
          <a:lstStyle/>
          <a:p>
            <a:endParaRPr/>
          </a:p>
        </p:txBody>
      </p:sp>
      <p:sp>
        <p:nvSpPr>
          <p:cNvPr id="27" name="Rectangle 26"/>
          <p:cNvSpPr/>
          <p:nvPr/>
        </p:nvSpPr>
        <p:spPr>
          <a:xfrm>
            <a:off x="7095744" y="2103120"/>
            <a:ext cx="1965960" cy="41148"/>
          </a:xfrm>
          <a:prstGeom prst="rect">
            <a:avLst/>
          </a:prstGeom>
          <a:solidFill>
            <a:srgbClr val="00B39F"/>
          </a:solidFill>
          <a:ln>
            <a:noFill/>
          </a:ln>
          <a:effectLst/>
        </p:spPr>
        <p:txBody>
          <a:bodyPr wrap="square" rtlCol="0" anchor="ctr"/>
          <a:lstStyle/>
          <a:p>
            <a:endParaRPr/>
          </a:p>
        </p:txBody>
      </p:sp>
      <p:sp>
        <p:nvSpPr>
          <p:cNvPr id="28" name="TextBox 27"/>
          <p:cNvSpPr txBox="1"/>
          <p:nvPr/>
        </p:nvSpPr>
        <p:spPr>
          <a:xfrm>
            <a:off x="7223759"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Field</a:t>
            </a:r>
          </a:p>
          <a:p>
            <a:pPr algn="l">
              <a:lnSpc>
                <a:spcPct val="106000"/>
              </a:lnSpc>
            </a:pPr>
            <a:r>
              <a:rPr sz="1000" b="1" i="0" dirty="0">
                <a:solidFill>
                  <a:srgbClr val="101A3C"/>
                </a:solidFill>
                <a:latin typeface="Segoe UI"/>
                <a:cs typeface="Segoe UI"/>
              </a:rPr>
              <a:t>extraction</a:t>
            </a:r>
          </a:p>
        </p:txBody>
      </p:sp>
      <p:sp>
        <p:nvSpPr>
          <p:cNvPr id="29" name="TextBox 28"/>
          <p:cNvSpPr txBox="1"/>
          <p:nvPr/>
        </p:nvSpPr>
        <p:spPr>
          <a:xfrm>
            <a:off x="7223759"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produces your schema:</a:t>
            </a:r>
          </a:p>
          <a:p>
            <a:pPr algn="l">
              <a:lnSpc>
                <a:spcPct val="118000"/>
              </a:lnSpc>
            </a:pPr>
            <a:r>
              <a:rPr sz="750" b="0" i="0" dirty="0">
                <a:solidFill>
                  <a:srgbClr val="44495B"/>
                </a:solidFill>
                <a:latin typeface="Segoe UI"/>
                <a:cs typeface="Segoe UI"/>
              </a:rPr>
              <a:t>extract, classify</a:t>
            </a:r>
          </a:p>
          <a:p>
            <a:pPr algn="l">
              <a:lnSpc>
                <a:spcPct val="118000"/>
              </a:lnSpc>
            </a:pPr>
            <a:r>
              <a:rPr sz="750" b="0" i="0" dirty="0">
                <a:solidFill>
                  <a:srgbClr val="44495B"/>
                </a:solidFill>
                <a:latin typeface="Segoe UI"/>
                <a:cs typeface="Segoe UI"/>
              </a:rPr>
              <a:t>or generate</a:t>
            </a:r>
          </a:p>
          <a:p>
            <a:pPr algn="l">
              <a:lnSpc>
                <a:spcPct val="118000"/>
              </a:lnSpc>
            </a:pPr>
            <a:r>
              <a:rPr sz="750" b="0" i="0" dirty="0">
                <a:solidFill>
                  <a:srgbClr val="44495B"/>
                </a:solidFill>
                <a:latin typeface="Segoe UI"/>
                <a:cs typeface="Segoe UI"/>
              </a:rPr>
              <a:t>each field</a:t>
            </a:r>
          </a:p>
        </p:txBody>
      </p:sp>
      <p:cxnSp>
        <p:nvCxnSpPr>
          <p:cNvPr id="30" name="Connector 29"/>
          <p:cNvCxnSpPr/>
          <p:nvPr/>
        </p:nvCxnSpPr>
        <p:spPr>
          <a:xfrm>
            <a:off x="9061704" y="2770632"/>
            <a:ext cx="24688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079992" y="2665475"/>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32" name="Rectangle 31"/>
          <p:cNvSpPr/>
          <p:nvPr/>
        </p:nvSpPr>
        <p:spPr>
          <a:xfrm>
            <a:off x="9308592" y="2103120"/>
            <a:ext cx="1965960" cy="1335024"/>
          </a:xfrm>
          <a:prstGeom prst="rect">
            <a:avLst/>
          </a:prstGeom>
          <a:solidFill>
            <a:srgbClr val="EBEFF7"/>
          </a:solidFill>
          <a:ln w="9525">
            <a:solidFill>
              <a:srgbClr val="E1E7F4"/>
            </a:solidFill>
          </a:ln>
          <a:effectLst/>
        </p:spPr>
        <p:txBody>
          <a:bodyPr wrap="square" rtlCol="0" anchor="ctr"/>
          <a:lstStyle/>
          <a:p>
            <a:endParaRPr/>
          </a:p>
        </p:txBody>
      </p:sp>
      <p:sp>
        <p:nvSpPr>
          <p:cNvPr id="33" name="Rectangle 32"/>
          <p:cNvSpPr/>
          <p:nvPr/>
        </p:nvSpPr>
        <p:spPr>
          <a:xfrm>
            <a:off x="9308592" y="2103120"/>
            <a:ext cx="1965960" cy="41148"/>
          </a:xfrm>
          <a:prstGeom prst="rect">
            <a:avLst/>
          </a:prstGeom>
          <a:solidFill>
            <a:srgbClr val="44495B"/>
          </a:solidFill>
          <a:ln>
            <a:noFill/>
          </a:ln>
          <a:effectLst/>
        </p:spPr>
        <p:txBody>
          <a:bodyPr wrap="square" rtlCol="0" anchor="ctr"/>
          <a:lstStyle/>
          <a:p>
            <a:endParaRPr/>
          </a:p>
        </p:txBody>
      </p:sp>
      <p:sp>
        <p:nvSpPr>
          <p:cNvPr id="34" name="TextBox 33"/>
          <p:cNvSpPr txBox="1"/>
          <p:nvPr/>
        </p:nvSpPr>
        <p:spPr>
          <a:xfrm>
            <a:off x="9436608"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Output</a:t>
            </a:r>
          </a:p>
        </p:txBody>
      </p:sp>
      <p:sp>
        <p:nvSpPr>
          <p:cNvPr id="35" name="TextBox 34"/>
          <p:cNvSpPr txBox="1"/>
          <p:nvPr/>
        </p:nvSpPr>
        <p:spPr>
          <a:xfrm>
            <a:off x="9436608"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Markdown, plus</a:t>
            </a:r>
          </a:p>
          <a:p>
            <a:pPr algn="l">
              <a:lnSpc>
                <a:spcPct val="118000"/>
              </a:lnSpc>
            </a:pPr>
            <a:r>
              <a:rPr sz="750" b="0" i="0" dirty="0">
                <a:solidFill>
                  <a:srgbClr val="44495B"/>
                </a:solidFill>
                <a:latin typeface="Segoe UI"/>
                <a:cs typeface="Segoe UI"/>
              </a:rPr>
              <a:t>typed JSON with a</a:t>
            </a:r>
          </a:p>
          <a:p>
            <a:pPr algn="l">
              <a:lnSpc>
                <a:spcPct val="118000"/>
              </a:lnSpc>
            </a:pPr>
            <a:r>
              <a:rPr sz="750" b="0" i="0" dirty="0">
                <a:solidFill>
                  <a:srgbClr val="44495B"/>
                </a:solidFill>
                <a:latin typeface="Segoe UI"/>
                <a:cs typeface="Segoe UI"/>
              </a:rPr>
              <a:t>confidence score and</a:t>
            </a:r>
          </a:p>
          <a:p>
            <a:pPr algn="l">
              <a:lnSpc>
                <a:spcPct val="118000"/>
              </a:lnSpc>
            </a:pPr>
            <a:r>
              <a:rPr sz="750" b="0" i="0" dirty="0">
                <a:solidFill>
                  <a:srgbClr val="44495B"/>
                </a:solidFill>
                <a:latin typeface="Segoe UI"/>
                <a:cs typeface="Segoe UI"/>
              </a:rPr>
              <a:t>source per field</a:t>
            </a:r>
          </a:p>
        </p:txBody>
      </p:sp>
      <p:sp>
        <p:nvSpPr>
          <p:cNvPr id="36" name="Rectangle 35"/>
          <p:cNvSpPr/>
          <p:nvPr/>
        </p:nvSpPr>
        <p:spPr>
          <a:xfrm>
            <a:off x="2670048" y="3675887"/>
            <a:ext cx="6620256" cy="566928"/>
          </a:xfrm>
          <a:prstGeom prst="rect">
            <a:avLst/>
          </a:prstGeom>
          <a:solidFill>
            <a:srgbClr val="0B1229"/>
          </a:solidFill>
          <a:ln>
            <a:noFill/>
          </a:ln>
          <a:effectLst/>
        </p:spPr>
        <p:txBody>
          <a:bodyPr wrap="square" lIns="54864" tIns="18288" rIns="54864" bIns="18288" rtlCol="0" anchor="ctr"/>
          <a:lstStyle/>
          <a:p>
            <a:pPr algn="ctr">
              <a:lnSpc>
                <a:spcPct val="124000"/>
              </a:lnSpc>
            </a:pPr>
            <a:r>
              <a:rPr sz="950" b="1" i="0" dirty="0">
                <a:solidFill>
                  <a:srgbClr val="FFFFFF"/>
                </a:solidFill>
                <a:latin typeface="Segoe UI"/>
                <a:cs typeface="Segoe UI"/>
              </a:rPr>
              <a:t>Contextualization layer  —  runs across the middle three stages</a:t>
            </a:r>
          </a:p>
          <a:p>
            <a:pPr algn="ctr">
              <a:lnSpc>
                <a:spcPct val="124000"/>
              </a:lnSpc>
            </a:pPr>
            <a:r>
              <a:rPr sz="750" b="0" i="0" dirty="0">
                <a:solidFill>
                  <a:srgbClr val="B9C2D6"/>
                </a:solidFill>
                <a:latin typeface="Segoe UI"/>
                <a:cs typeface="Segoe UI"/>
              </a:rPr>
              <a:t>prepares context for the model, normalises values, computes the confidence score and the source region</a:t>
            </a:r>
          </a:p>
        </p:txBody>
      </p:sp>
      <p:cxnSp>
        <p:nvCxnSpPr>
          <p:cNvPr id="37" name="Connector 36"/>
          <p:cNvCxnSpPr/>
          <p:nvPr/>
        </p:nvCxnSpPr>
        <p:spPr>
          <a:xfrm>
            <a:off x="3657600" y="3438144"/>
            <a:ext cx="0" cy="237743"/>
          </a:xfrm>
          <a:prstGeom prst="line">
            <a:avLst/>
          </a:prstGeom>
          <a:ln w="1143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870448" y="3438144"/>
            <a:ext cx="0" cy="237743"/>
          </a:xfrm>
          <a:prstGeom prst="line">
            <a:avLst/>
          </a:prstGeom>
          <a:ln w="1143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083296" y="3438144"/>
            <a:ext cx="0" cy="237743"/>
          </a:xfrm>
          <a:prstGeom prst="line">
            <a:avLst/>
          </a:prstGeom>
          <a:ln w="1143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670048" y="4370832"/>
            <a:ext cx="6620256"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22000"/>
              </a:lnSpc>
            </a:pPr>
            <a:r>
              <a:rPr sz="900" b="1" i="0" dirty="0">
                <a:solidFill>
                  <a:srgbClr val="101A3C"/>
                </a:solidFill>
                <a:latin typeface="Segoe UI"/>
                <a:cs typeface="Segoe UI"/>
              </a:rPr>
              <a:t>Your own Foundry model deployments  ·  a language model and an embedding model</a:t>
            </a:r>
          </a:p>
          <a:p>
            <a:pPr algn="ctr">
              <a:lnSpc>
                <a:spcPct val="122000"/>
              </a:lnSpc>
            </a:pPr>
            <a:r>
              <a:rPr sz="750" b="0" i="0" dirty="0">
                <a:solidFill>
                  <a:srgbClr val="44495B"/>
                </a:solidFill>
                <a:latin typeface="Segoe UI"/>
                <a:cs typeface="Segoe UI"/>
              </a:rPr>
              <a:t>you bring these — the analyzer names the model, the resource maps it to your deployment</a:t>
            </a:r>
          </a:p>
        </p:txBody>
      </p:sp>
      <p:cxnSp>
        <p:nvCxnSpPr>
          <p:cNvPr id="41" name="Connector 40"/>
          <p:cNvCxnSpPr/>
          <p:nvPr/>
        </p:nvCxnSpPr>
        <p:spPr>
          <a:xfrm>
            <a:off x="5980176" y="4242816"/>
            <a:ext cx="0" cy="128016"/>
          </a:xfrm>
          <a:prstGeom prst="line">
            <a:avLst/>
          </a:prstGeom>
          <a:ln w="1143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457200" y="4992624"/>
            <a:ext cx="11277295" cy="512064"/>
          </a:xfrm>
          <a:prstGeom prst="rect">
            <a:avLst/>
          </a:prstGeom>
          <a:solidFill>
            <a:srgbClr val="EBEFF7"/>
          </a:solidFill>
          <a:ln>
            <a:noFill/>
          </a:ln>
          <a:effectLst/>
        </p:spPr>
        <p:txBody>
          <a:bodyPr wrap="square" rtlCol="0" anchor="ctr"/>
          <a:lstStyle/>
          <a:p>
            <a:endParaRPr/>
          </a:p>
        </p:txBody>
      </p:sp>
      <p:sp>
        <p:nvSpPr>
          <p:cNvPr id="43" name="Rectangle 42"/>
          <p:cNvSpPr/>
          <p:nvPr/>
        </p:nvSpPr>
        <p:spPr>
          <a:xfrm>
            <a:off x="457200" y="4992624"/>
            <a:ext cx="41148" cy="512064"/>
          </a:xfrm>
          <a:prstGeom prst="rect">
            <a:avLst/>
          </a:prstGeom>
          <a:solidFill>
            <a:srgbClr val="00B39F"/>
          </a:solidFill>
          <a:ln>
            <a:noFill/>
          </a:ln>
          <a:effectLst/>
        </p:spPr>
        <p:txBody>
          <a:bodyPr wrap="square" rtlCol="0" anchor="ctr"/>
          <a:lstStyle/>
          <a:p>
            <a:endParaRPr/>
          </a:p>
        </p:txBody>
      </p:sp>
      <p:sp>
        <p:nvSpPr>
          <p:cNvPr id="44" name="TextBox 43"/>
          <p:cNvSpPr txBox="1"/>
          <p:nvPr/>
        </p:nvSpPr>
        <p:spPr>
          <a:xfrm>
            <a:off x="694944" y="5093208"/>
            <a:ext cx="10856671" cy="329184"/>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The stage that surprises people is contextualization. It is a distinct billed component, not part of your model cost — and it is where the confidence score and the source region are actually computed.</a:t>
            </a:r>
          </a:p>
        </p:txBody>
      </p:sp>
      <p:sp>
        <p:nvSpPr>
          <p:cNvPr id="45" name="Rectangle 44"/>
          <p:cNvSpPr/>
          <p:nvPr/>
        </p:nvSpPr>
        <p:spPr>
          <a:xfrm>
            <a:off x="457200" y="5609844"/>
            <a:ext cx="146304" cy="91440"/>
          </a:xfrm>
          <a:prstGeom prst="rect">
            <a:avLst/>
          </a:prstGeom>
          <a:solidFill>
            <a:srgbClr val="EBEFF7"/>
          </a:solidFill>
          <a:ln>
            <a:noFill/>
          </a:ln>
          <a:effectLst/>
        </p:spPr>
        <p:txBody>
          <a:bodyPr wrap="square" rtlCol="0" anchor="ctr"/>
          <a:lstStyle/>
          <a:p>
            <a:endParaRPr/>
          </a:p>
        </p:txBody>
      </p:sp>
      <p:sp>
        <p:nvSpPr>
          <p:cNvPr id="46" name="TextBox 45"/>
          <p:cNvSpPr txBox="1"/>
          <p:nvPr/>
        </p:nvSpPr>
        <p:spPr>
          <a:xfrm>
            <a:off x="676656"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Input and output</a:t>
            </a:r>
          </a:p>
        </p:txBody>
      </p:sp>
      <p:sp>
        <p:nvSpPr>
          <p:cNvPr id="47" name="Rectangle 46"/>
          <p:cNvSpPr/>
          <p:nvPr/>
        </p:nvSpPr>
        <p:spPr>
          <a:xfrm>
            <a:off x="1603857" y="5609844"/>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8" name="TextBox 47"/>
          <p:cNvSpPr txBox="1"/>
          <p:nvPr/>
        </p:nvSpPr>
        <p:spPr>
          <a:xfrm>
            <a:off x="1823313"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Processing stage</a:t>
            </a:r>
          </a:p>
        </p:txBody>
      </p:sp>
      <p:sp>
        <p:nvSpPr>
          <p:cNvPr id="49" name="Rectangle 48"/>
          <p:cNvSpPr/>
          <p:nvPr/>
        </p:nvSpPr>
        <p:spPr>
          <a:xfrm>
            <a:off x="2750515" y="5609844"/>
            <a:ext cx="146304" cy="91440"/>
          </a:xfrm>
          <a:prstGeom prst="rect">
            <a:avLst/>
          </a:prstGeom>
          <a:solidFill>
            <a:srgbClr val="0B1229"/>
          </a:solidFill>
          <a:ln>
            <a:noFill/>
          </a:ln>
          <a:effectLst/>
        </p:spPr>
        <p:txBody>
          <a:bodyPr wrap="square" rtlCol="0" anchor="ctr"/>
          <a:lstStyle/>
          <a:p>
            <a:endParaRPr/>
          </a:p>
        </p:txBody>
      </p:sp>
      <p:sp>
        <p:nvSpPr>
          <p:cNvPr id="50" name="TextBox 49"/>
          <p:cNvSpPr txBox="1"/>
          <p:nvPr/>
        </p:nvSpPr>
        <p:spPr>
          <a:xfrm>
            <a:off x="2969971"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Cross-cutting layer</a:t>
            </a:r>
          </a:p>
        </p:txBody>
      </p:sp>
      <p:cxnSp>
        <p:nvCxnSpPr>
          <p:cNvPr id="51" name="Connector 50"/>
          <p:cNvCxnSpPr/>
          <p:nvPr/>
        </p:nvCxnSpPr>
        <p:spPr>
          <a:xfrm>
            <a:off x="4055592" y="5655564"/>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275048"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Content flow</a:t>
            </a:r>
          </a:p>
        </p:txBody>
      </p:sp>
      <p:cxnSp>
        <p:nvCxnSpPr>
          <p:cNvPr id="53" name="Connector 52"/>
          <p:cNvCxnSpPr/>
          <p:nvPr/>
        </p:nvCxnSpPr>
        <p:spPr>
          <a:xfrm>
            <a:off x="4991023" y="5655564"/>
            <a:ext cx="164592" cy="0"/>
          </a:xfrm>
          <a:prstGeom prst="line">
            <a:avLst/>
          </a:prstGeom>
          <a:ln w="1397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210479"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Supporting service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The request flow, and the two processing modes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Submit and poll for everything; or, for plain text and layout only, send and get the answer back directly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learn.microsoft.com/azure/ai-services/content-understanding/quickstart/use-rest-api · use-synchronous-rest-api</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6</a:t>
            </a:r>
          </a:p>
        </p:txBody>
      </p:sp>
      <p:sp>
        <p:nvSpPr>
          <p:cNvPr id="7" name="TextBox 6"/>
          <p:cNvSpPr txBox="1"/>
          <p:nvPr/>
        </p:nvSpPr>
        <p:spPr>
          <a:xfrm>
            <a:off x="457200" y="128016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ASYNCHRONOUS — THE GENERALLY AVAILABLE PATH, ALL CONTENT TYPES</a:t>
            </a:r>
          </a:p>
        </p:txBody>
      </p:sp>
      <p:sp>
        <p:nvSpPr>
          <p:cNvPr id="8" name="Rectangle 7"/>
          <p:cNvSpPr/>
          <p:nvPr/>
        </p:nvSpPr>
        <p:spPr>
          <a:xfrm>
            <a:off x="457200" y="1554480"/>
            <a:ext cx="2011680" cy="566928"/>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16000"/>
              </a:lnSpc>
            </a:pPr>
            <a:r>
              <a:rPr sz="850" b="1" i="0" dirty="0">
                <a:solidFill>
                  <a:srgbClr val="101A3C"/>
                </a:solidFill>
                <a:latin typeface="Segoe UI"/>
                <a:cs typeface="Segoe UI"/>
              </a:rPr>
              <a:t>Your application</a:t>
            </a:r>
          </a:p>
        </p:txBody>
      </p:sp>
      <p:cxnSp>
        <p:nvCxnSpPr>
          <p:cNvPr id="9" name="Connector 8"/>
          <p:cNvCxnSpPr/>
          <p:nvPr/>
        </p:nvCxnSpPr>
        <p:spPr>
          <a:xfrm>
            <a:off x="2468880" y="1837943"/>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510028" y="173278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1" name="Rectangle 10"/>
          <p:cNvSpPr/>
          <p:nvPr/>
        </p:nvSpPr>
        <p:spPr>
          <a:xfrm>
            <a:off x="2761488" y="1554480"/>
            <a:ext cx="201168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6000"/>
              </a:lnSpc>
            </a:pPr>
            <a:r>
              <a:rPr sz="850" b="0" i="0" dirty="0">
                <a:solidFill>
                  <a:srgbClr val="101A3C"/>
                </a:solidFill>
                <a:latin typeface="Segoe UI"/>
                <a:cs typeface="Segoe UI"/>
              </a:rPr>
              <a:t>POST …:analyze</a:t>
            </a:r>
          </a:p>
        </p:txBody>
      </p:sp>
      <p:cxnSp>
        <p:nvCxnSpPr>
          <p:cNvPr id="12" name="Connector 11"/>
          <p:cNvCxnSpPr/>
          <p:nvPr/>
        </p:nvCxnSpPr>
        <p:spPr>
          <a:xfrm>
            <a:off x="4773168" y="1837943"/>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814316" y="173278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14" name="Rectangle 13"/>
          <p:cNvSpPr/>
          <p:nvPr/>
        </p:nvSpPr>
        <p:spPr>
          <a:xfrm>
            <a:off x="5065776" y="1554480"/>
            <a:ext cx="201168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6000"/>
              </a:lnSpc>
            </a:pPr>
            <a:r>
              <a:rPr sz="850" b="0" i="0" dirty="0">
                <a:solidFill>
                  <a:srgbClr val="101A3C"/>
                </a:solidFill>
                <a:latin typeface="Segoe UI"/>
                <a:cs typeface="Segoe UI"/>
              </a:rPr>
              <a:t>202 Accepted</a:t>
            </a:r>
          </a:p>
          <a:p>
            <a:pPr algn="ctr">
              <a:lnSpc>
                <a:spcPct val="116000"/>
              </a:lnSpc>
            </a:pPr>
            <a:r>
              <a:rPr sz="850" b="0" i="0" dirty="0">
                <a:solidFill>
                  <a:srgbClr val="101A3C"/>
                </a:solidFill>
                <a:latin typeface="Segoe UI"/>
                <a:cs typeface="Segoe UI"/>
              </a:rPr>
              <a:t>+ operation location</a:t>
            </a:r>
          </a:p>
        </p:txBody>
      </p:sp>
      <p:cxnSp>
        <p:nvCxnSpPr>
          <p:cNvPr id="15" name="Connector 14"/>
          <p:cNvCxnSpPr/>
          <p:nvPr/>
        </p:nvCxnSpPr>
        <p:spPr>
          <a:xfrm>
            <a:off x="7077456" y="1837943"/>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118604" y="173278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17" name="Rectangle 16"/>
          <p:cNvSpPr/>
          <p:nvPr/>
        </p:nvSpPr>
        <p:spPr>
          <a:xfrm>
            <a:off x="7370064" y="1554480"/>
            <a:ext cx="1865376"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6000"/>
              </a:lnSpc>
            </a:pPr>
            <a:r>
              <a:rPr sz="850" b="0" i="0" dirty="0">
                <a:solidFill>
                  <a:srgbClr val="101A3C"/>
                </a:solidFill>
                <a:latin typeface="Segoe UI"/>
                <a:cs typeface="Segoe UI"/>
              </a:rPr>
              <a:t>Poll until</a:t>
            </a:r>
          </a:p>
          <a:p>
            <a:pPr algn="ctr">
              <a:lnSpc>
                <a:spcPct val="116000"/>
              </a:lnSpc>
            </a:pPr>
            <a:r>
              <a:rPr sz="850" b="0" i="0" dirty="0">
                <a:solidFill>
                  <a:srgbClr val="101A3C"/>
                </a:solidFill>
                <a:latin typeface="Segoe UI"/>
                <a:cs typeface="Segoe UI"/>
              </a:rPr>
              <a:t>Succeeded</a:t>
            </a:r>
          </a:p>
        </p:txBody>
      </p:sp>
      <p:cxnSp>
        <p:nvCxnSpPr>
          <p:cNvPr id="18" name="Connector 17"/>
          <p:cNvCxnSpPr/>
          <p:nvPr/>
        </p:nvCxnSpPr>
        <p:spPr>
          <a:xfrm>
            <a:off x="9235440" y="1837943"/>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276588" y="173278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20" name="Rectangle 19"/>
          <p:cNvSpPr/>
          <p:nvPr/>
        </p:nvSpPr>
        <p:spPr>
          <a:xfrm>
            <a:off x="9528048" y="1554480"/>
            <a:ext cx="2203704" cy="566928"/>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16000"/>
              </a:lnSpc>
            </a:pPr>
            <a:r>
              <a:rPr sz="850" b="1" i="0" dirty="0">
                <a:solidFill>
                  <a:srgbClr val="101A3C"/>
                </a:solidFill>
                <a:latin typeface="Segoe UI"/>
                <a:cs typeface="Segoe UI"/>
              </a:rPr>
              <a:t>Result:</a:t>
            </a:r>
          </a:p>
          <a:p>
            <a:pPr algn="ctr">
              <a:lnSpc>
                <a:spcPct val="116000"/>
              </a:lnSpc>
            </a:pPr>
            <a:r>
              <a:rPr sz="850" b="1" i="0" dirty="0">
                <a:solidFill>
                  <a:srgbClr val="101A3C"/>
                </a:solidFill>
                <a:latin typeface="Segoe UI"/>
                <a:cs typeface="Segoe UI"/>
              </a:rPr>
              <a:t>Markdown + fields</a:t>
            </a:r>
          </a:p>
        </p:txBody>
      </p:sp>
      <p:sp>
        <p:nvSpPr>
          <p:cNvPr id="21" name="TextBox 20"/>
          <p:cNvSpPr txBox="1"/>
          <p:nvPr/>
        </p:nvSpPr>
        <p:spPr>
          <a:xfrm>
            <a:off x="457200" y="2231136"/>
            <a:ext cx="11277295" cy="182880"/>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The file is referenced by URL, or sent as bytes. Results can be deleted explicitly once retrieved.</a:t>
            </a:r>
          </a:p>
        </p:txBody>
      </p:sp>
      <p:sp>
        <p:nvSpPr>
          <p:cNvPr id="22" name="TextBox 21"/>
          <p:cNvSpPr txBox="1"/>
          <p:nvPr/>
        </p:nvSpPr>
        <p:spPr>
          <a:xfrm>
            <a:off x="457200" y="257860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SYNCHRONOUS* — PREVIEW, AND ONLY FOR READING TEXT AND LAYOUT</a:t>
            </a:r>
          </a:p>
        </p:txBody>
      </p:sp>
      <p:sp>
        <p:nvSpPr>
          <p:cNvPr id="23" name="Rectangle 22"/>
          <p:cNvSpPr/>
          <p:nvPr/>
        </p:nvSpPr>
        <p:spPr>
          <a:xfrm>
            <a:off x="457200" y="2852928"/>
            <a:ext cx="2011680" cy="51206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00000"/>
              </a:lnSpc>
            </a:pPr>
            <a:r>
              <a:rPr sz="850" b="1" i="0" dirty="0">
                <a:solidFill>
                  <a:srgbClr val="101A3C"/>
                </a:solidFill>
                <a:latin typeface="Segoe UI"/>
                <a:cs typeface="Segoe UI"/>
              </a:rPr>
              <a:t>Your application</a:t>
            </a:r>
          </a:p>
        </p:txBody>
      </p:sp>
      <p:cxnSp>
        <p:nvCxnSpPr>
          <p:cNvPr id="24" name="Connector 23"/>
          <p:cNvCxnSpPr/>
          <p:nvPr/>
        </p:nvCxnSpPr>
        <p:spPr>
          <a:xfrm>
            <a:off x="2468880" y="3108960"/>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510028" y="300380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26" name="Rectangle 25"/>
          <p:cNvSpPr/>
          <p:nvPr/>
        </p:nvSpPr>
        <p:spPr>
          <a:xfrm>
            <a:off x="2761488" y="2852928"/>
            <a:ext cx="201168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POST …:analyzeInline</a:t>
            </a:r>
          </a:p>
        </p:txBody>
      </p:sp>
      <p:cxnSp>
        <p:nvCxnSpPr>
          <p:cNvPr id="27" name="Connector 26"/>
          <p:cNvCxnSpPr/>
          <p:nvPr/>
        </p:nvCxnSpPr>
        <p:spPr>
          <a:xfrm>
            <a:off x="4773168" y="3108960"/>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4814316" y="300380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9" name="Rectangle 28"/>
          <p:cNvSpPr/>
          <p:nvPr/>
        </p:nvSpPr>
        <p:spPr>
          <a:xfrm>
            <a:off x="5065776" y="2852928"/>
            <a:ext cx="2011680" cy="51206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00000"/>
              </a:lnSpc>
            </a:pPr>
            <a:r>
              <a:rPr sz="850" b="1" i="0" dirty="0">
                <a:solidFill>
                  <a:srgbClr val="101A3C"/>
                </a:solidFill>
                <a:latin typeface="Segoe UI"/>
                <a:cs typeface="Segoe UI"/>
              </a:rPr>
              <a:t>Result in the response</a:t>
            </a:r>
          </a:p>
        </p:txBody>
      </p:sp>
      <p:sp>
        <p:nvSpPr>
          <p:cNvPr id="30" name="TextBox 29"/>
          <p:cNvSpPr txBox="1"/>
          <p:nvPr/>
        </p:nvSpPr>
        <p:spPr>
          <a:xfrm>
            <a:off x="7370064" y="2852928"/>
            <a:ext cx="4361688" cy="548640"/>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No polling, and the content is processed in memory rather than stored by the service. Limited to 10 MB and the first 5 pages.</a:t>
            </a:r>
          </a:p>
        </p:txBody>
      </p:sp>
      <p:sp>
        <p:nvSpPr>
          <p:cNvPr id="31" name="TextBox 30"/>
          <p:cNvSpPr txBox="1"/>
          <p:nvPr/>
        </p:nvSpPr>
        <p:spPr>
          <a:xfrm>
            <a:off x="457200" y="363931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WHICH ONE TO USE</a:t>
            </a:r>
          </a:p>
        </p:txBody>
      </p:sp>
      <p:sp>
        <p:nvSpPr>
          <p:cNvPr id="32" name="Rectangle 31"/>
          <p:cNvSpPr/>
          <p:nvPr/>
        </p:nvSpPr>
        <p:spPr>
          <a:xfrm>
            <a:off x="457200" y="3785615"/>
            <a:ext cx="11277295" cy="310896"/>
          </a:xfrm>
          <a:prstGeom prst="rect">
            <a:avLst/>
          </a:prstGeom>
          <a:solidFill>
            <a:srgbClr val="101A3C"/>
          </a:solidFill>
          <a:ln>
            <a:noFill/>
          </a:ln>
          <a:effectLst/>
        </p:spPr>
        <p:txBody>
          <a:bodyPr wrap="square" rtlCol="0" anchor="ctr"/>
          <a:lstStyle/>
          <a:p>
            <a:endParaRPr/>
          </a:p>
        </p:txBody>
      </p:sp>
      <p:sp>
        <p:nvSpPr>
          <p:cNvPr id="33" name="TextBox 32"/>
          <p:cNvSpPr txBox="1"/>
          <p:nvPr/>
        </p:nvSpPr>
        <p:spPr>
          <a:xfrm>
            <a:off x="585216" y="3863339"/>
            <a:ext cx="2072579" cy="182880"/>
          </a:xfrm>
          <a:prstGeom prst="rect">
            <a:avLst/>
          </a:prstGeom>
          <a:noFill/>
        </p:spPr>
        <p:txBody>
          <a:bodyPr wrap="none" lIns="0" tIns="0" rIns="0" bIns="0" anchor="t">
            <a:spAutoFit/>
          </a:bodyPr>
          <a:lstStyle/>
          <a:p>
            <a:pPr algn="l">
              <a:lnSpc>
                <a:spcPct val="100000"/>
              </a:lnSpc>
            </a:pPr>
            <a:endParaRPr/>
          </a:p>
        </p:txBody>
      </p:sp>
      <p:sp>
        <p:nvSpPr>
          <p:cNvPr id="34" name="TextBox 33"/>
          <p:cNvSpPr txBox="1"/>
          <p:nvPr/>
        </p:nvSpPr>
        <p:spPr>
          <a:xfrm>
            <a:off x="2840675" y="3863339"/>
            <a:ext cx="4553583" cy="182880"/>
          </a:xfrm>
          <a:prstGeom prst="rect">
            <a:avLst/>
          </a:prstGeom>
          <a:noFill/>
        </p:spPr>
        <p:txBody>
          <a:bodyPr wrap="none" lIns="0" tIns="0" rIns="0" bIns="0" anchor="t">
            <a:spAutoFit/>
          </a:bodyPr>
          <a:lstStyle/>
          <a:p>
            <a:pPr algn="l">
              <a:lnSpc>
                <a:spcPct val="100000"/>
              </a:lnSpc>
            </a:pPr>
            <a:r>
              <a:rPr sz="900" b="1" i="0" dirty="0">
                <a:solidFill>
                  <a:srgbClr val="FFFFFF"/>
                </a:solidFill>
                <a:latin typeface="Segoe UI"/>
                <a:cs typeface="Segoe UI"/>
              </a:rPr>
              <a:t>Asynchronous</a:t>
            </a:r>
          </a:p>
        </p:txBody>
      </p:sp>
      <p:sp>
        <p:nvSpPr>
          <p:cNvPr id="35" name="TextBox 34"/>
          <p:cNvSpPr txBox="1"/>
          <p:nvPr/>
        </p:nvSpPr>
        <p:spPr>
          <a:xfrm>
            <a:off x="7577139" y="3863339"/>
            <a:ext cx="4102492" cy="182880"/>
          </a:xfrm>
          <a:prstGeom prst="rect">
            <a:avLst/>
          </a:prstGeom>
          <a:noFill/>
        </p:spPr>
        <p:txBody>
          <a:bodyPr wrap="none" lIns="0" tIns="0" rIns="0" bIns="0" anchor="t">
            <a:spAutoFit/>
          </a:bodyPr>
          <a:lstStyle/>
          <a:p>
            <a:pPr algn="l">
              <a:lnSpc>
                <a:spcPct val="100000"/>
              </a:lnSpc>
            </a:pPr>
            <a:r>
              <a:rPr sz="900" b="1" i="0" dirty="0">
                <a:solidFill>
                  <a:srgbClr val="FFFFFF"/>
                </a:solidFill>
                <a:latin typeface="Segoe UI"/>
                <a:cs typeface="Segoe UI"/>
              </a:rPr>
              <a:t>Synchronous*</a:t>
            </a:r>
          </a:p>
        </p:txBody>
      </p:sp>
      <p:sp>
        <p:nvSpPr>
          <p:cNvPr id="36" name="Rectangle 35"/>
          <p:cNvSpPr/>
          <p:nvPr/>
        </p:nvSpPr>
        <p:spPr>
          <a:xfrm>
            <a:off x="457200" y="4096511"/>
            <a:ext cx="11277295" cy="347472"/>
          </a:xfrm>
          <a:prstGeom prst="rect">
            <a:avLst/>
          </a:prstGeom>
          <a:solidFill>
            <a:srgbClr val="F6F8FD"/>
          </a:solidFill>
          <a:ln>
            <a:noFill/>
          </a:ln>
          <a:effectLst/>
        </p:spPr>
        <p:txBody>
          <a:bodyPr wrap="square" rtlCol="0" anchor="ctr"/>
          <a:lstStyle/>
          <a:p>
            <a:endParaRPr/>
          </a:p>
        </p:txBody>
      </p:sp>
      <p:cxnSp>
        <p:nvCxnSpPr>
          <p:cNvPr id="37" name="Connector 36"/>
          <p:cNvCxnSpPr/>
          <p:nvPr/>
        </p:nvCxnSpPr>
        <p:spPr>
          <a:xfrm>
            <a:off x="457200" y="4443983"/>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85216" y="4146803"/>
            <a:ext cx="2036003" cy="26517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Content types</a:t>
            </a:r>
          </a:p>
        </p:txBody>
      </p:sp>
      <p:sp>
        <p:nvSpPr>
          <p:cNvPr id="39" name="TextBox 38"/>
          <p:cNvSpPr txBox="1"/>
          <p:nvPr/>
        </p:nvSpPr>
        <p:spPr>
          <a:xfrm>
            <a:off x="2840675" y="4146803"/>
            <a:ext cx="4517007"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images, audio and video</a:t>
            </a:r>
          </a:p>
        </p:txBody>
      </p:sp>
      <p:sp>
        <p:nvSpPr>
          <p:cNvPr id="40" name="TextBox 39"/>
          <p:cNvSpPr txBox="1"/>
          <p:nvPr/>
        </p:nvSpPr>
        <p:spPr>
          <a:xfrm>
            <a:off x="7577139" y="4146803"/>
            <a:ext cx="4065916"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only, and only the read and layout analyzers</a:t>
            </a:r>
          </a:p>
        </p:txBody>
      </p:sp>
      <p:cxnSp>
        <p:nvCxnSpPr>
          <p:cNvPr id="41" name="Connector 40"/>
          <p:cNvCxnSpPr/>
          <p:nvPr/>
        </p:nvCxnSpPr>
        <p:spPr>
          <a:xfrm>
            <a:off x="457200" y="4791455"/>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85216" y="4494275"/>
            <a:ext cx="2036003" cy="26517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Field extraction</a:t>
            </a:r>
          </a:p>
        </p:txBody>
      </p:sp>
      <p:sp>
        <p:nvSpPr>
          <p:cNvPr id="43" name="TextBox 42"/>
          <p:cNvSpPr txBox="1"/>
          <p:nvPr/>
        </p:nvSpPr>
        <p:spPr>
          <a:xfrm>
            <a:off x="2840675" y="4494275"/>
            <a:ext cx="4517007"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Yes — your schema, with confidence and source</a:t>
            </a:r>
          </a:p>
        </p:txBody>
      </p:sp>
      <p:sp>
        <p:nvSpPr>
          <p:cNvPr id="44" name="TextBox 43"/>
          <p:cNvSpPr txBox="1"/>
          <p:nvPr/>
        </p:nvSpPr>
        <p:spPr>
          <a:xfrm>
            <a:off x="7577139" y="4494275"/>
            <a:ext cx="4065916"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 — text and layout only, no custom fields</a:t>
            </a:r>
          </a:p>
        </p:txBody>
      </p:sp>
      <p:sp>
        <p:nvSpPr>
          <p:cNvPr id="45" name="Rectangle 44"/>
          <p:cNvSpPr/>
          <p:nvPr/>
        </p:nvSpPr>
        <p:spPr>
          <a:xfrm>
            <a:off x="457200" y="4791455"/>
            <a:ext cx="11277295" cy="347472"/>
          </a:xfrm>
          <a:prstGeom prst="rect">
            <a:avLst/>
          </a:prstGeom>
          <a:solidFill>
            <a:srgbClr val="F6F8FD"/>
          </a:solidFill>
          <a:ln>
            <a:noFill/>
          </a:ln>
          <a:effectLst/>
        </p:spPr>
        <p:txBody>
          <a:bodyPr wrap="square" rtlCol="0" anchor="ctr"/>
          <a:lstStyle/>
          <a:p>
            <a:endParaRPr/>
          </a:p>
        </p:txBody>
      </p:sp>
      <p:cxnSp>
        <p:nvCxnSpPr>
          <p:cNvPr id="46" name="Connector 45"/>
          <p:cNvCxnSpPr/>
          <p:nvPr/>
        </p:nvCxnSpPr>
        <p:spPr>
          <a:xfrm>
            <a:off x="457200" y="5138927"/>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85216" y="4841747"/>
            <a:ext cx="2036003" cy="26517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Size ceiling</a:t>
            </a:r>
          </a:p>
        </p:txBody>
      </p:sp>
      <p:sp>
        <p:nvSpPr>
          <p:cNvPr id="48" name="TextBox 47"/>
          <p:cNvSpPr txBox="1"/>
          <p:nvPr/>
        </p:nvSpPr>
        <p:spPr>
          <a:xfrm>
            <a:off x="2840675" y="4841747"/>
            <a:ext cx="4517007"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200 MB, up to 300 pages</a:t>
            </a:r>
          </a:p>
        </p:txBody>
      </p:sp>
      <p:sp>
        <p:nvSpPr>
          <p:cNvPr id="49" name="TextBox 48"/>
          <p:cNvSpPr txBox="1"/>
          <p:nvPr/>
        </p:nvSpPr>
        <p:spPr>
          <a:xfrm>
            <a:off x="7577139" y="4841747"/>
            <a:ext cx="4065916"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10 MB, first 5 pages only</a:t>
            </a:r>
          </a:p>
        </p:txBody>
      </p:sp>
      <p:cxnSp>
        <p:nvCxnSpPr>
          <p:cNvPr id="50" name="Connector 49"/>
          <p:cNvCxnSpPr/>
          <p:nvPr/>
        </p:nvCxnSpPr>
        <p:spPr>
          <a:xfrm>
            <a:off x="457200" y="5486399"/>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85216" y="5189219"/>
            <a:ext cx="2036003" cy="26517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Cost</a:t>
            </a:r>
          </a:p>
        </p:txBody>
      </p:sp>
      <p:sp>
        <p:nvSpPr>
          <p:cNvPr id="52" name="TextBox 51"/>
          <p:cNvSpPr txBox="1"/>
          <p:nvPr/>
        </p:nvSpPr>
        <p:spPr>
          <a:xfrm>
            <a:off x="2840675" y="5189219"/>
            <a:ext cx="4517007"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Standard page rate</a:t>
            </a:r>
          </a:p>
        </p:txBody>
      </p:sp>
      <p:sp>
        <p:nvSpPr>
          <p:cNvPr id="53" name="TextBox 52"/>
          <p:cNvSpPr txBox="1"/>
          <p:nvPr/>
        </p:nvSpPr>
        <p:spPr>
          <a:xfrm>
            <a:off x="7577139" y="5189219"/>
            <a:ext cx="4065916"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About 50 per cent more per page</a:t>
            </a:r>
          </a:p>
        </p:txBody>
      </p:sp>
      <p:cxnSp>
        <p:nvCxnSpPr>
          <p:cNvPr id="54" name="Connector 53"/>
          <p:cNvCxnSpPr/>
          <p:nvPr/>
        </p:nvCxnSpPr>
        <p:spPr>
          <a:xfrm>
            <a:off x="2712659" y="4096511"/>
            <a:ext cx="0" cy="1389888"/>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449123" y="4096511"/>
            <a:ext cx="0" cy="1389888"/>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7200" y="5559552"/>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WHAT CHANGED IN 2026</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What changed in 2026, and what you can rely on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set of improvements landed in the generally available API; a second, larger set is preview only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learn.microsoft.com/azure/ai-services/content-understanding/whats-new · concepts/agentic-mode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7</a:t>
            </a:r>
          </a:p>
        </p:txBody>
      </p:sp>
      <p:sp>
        <p:nvSpPr>
          <p:cNvPr id="7" name="Rectangle 6"/>
          <p:cNvSpPr/>
          <p:nvPr/>
        </p:nvSpPr>
        <p:spPr>
          <a:xfrm>
            <a:off x="457200" y="1316736"/>
            <a:ext cx="5541264" cy="457200"/>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658368" y="1417320"/>
            <a:ext cx="5120640" cy="256032"/>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Segoe UI"/>
                <a:cs typeface="Segoe UI"/>
              </a:rPr>
              <a:t>Generally available  ·  API 2025-11-01  ·  use in production</a:t>
            </a:r>
          </a:p>
        </p:txBody>
      </p:sp>
      <p:sp>
        <p:nvSpPr>
          <p:cNvPr id="9" name="Rectangle 8"/>
          <p:cNvSpPr/>
          <p:nvPr/>
        </p:nvSpPr>
        <p:spPr>
          <a:xfrm>
            <a:off x="457200" y="1865376"/>
            <a:ext cx="5541264" cy="749808"/>
          </a:xfrm>
          <a:prstGeom prst="rect">
            <a:avLst/>
          </a:prstGeom>
          <a:solidFill>
            <a:srgbClr val="F6F8FD"/>
          </a:solidFill>
          <a:ln w="9525">
            <a:solidFill>
              <a:srgbClr val="E1E7F4"/>
            </a:solidFill>
          </a:ln>
          <a:effectLst/>
        </p:spPr>
        <p:txBody>
          <a:bodyPr wrap="square" rtlCol="0" anchor="ctr"/>
          <a:lstStyle/>
          <a:p>
            <a:endParaRPr/>
          </a:p>
        </p:txBody>
      </p:sp>
      <p:sp>
        <p:nvSpPr>
          <p:cNvPr id="10" name="Rectangle 9"/>
          <p:cNvSpPr/>
          <p:nvPr/>
        </p:nvSpPr>
        <p:spPr>
          <a:xfrm>
            <a:off x="457200" y="1865376"/>
            <a:ext cx="41148" cy="749808"/>
          </a:xfrm>
          <a:prstGeom prst="rect">
            <a:avLst/>
          </a:prstGeom>
          <a:solidFill>
            <a:srgbClr val="00B39F"/>
          </a:solidFill>
          <a:ln>
            <a:noFill/>
          </a:ln>
          <a:effectLst/>
        </p:spPr>
        <p:txBody>
          <a:bodyPr wrap="square" rtlCol="0" anchor="ctr"/>
          <a:lstStyle/>
          <a:p>
            <a:endParaRPr/>
          </a:p>
        </p:txBody>
      </p:sp>
      <p:sp>
        <p:nvSpPr>
          <p:cNvPr id="11" name="TextBox 10"/>
          <p:cNvSpPr txBox="1"/>
          <p:nvPr/>
        </p:nvSpPr>
        <p:spPr>
          <a:xfrm>
            <a:off x="658368" y="1975104"/>
            <a:ext cx="512064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GPT-5 series models supported</a:t>
            </a:r>
          </a:p>
        </p:txBody>
      </p:sp>
      <p:sp>
        <p:nvSpPr>
          <p:cNvPr id="12" name="TextBox 11"/>
          <p:cNvSpPr txBox="1"/>
          <p:nvPr/>
        </p:nvSpPr>
        <p:spPr>
          <a:xfrm>
            <a:off x="658368" y="2194560"/>
            <a:ext cx="5120640" cy="365760"/>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Analyzers can use the GPT-5 family, including mini and nano variants. Existing provisioned throughput commitments apply.</a:t>
            </a:r>
          </a:p>
        </p:txBody>
      </p:sp>
      <p:sp>
        <p:nvSpPr>
          <p:cNvPr id="13" name="Rectangle 12"/>
          <p:cNvSpPr/>
          <p:nvPr/>
        </p:nvSpPr>
        <p:spPr>
          <a:xfrm>
            <a:off x="457200" y="2688336"/>
            <a:ext cx="5541264" cy="749808"/>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457200" y="2688336"/>
            <a:ext cx="41148" cy="749808"/>
          </a:xfrm>
          <a:prstGeom prst="rect">
            <a:avLst/>
          </a:prstGeom>
          <a:solidFill>
            <a:srgbClr val="00B39F"/>
          </a:solidFill>
          <a:ln>
            <a:noFill/>
          </a:ln>
          <a:effectLst/>
        </p:spPr>
        <p:txBody>
          <a:bodyPr wrap="square" rtlCol="0" anchor="ctr"/>
          <a:lstStyle/>
          <a:p>
            <a:endParaRPr/>
          </a:p>
        </p:txBody>
      </p:sp>
      <p:sp>
        <p:nvSpPr>
          <p:cNvPr id="15" name="TextBox 14"/>
          <p:cNvSpPr txBox="1"/>
          <p:nvPr/>
        </p:nvSpPr>
        <p:spPr>
          <a:xfrm>
            <a:off x="658368" y="2798064"/>
            <a:ext cx="512064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Fewer tokens for the same work</a:t>
            </a:r>
          </a:p>
        </p:txBody>
      </p:sp>
      <p:sp>
        <p:nvSpPr>
          <p:cNvPr id="16" name="TextBox 15"/>
          <p:cNvSpPr txBox="1"/>
          <p:nvPr/>
        </p:nvSpPr>
        <p:spPr>
          <a:xfrm>
            <a:off x="658368" y="3017520"/>
            <a:ext cx="5120640" cy="365760"/>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Merging extraction and grounding cut average inference tokens by up to 28 per cent, with accuracy up to 3 per cent better.</a:t>
            </a:r>
          </a:p>
        </p:txBody>
      </p:sp>
      <p:sp>
        <p:nvSpPr>
          <p:cNvPr id="17" name="Rectangle 16"/>
          <p:cNvSpPr/>
          <p:nvPr/>
        </p:nvSpPr>
        <p:spPr>
          <a:xfrm>
            <a:off x="457200" y="3511296"/>
            <a:ext cx="5541264" cy="749808"/>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457200" y="3511296"/>
            <a:ext cx="41148" cy="749808"/>
          </a:xfrm>
          <a:prstGeom prst="rect">
            <a:avLst/>
          </a:prstGeom>
          <a:solidFill>
            <a:srgbClr val="00B39F"/>
          </a:solidFill>
          <a:ln>
            <a:noFill/>
          </a:ln>
          <a:effectLst/>
        </p:spPr>
        <p:txBody>
          <a:bodyPr wrap="square" rtlCol="0" anchor="ctr"/>
          <a:lstStyle/>
          <a:p>
            <a:endParaRPr/>
          </a:p>
        </p:txBody>
      </p:sp>
      <p:sp>
        <p:nvSpPr>
          <p:cNvPr id="19" name="TextBox 18"/>
          <p:cNvSpPr txBox="1"/>
          <p:nvPr/>
        </p:nvSpPr>
        <p:spPr>
          <a:xfrm>
            <a:off x="658368" y="3621024"/>
            <a:ext cx="512064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A better confidence score</a:t>
            </a:r>
          </a:p>
        </p:txBody>
      </p:sp>
      <p:sp>
        <p:nvSpPr>
          <p:cNvPr id="20" name="TextBox 19"/>
          <p:cNvSpPr txBox="1"/>
          <p:nvPr/>
        </p:nvSpPr>
        <p:spPr>
          <a:xfrm>
            <a:off x="658368" y="3840480"/>
            <a:ext cx="5120640" cy="365760"/>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The refreshed confidence model improved score accuracy by up to 14 per cent, measured by area under the ROC curve.</a:t>
            </a:r>
          </a:p>
        </p:txBody>
      </p:sp>
      <p:sp>
        <p:nvSpPr>
          <p:cNvPr id="21" name="Rectangle 20"/>
          <p:cNvSpPr/>
          <p:nvPr/>
        </p:nvSpPr>
        <p:spPr>
          <a:xfrm>
            <a:off x="457200" y="4370832"/>
            <a:ext cx="5541264" cy="566928"/>
          </a:xfrm>
          <a:prstGeom prst="rect">
            <a:avLst/>
          </a:prstGeom>
          <a:solidFill>
            <a:srgbClr val="EBEFF7"/>
          </a:solidFill>
          <a:ln>
            <a:noFill/>
          </a:ln>
          <a:effectLst/>
        </p:spPr>
        <p:txBody>
          <a:bodyPr wrap="square" rtlCol="0" anchor="ctr"/>
          <a:lstStyle/>
          <a:p>
            <a:endParaRPr/>
          </a:p>
        </p:txBody>
      </p:sp>
      <p:sp>
        <p:nvSpPr>
          <p:cNvPr id="22" name="Rectangle 21"/>
          <p:cNvSpPr/>
          <p:nvPr/>
        </p:nvSpPr>
        <p:spPr>
          <a:xfrm>
            <a:off x="457200" y="4370832"/>
            <a:ext cx="41148" cy="566928"/>
          </a:xfrm>
          <a:prstGeom prst="rect">
            <a:avLst/>
          </a:prstGeom>
          <a:solidFill>
            <a:srgbClr val="00B39F"/>
          </a:solidFill>
          <a:ln>
            <a:noFill/>
          </a:ln>
          <a:effectLst/>
        </p:spPr>
        <p:txBody>
          <a:bodyPr wrap="square" rtlCol="0" anchor="ctr"/>
          <a:lstStyle/>
          <a:p>
            <a:endParaRPr/>
          </a:p>
        </p:txBody>
      </p:sp>
      <p:sp>
        <p:nvSpPr>
          <p:cNvPr id="23" name="TextBox 22"/>
          <p:cNvSpPr txBox="1"/>
          <p:nvPr/>
        </p:nvSpPr>
        <p:spPr>
          <a:xfrm>
            <a:off x="694944" y="4471416"/>
            <a:ext cx="5120640"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Caution from the same guidance: confidence quality drops noticeably on the mini and nano variants. Avoid them where the confidence score is load-bearing.</a:t>
            </a:r>
          </a:p>
        </p:txBody>
      </p:sp>
      <p:sp>
        <p:nvSpPr>
          <p:cNvPr id="24" name="Rectangle 23"/>
          <p:cNvSpPr/>
          <p:nvPr/>
        </p:nvSpPr>
        <p:spPr>
          <a:xfrm>
            <a:off x="6345936" y="1316736"/>
            <a:ext cx="5385816" cy="457200"/>
          </a:xfrm>
          <a:prstGeom prst="rect">
            <a:avLst/>
          </a:prstGeom>
          <a:solidFill>
            <a:srgbClr val="2A3355"/>
          </a:solidFill>
          <a:ln>
            <a:noFill/>
          </a:ln>
          <a:effectLst/>
        </p:spPr>
        <p:txBody>
          <a:bodyPr wrap="square" rtlCol="0" anchor="ctr"/>
          <a:lstStyle/>
          <a:p>
            <a:endParaRPr/>
          </a:p>
        </p:txBody>
      </p:sp>
      <p:sp>
        <p:nvSpPr>
          <p:cNvPr id="25" name="TextBox 24"/>
          <p:cNvSpPr txBox="1"/>
          <p:nvPr/>
        </p:nvSpPr>
        <p:spPr>
          <a:xfrm>
            <a:off x="6547104" y="1417320"/>
            <a:ext cx="4937760" cy="256032"/>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Segoe UI"/>
                <a:cs typeface="Segoe UI"/>
              </a:rPr>
              <a:t>Preview*  ·  API 2026-06-01-preview  ·  evaluate only</a:t>
            </a:r>
          </a:p>
        </p:txBody>
      </p:sp>
      <p:sp>
        <p:nvSpPr>
          <p:cNvPr id="26" name="Rectangle 25"/>
          <p:cNvSpPr/>
          <p:nvPr/>
        </p:nvSpPr>
        <p:spPr>
          <a:xfrm>
            <a:off x="6345936" y="1865376"/>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27" name="TextBox 26"/>
          <p:cNvSpPr txBox="1"/>
          <p:nvPr/>
        </p:nvSpPr>
        <p:spPr>
          <a:xfrm>
            <a:off x="6547104" y="1911095"/>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Agentic mode</a:t>
            </a:r>
          </a:p>
        </p:txBody>
      </p:sp>
      <p:sp>
        <p:nvSpPr>
          <p:cNvPr id="28" name="TextBox 27"/>
          <p:cNvSpPr txBox="1"/>
          <p:nvPr/>
        </p:nvSpPr>
        <p:spPr>
          <a:xfrm>
            <a:off x="6547104" y="2084832"/>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Reasons over a document: multi-step calculation, validation against conditions, reading tables and figures. Replaces the retired pro mode.</a:t>
            </a:r>
          </a:p>
        </p:txBody>
      </p:sp>
      <p:sp>
        <p:nvSpPr>
          <p:cNvPr id="29" name="Rectangle 28"/>
          <p:cNvSpPr/>
          <p:nvPr/>
        </p:nvSpPr>
        <p:spPr>
          <a:xfrm>
            <a:off x="6345936" y="2386584"/>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30" name="TextBox 29"/>
          <p:cNvSpPr txBox="1"/>
          <p:nvPr/>
        </p:nvSpPr>
        <p:spPr>
          <a:xfrm>
            <a:off x="6547104" y="2432303"/>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Synchronous read and layout</a:t>
            </a:r>
          </a:p>
        </p:txBody>
      </p:sp>
      <p:sp>
        <p:nvSpPr>
          <p:cNvPr id="31" name="TextBox 30"/>
          <p:cNvSpPr txBox="1"/>
          <p:nvPr/>
        </p:nvSpPr>
        <p:spPr>
          <a:xfrm>
            <a:off x="6547104" y="2606039"/>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Processed in memory, answer in the response, no polling.</a:t>
            </a:r>
          </a:p>
        </p:txBody>
      </p:sp>
      <p:sp>
        <p:nvSpPr>
          <p:cNvPr id="32" name="Rectangle 31"/>
          <p:cNvSpPr/>
          <p:nvPr/>
        </p:nvSpPr>
        <p:spPr>
          <a:xfrm>
            <a:off x="6345936" y="2907791"/>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33" name="TextBox 32"/>
          <p:cNvSpPr txBox="1"/>
          <p:nvPr/>
        </p:nvSpPr>
        <p:spPr>
          <a:xfrm>
            <a:off x="6547104" y="2953511"/>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Advanced contextualization</a:t>
            </a:r>
          </a:p>
        </p:txBody>
      </p:sp>
      <p:sp>
        <p:nvSpPr>
          <p:cNvPr id="34" name="TextBox 33"/>
          <p:cNvSpPr txBox="1"/>
          <p:nvPr/>
        </p:nvSpPr>
        <p:spPr>
          <a:xfrm>
            <a:off x="6547104" y="3127248"/>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Up to 3.5 per cent better accuracy for up to 22 per cent fewer tokens. Billed at a higher rate.</a:t>
            </a:r>
          </a:p>
        </p:txBody>
      </p:sp>
      <p:sp>
        <p:nvSpPr>
          <p:cNvPr id="35" name="Rectangle 34"/>
          <p:cNvSpPr/>
          <p:nvPr/>
        </p:nvSpPr>
        <p:spPr>
          <a:xfrm>
            <a:off x="6345936" y="3428999"/>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36" name="TextBox 35"/>
          <p:cNvSpPr txBox="1"/>
          <p:nvPr/>
        </p:nvSpPr>
        <p:spPr>
          <a:xfrm>
            <a:off x="6547104" y="3474719"/>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Private training by distillation</a:t>
            </a:r>
          </a:p>
        </p:txBody>
      </p:sp>
      <p:sp>
        <p:nvSpPr>
          <p:cNvPr id="37" name="TextBox 36"/>
          <p:cNvSpPr txBox="1"/>
          <p:nvPr/>
        </p:nvSpPr>
        <p:spPr>
          <a:xfrm>
            <a:off x="6547104" y="3648455"/>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Labelled patterns are distilled into the analyzer, which then neither keeps nor needs the labelled documents.</a:t>
            </a:r>
          </a:p>
        </p:txBody>
      </p:sp>
      <p:sp>
        <p:nvSpPr>
          <p:cNvPr id="38" name="Rectangle 37"/>
          <p:cNvSpPr/>
          <p:nvPr/>
        </p:nvSpPr>
        <p:spPr>
          <a:xfrm>
            <a:off x="6345936" y="3950207"/>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39" name="TextBox 38"/>
          <p:cNvSpPr txBox="1"/>
          <p:nvPr/>
        </p:nvSpPr>
        <p:spPr>
          <a:xfrm>
            <a:off x="6547104" y="3995927"/>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Classification enhancements</a:t>
            </a:r>
          </a:p>
        </p:txBody>
      </p:sp>
      <p:sp>
        <p:nvSpPr>
          <p:cNvPr id="40" name="TextBox 39"/>
          <p:cNvSpPr txBox="1"/>
          <p:nvPr/>
        </p:nvSpPr>
        <p:spPr>
          <a:xfrm>
            <a:off x="6547104" y="4169663"/>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Layout-aware features for classifying, and splitting a single page into separately classified segments.</a:t>
            </a:r>
          </a:p>
        </p:txBody>
      </p:sp>
      <p:sp>
        <p:nvSpPr>
          <p:cNvPr id="41" name="Rectangle 40"/>
          <p:cNvSpPr/>
          <p:nvPr/>
        </p:nvSpPr>
        <p:spPr>
          <a:xfrm>
            <a:off x="6345936" y="4471416"/>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42" name="TextBox 41"/>
          <p:cNvSpPr txBox="1"/>
          <p:nvPr/>
        </p:nvSpPr>
        <p:spPr>
          <a:xfrm>
            <a:off x="6547104" y="4517136"/>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Signatures, metadata, new tax forms</a:t>
            </a:r>
          </a:p>
        </p:txBody>
      </p:sp>
      <p:sp>
        <p:nvSpPr>
          <p:cNvPr id="43" name="TextBox 42"/>
          <p:cNvSpPr txBox="1"/>
          <p:nvPr/>
        </p:nvSpPr>
        <p:spPr>
          <a:xfrm>
            <a:off x="6547104" y="4690872"/>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Signature detection, document metadata, and Schedule K-1 and Minnesota M1 prebuilt analyzers.</a:t>
            </a:r>
          </a:p>
        </p:txBody>
      </p:sp>
      <p:sp>
        <p:nvSpPr>
          <p:cNvPr id="44" name="Rectangle 43"/>
          <p:cNvSpPr/>
          <p:nvPr/>
        </p:nvSpPr>
        <p:spPr>
          <a:xfrm>
            <a:off x="457200" y="5102352"/>
            <a:ext cx="11277295" cy="493776"/>
          </a:xfrm>
          <a:prstGeom prst="rect">
            <a:avLst/>
          </a:prstGeom>
          <a:solidFill>
            <a:srgbClr val="EBEFF7"/>
          </a:solidFill>
          <a:ln>
            <a:noFill/>
          </a:ln>
          <a:effectLst/>
        </p:spPr>
        <p:txBody>
          <a:bodyPr wrap="square" rtlCol="0" anchor="ctr"/>
          <a:lstStyle/>
          <a:p>
            <a:endParaRPr/>
          </a:p>
        </p:txBody>
      </p:sp>
      <p:sp>
        <p:nvSpPr>
          <p:cNvPr id="45" name="Rectangle 44"/>
          <p:cNvSpPr/>
          <p:nvPr/>
        </p:nvSpPr>
        <p:spPr>
          <a:xfrm>
            <a:off x="457200" y="5102352"/>
            <a:ext cx="41148" cy="493776"/>
          </a:xfrm>
          <a:prstGeom prst="rect">
            <a:avLst/>
          </a:prstGeom>
          <a:solidFill>
            <a:srgbClr val="00B39F"/>
          </a:solidFill>
          <a:ln>
            <a:noFill/>
          </a:ln>
          <a:effectLst/>
        </p:spPr>
        <p:txBody>
          <a:bodyPr wrap="square" rtlCol="0" anchor="ctr"/>
          <a:lstStyle/>
          <a:p>
            <a:endParaRPr/>
          </a:p>
        </p:txBody>
      </p:sp>
      <p:sp>
        <p:nvSpPr>
          <p:cNvPr id="46" name="TextBox 45"/>
          <p:cNvSpPr txBox="1"/>
          <p:nvPr/>
        </p:nvSpPr>
        <p:spPr>
          <a:xfrm>
            <a:off x="694944" y="5202936"/>
            <a:ext cx="10856671" cy="310896"/>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Two things to check before planning on agentic mode: it is not a drop-in replacement for pro mode — it takes one file per request and does not support extracted fields — and it needs roughly 400,000 tokens per minute of model capacity per job.</a:t>
            </a:r>
          </a:p>
        </p:txBody>
      </p:sp>
      <p:sp>
        <p:nvSpPr>
          <p:cNvPr id="47" name="TextBox 46"/>
          <p:cNvSpPr txBox="1"/>
          <p:nvPr/>
        </p:nvSpPr>
        <p:spPr>
          <a:xfrm>
            <a:off x="457200" y="5614416"/>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WHAT CHANGED IN 2026</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Agentic mode*, in detail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For answers that have to be built from evidence across a document, rather than read from one place on it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learn.microsoft.com/azure/ai-services/content-understanding/concepts/agentic-mode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8</a:t>
            </a:r>
          </a:p>
        </p:txBody>
      </p:sp>
      <p:sp>
        <p:nvSpPr>
          <p:cNvPr id="7" name="Rectangle 6"/>
          <p:cNvSpPr/>
          <p:nvPr/>
        </p:nvSpPr>
        <p:spPr>
          <a:xfrm>
            <a:off x="457200" y="1316736"/>
            <a:ext cx="11277295" cy="475488"/>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713232" y="1426464"/>
            <a:ext cx="10765231" cy="274320"/>
          </a:xfrm>
          <a:prstGeom prst="rect">
            <a:avLst/>
          </a:prstGeom>
          <a:noFill/>
        </p:spPr>
        <p:txBody>
          <a:bodyPr wrap="square" lIns="0" tIns="0" rIns="0" bIns="0" anchor="t">
            <a:spAutoFit/>
          </a:bodyPr>
          <a:lstStyle/>
          <a:p>
            <a:pPr algn="l">
              <a:lnSpc>
                <a:spcPct val="120000"/>
              </a:lnSpc>
            </a:pPr>
            <a:r>
              <a:rPr sz="1000" b="0" i="0" dirty="0">
                <a:solidFill>
                  <a:srgbClr val="FFFFFF"/>
                </a:solidFill>
                <a:latin typeface="Segoe UI"/>
                <a:cs typeface="Segoe UI"/>
              </a:rPr>
              <a:t>The problem it solves: standard extraction finds a value that is written somewhere. Some answers are not written anywhere — they have to be worked out from several parts of the document.</a:t>
            </a:r>
          </a:p>
        </p:txBody>
      </p:sp>
      <p:sp>
        <p:nvSpPr>
          <p:cNvPr id="9" name="TextBox 8"/>
          <p:cNvSpPr txBox="1"/>
          <p:nvPr/>
        </p:nvSpPr>
        <p:spPr>
          <a:xfrm>
            <a:off x="457200" y="193852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HOW A REQUEST IS HANDLED</a:t>
            </a:r>
          </a:p>
        </p:txBody>
      </p:sp>
      <p:sp>
        <p:nvSpPr>
          <p:cNvPr id="10" name="Rectangle 9"/>
          <p:cNvSpPr/>
          <p:nvPr/>
        </p:nvSpPr>
        <p:spPr>
          <a:xfrm>
            <a:off x="457200" y="2194560"/>
            <a:ext cx="2121408" cy="859536"/>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0000"/>
              </a:lnSpc>
            </a:pPr>
            <a:r>
              <a:rPr sz="1000" b="1" i="0" dirty="0">
                <a:solidFill>
                  <a:srgbClr val="101A3C"/>
                </a:solidFill>
                <a:latin typeface="Segoe UI"/>
                <a:cs typeface="Segoe UI"/>
              </a:rPr>
              <a:t>One input file</a:t>
            </a:r>
          </a:p>
          <a:p>
            <a:pPr algn="ctr">
              <a:lnSpc>
                <a:spcPct val="120000"/>
              </a:lnSpc>
            </a:pPr>
            <a:r>
              <a:rPr sz="750" b="0" i="0" dirty="0">
                <a:solidFill>
                  <a:srgbClr val="44495B"/>
                </a:solidFill>
                <a:latin typeface="Segoe UI"/>
                <a:cs typeface="Segoe UI"/>
              </a:rPr>
              <a:t>which may hold several</a:t>
            </a:r>
          </a:p>
          <a:p>
            <a:pPr algn="ctr">
              <a:lnSpc>
                <a:spcPct val="120000"/>
              </a:lnSpc>
            </a:pPr>
            <a:r>
              <a:rPr sz="750" b="0" i="0" dirty="0">
                <a:solidFill>
                  <a:srgbClr val="44495B"/>
                </a:solidFill>
                <a:latin typeface="Segoe UI"/>
                <a:cs typeface="Segoe UI"/>
              </a:rPr>
              <a:t>related documents — a contract,</a:t>
            </a:r>
          </a:p>
          <a:p>
            <a:pPr algn="ctr">
              <a:lnSpc>
                <a:spcPct val="120000"/>
              </a:lnSpc>
            </a:pPr>
            <a:r>
              <a:rPr sz="750" b="0" i="0" dirty="0">
                <a:solidFill>
                  <a:srgbClr val="44495B"/>
                </a:solidFill>
                <a:latin typeface="Segoe UI"/>
                <a:cs typeface="Segoe UI"/>
              </a:rPr>
              <a:t>its appendix, the rules</a:t>
            </a:r>
          </a:p>
        </p:txBody>
      </p:sp>
      <p:cxnSp>
        <p:nvCxnSpPr>
          <p:cNvPr id="11" name="Connector 10"/>
          <p:cNvCxnSpPr/>
          <p:nvPr/>
        </p:nvCxnSpPr>
        <p:spPr>
          <a:xfrm>
            <a:off x="2578608" y="2624328"/>
            <a:ext cx="402336"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674620" y="2519172"/>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3" name="Rectangle 12"/>
          <p:cNvSpPr/>
          <p:nvPr/>
        </p:nvSpPr>
        <p:spPr>
          <a:xfrm>
            <a:off x="2980944" y="2048256"/>
            <a:ext cx="5760720" cy="1152144"/>
          </a:xfrm>
          <a:prstGeom prst="rect">
            <a:avLst/>
          </a:prstGeom>
          <a:noFill/>
          <a:ln w="9525">
            <a:solidFill>
              <a:srgbClr val="44495B"/>
            </a:solidFill>
            <a:prstDash val="dash"/>
          </a:ln>
          <a:effectLst/>
        </p:spPr>
        <p:txBody>
          <a:bodyPr wrap="square" rtlCol="0" anchor="ctr"/>
          <a:lstStyle/>
          <a:p>
            <a:endParaRPr/>
          </a:p>
        </p:txBody>
      </p:sp>
      <p:sp>
        <p:nvSpPr>
          <p:cNvPr id="14" name="TextBox 13"/>
          <p:cNvSpPr txBox="1"/>
          <p:nvPr/>
        </p:nvSpPr>
        <p:spPr>
          <a:xfrm>
            <a:off x="3108960" y="2103120"/>
            <a:ext cx="3657600" cy="164592"/>
          </a:xfrm>
          <a:prstGeom prst="rect">
            <a:avLst/>
          </a:prstGeom>
          <a:noFill/>
        </p:spPr>
        <p:txBody>
          <a:bodyPr wrap="square" lIns="0" tIns="0" rIns="0" bIns="0" anchor="t">
            <a:spAutoFit/>
          </a:bodyPr>
          <a:lstStyle/>
          <a:p>
            <a:pPr algn="l">
              <a:lnSpc>
                <a:spcPct val="100000"/>
              </a:lnSpc>
            </a:pPr>
            <a:r>
              <a:rPr sz="750" b="1" i="0" dirty="0">
                <a:solidFill>
                  <a:srgbClr val="44495B"/>
                </a:solidFill>
                <a:latin typeface="Segoe UI"/>
                <a:cs typeface="Segoe UI"/>
              </a:rPr>
              <a:t>A G E N T I C   R E A S O N I N G</a:t>
            </a:r>
          </a:p>
        </p:txBody>
      </p:sp>
      <p:sp>
        <p:nvSpPr>
          <p:cNvPr id="15" name="Rectangle 14"/>
          <p:cNvSpPr/>
          <p:nvPr/>
        </p:nvSpPr>
        <p:spPr>
          <a:xfrm>
            <a:off x="3090672" y="2322576"/>
            <a:ext cx="1335024" cy="804672"/>
          </a:xfrm>
          <a:prstGeom prst="rect">
            <a:avLst/>
          </a:prstGeom>
          <a:solidFill>
            <a:srgbClr val="FFFFFF"/>
          </a:solidFill>
          <a:ln w="9525">
            <a:solidFill>
              <a:srgbClr val="E1E7F4"/>
            </a:solidFill>
          </a:ln>
          <a:effectLst/>
        </p:spPr>
        <p:txBody>
          <a:bodyPr wrap="square" rtlCol="0" anchor="ctr"/>
          <a:lstStyle/>
          <a:p>
            <a:endParaRPr/>
          </a:p>
        </p:txBody>
      </p:sp>
      <p:sp>
        <p:nvSpPr>
          <p:cNvPr id="16" name="Rectangle 15"/>
          <p:cNvSpPr/>
          <p:nvPr/>
        </p:nvSpPr>
        <p:spPr>
          <a:xfrm>
            <a:off x="3090672" y="2322576"/>
            <a:ext cx="1335024" cy="41148"/>
          </a:xfrm>
          <a:prstGeom prst="rect">
            <a:avLst/>
          </a:prstGeom>
          <a:solidFill>
            <a:srgbClr val="00B39F"/>
          </a:solidFill>
          <a:ln>
            <a:noFill/>
          </a:ln>
          <a:effectLst/>
        </p:spPr>
        <p:txBody>
          <a:bodyPr wrap="square" rtlCol="0" anchor="ctr"/>
          <a:lstStyle/>
          <a:p>
            <a:endParaRPr/>
          </a:p>
        </p:txBody>
      </p:sp>
      <p:sp>
        <p:nvSpPr>
          <p:cNvPr id="17" name="TextBox 16"/>
          <p:cNvSpPr txBox="1"/>
          <p:nvPr/>
        </p:nvSpPr>
        <p:spPr>
          <a:xfrm>
            <a:off x="3191256" y="2432304"/>
            <a:ext cx="1152144"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Reads across</a:t>
            </a:r>
          </a:p>
        </p:txBody>
      </p:sp>
      <p:sp>
        <p:nvSpPr>
          <p:cNvPr id="18" name="TextBox 17"/>
          <p:cNvSpPr txBox="1"/>
          <p:nvPr/>
        </p:nvSpPr>
        <p:spPr>
          <a:xfrm>
            <a:off x="3191256" y="2633472"/>
            <a:ext cx="1152144" cy="40233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connects related facts</a:t>
            </a:r>
          </a:p>
          <a:p>
            <a:pPr algn="l">
              <a:lnSpc>
                <a:spcPct val="112000"/>
              </a:lnSpc>
            </a:pPr>
            <a:r>
              <a:rPr sz="750" b="0" i="0" dirty="0">
                <a:solidFill>
                  <a:srgbClr val="44495B"/>
                </a:solidFill>
                <a:latin typeface="Segoe UI"/>
                <a:cs typeface="Segoe UI"/>
              </a:rPr>
              <a:t>in different places</a:t>
            </a:r>
          </a:p>
        </p:txBody>
      </p:sp>
      <p:sp>
        <p:nvSpPr>
          <p:cNvPr id="19" name="Rectangle 18"/>
          <p:cNvSpPr/>
          <p:nvPr/>
        </p:nvSpPr>
        <p:spPr>
          <a:xfrm>
            <a:off x="4489704" y="2322576"/>
            <a:ext cx="1335024" cy="804672"/>
          </a:xfrm>
          <a:prstGeom prst="rect">
            <a:avLst/>
          </a:prstGeom>
          <a:solidFill>
            <a:srgbClr val="FFFFFF"/>
          </a:solidFill>
          <a:ln w="9525">
            <a:solidFill>
              <a:srgbClr val="E1E7F4"/>
            </a:solidFill>
          </a:ln>
          <a:effectLst/>
        </p:spPr>
        <p:txBody>
          <a:bodyPr wrap="square" rtlCol="0" anchor="ctr"/>
          <a:lstStyle/>
          <a:p>
            <a:endParaRPr/>
          </a:p>
        </p:txBody>
      </p:sp>
      <p:sp>
        <p:nvSpPr>
          <p:cNvPr id="20" name="Rectangle 19"/>
          <p:cNvSpPr/>
          <p:nvPr/>
        </p:nvSpPr>
        <p:spPr>
          <a:xfrm>
            <a:off x="4489704" y="2322576"/>
            <a:ext cx="1335024" cy="41148"/>
          </a:xfrm>
          <a:prstGeom prst="rect">
            <a:avLst/>
          </a:prstGeom>
          <a:solidFill>
            <a:srgbClr val="00B39F"/>
          </a:solidFill>
          <a:ln>
            <a:noFill/>
          </a:ln>
          <a:effectLst/>
        </p:spPr>
        <p:txBody>
          <a:bodyPr wrap="square" rtlCol="0" anchor="ctr"/>
          <a:lstStyle/>
          <a:p>
            <a:endParaRPr/>
          </a:p>
        </p:txBody>
      </p:sp>
      <p:sp>
        <p:nvSpPr>
          <p:cNvPr id="21" name="TextBox 20"/>
          <p:cNvSpPr txBox="1"/>
          <p:nvPr/>
        </p:nvSpPr>
        <p:spPr>
          <a:xfrm>
            <a:off x="4590288" y="2432304"/>
            <a:ext cx="1152144"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Calculates</a:t>
            </a:r>
          </a:p>
        </p:txBody>
      </p:sp>
      <p:sp>
        <p:nvSpPr>
          <p:cNvPr id="22" name="TextBox 21"/>
          <p:cNvSpPr txBox="1"/>
          <p:nvPr/>
        </p:nvSpPr>
        <p:spPr>
          <a:xfrm>
            <a:off x="4590288" y="2633472"/>
            <a:ext cx="1152144" cy="40233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derives totals and</a:t>
            </a:r>
          </a:p>
          <a:p>
            <a:pPr algn="l">
              <a:lnSpc>
                <a:spcPct val="112000"/>
              </a:lnSpc>
            </a:pPr>
            <a:r>
              <a:rPr sz="750" b="0" i="0" dirty="0">
                <a:solidFill>
                  <a:srgbClr val="44495B"/>
                </a:solidFill>
                <a:latin typeface="Segoe UI"/>
                <a:cs typeface="Segoe UI"/>
              </a:rPr>
              <a:t>reconciliations</a:t>
            </a:r>
          </a:p>
        </p:txBody>
      </p:sp>
      <p:sp>
        <p:nvSpPr>
          <p:cNvPr id="23" name="Rectangle 22"/>
          <p:cNvSpPr/>
          <p:nvPr/>
        </p:nvSpPr>
        <p:spPr>
          <a:xfrm>
            <a:off x="5888736" y="2322576"/>
            <a:ext cx="1335024" cy="804672"/>
          </a:xfrm>
          <a:prstGeom prst="rect">
            <a:avLst/>
          </a:prstGeom>
          <a:solidFill>
            <a:srgbClr val="FFFFFF"/>
          </a:solidFill>
          <a:ln w="9525">
            <a:solidFill>
              <a:srgbClr val="E1E7F4"/>
            </a:solidFill>
          </a:ln>
          <a:effectLst/>
        </p:spPr>
        <p:txBody>
          <a:bodyPr wrap="square" rtlCol="0" anchor="ctr"/>
          <a:lstStyle/>
          <a:p>
            <a:endParaRPr/>
          </a:p>
        </p:txBody>
      </p:sp>
      <p:sp>
        <p:nvSpPr>
          <p:cNvPr id="24" name="Rectangle 23"/>
          <p:cNvSpPr/>
          <p:nvPr/>
        </p:nvSpPr>
        <p:spPr>
          <a:xfrm>
            <a:off x="5888736" y="2322576"/>
            <a:ext cx="1335024" cy="41148"/>
          </a:xfrm>
          <a:prstGeom prst="rect">
            <a:avLst/>
          </a:prstGeom>
          <a:solidFill>
            <a:srgbClr val="00B39F"/>
          </a:solidFill>
          <a:ln>
            <a:noFill/>
          </a:ln>
          <a:effectLst/>
        </p:spPr>
        <p:txBody>
          <a:bodyPr wrap="square" rtlCol="0" anchor="ctr"/>
          <a:lstStyle/>
          <a:p>
            <a:endParaRPr/>
          </a:p>
        </p:txBody>
      </p:sp>
      <p:sp>
        <p:nvSpPr>
          <p:cNvPr id="25" name="TextBox 24"/>
          <p:cNvSpPr txBox="1"/>
          <p:nvPr/>
        </p:nvSpPr>
        <p:spPr>
          <a:xfrm>
            <a:off x="5989320" y="2432304"/>
            <a:ext cx="1152144"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Validates</a:t>
            </a:r>
          </a:p>
        </p:txBody>
      </p:sp>
      <p:sp>
        <p:nvSpPr>
          <p:cNvPr id="26" name="TextBox 25"/>
          <p:cNvSpPr txBox="1"/>
          <p:nvPr/>
        </p:nvSpPr>
        <p:spPr>
          <a:xfrm>
            <a:off x="5989320" y="2633472"/>
            <a:ext cx="1152144" cy="40233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checks values against</a:t>
            </a:r>
          </a:p>
          <a:p>
            <a:pPr algn="l">
              <a:lnSpc>
                <a:spcPct val="112000"/>
              </a:lnSpc>
            </a:pPr>
            <a:r>
              <a:rPr sz="750" b="0" i="0" dirty="0">
                <a:solidFill>
                  <a:srgbClr val="44495B"/>
                </a:solidFill>
                <a:latin typeface="Segoe UI"/>
                <a:cs typeface="Segoe UI"/>
              </a:rPr>
              <a:t>your conditions</a:t>
            </a:r>
          </a:p>
        </p:txBody>
      </p:sp>
      <p:sp>
        <p:nvSpPr>
          <p:cNvPr id="27" name="Rectangle 26"/>
          <p:cNvSpPr/>
          <p:nvPr/>
        </p:nvSpPr>
        <p:spPr>
          <a:xfrm>
            <a:off x="7287768" y="2322576"/>
            <a:ext cx="1335024" cy="804672"/>
          </a:xfrm>
          <a:prstGeom prst="rect">
            <a:avLst/>
          </a:prstGeom>
          <a:solidFill>
            <a:srgbClr val="FFFFFF"/>
          </a:solidFill>
          <a:ln w="9525">
            <a:solidFill>
              <a:srgbClr val="E1E7F4"/>
            </a:solidFill>
          </a:ln>
          <a:effectLst/>
        </p:spPr>
        <p:txBody>
          <a:bodyPr wrap="square" rtlCol="0" anchor="ctr"/>
          <a:lstStyle/>
          <a:p>
            <a:endParaRPr/>
          </a:p>
        </p:txBody>
      </p:sp>
      <p:sp>
        <p:nvSpPr>
          <p:cNvPr id="28" name="Rectangle 27"/>
          <p:cNvSpPr/>
          <p:nvPr/>
        </p:nvSpPr>
        <p:spPr>
          <a:xfrm>
            <a:off x="7287768" y="2322576"/>
            <a:ext cx="1335024" cy="41148"/>
          </a:xfrm>
          <a:prstGeom prst="rect">
            <a:avLst/>
          </a:prstGeom>
          <a:solidFill>
            <a:srgbClr val="00B39F"/>
          </a:solidFill>
          <a:ln>
            <a:noFill/>
          </a:ln>
          <a:effectLst/>
        </p:spPr>
        <p:txBody>
          <a:bodyPr wrap="square" rtlCol="0" anchor="ctr"/>
          <a:lstStyle/>
          <a:p>
            <a:endParaRPr/>
          </a:p>
        </p:txBody>
      </p:sp>
      <p:sp>
        <p:nvSpPr>
          <p:cNvPr id="29" name="TextBox 28"/>
          <p:cNvSpPr txBox="1"/>
          <p:nvPr/>
        </p:nvSpPr>
        <p:spPr>
          <a:xfrm>
            <a:off x="7388352" y="2432304"/>
            <a:ext cx="1152144"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Reads visuals</a:t>
            </a:r>
          </a:p>
        </p:txBody>
      </p:sp>
      <p:sp>
        <p:nvSpPr>
          <p:cNvPr id="30" name="TextBox 29"/>
          <p:cNvSpPr txBox="1"/>
          <p:nvPr/>
        </p:nvSpPr>
        <p:spPr>
          <a:xfrm>
            <a:off x="7388352" y="2633472"/>
            <a:ext cx="1152144" cy="40233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uses tables, figures</a:t>
            </a:r>
          </a:p>
          <a:p>
            <a:pPr algn="l">
              <a:lnSpc>
                <a:spcPct val="112000"/>
              </a:lnSpc>
            </a:pPr>
            <a:r>
              <a:rPr sz="750" b="0" i="0" dirty="0">
                <a:solidFill>
                  <a:srgbClr val="44495B"/>
                </a:solidFill>
                <a:latin typeface="Segoe UI"/>
                <a:cs typeface="Segoe UI"/>
              </a:rPr>
              <a:t>and forms as evidence</a:t>
            </a:r>
          </a:p>
        </p:txBody>
      </p:sp>
      <p:cxnSp>
        <p:nvCxnSpPr>
          <p:cNvPr id="31" name="Connector 30"/>
          <p:cNvCxnSpPr/>
          <p:nvPr/>
        </p:nvCxnSpPr>
        <p:spPr>
          <a:xfrm>
            <a:off x="8741664" y="2624328"/>
            <a:ext cx="402336"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837676" y="2519172"/>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33" name="Rectangle 32"/>
          <p:cNvSpPr/>
          <p:nvPr/>
        </p:nvSpPr>
        <p:spPr>
          <a:xfrm>
            <a:off x="9144000" y="2194560"/>
            <a:ext cx="2587752" cy="859536"/>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0000"/>
              </a:lnSpc>
            </a:pPr>
            <a:r>
              <a:rPr sz="1000" b="1" i="0" dirty="0">
                <a:solidFill>
                  <a:srgbClr val="101A3C"/>
                </a:solidFill>
                <a:latin typeface="Segoe UI"/>
                <a:cs typeface="Segoe UI"/>
              </a:rPr>
              <a:t>Your schema</a:t>
            </a:r>
          </a:p>
          <a:p>
            <a:pPr algn="ctr">
              <a:lnSpc>
                <a:spcPct val="120000"/>
              </a:lnSpc>
            </a:pPr>
            <a:r>
              <a:rPr sz="750" b="0" i="0" dirty="0">
                <a:solidFill>
                  <a:srgbClr val="44495B"/>
                </a:solidFill>
                <a:latin typeface="Segoe UI"/>
                <a:cs typeface="Segoe UI"/>
              </a:rPr>
              <a:t>the same typed JSON fields</a:t>
            </a:r>
          </a:p>
          <a:p>
            <a:pPr algn="ctr">
              <a:lnSpc>
                <a:spcPct val="120000"/>
              </a:lnSpc>
            </a:pPr>
            <a:r>
              <a:rPr sz="750" b="0" i="0" dirty="0">
                <a:solidFill>
                  <a:srgbClr val="44495B"/>
                </a:solidFill>
                <a:latin typeface="Segoe UI"/>
                <a:cs typeface="Segoe UI"/>
              </a:rPr>
              <a:t>a standard analyzer returns —</a:t>
            </a:r>
          </a:p>
          <a:p>
            <a:pPr algn="ctr">
              <a:lnSpc>
                <a:spcPct val="120000"/>
              </a:lnSpc>
            </a:pPr>
            <a:r>
              <a:rPr sz="750" b="0" i="0" dirty="0">
                <a:solidFill>
                  <a:srgbClr val="44495B"/>
                </a:solidFill>
                <a:latin typeface="Segoe UI"/>
                <a:cs typeface="Segoe UI"/>
              </a:rPr>
              <a:t>the reasoning is internal</a:t>
            </a:r>
          </a:p>
        </p:txBody>
      </p:sp>
      <p:sp>
        <p:nvSpPr>
          <p:cNvPr id="34" name="TextBox 33"/>
          <p:cNvSpPr txBox="1"/>
          <p:nvPr/>
        </p:nvSpPr>
        <p:spPr>
          <a:xfrm>
            <a:off x="457200" y="3346704"/>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WORTH USING WHEN</a:t>
            </a:r>
          </a:p>
        </p:txBody>
      </p:sp>
      <p:sp>
        <p:nvSpPr>
          <p:cNvPr id="35" name="Rectangle 34"/>
          <p:cNvSpPr/>
          <p:nvPr/>
        </p:nvSpPr>
        <p:spPr>
          <a:xfrm>
            <a:off x="457200" y="3602736"/>
            <a:ext cx="5541264" cy="274320"/>
          </a:xfrm>
          <a:prstGeom prst="rect">
            <a:avLst/>
          </a:prstGeom>
          <a:solidFill>
            <a:srgbClr val="F6F8FD"/>
          </a:solidFill>
          <a:ln w="9525">
            <a:solidFill>
              <a:srgbClr val="E1E7F4"/>
            </a:solidFill>
          </a:ln>
          <a:effectLst/>
        </p:spPr>
        <p:txBody>
          <a:bodyPr wrap="square" rtlCol="0" anchor="ctr"/>
          <a:lstStyle/>
          <a:p>
            <a:endParaRPr/>
          </a:p>
        </p:txBody>
      </p:sp>
      <p:sp>
        <p:nvSpPr>
          <p:cNvPr id="36" name="TextBox 35"/>
          <p:cNvSpPr txBox="1"/>
          <p:nvPr/>
        </p:nvSpPr>
        <p:spPr>
          <a:xfrm>
            <a:off x="621792" y="3639312"/>
            <a:ext cx="5212080" cy="219456"/>
          </a:xfrm>
          <a:prstGeom prst="rect">
            <a:avLst/>
          </a:prstGeom>
          <a:noFill/>
        </p:spPr>
        <p:txBody>
          <a:bodyPr wrap="square" lIns="0" tIns="0" rIns="0" bIns="0" anchor="ctr">
            <a:spAutoFit/>
          </a:bodyPr>
          <a:lstStyle/>
          <a:p>
            <a:pPr algn="l">
              <a:lnSpc>
                <a:spcPct val="100000"/>
              </a:lnSpc>
            </a:pPr>
            <a:r>
              <a:rPr sz="850" b="0" i="0" dirty="0">
                <a:solidFill>
                  <a:srgbClr val="101A3C"/>
                </a:solidFill>
                <a:latin typeface="Segoe UI"/>
                <a:cs typeface="Segoe UI"/>
              </a:rPr>
              <a:t>Reconciling figures in a financial report</a:t>
            </a:r>
          </a:p>
        </p:txBody>
      </p:sp>
      <p:sp>
        <p:nvSpPr>
          <p:cNvPr id="37" name="Rectangle 36"/>
          <p:cNvSpPr/>
          <p:nvPr/>
        </p:nvSpPr>
        <p:spPr>
          <a:xfrm>
            <a:off x="457200" y="3931920"/>
            <a:ext cx="5541264" cy="274320"/>
          </a:xfrm>
          <a:prstGeom prst="rect">
            <a:avLst/>
          </a:prstGeom>
          <a:solidFill>
            <a:srgbClr val="FFFFFF"/>
          </a:solidFill>
          <a:ln w="9525">
            <a:solidFill>
              <a:srgbClr val="E1E7F4"/>
            </a:solidFill>
          </a:ln>
          <a:effectLst/>
        </p:spPr>
        <p:txBody>
          <a:bodyPr wrap="square" rtlCol="0" anchor="ctr"/>
          <a:lstStyle/>
          <a:p>
            <a:endParaRPr/>
          </a:p>
        </p:txBody>
      </p:sp>
      <p:sp>
        <p:nvSpPr>
          <p:cNvPr id="38" name="TextBox 37"/>
          <p:cNvSpPr txBox="1"/>
          <p:nvPr/>
        </p:nvSpPr>
        <p:spPr>
          <a:xfrm>
            <a:off x="621792" y="3968496"/>
            <a:ext cx="5212080" cy="219456"/>
          </a:xfrm>
          <a:prstGeom prst="rect">
            <a:avLst/>
          </a:prstGeom>
          <a:noFill/>
        </p:spPr>
        <p:txBody>
          <a:bodyPr wrap="square" lIns="0" tIns="0" rIns="0" bIns="0" anchor="ctr">
            <a:spAutoFit/>
          </a:bodyPr>
          <a:lstStyle/>
          <a:p>
            <a:pPr algn="l">
              <a:lnSpc>
                <a:spcPct val="100000"/>
              </a:lnSpc>
            </a:pPr>
            <a:r>
              <a:rPr sz="850" b="0" i="0" dirty="0">
                <a:solidFill>
                  <a:srgbClr val="101A3C"/>
                </a:solidFill>
                <a:latin typeface="Segoe UI"/>
                <a:cs typeface="Segoe UI"/>
              </a:rPr>
              <a:t>Checking a document against a set of requirements</a:t>
            </a:r>
          </a:p>
        </p:txBody>
      </p:sp>
      <p:sp>
        <p:nvSpPr>
          <p:cNvPr id="39" name="Rectangle 38"/>
          <p:cNvSpPr/>
          <p:nvPr/>
        </p:nvSpPr>
        <p:spPr>
          <a:xfrm>
            <a:off x="457200" y="4261104"/>
            <a:ext cx="5541264" cy="274320"/>
          </a:xfrm>
          <a:prstGeom prst="rect">
            <a:avLst/>
          </a:prstGeom>
          <a:solidFill>
            <a:srgbClr val="F6F8FD"/>
          </a:solidFill>
          <a:ln w="9525">
            <a:solidFill>
              <a:srgbClr val="E1E7F4"/>
            </a:solidFill>
          </a:ln>
          <a:effectLst/>
        </p:spPr>
        <p:txBody>
          <a:bodyPr wrap="square" rtlCol="0" anchor="ctr"/>
          <a:lstStyle/>
          <a:p>
            <a:endParaRPr/>
          </a:p>
        </p:txBody>
      </p:sp>
      <p:sp>
        <p:nvSpPr>
          <p:cNvPr id="40" name="TextBox 39"/>
          <p:cNvSpPr txBox="1"/>
          <p:nvPr/>
        </p:nvSpPr>
        <p:spPr>
          <a:xfrm>
            <a:off x="621792" y="4297680"/>
            <a:ext cx="5212080" cy="219456"/>
          </a:xfrm>
          <a:prstGeom prst="rect">
            <a:avLst/>
          </a:prstGeom>
          <a:noFill/>
        </p:spPr>
        <p:txBody>
          <a:bodyPr wrap="square" lIns="0" tIns="0" rIns="0" bIns="0" anchor="ctr">
            <a:spAutoFit/>
          </a:bodyPr>
          <a:lstStyle/>
          <a:p>
            <a:pPr algn="l">
              <a:lnSpc>
                <a:spcPct val="100000"/>
              </a:lnSpc>
            </a:pPr>
            <a:r>
              <a:rPr sz="850" b="0" i="0" dirty="0">
                <a:solidFill>
                  <a:srgbClr val="101A3C"/>
                </a:solidFill>
                <a:latin typeface="Segoe UI"/>
                <a:cs typeface="Segoe UI"/>
              </a:rPr>
              <a:t>Relating a contract to its amendments in the same file</a:t>
            </a:r>
          </a:p>
        </p:txBody>
      </p:sp>
      <p:sp>
        <p:nvSpPr>
          <p:cNvPr id="41" name="TextBox 40"/>
          <p:cNvSpPr txBox="1"/>
          <p:nvPr/>
        </p:nvSpPr>
        <p:spPr>
          <a:xfrm>
            <a:off x="6345936" y="3346704"/>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IT COSTS YOU</a:t>
            </a:r>
          </a:p>
        </p:txBody>
      </p:sp>
      <p:sp>
        <p:nvSpPr>
          <p:cNvPr id="42" name="TextBox 41"/>
          <p:cNvSpPr txBox="1"/>
          <p:nvPr/>
        </p:nvSpPr>
        <p:spPr>
          <a:xfrm>
            <a:off x="6345936" y="3602736"/>
            <a:ext cx="130887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Billing rate</a:t>
            </a:r>
          </a:p>
        </p:txBody>
      </p:sp>
      <p:sp>
        <p:nvSpPr>
          <p:cNvPr id="43" name="TextBox 42"/>
          <p:cNvSpPr txBox="1"/>
          <p:nvPr/>
        </p:nvSpPr>
        <p:spPr>
          <a:xfrm>
            <a:off x="7746248" y="3602736"/>
            <a:ext cx="3985503"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the higher advanced contextualization rate</a:t>
            </a:r>
          </a:p>
        </p:txBody>
      </p:sp>
      <p:cxnSp>
        <p:nvCxnSpPr>
          <p:cNvPr id="44" name="Connector 43"/>
          <p:cNvCxnSpPr/>
          <p:nvPr/>
        </p:nvCxnSpPr>
        <p:spPr>
          <a:xfrm>
            <a:off x="6345936" y="385876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45936" y="3877056"/>
            <a:ext cx="130887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Tokens</a:t>
            </a:r>
          </a:p>
        </p:txBody>
      </p:sp>
      <p:sp>
        <p:nvSpPr>
          <p:cNvPr id="46" name="TextBox 45"/>
          <p:cNvSpPr txBox="1"/>
          <p:nvPr/>
        </p:nvSpPr>
        <p:spPr>
          <a:xfrm>
            <a:off x="7746248" y="3877056"/>
            <a:ext cx="3985503"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more than a standard workflow, on your own deployment</a:t>
            </a:r>
          </a:p>
        </p:txBody>
      </p:sp>
      <p:cxnSp>
        <p:nvCxnSpPr>
          <p:cNvPr id="47" name="Connector 46"/>
          <p:cNvCxnSpPr/>
          <p:nvPr/>
        </p:nvCxnSpPr>
        <p:spPr>
          <a:xfrm>
            <a:off x="6345936" y="413308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345936" y="4151376"/>
            <a:ext cx="130887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Latency</a:t>
            </a:r>
          </a:p>
        </p:txBody>
      </p:sp>
      <p:sp>
        <p:nvSpPr>
          <p:cNvPr id="49" name="TextBox 48"/>
          <p:cNvSpPr txBox="1"/>
          <p:nvPr/>
        </p:nvSpPr>
        <p:spPr>
          <a:xfrm>
            <a:off x="7746248" y="4151376"/>
            <a:ext cx="3985503"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typically longer for the same document</a:t>
            </a:r>
          </a:p>
        </p:txBody>
      </p:sp>
      <p:cxnSp>
        <p:nvCxnSpPr>
          <p:cNvPr id="50" name="Connector 49"/>
          <p:cNvCxnSpPr/>
          <p:nvPr/>
        </p:nvCxnSpPr>
        <p:spPr>
          <a:xfrm>
            <a:off x="6345936" y="440740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45936" y="4425696"/>
            <a:ext cx="130887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Capacity</a:t>
            </a:r>
          </a:p>
        </p:txBody>
      </p:sp>
      <p:sp>
        <p:nvSpPr>
          <p:cNvPr id="52" name="TextBox 51"/>
          <p:cNvSpPr txBox="1"/>
          <p:nvPr/>
        </p:nvSpPr>
        <p:spPr>
          <a:xfrm>
            <a:off x="7746248" y="4425696"/>
            <a:ext cx="3985503"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about 400,000 tokens a minute per job — plan for it</a:t>
            </a:r>
          </a:p>
        </p:txBody>
      </p:sp>
      <p:cxnSp>
        <p:nvCxnSpPr>
          <p:cNvPr id="53" name="Connector 52"/>
          <p:cNvCxnSpPr/>
          <p:nvPr/>
        </p:nvCxnSpPr>
        <p:spPr>
          <a:xfrm>
            <a:off x="6345936" y="46817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457200" y="4736592"/>
            <a:ext cx="11277295" cy="548640"/>
          </a:xfrm>
          <a:prstGeom prst="rect">
            <a:avLst/>
          </a:prstGeom>
          <a:solidFill>
            <a:srgbClr val="EBEFF7"/>
          </a:solidFill>
          <a:ln>
            <a:noFill/>
          </a:ln>
          <a:effectLst/>
        </p:spPr>
        <p:txBody>
          <a:bodyPr wrap="square" rtlCol="0" anchor="ctr"/>
          <a:lstStyle/>
          <a:p>
            <a:endParaRPr/>
          </a:p>
        </p:txBody>
      </p:sp>
      <p:sp>
        <p:nvSpPr>
          <p:cNvPr id="55" name="Rectangle 54"/>
          <p:cNvSpPr/>
          <p:nvPr/>
        </p:nvSpPr>
        <p:spPr>
          <a:xfrm>
            <a:off x="457200" y="4736592"/>
            <a:ext cx="41148" cy="548640"/>
          </a:xfrm>
          <a:prstGeom prst="rect">
            <a:avLst/>
          </a:prstGeom>
          <a:solidFill>
            <a:srgbClr val="00B39F"/>
          </a:solidFill>
          <a:ln>
            <a:noFill/>
          </a:ln>
          <a:effectLst/>
        </p:spPr>
        <p:txBody>
          <a:bodyPr wrap="square" rtlCol="0" anchor="ctr"/>
          <a:lstStyle/>
          <a:p>
            <a:endParaRPr/>
          </a:p>
        </p:txBody>
      </p:sp>
      <p:sp>
        <p:nvSpPr>
          <p:cNvPr id="56" name="TextBox 55"/>
          <p:cNvSpPr txBox="1"/>
          <p:nvPr/>
        </p:nvSpPr>
        <p:spPr>
          <a:xfrm>
            <a:off x="694944" y="4837176"/>
            <a:ext cx="10856671" cy="365759"/>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Turn it on with one setting when you create the analyzer: config.workflow set to agentic. Everything else — the schema, the call, the result shape — stays the same.</a:t>
            </a:r>
          </a:p>
        </p:txBody>
      </p:sp>
      <p:sp>
        <p:nvSpPr>
          <p:cNvPr id="57" name="TextBox 56"/>
          <p:cNvSpPr txBox="1"/>
          <p:nvPr/>
        </p:nvSpPr>
        <p:spPr>
          <a:xfrm>
            <a:off x="457200" y="537667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THE PREVIEW DOES NOT DO YET</a:t>
            </a:r>
          </a:p>
        </p:txBody>
      </p:sp>
      <p:sp>
        <p:nvSpPr>
          <p:cNvPr id="58" name="TextBox 57"/>
          <p:cNvSpPr txBox="1"/>
          <p:nvPr/>
        </p:nvSpPr>
        <p:spPr>
          <a:xfrm>
            <a:off x="457200" y="5577840"/>
            <a:ext cx="11277295" cy="146304"/>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Documents only  ·  one input file per request  ·  fields using the extract method are not supported  ·  labelled samples cannot improve it  ·  Microsoft states it is not a replacement for human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WHAT CHANGED IN 2026</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Improving an analyzer with labelled examples*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correction workflow is unchanged; what the preview changes is what the built analyzer keeps afterwards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learn.microsoft.com/azure/ai-services/content-understanding/document/analyzer-improvement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9</a:t>
            </a:r>
          </a:p>
        </p:txBody>
      </p:sp>
      <p:sp>
        <p:nvSpPr>
          <p:cNvPr id="7" name="Rectangle 6"/>
          <p:cNvSpPr/>
          <p:nvPr/>
        </p:nvSpPr>
        <p:spPr>
          <a:xfrm>
            <a:off x="457200" y="1316736"/>
            <a:ext cx="11277295" cy="475488"/>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713232" y="1426464"/>
            <a:ext cx="10765231" cy="274320"/>
          </a:xfrm>
          <a:prstGeom prst="rect">
            <a:avLst/>
          </a:prstGeom>
          <a:noFill/>
        </p:spPr>
        <p:txBody>
          <a:bodyPr wrap="square" lIns="0" tIns="0" rIns="0" bIns="0" anchor="t">
            <a:spAutoFit/>
          </a:bodyPr>
          <a:lstStyle/>
          <a:p>
            <a:pPr algn="l">
              <a:lnSpc>
                <a:spcPct val="120000"/>
              </a:lnSpc>
            </a:pPr>
            <a:r>
              <a:rPr sz="1000" b="0" i="0" dirty="0">
                <a:solidFill>
                  <a:srgbClr val="FFFFFF"/>
                </a:solidFill>
                <a:latin typeface="Segoe UI"/>
                <a:cs typeface="Segoe UI"/>
              </a:rPr>
              <a:t>The problem it solves: a description in plain language is often enough, but not always. When a new vendor’s layout or an unfamiliar format produces wrong values or low confidence, you need a way to show the analyzer what right looks like.</a:t>
            </a:r>
          </a:p>
        </p:txBody>
      </p:sp>
      <p:sp>
        <p:nvSpPr>
          <p:cNvPr id="9" name="TextBox 8"/>
          <p:cNvSpPr txBox="1"/>
          <p:nvPr/>
        </p:nvSpPr>
        <p:spPr>
          <a:xfrm>
            <a:off x="457200" y="1883664"/>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CORRECTION WORKFLOW — THE SAME IN BOTH API VERSIONS</a:t>
            </a:r>
          </a:p>
        </p:txBody>
      </p:sp>
      <p:sp>
        <p:nvSpPr>
          <p:cNvPr id="10" name="Rectangle 9"/>
          <p:cNvSpPr/>
          <p:nvPr/>
        </p:nvSpPr>
        <p:spPr>
          <a:xfrm>
            <a:off x="457200" y="2121408"/>
            <a:ext cx="2441448" cy="694944"/>
          </a:xfrm>
          <a:prstGeom prst="rect">
            <a:avLst/>
          </a:prstGeom>
          <a:solidFill>
            <a:srgbClr val="FFFFFF"/>
          </a:solidFill>
          <a:ln w="9525">
            <a:solidFill>
              <a:srgbClr val="E1E7F4"/>
            </a:solidFill>
          </a:ln>
          <a:effectLst/>
        </p:spPr>
        <p:txBody>
          <a:bodyPr wrap="square" rtlCol="0" anchor="ctr"/>
          <a:lstStyle/>
          <a:p>
            <a:endParaRPr/>
          </a:p>
        </p:txBody>
      </p:sp>
      <p:sp>
        <p:nvSpPr>
          <p:cNvPr id="11" name="Rectangle 10"/>
          <p:cNvSpPr/>
          <p:nvPr/>
        </p:nvSpPr>
        <p:spPr>
          <a:xfrm>
            <a:off x="457200" y="2121408"/>
            <a:ext cx="2441448" cy="41148"/>
          </a:xfrm>
          <a:prstGeom prst="rect">
            <a:avLst/>
          </a:prstGeom>
          <a:solidFill>
            <a:srgbClr val="00B39F"/>
          </a:solidFill>
          <a:ln>
            <a:noFill/>
          </a:ln>
          <a:effectLst/>
        </p:spPr>
        <p:txBody>
          <a:bodyPr wrap="square" rtlCol="0" anchor="ctr"/>
          <a:lstStyle/>
          <a:p>
            <a:endParaRPr/>
          </a:p>
        </p:txBody>
      </p:sp>
      <p:sp>
        <p:nvSpPr>
          <p:cNvPr id="12" name="TextBox 11"/>
          <p:cNvSpPr txBox="1"/>
          <p:nvPr/>
        </p:nvSpPr>
        <p:spPr>
          <a:xfrm>
            <a:off x="621792" y="2240280"/>
            <a:ext cx="2103120" cy="164592"/>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Upload a sample</a:t>
            </a:r>
          </a:p>
        </p:txBody>
      </p:sp>
      <p:sp>
        <p:nvSpPr>
          <p:cNvPr id="13" name="TextBox 12"/>
          <p:cNvSpPr txBox="1"/>
          <p:nvPr/>
        </p:nvSpPr>
        <p:spPr>
          <a:xfrm>
            <a:off x="621792" y="2441448"/>
            <a:ext cx="2103120" cy="31089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a document that the</a:t>
            </a:r>
          </a:p>
          <a:p>
            <a:pPr algn="l">
              <a:lnSpc>
                <a:spcPct val="112000"/>
              </a:lnSpc>
            </a:pPr>
            <a:r>
              <a:rPr sz="750" b="0" i="0" dirty="0">
                <a:solidFill>
                  <a:srgbClr val="44495B"/>
                </a:solidFill>
                <a:latin typeface="Segoe UI"/>
                <a:cs typeface="Segoe UI"/>
              </a:rPr>
              <a:t>analyzer got wrong</a:t>
            </a:r>
          </a:p>
        </p:txBody>
      </p:sp>
      <p:cxnSp>
        <p:nvCxnSpPr>
          <p:cNvPr id="14" name="Connector 13"/>
          <p:cNvCxnSpPr/>
          <p:nvPr/>
        </p:nvCxnSpPr>
        <p:spPr>
          <a:xfrm>
            <a:off x="2898648" y="2468880"/>
            <a:ext cx="502920"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044952" y="23637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6" name="Rectangle 15"/>
          <p:cNvSpPr/>
          <p:nvPr/>
        </p:nvSpPr>
        <p:spPr>
          <a:xfrm>
            <a:off x="3401568" y="2121408"/>
            <a:ext cx="2441448" cy="694944"/>
          </a:xfrm>
          <a:prstGeom prst="rect">
            <a:avLst/>
          </a:prstGeom>
          <a:solidFill>
            <a:srgbClr val="FFFFFF"/>
          </a:solidFill>
          <a:ln w="9525">
            <a:solidFill>
              <a:srgbClr val="E1E7F4"/>
            </a:solidFill>
          </a:ln>
          <a:effectLst/>
        </p:spPr>
        <p:txBody>
          <a:bodyPr wrap="square" rtlCol="0" anchor="ctr"/>
          <a:lstStyle/>
          <a:p>
            <a:endParaRPr/>
          </a:p>
        </p:txBody>
      </p:sp>
      <p:sp>
        <p:nvSpPr>
          <p:cNvPr id="17" name="Rectangle 16"/>
          <p:cNvSpPr/>
          <p:nvPr/>
        </p:nvSpPr>
        <p:spPr>
          <a:xfrm>
            <a:off x="3401568" y="2121408"/>
            <a:ext cx="2441448" cy="41148"/>
          </a:xfrm>
          <a:prstGeom prst="rect">
            <a:avLst/>
          </a:prstGeom>
          <a:solidFill>
            <a:srgbClr val="00B39F"/>
          </a:solidFill>
          <a:ln>
            <a:noFill/>
          </a:ln>
          <a:effectLst/>
        </p:spPr>
        <p:txBody>
          <a:bodyPr wrap="square" rtlCol="0" anchor="ctr"/>
          <a:lstStyle/>
          <a:p>
            <a:endParaRPr/>
          </a:p>
        </p:txBody>
      </p:sp>
      <p:sp>
        <p:nvSpPr>
          <p:cNvPr id="18" name="TextBox 17"/>
          <p:cNvSpPr txBox="1"/>
          <p:nvPr/>
        </p:nvSpPr>
        <p:spPr>
          <a:xfrm>
            <a:off x="3566160" y="2240280"/>
            <a:ext cx="2103120" cy="164592"/>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Auto label</a:t>
            </a:r>
          </a:p>
        </p:txBody>
      </p:sp>
      <p:sp>
        <p:nvSpPr>
          <p:cNvPr id="19" name="TextBox 18"/>
          <p:cNvSpPr txBox="1"/>
          <p:nvPr/>
        </p:nvSpPr>
        <p:spPr>
          <a:xfrm>
            <a:off x="3566160" y="2441448"/>
            <a:ext cx="2103120" cy="31089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runs the current analyzer</a:t>
            </a:r>
          </a:p>
          <a:p>
            <a:pPr algn="l">
              <a:lnSpc>
                <a:spcPct val="112000"/>
              </a:lnSpc>
            </a:pPr>
            <a:r>
              <a:rPr sz="750" b="0" i="0" dirty="0">
                <a:solidFill>
                  <a:srgbClr val="44495B"/>
                </a:solidFill>
                <a:latin typeface="Segoe UI"/>
                <a:cs typeface="Segoe UI"/>
              </a:rPr>
              <a:t>and pre-fills its answers</a:t>
            </a:r>
          </a:p>
        </p:txBody>
      </p:sp>
      <p:cxnSp>
        <p:nvCxnSpPr>
          <p:cNvPr id="20" name="Connector 19"/>
          <p:cNvCxnSpPr/>
          <p:nvPr/>
        </p:nvCxnSpPr>
        <p:spPr>
          <a:xfrm>
            <a:off x="5843016" y="2468880"/>
            <a:ext cx="502920"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989320" y="23637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2" name="Rectangle 21"/>
          <p:cNvSpPr/>
          <p:nvPr/>
        </p:nvSpPr>
        <p:spPr>
          <a:xfrm>
            <a:off x="6345936" y="2121408"/>
            <a:ext cx="2441448" cy="694944"/>
          </a:xfrm>
          <a:prstGeom prst="rect">
            <a:avLst/>
          </a:prstGeom>
          <a:solidFill>
            <a:srgbClr val="FFFFFF"/>
          </a:solidFill>
          <a:ln w="9525">
            <a:solidFill>
              <a:srgbClr val="E1E7F4"/>
            </a:solidFill>
          </a:ln>
          <a:effectLst/>
        </p:spPr>
        <p:txBody>
          <a:bodyPr wrap="square" rtlCol="0" anchor="ctr"/>
          <a:lstStyle/>
          <a:p>
            <a:endParaRPr/>
          </a:p>
        </p:txBody>
      </p:sp>
      <p:sp>
        <p:nvSpPr>
          <p:cNvPr id="23" name="Rectangle 22"/>
          <p:cNvSpPr/>
          <p:nvPr/>
        </p:nvSpPr>
        <p:spPr>
          <a:xfrm>
            <a:off x="6345936" y="2121408"/>
            <a:ext cx="2441448" cy="41148"/>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6510528" y="2240280"/>
            <a:ext cx="2103120" cy="164592"/>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Correct the values</a:t>
            </a:r>
          </a:p>
        </p:txBody>
      </p:sp>
      <p:sp>
        <p:nvSpPr>
          <p:cNvPr id="25" name="TextBox 24"/>
          <p:cNvSpPr txBox="1"/>
          <p:nvPr/>
        </p:nvSpPr>
        <p:spPr>
          <a:xfrm>
            <a:off x="6510528" y="2441448"/>
            <a:ext cx="2103120" cy="31089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edit what is wrong;</a:t>
            </a:r>
          </a:p>
          <a:p>
            <a:pPr algn="l">
              <a:lnSpc>
                <a:spcPct val="112000"/>
              </a:lnSpc>
            </a:pPr>
            <a:r>
              <a:rPr sz="750" b="0" i="0" dirty="0">
                <a:solidFill>
                  <a:srgbClr val="44495B"/>
                </a:solidFill>
                <a:latin typeface="Segoe UI"/>
                <a:cs typeface="Segoe UI"/>
              </a:rPr>
              <a:t>corrected fields are tagged</a:t>
            </a:r>
          </a:p>
        </p:txBody>
      </p:sp>
      <p:cxnSp>
        <p:nvCxnSpPr>
          <p:cNvPr id="26" name="Connector 25"/>
          <p:cNvCxnSpPr/>
          <p:nvPr/>
        </p:nvCxnSpPr>
        <p:spPr>
          <a:xfrm>
            <a:off x="8787384" y="2468880"/>
            <a:ext cx="502920"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933688" y="23637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28" name="Rectangle 27"/>
          <p:cNvSpPr/>
          <p:nvPr/>
        </p:nvSpPr>
        <p:spPr>
          <a:xfrm>
            <a:off x="9290304" y="2121408"/>
            <a:ext cx="2441448" cy="694944"/>
          </a:xfrm>
          <a:prstGeom prst="rect">
            <a:avLst/>
          </a:prstGeom>
          <a:solidFill>
            <a:srgbClr val="FFFFFF"/>
          </a:solidFill>
          <a:ln w="9525">
            <a:solidFill>
              <a:srgbClr val="E1E7F4"/>
            </a:solidFill>
          </a:ln>
          <a:effectLst/>
        </p:spPr>
        <p:txBody>
          <a:bodyPr wrap="square" rtlCol="0" anchor="ctr"/>
          <a:lstStyle/>
          <a:p>
            <a:endParaRPr/>
          </a:p>
        </p:txBody>
      </p:sp>
      <p:sp>
        <p:nvSpPr>
          <p:cNvPr id="29" name="Rectangle 28"/>
          <p:cNvSpPr/>
          <p:nvPr/>
        </p:nvSpPr>
        <p:spPr>
          <a:xfrm>
            <a:off x="9290304" y="2121408"/>
            <a:ext cx="2441448" cy="41148"/>
          </a:xfrm>
          <a:prstGeom prst="rect">
            <a:avLst/>
          </a:prstGeom>
          <a:solidFill>
            <a:srgbClr val="00B39F"/>
          </a:solidFill>
          <a:ln>
            <a:noFill/>
          </a:ln>
          <a:effectLst/>
        </p:spPr>
        <p:txBody>
          <a:bodyPr wrap="square" rtlCol="0" anchor="ctr"/>
          <a:lstStyle/>
          <a:p>
            <a:endParaRPr/>
          </a:p>
        </p:txBody>
      </p:sp>
      <p:sp>
        <p:nvSpPr>
          <p:cNvPr id="30" name="TextBox 29"/>
          <p:cNvSpPr txBox="1"/>
          <p:nvPr/>
        </p:nvSpPr>
        <p:spPr>
          <a:xfrm>
            <a:off x="9454896" y="2240280"/>
            <a:ext cx="2103120" cy="164592"/>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Rebuild</a:t>
            </a:r>
          </a:p>
        </p:txBody>
      </p:sp>
      <p:sp>
        <p:nvSpPr>
          <p:cNvPr id="31" name="TextBox 30"/>
          <p:cNvSpPr txBox="1"/>
          <p:nvPr/>
        </p:nvSpPr>
        <p:spPr>
          <a:xfrm>
            <a:off x="9454896" y="2441448"/>
            <a:ext cx="2103120" cy="31089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the analyzer is built again,</a:t>
            </a:r>
          </a:p>
          <a:p>
            <a:pPr algn="l">
              <a:lnSpc>
                <a:spcPct val="112000"/>
              </a:lnSpc>
            </a:pPr>
            <a:r>
              <a:rPr sz="750" b="0" i="0" dirty="0">
                <a:solidFill>
                  <a:srgbClr val="44495B"/>
                </a:solidFill>
                <a:latin typeface="Segoe UI"/>
                <a:cs typeface="Segoe UI"/>
              </a:rPr>
              <a:t>now using the samples</a:t>
            </a:r>
          </a:p>
        </p:txBody>
      </p:sp>
      <p:sp>
        <p:nvSpPr>
          <p:cNvPr id="32" name="TextBox 31"/>
          <p:cNvSpPr txBox="1"/>
          <p:nvPr/>
        </p:nvSpPr>
        <p:spPr>
          <a:xfrm>
            <a:off x="457200" y="2907792"/>
            <a:ext cx="11277295" cy="164592"/>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How many samples: one is enough when the templates barely vary; add one per format when they do. Evaluate quality before and after, so you can see whether the samples actually helped.</a:t>
            </a:r>
          </a:p>
        </p:txBody>
      </p:sp>
      <p:sp>
        <p:nvSpPr>
          <p:cNvPr id="33" name="TextBox 32"/>
          <p:cNvSpPr txBox="1"/>
          <p:nvPr/>
        </p:nvSpPr>
        <p:spPr>
          <a:xfrm>
            <a:off x="457200" y="321868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THE BUILT ANALYZER CARRIES AFTERWARDS</a:t>
            </a:r>
          </a:p>
        </p:txBody>
      </p:sp>
      <p:sp>
        <p:nvSpPr>
          <p:cNvPr id="34" name="Rectangle 33"/>
          <p:cNvSpPr/>
          <p:nvPr/>
        </p:nvSpPr>
        <p:spPr>
          <a:xfrm>
            <a:off x="457200" y="3456432"/>
            <a:ext cx="11277295" cy="310896"/>
          </a:xfrm>
          <a:prstGeom prst="rect">
            <a:avLst/>
          </a:prstGeom>
          <a:solidFill>
            <a:srgbClr val="101A3C"/>
          </a:solidFill>
          <a:ln>
            <a:noFill/>
          </a:ln>
          <a:effectLst/>
        </p:spPr>
        <p:txBody>
          <a:bodyPr wrap="square" rtlCol="0" anchor="ctr"/>
          <a:lstStyle/>
          <a:p>
            <a:endParaRPr/>
          </a:p>
        </p:txBody>
      </p:sp>
      <p:sp>
        <p:nvSpPr>
          <p:cNvPr id="35" name="TextBox 34"/>
          <p:cNvSpPr txBox="1"/>
          <p:nvPr/>
        </p:nvSpPr>
        <p:spPr>
          <a:xfrm>
            <a:off x="585216" y="3534156"/>
            <a:ext cx="2523670" cy="182880"/>
          </a:xfrm>
          <a:prstGeom prst="rect">
            <a:avLst/>
          </a:prstGeom>
          <a:noFill/>
        </p:spPr>
        <p:txBody>
          <a:bodyPr wrap="none" lIns="0" tIns="0" rIns="0" bIns="0" anchor="t">
            <a:spAutoFit/>
          </a:bodyPr>
          <a:lstStyle/>
          <a:p>
            <a:pPr algn="l">
              <a:lnSpc>
                <a:spcPct val="100000"/>
              </a:lnSpc>
            </a:pPr>
            <a:endParaRPr/>
          </a:p>
        </p:txBody>
      </p:sp>
      <p:sp>
        <p:nvSpPr>
          <p:cNvPr id="36" name="TextBox 35"/>
          <p:cNvSpPr txBox="1"/>
          <p:nvPr/>
        </p:nvSpPr>
        <p:spPr>
          <a:xfrm>
            <a:off x="3291766" y="3534156"/>
            <a:ext cx="3876946" cy="182880"/>
          </a:xfrm>
          <a:prstGeom prst="rect">
            <a:avLst/>
          </a:prstGeom>
          <a:noFill/>
        </p:spPr>
        <p:txBody>
          <a:bodyPr wrap="none" lIns="0" tIns="0" rIns="0" bIns="0" anchor="t">
            <a:spAutoFit/>
          </a:bodyPr>
          <a:lstStyle/>
          <a:p>
            <a:pPr algn="l">
              <a:lnSpc>
                <a:spcPct val="100000"/>
              </a:lnSpc>
            </a:pPr>
            <a:r>
              <a:rPr sz="900" b="1" i="0" dirty="0">
                <a:solidFill>
                  <a:srgbClr val="FFFFFF"/>
                </a:solidFill>
                <a:latin typeface="Segoe UI"/>
                <a:cs typeface="Segoe UI"/>
              </a:rPr>
              <a:t>Generally available training</a:t>
            </a:r>
          </a:p>
        </p:txBody>
      </p:sp>
      <p:sp>
        <p:nvSpPr>
          <p:cNvPr id="37" name="TextBox 36"/>
          <p:cNvSpPr txBox="1"/>
          <p:nvPr/>
        </p:nvSpPr>
        <p:spPr>
          <a:xfrm>
            <a:off x="7351593" y="3534156"/>
            <a:ext cx="4328038" cy="182880"/>
          </a:xfrm>
          <a:prstGeom prst="rect">
            <a:avLst/>
          </a:prstGeom>
          <a:noFill/>
        </p:spPr>
        <p:txBody>
          <a:bodyPr wrap="none" lIns="0" tIns="0" rIns="0" bIns="0" anchor="t">
            <a:spAutoFit/>
          </a:bodyPr>
          <a:lstStyle/>
          <a:p>
            <a:pPr algn="l">
              <a:lnSpc>
                <a:spcPct val="100000"/>
              </a:lnSpc>
            </a:pPr>
            <a:r>
              <a:rPr sz="900" b="1" i="0" dirty="0">
                <a:solidFill>
                  <a:srgbClr val="FFFFFF"/>
                </a:solidFill>
                <a:latin typeface="Segoe UI"/>
                <a:cs typeface="Segoe UI"/>
              </a:rPr>
              <a:t>Preview training — distilled</a:t>
            </a:r>
          </a:p>
        </p:txBody>
      </p:sp>
      <p:sp>
        <p:nvSpPr>
          <p:cNvPr id="38" name="Rectangle 37"/>
          <p:cNvSpPr/>
          <p:nvPr/>
        </p:nvSpPr>
        <p:spPr>
          <a:xfrm>
            <a:off x="457200" y="3767328"/>
            <a:ext cx="11277295" cy="420624"/>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18795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3817620"/>
            <a:ext cx="2487094"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the rebuild does</a:t>
            </a:r>
          </a:p>
        </p:txBody>
      </p:sp>
      <p:sp>
        <p:nvSpPr>
          <p:cNvPr id="41" name="TextBox 40"/>
          <p:cNvSpPr txBox="1"/>
          <p:nvPr/>
        </p:nvSpPr>
        <p:spPr>
          <a:xfrm>
            <a:off x="3291766" y="3817620"/>
            <a:ext cx="3840370"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Builds the analyzer so it uses the labelled samples</a:t>
            </a:r>
          </a:p>
        </p:txBody>
      </p:sp>
      <p:sp>
        <p:nvSpPr>
          <p:cNvPr id="42" name="TextBox 41"/>
          <p:cNvSpPr txBox="1"/>
          <p:nvPr/>
        </p:nvSpPr>
        <p:spPr>
          <a:xfrm>
            <a:off x="7351593" y="3817620"/>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Distils the patterns and domain context out of the samples and into the analyzer</a:t>
            </a:r>
          </a:p>
        </p:txBody>
      </p:sp>
      <p:cxnSp>
        <p:nvCxnSpPr>
          <p:cNvPr id="43" name="Connector 42"/>
          <p:cNvCxnSpPr/>
          <p:nvPr/>
        </p:nvCxnSpPr>
        <p:spPr>
          <a:xfrm>
            <a:off x="457200" y="455371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5216" y="4238244"/>
            <a:ext cx="2487094"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Labelled documents afterwards</a:t>
            </a:r>
          </a:p>
        </p:txBody>
      </p:sp>
      <p:sp>
        <p:nvSpPr>
          <p:cNvPr id="45" name="TextBox 44"/>
          <p:cNvSpPr txBox="1"/>
          <p:nvPr/>
        </p:nvSpPr>
        <p:spPr>
          <a:xfrm>
            <a:off x="3291766" y="4238244"/>
            <a:ext cx="3840370"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Included in and needed by the built analyzer</a:t>
            </a:r>
          </a:p>
        </p:txBody>
      </p:sp>
      <p:sp>
        <p:nvSpPr>
          <p:cNvPr id="46" name="TextBox 45"/>
          <p:cNvSpPr txBox="1"/>
          <p:nvPr/>
        </p:nvSpPr>
        <p:spPr>
          <a:xfrm>
            <a:off x="7351593" y="4238244"/>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Neither included in nor retained by the built analyzer</a:t>
            </a:r>
          </a:p>
        </p:txBody>
      </p:sp>
      <p:sp>
        <p:nvSpPr>
          <p:cNvPr id="47" name="Rectangle 46"/>
          <p:cNvSpPr/>
          <p:nvPr/>
        </p:nvSpPr>
        <p:spPr>
          <a:xfrm>
            <a:off x="457200" y="4553712"/>
            <a:ext cx="11277295" cy="329184"/>
          </a:xfrm>
          <a:prstGeom prst="rect">
            <a:avLst/>
          </a:prstGeom>
          <a:solidFill>
            <a:srgbClr val="F6F8FD"/>
          </a:solidFill>
          <a:ln>
            <a:noFill/>
          </a:ln>
          <a:effectLst/>
        </p:spPr>
        <p:txBody>
          <a:bodyPr wrap="square" rtlCol="0" anchor="ctr"/>
          <a:lstStyle/>
          <a:p>
            <a:endParaRPr/>
          </a:p>
        </p:txBody>
      </p:sp>
      <p:cxnSp>
        <p:nvCxnSpPr>
          <p:cNvPr id="48" name="Connector 47"/>
          <p:cNvCxnSpPr/>
          <p:nvPr/>
        </p:nvCxnSpPr>
        <p:spPr>
          <a:xfrm>
            <a:off x="457200" y="4882896"/>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85216" y="4604004"/>
            <a:ext cx="248709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At analysis time</a:t>
            </a:r>
          </a:p>
        </p:txBody>
      </p:sp>
      <p:sp>
        <p:nvSpPr>
          <p:cNvPr id="50" name="TextBox 49"/>
          <p:cNvSpPr txBox="1"/>
          <p:nvPr/>
        </p:nvSpPr>
        <p:spPr>
          <a:xfrm>
            <a:off x="3291766" y="4604004"/>
            <a:ext cx="384037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The analyzer needs access to the labelled documents</a:t>
            </a:r>
          </a:p>
        </p:txBody>
      </p:sp>
      <p:sp>
        <p:nvSpPr>
          <p:cNvPr id="51" name="TextBox 50"/>
          <p:cNvSpPr txBox="1"/>
          <p:nvPr/>
        </p:nvSpPr>
        <p:spPr>
          <a:xfrm>
            <a:off x="7351593" y="4604004"/>
            <a:ext cx="4291462"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 access to the labelled documents is required</a:t>
            </a:r>
          </a:p>
        </p:txBody>
      </p:sp>
      <p:cxnSp>
        <p:nvCxnSpPr>
          <p:cNvPr id="52" name="Connector 51"/>
          <p:cNvCxnSpPr/>
          <p:nvPr/>
        </p:nvCxnSpPr>
        <p:spPr>
          <a:xfrm>
            <a:off x="457200" y="5212080"/>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85216" y="4933188"/>
            <a:ext cx="248709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Tokens per analysis</a:t>
            </a:r>
          </a:p>
        </p:txBody>
      </p:sp>
      <p:sp>
        <p:nvSpPr>
          <p:cNvPr id="54" name="TextBox 53"/>
          <p:cNvSpPr txBox="1"/>
          <p:nvPr/>
        </p:nvSpPr>
        <p:spPr>
          <a:xfrm>
            <a:off x="3291766" y="4933188"/>
            <a:ext cx="384037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Baseline</a:t>
            </a:r>
          </a:p>
        </p:txBody>
      </p:sp>
      <p:sp>
        <p:nvSpPr>
          <p:cNvPr id="55" name="TextBox 54"/>
          <p:cNvSpPr txBox="1"/>
          <p:nvPr/>
        </p:nvSpPr>
        <p:spPr>
          <a:xfrm>
            <a:off x="7351593" y="4933188"/>
            <a:ext cx="4291462"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Lower — the analyzer carries patterns, not documents</a:t>
            </a:r>
          </a:p>
        </p:txBody>
      </p:sp>
      <p:cxnSp>
        <p:nvCxnSpPr>
          <p:cNvPr id="56" name="Connector 55"/>
          <p:cNvCxnSpPr/>
          <p:nvPr/>
        </p:nvCxnSpPr>
        <p:spPr>
          <a:xfrm>
            <a:off x="3163750" y="3767328"/>
            <a:ext cx="0" cy="1444752"/>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223577" y="3767328"/>
            <a:ext cx="0" cy="1444752"/>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457200" y="5175504"/>
            <a:ext cx="6876288" cy="384048"/>
          </a:xfrm>
          <a:prstGeom prst="rect">
            <a:avLst/>
          </a:prstGeom>
          <a:solidFill>
            <a:srgbClr val="EBEFF7"/>
          </a:solidFill>
          <a:ln>
            <a:noFill/>
          </a:ln>
          <a:effectLst/>
        </p:spPr>
        <p:txBody>
          <a:bodyPr wrap="square" rtlCol="0" anchor="ctr"/>
          <a:lstStyle/>
          <a:p>
            <a:endParaRPr/>
          </a:p>
        </p:txBody>
      </p:sp>
      <p:sp>
        <p:nvSpPr>
          <p:cNvPr id="59" name="Rectangle 58"/>
          <p:cNvSpPr/>
          <p:nvPr/>
        </p:nvSpPr>
        <p:spPr>
          <a:xfrm>
            <a:off x="457200" y="5175504"/>
            <a:ext cx="41148" cy="384048"/>
          </a:xfrm>
          <a:prstGeom prst="rect">
            <a:avLst/>
          </a:prstGeom>
          <a:solidFill>
            <a:srgbClr val="00B39F"/>
          </a:solidFill>
          <a:ln>
            <a:noFill/>
          </a:ln>
          <a:effectLst/>
        </p:spPr>
        <p:txBody>
          <a:bodyPr wrap="square" rtlCol="0" anchor="ctr"/>
          <a:lstStyle/>
          <a:p>
            <a:endParaRPr/>
          </a:p>
        </p:txBody>
      </p:sp>
      <p:sp>
        <p:nvSpPr>
          <p:cNvPr id="60" name="TextBox 59"/>
          <p:cNvSpPr txBox="1"/>
          <p:nvPr/>
        </p:nvSpPr>
        <p:spPr>
          <a:xfrm>
            <a:off x="694944" y="5276088"/>
            <a:ext cx="6455664" cy="201167"/>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Your labelled documents stay in the storage account of your Content Understanding Studio project, for design purposes only.</a:t>
            </a:r>
          </a:p>
        </p:txBody>
      </p:sp>
      <p:sp>
        <p:nvSpPr>
          <p:cNvPr id="61" name="Rectangle 60"/>
          <p:cNvSpPr/>
          <p:nvPr/>
        </p:nvSpPr>
        <p:spPr>
          <a:xfrm>
            <a:off x="7955279" y="5175504"/>
            <a:ext cx="3776472" cy="384048"/>
          </a:xfrm>
          <a:prstGeom prst="rect">
            <a:avLst/>
          </a:prstGeom>
          <a:solidFill>
            <a:srgbClr val="FFFFFF"/>
          </a:solidFill>
          <a:ln w="9525">
            <a:solidFill>
              <a:srgbClr val="E1E7F4"/>
            </a:solidFill>
          </a:ln>
          <a:effectLst/>
        </p:spPr>
        <p:txBody>
          <a:bodyPr wrap="square" rtlCol="0" anchor="ctr"/>
          <a:lstStyle/>
          <a:p>
            <a:endParaRPr/>
          </a:p>
        </p:txBody>
      </p:sp>
      <p:sp>
        <p:nvSpPr>
          <p:cNvPr id="62" name="TextBox 61"/>
          <p:cNvSpPr txBox="1"/>
          <p:nvPr/>
        </p:nvSpPr>
        <p:spPr>
          <a:xfrm>
            <a:off x="8119872" y="5239512"/>
            <a:ext cx="3474720" cy="256032"/>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Not for: fields that use generate · anything but documents · fixing misread characters</a:t>
            </a:r>
          </a:p>
        </p:txBody>
      </p:sp>
      <p:sp>
        <p:nvSpPr>
          <p:cNvPr id="63" name="TextBox 62"/>
          <p:cNvSpPr txBox="1"/>
          <p:nvPr/>
        </p:nvSpPr>
        <p:spPr>
          <a:xfrm>
            <a:off x="457200" y="5632704"/>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 Labelled training exists in both API versions.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 BETWEEN TOOLS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Compared with Azure Document Intelligence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same portfolio and the same brand, but two services and two APIs — and Microsoft publishes when to use each</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learn.microsoft.com/azure/ai-services/content-understanding/choosing-right-ai-tool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10</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2298124"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Criterion</a:t>
            </a:r>
          </a:p>
        </p:txBody>
      </p:sp>
      <p:sp>
        <p:nvSpPr>
          <p:cNvPr id="9" name="TextBox 8"/>
          <p:cNvSpPr txBox="1"/>
          <p:nvPr/>
        </p:nvSpPr>
        <p:spPr>
          <a:xfrm>
            <a:off x="3066220" y="1431036"/>
            <a:ext cx="4328038"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Content Understanding</a:t>
            </a:r>
          </a:p>
        </p:txBody>
      </p:sp>
      <p:sp>
        <p:nvSpPr>
          <p:cNvPr id="10" name="TextBox 9"/>
          <p:cNvSpPr txBox="1"/>
          <p:nvPr/>
        </p:nvSpPr>
        <p:spPr>
          <a:xfrm>
            <a:off x="7577139" y="1431036"/>
            <a:ext cx="4102492"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Document Intelligence</a:t>
            </a:r>
          </a:p>
        </p:txBody>
      </p:sp>
      <p:sp>
        <p:nvSpPr>
          <p:cNvPr id="11" name="Rectangle 10"/>
          <p:cNvSpPr/>
          <p:nvPr/>
        </p:nvSpPr>
        <p:spPr>
          <a:xfrm>
            <a:off x="457200" y="1664208"/>
            <a:ext cx="11277295" cy="420624"/>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08483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14500"/>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it is best at</a:t>
            </a:r>
          </a:p>
        </p:txBody>
      </p:sp>
      <p:sp>
        <p:nvSpPr>
          <p:cNvPr id="14" name="TextBox 13"/>
          <p:cNvSpPr txBox="1"/>
          <p:nvPr/>
        </p:nvSpPr>
        <p:spPr>
          <a:xfrm>
            <a:off x="3066220" y="1714500"/>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Complex, unstructured and multimodal content, and inferred values</a:t>
            </a:r>
          </a:p>
        </p:txBody>
      </p:sp>
      <p:sp>
        <p:nvSpPr>
          <p:cNvPr id="15" name="TextBox 14"/>
          <p:cNvSpPr txBox="1"/>
          <p:nvPr/>
        </p:nvSpPr>
        <p:spPr>
          <a:xfrm>
            <a:off x="7577139" y="1714500"/>
            <a:ext cx="4065916"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Deterministic, high-accuracy extraction from structured and templated forms</a:t>
            </a:r>
          </a:p>
        </p:txBody>
      </p:sp>
      <p:cxnSp>
        <p:nvCxnSpPr>
          <p:cNvPr id="16" name="Connector 15"/>
          <p:cNvCxnSpPr/>
          <p:nvPr/>
        </p:nvCxnSpPr>
        <p:spPr>
          <a:xfrm>
            <a:off x="457200" y="245059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135124"/>
            <a:ext cx="2261548"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Content types</a:t>
            </a:r>
          </a:p>
        </p:txBody>
      </p:sp>
      <p:sp>
        <p:nvSpPr>
          <p:cNvPr id="18" name="TextBox 17"/>
          <p:cNvSpPr txBox="1"/>
          <p:nvPr/>
        </p:nvSpPr>
        <p:spPr>
          <a:xfrm>
            <a:off x="3066220" y="2135124"/>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images, audio and video</a:t>
            </a:r>
          </a:p>
        </p:txBody>
      </p:sp>
      <p:sp>
        <p:nvSpPr>
          <p:cNvPr id="19" name="TextBox 18"/>
          <p:cNvSpPr txBox="1"/>
          <p:nvPr/>
        </p:nvSpPr>
        <p:spPr>
          <a:xfrm>
            <a:off x="7577139" y="2135124"/>
            <a:ext cx="4065916"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forms and images</a:t>
            </a:r>
          </a:p>
        </p:txBody>
      </p:sp>
      <p:sp>
        <p:nvSpPr>
          <p:cNvPr id="20" name="Rectangle 19"/>
          <p:cNvSpPr/>
          <p:nvPr/>
        </p:nvSpPr>
        <p:spPr>
          <a:xfrm>
            <a:off x="457200" y="2450592"/>
            <a:ext cx="11277295" cy="420624"/>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871216"/>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2500884"/>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Defining what to extract</a:t>
            </a:r>
          </a:p>
        </p:txBody>
      </p:sp>
      <p:sp>
        <p:nvSpPr>
          <p:cNvPr id="23" name="TextBox 22"/>
          <p:cNvSpPr txBox="1"/>
          <p:nvPr/>
        </p:nvSpPr>
        <p:spPr>
          <a:xfrm>
            <a:off x="3066220" y="2500884"/>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Describe fields in plain language; no labelling needed to start</a:t>
            </a:r>
          </a:p>
        </p:txBody>
      </p:sp>
      <p:sp>
        <p:nvSpPr>
          <p:cNvPr id="24" name="TextBox 23"/>
          <p:cNvSpPr txBox="1"/>
          <p:nvPr/>
        </p:nvSpPr>
        <p:spPr>
          <a:xfrm>
            <a:off x="7577139" y="2500884"/>
            <a:ext cx="4065916"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fixed prebuilt schema, or a custom model trained on labelled samples</a:t>
            </a:r>
          </a:p>
        </p:txBody>
      </p:sp>
      <p:cxnSp>
        <p:nvCxnSpPr>
          <p:cNvPr id="25" name="Connector 24"/>
          <p:cNvCxnSpPr/>
          <p:nvPr/>
        </p:nvCxnSpPr>
        <p:spPr>
          <a:xfrm>
            <a:off x="457200" y="3291840"/>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2921508"/>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Training</a:t>
            </a:r>
          </a:p>
        </p:txBody>
      </p:sp>
      <p:sp>
        <p:nvSpPr>
          <p:cNvPr id="27" name="TextBox 26"/>
          <p:cNvSpPr txBox="1"/>
          <p:nvPr/>
        </p:nvSpPr>
        <p:spPr>
          <a:xfrm>
            <a:off x="3066220" y="2921508"/>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 to start; labelled samples optional to improve accuracy</a:t>
            </a:r>
          </a:p>
        </p:txBody>
      </p:sp>
      <p:sp>
        <p:nvSpPr>
          <p:cNvPr id="28" name="TextBox 27"/>
          <p:cNvSpPr txBox="1"/>
          <p:nvPr/>
        </p:nvSpPr>
        <p:spPr>
          <a:xfrm>
            <a:off x="7577139" y="2921508"/>
            <a:ext cx="4065916"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Custom models need at least five labelled samples</a:t>
            </a:r>
          </a:p>
        </p:txBody>
      </p:sp>
      <p:sp>
        <p:nvSpPr>
          <p:cNvPr id="29" name="Rectangle 28"/>
          <p:cNvSpPr/>
          <p:nvPr/>
        </p:nvSpPr>
        <p:spPr>
          <a:xfrm>
            <a:off x="457200" y="3291840"/>
            <a:ext cx="11277295" cy="42062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71246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3342132"/>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Values not written on the page</a:t>
            </a:r>
          </a:p>
        </p:txBody>
      </p:sp>
      <p:sp>
        <p:nvSpPr>
          <p:cNvPr id="32" name="TextBox 31"/>
          <p:cNvSpPr txBox="1"/>
          <p:nvPr/>
        </p:nvSpPr>
        <p:spPr>
          <a:xfrm>
            <a:off x="3066220" y="3342132"/>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Can infer them — for example an end date from a start date and a term</a:t>
            </a:r>
          </a:p>
        </p:txBody>
      </p:sp>
      <p:sp>
        <p:nvSpPr>
          <p:cNvPr id="33" name="TextBox 32"/>
          <p:cNvSpPr txBox="1"/>
          <p:nvPr/>
        </p:nvSpPr>
        <p:spPr>
          <a:xfrm>
            <a:off x="7577139" y="3342132"/>
            <a:ext cx="4065916"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 — extraction is deterministic</a:t>
            </a:r>
          </a:p>
        </p:txBody>
      </p:sp>
      <p:cxnSp>
        <p:nvCxnSpPr>
          <p:cNvPr id="34" name="Connector 33"/>
          <p:cNvCxnSpPr/>
          <p:nvPr/>
        </p:nvCxnSpPr>
        <p:spPr>
          <a:xfrm>
            <a:off x="457200" y="407822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3762756"/>
            <a:ext cx="2261548"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Models</a:t>
            </a:r>
          </a:p>
        </p:txBody>
      </p:sp>
      <p:sp>
        <p:nvSpPr>
          <p:cNvPr id="36" name="TextBox 35"/>
          <p:cNvSpPr txBox="1"/>
          <p:nvPr/>
        </p:nvSpPr>
        <p:spPr>
          <a:xfrm>
            <a:off x="3066220" y="3762756"/>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You bring your own Foundry model deployments</a:t>
            </a:r>
          </a:p>
        </p:txBody>
      </p:sp>
      <p:sp>
        <p:nvSpPr>
          <p:cNvPr id="37" name="TextBox 36"/>
          <p:cNvSpPr txBox="1"/>
          <p:nvPr/>
        </p:nvSpPr>
        <p:spPr>
          <a:xfrm>
            <a:off x="7577139" y="3762756"/>
            <a:ext cx="4065916"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Managed by the service</a:t>
            </a:r>
          </a:p>
        </p:txBody>
      </p:sp>
      <p:sp>
        <p:nvSpPr>
          <p:cNvPr id="38" name="Rectangle 37"/>
          <p:cNvSpPr/>
          <p:nvPr/>
        </p:nvSpPr>
        <p:spPr>
          <a:xfrm>
            <a:off x="457200" y="4078224"/>
            <a:ext cx="11277295" cy="365760"/>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44398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4128516"/>
            <a:ext cx="2261548"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Where it can run</a:t>
            </a:r>
          </a:p>
        </p:txBody>
      </p:sp>
      <p:sp>
        <p:nvSpPr>
          <p:cNvPr id="41" name="TextBox 40"/>
          <p:cNvSpPr txBox="1"/>
          <p:nvPr/>
        </p:nvSpPr>
        <p:spPr>
          <a:xfrm>
            <a:off x="3066220" y="4128516"/>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Cloud only</a:t>
            </a:r>
          </a:p>
        </p:txBody>
      </p:sp>
      <p:sp>
        <p:nvSpPr>
          <p:cNvPr id="42" name="TextBox 41"/>
          <p:cNvSpPr txBox="1"/>
          <p:nvPr/>
        </p:nvSpPr>
        <p:spPr>
          <a:xfrm>
            <a:off x="7577139" y="4128516"/>
            <a:ext cx="4065916"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Cloud, and in containers for on-premises or disconnected use</a:t>
            </a:r>
          </a:p>
        </p:txBody>
      </p:sp>
      <p:cxnSp>
        <p:nvCxnSpPr>
          <p:cNvPr id="43" name="Connector 42"/>
          <p:cNvCxnSpPr/>
          <p:nvPr/>
        </p:nvCxnSpPr>
        <p:spPr>
          <a:xfrm>
            <a:off x="2938204" y="1664208"/>
            <a:ext cx="0" cy="2779776"/>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449123" y="1664208"/>
            <a:ext cx="0" cy="2779776"/>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57200" y="4608576"/>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MICROSOFT’S OWN GUIDANCE ON WHICH TO CHOOSE</a:t>
            </a:r>
          </a:p>
        </p:txBody>
      </p:sp>
      <p:sp>
        <p:nvSpPr>
          <p:cNvPr id="46" name="Rectangle 45"/>
          <p:cNvSpPr/>
          <p:nvPr/>
        </p:nvSpPr>
        <p:spPr>
          <a:xfrm>
            <a:off x="457200" y="4864608"/>
            <a:ext cx="5504688" cy="402336"/>
          </a:xfrm>
          <a:prstGeom prst="rect">
            <a:avLst/>
          </a:prstGeom>
          <a:solidFill>
            <a:srgbClr val="F6F8FD"/>
          </a:solidFill>
          <a:ln w="9525">
            <a:solidFill>
              <a:srgbClr val="E1E7F4"/>
            </a:solidFill>
          </a:ln>
          <a:effectLst/>
        </p:spPr>
        <p:txBody>
          <a:bodyPr wrap="square" rtlCol="0" anchor="ctr"/>
          <a:lstStyle/>
          <a:p>
            <a:endParaRPr/>
          </a:p>
        </p:txBody>
      </p:sp>
      <p:sp>
        <p:nvSpPr>
          <p:cNvPr id="47" name="TextBox 46"/>
          <p:cNvSpPr txBox="1"/>
          <p:nvPr/>
        </p:nvSpPr>
        <p:spPr>
          <a:xfrm>
            <a:off x="603504" y="4901184"/>
            <a:ext cx="1737360"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Reading text or layout only</a:t>
            </a:r>
          </a:p>
        </p:txBody>
      </p:sp>
      <p:sp>
        <p:nvSpPr>
          <p:cNvPr id="48" name="TextBox 47"/>
          <p:cNvSpPr txBox="1"/>
          <p:nvPr/>
        </p:nvSpPr>
        <p:spPr>
          <a:xfrm>
            <a:off x="2395728" y="4901184"/>
            <a:ext cx="1572768" cy="329184"/>
          </a:xfrm>
          <a:prstGeom prst="rect">
            <a:avLst/>
          </a:prstGeom>
          <a:noFill/>
        </p:spPr>
        <p:txBody>
          <a:bodyPr wrap="square" lIns="0" tIns="0" rIns="0" bIns="0" anchor="ctr">
            <a:spAutoFit/>
          </a:bodyPr>
          <a:lstStyle/>
          <a:p>
            <a:pPr algn="l">
              <a:lnSpc>
                <a:spcPct val="108000"/>
              </a:lnSpc>
            </a:pPr>
            <a:r>
              <a:rPr sz="850" b="1" i="0" dirty="0">
                <a:solidFill>
                  <a:srgbClr val="008173"/>
                </a:solidFill>
                <a:latin typeface="Segoe UI"/>
                <a:cs typeface="Segoe UI"/>
              </a:rPr>
              <a:t>Content Understanding</a:t>
            </a:r>
          </a:p>
        </p:txBody>
      </p:sp>
      <p:sp>
        <p:nvSpPr>
          <p:cNvPr id="49" name="TextBox 48"/>
          <p:cNvSpPr txBox="1"/>
          <p:nvPr/>
        </p:nvSpPr>
        <p:spPr>
          <a:xfrm>
            <a:off x="4041648" y="4901184"/>
            <a:ext cx="1792224"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lower cost and richer layout output</a:t>
            </a:r>
          </a:p>
        </p:txBody>
      </p:sp>
      <p:sp>
        <p:nvSpPr>
          <p:cNvPr id="50" name="Rectangle 49"/>
          <p:cNvSpPr/>
          <p:nvPr/>
        </p:nvSpPr>
        <p:spPr>
          <a:xfrm>
            <a:off x="6163056" y="4864608"/>
            <a:ext cx="5504688" cy="402336"/>
          </a:xfrm>
          <a:prstGeom prst="rect">
            <a:avLst/>
          </a:prstGeom>
          <a:solidFill>
            <a:srgbClr val="FFFFFF"/>
          </a:solidFill>
          <a:ln w="9525">
            <a:solidFill>
              <a:srgbClr val="E1E7F4"/>
            </a:solidFill>
          </a:ln>
          <a:effectLst/>
        </p:spPr>
        <p:txBody>
          <a:bodyPr wrap="square" rtlCol="0" anchor="ctr"/>
          <a:lstStyle/>
          <a:p>
            <a:endParaRPr/>
          </a:p>
        </p:txBody>
      </p:sp>
      <p:sp>
        <p:nvSpPr>
          <p:cNvPr id="51" name="TextBox 50"/>
          <p:cNvSpPr txBox="1"/>
          <p:nvPr/>
        </p:nvSpPr>
        <p:spPr>
          <a:xfrm>
            <a:off x="6309360" y="4901184"/>
            <a:ext cx="1737360"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Standard structured forms</a:t>
            </a:r>
          </a:p>
        </p:txBody>
      </p:sp>
      <p:sp>
        <p:nvSpPr>
          <p:cNvPr id="52" name="TextBox 51"/>
          <p:cNvSpPr txBox="1"/>
          <p:nvPr/>
        </p:nvSpPr>
        <p:spPr>
          <a:xfrm>
            <a:off x="8101583" y="4901184"/>
            <a:ext cx="1572768" cy="329184"/>
          </a:xfrm>
          <a:prstGeom prst="rect">
            <a:avLst/>
          </a:prstGeom>
          <a:noFill/>
        </p:spPr>
        <p:txBody>
          <a:bodyPr wrap="square" lIns="0" tIns="0" rIns="0" bIns="0" anchor="ctr">
            <a:spAutoFit/>
          </a:bodyPr>
          <a:lstStyle/>
          <a:p>
            <a:pPr algn="l">
              <a:lnSpc>
                <a:spcPct val="108000"/>
              </a:lnSpc>
            </a:pPr>
            <a:r>
              <a:rPr sz="850" b="1" i="0" dirty="0">
                <a:solidFill>
                  <a:srgbClr val="008173"/>
                </a:solidFill>
                <a:latin typeface="Segoe UI"/>
                <a:cs typeface="Segoe UI"/>
              </a:rPr>
              <a:t>Document Intelligence</a:t>
            </a:r>
          </a:p>
        </p:txBody>
      </p:sp>
      <p:sp>
        <p:nvSpPr>
          <p:cNvPr id="53" name="TextBox 52"/>
          <p:cNvSpPr txBox="1"/>
          <p:nvPr/>
        </p:nvSpPr>
        <p:spPr>
          <a:xfrm>
            <a:off x="9747504" y="4901184"/>
            <a:ext cx="1792224"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invoices, receipts, identity and tax documents</a:t>
            </a:r>
          </a:p>
        </p:txBody>
      </p:sp>
      <p:sp>
        <p:nvSpPr>
          <p:cNvPr id="54" name="Rectangle 53"/>
          <p:cNvSpPr/>
          <p:nvPr/>
        </p:nvSpPr>
        <p:spPr>
          <a:xfrm>
            <a:off x="457200" y="5321808"/>
            <a:ext cx="5504688" cy="402336"/>
          </a:xfrm>
          <a:prstGeom prst="rect">
            <a:avLst/>
          </a:prstGeom>
          <a:solidFill>
            <a:srgbClr val="F6F8FD"/>
          </a:solidFill>
          <a:ln w="9525">
            <a:solidFill>
              <a:srgbClr val="E1E7F4"/>
            </a:solidFill>
          </a:ln>
          <a:effectLst/>
        </p:spPr>
        <p:txBody>
          <a:bodyPr wrap="square" rtlCol="0" anchor="ctr"/>
          <a:lstStyle/>
          <a:p>
            <a:endParaRPr/>
          </a:p>
        </p:txBody>
      </p:sp>
      <p:sp>
        <p:nvSpPr>
          <p:cNvPr id="55" name="TextBox 54"/>
          <p:cNvSpPr txBox="1"/>
          <p:nvPr/>
        </p:nvSpPr>
        <p:spPr>
          <a:xfrm>
            <a:off x="603504" y="5358384"/>
            <a:ext cx="1737360"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Unstructured documents</a:t>
            </a:r>
          </a:p>
        </p:txBody>
      </p:sp>
      <p:sp>
        <p:nvSpPr>
          <p:cNvPr id="56" name="TextBox 55"/>
          <p:cNvSpPr txBox="1"/>
          <p:nvPr/>
        </p:nvSpPr>
        <p:spPr>
          <a:xfrm>
            <a:off x="2395728" y="5358384"/>
            <a:ext cx="1572768" cy="329184"/>
          </a:xfrm>
          <a:prstGeom prst="rect">
            <a:avLst/>
          </a:prstGeom>
          <a:noFill/>
        </p:spPr>
        <p:txBody>
          <a:bodyPr wrap="square" lIns="0" tIns="0" rIns="0" bIns="0" anchor="ctr">
            <a:spAutoFit/>
          </a:bodyPr>
          <a:lstStyle/>
          <a:p>
            <a:pPr algn="l">
              <a:lnSpc>
                <a:spcPct val="108000"/>
              </a:lnSpc>
            </a:pPr>
            <a:r>
              <a:rPr sz="850" b="1" i="0" dirty="0">
                <a:solidFill>
                  <a:srgbClr val="008173"/>
                </a:solidFill>
                <a:latin typeface="Segoe UI"/>
                <a:cs typeface="Segoe UI"/>
              </a:rPr>
              <a:t>Content Understanding</a:t>
            </a:r>
          </a:p>
        </p:txBody>
      </p:sp>
      <p:sp>
        <p:nvSpPr>
          <p:cNvPr id="57" name="TextBox 56"/>
          <p:cNvSpPr txBox="1"/>
          <p:nvPr/>
        </p:nvSpPr>
        <p:spPr>
          <a:xfrm>
            <a:off x="4041648" y="5358384"/>
            <a:ext cx="1792224"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contracts, policies, notes — no labelling</a:t>
            </a:r>
          </a:p>
        </p:txBody>
      </p:sp>
      <p:sp>
        <p:nvSpPr>
          <p:cNvPr id="58" name="Rectangle 57"/>
          <p:cNvSpPr/>
          <p:nvPr/>
        </p:nvSpPr>
        <p:spPr>
          <a:xfrm>
            <a:off x="6163056" y="5321808"/>
            <a:ext cx="5504688" cy="402336"/>
          </a:xfrm>
          <a:prstGeom prst="rect">
            <a:avLst/>
          </a:prstGeom>
          <a:solidFill>
            <a:srgbClr val="FFFFFF"/>
          </a:solidFill>
          <a:ln w="9525">
            <a:solidFill>
              <a:srgbClr val="E1E7F4"/>
            </a:solidFill>
          </a:ln>
          <a:effectLst/>
        </p:spPr>
        <p:txBody>
          <a:bodyPr wrap="square" rtlCol="0" anchor="ctr"/>
          <a:lstStyle/>
          <a:p>
            <a:endParaRPr/>
          </a:p>
        </p:txBody>
      </p:sp>
      <p:sp>
        <p:nvSpPr>
          <p:cNvPr id="59" name="TextBox 58"/>
          <p:cNvSpPr txBox="1"/>
          <p:nvPr/>
        </p:nvSpPr>
        <p:spPr>
          <a:xfrm>
            <a:off x="6309360" y="5358384"/>
            <a:ext cx="1737360"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On-premises or disconnected</a:t>
            </a:r>
          </a:p>
        </p:txBody>
      </p:sp>
      <p:sp>
        <p:nvSpPr>
          <p:cNvPr id="60" name="TextBox 59"/>
          <p:cNvSpPr txBox="1"/>
          <p:nvPr/>
        </p:nvSpPr>
        <p:spPr>
          <a:xfrm>
            <a:off x="8101583" y="5358384"/>
            <a:ext cx="1572768" cy="329184"/>
          </a:xfrm>
          <a:prstGeom prst="rect">
            <a:avLst/>
          </a:prstGeom>
          <a:noFill/>
        </p:spPr>
        <p:txBody>
          <a:bodyPr wrap="square" lIns="0" tIns="0" rIns="0" bIns="0" anchor="ctr">
            <a:spAutoFit/>
          </a:bodyPr>
          <a:lstStyle/>
          <a:p>
            <a:pPr algn="l">
              <a:lnSpc>
                <a:spcPct val="108000"/>
              </a:lnSpc>
            </a:pPr>
            <a:r>
              <a:rPr sz="850" b="1" i="0" dirty="0">
                <a:solidFill>
                  <a:srgbClr val="008173"/>
                </a:solidFill>
                <a:latin typeface="Segoe UI"/>
                <a:cs typeface="Segoe UI"/>
              </a:rPr>
              <a:t>Document Intelligence</a:t>
            </a:r>
          </a:p>
        </p:txBody>
      </p:sp>
      <p:sp>
        <p:nvSpPr>
          <p:cNvPr id="61" name="TextBox 60"/>
          <p:cNvSpPr txBox="1"/>
          <p:nvPr/>
        </p:nvSpPr>
        <p:spPr>
          <a:xfrm>
            <a:off x="9747504" y="5358384"/>
            <a:ext cx="1792224"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containers are the only option today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 BETWEEN TOOLS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Compared with a standalone OCR model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Optical character recognition converts a file to text; Content Understanding is a configured pipeline around that step</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learn.microsoft.com/azure/ai-services/content-understanding/concepts/prebuilt-analyzers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11</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2072579"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Criterion</a:t>
            </a:r>
          </a:p>
        </p:txBody>
      </p:sp>
      <p:sp>
        <p:nvSpPr>
          <p:cNvPr id="9" name="TextBox 8"/>
          <p:cNvSpPr txBox="1"/>
          <p:nvPr/>
        </p:nvSpPr>
        <p:spPr>
          <a:xfrm>
            <a:off x="2840675" y="1431036"/>
            <a:ext cx="4328038"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An OCR model — for example Mistral OCR</a:t>
            </a:r>
          </a:p>
        </p:txBody>
      </p:sp>
      <p:sp>
        <p:nvSpPr>
          <p:cNvPr id="10" name="TextBox 9"/>
          <p:cNvSpPr txBox="1"/>
          <p:nvPr/>
        </p:nvSpPr>
        <p:spPr>
          <a:xfrm>
            <a:off x="7351593" y="1431036"/>
            <a:ext cx="4328038"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Azure Content Understanding</a:t>
            </a:r>
          </a:p>
        </p:txBody>
      </p:sp>
      <p:sp>
        <p:nvSpPr>
          <p:cNvPr id="11" name="Rectangle 10"/>
          <p:cNvSpPr/>
          <p:nvPr/>
        </p:nvSpPr>
        <p:spPr>
          <a:xfrm>
            <a:off x="457200" y="1664208"/>
            <a:ext cx="11277295" cy="365760"/>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0299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1450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you call</a:t>
            </a:r>
          </a:p>
        </p:txBody>
      </p:sp>
      <p:sp>
        <p:nvSpPr>
          <p:cNvPr id="14" name="TextBox 13"/>
          <p:cNvSpPr txBox="1"/>
          <p:nvPr/>
        </p:nvSpPr>
        <p:spPr>
          <a:xfrm>
            <a:off x="2840675" y="171450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model, once per file</a:t>
            </a:r>
          </a:p>
        </p:txBody>
      </p:sp>
      <p:sp>
        <p:nvSpPr>
          <p:cNvPr id="15" name="TextBox 14"/>
          <p:cNvSpPr txBox="1"/>
          <p:nvPr/>
        </p:nvSpPr>
        <p:spPr>
          <a:xfrm>
            <a:off x="7351593" y="171450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named analyzer you created, holding schema, settings and model choice</a:t>
            </a:r>
          </a:p>
        </p:txBody>
      </p:sp>
      <p:cxnSp>
        <p:nvCxnSpPr>
          <p:cNvPr id="16" name="Connector 15"/>
          <p:cNvCxnSpPr/>
          <p:nvPr/>
        </p:nvCxnSpPr>
        <p:spPr>
          <a:xfrm>
            <a:off x="457200" y="239572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08026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comes back</a:t>
            </a:r>
          </a:p>
        </p:txBody>
      </p:sp>
      <p:sp>
        <p:nvSpPr>
          <p:cNvPr id="18" name="TextBox 17"/>
          <p:cNvSpPr txBox="1"/>
          <p:nvPr/>
        </p:nvSpPr>
        <p:spPr>
          <a:xfrm>
            <a:off x="2840675" y="208026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Text or Markdown, with layout blocks</a:t>
            </a:r>
          </a:p>
        </p:txBody>
      </p:sp>
      <p:sp>
        <p:nvSpPr>
          <p:cNvPr id="19" name="TextBox 18"/>
          <p:cNvSpPr txBox="1"/>
          <p:nvPr/>
        </p:nvSpPr>
        <p:spPr>
          <a:xfrm>
            <a:off x="7351593" y="208026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Markdown, plus typed JSON matching the schema you defined</a:t>
            </a:r>
          </a:p>
        </p:txBody>
      </p:sp>
      <p:sp>
        <p:nvSpPr>
          <p:cNvPr id="20" name="Rectangle 19"/>
          <p:cNvSpPr/>
          <p:nvPr/>
        </p:nvSpPr>
        <p:spPr>
          <a:xfrm>
            <a:off x="457200" y="2395728"/>
            <a:ext cx="11277295" cy="365760"/>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76148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244602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Deciding what matters</a:t>
            </a:r>
          </a:p>
        </p:txBody>
      </p:sp>
      <p:sp>
        <p:nvSpPr>
          <p:cNvPr id="23" name="TextBox 22"/>
          <p:cNvSpPr txBox="1"/>
          <p:nvPr/>
        </p:nvSpPr>
        <p:spPr>
          <a:xfrm>
            <a:off x="2840675" y="244602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Your code parses the text to find the values it needs</a:t>
            </a:r>
          </a:p>
        </p:txBody>
      </p:sp>
      <p:sp>
        <p:nvSpPr>
          <p:cNvPr id="24" name="TextBox 23"/>
          <p:cNvSpPr txBox="1"/>
          <p:nvPr/>
        </p:nvSpPr>
        <p:spPr>
          <a:xfrm>
            <a:off x="7351593" y="244602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You declare the fields; the service returns them</a:t>
            </a:r>
          </a:p>
        </p:txBody>
      </p:sp>
      <p:cxnSp>
        <p:nvCxnSpPr>
          <p:cNvPr id="25" name="Connector 24"/>
          <p:cNvCxnSpPr/>
          <p:nvPr/>
        </p:nvCxnSpPr>
        <p:spPr>
          <a:xfrm>
            <a:off x="457200" y="312724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281178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Trust signal</a:t>
            </a:r>
          </a:p>
        </p:txBody>
      </p:sp>
      <p:sp>
        <p:nvSpPr>
          <p:cNvPr id="27" name="TextBox 26"/>
          <p:cNvSpPr txBox="1"/>
          <p:nvPr/>
        </p:nvSpPr>
        <p:spPr>
          <a:xfrm>
            <a:off x="2840675" y="281178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 per value</a:t>
            </a:r>
          </a:p>
        </p:txBody>
      </p:sp>
      <p:sp>
        <p:nvSpPr>
          <p:cNvPr id="28" name="TextBox 27"/>
          <p:cNvSpPr txBox="1"/>
          <p:nvPr/>
        </p:nvSpPr>
        <p:spPr>
          <a:xfrm>
            <a:off x="7351593" y="281178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confidence score and the source region, per field*</a:t>
            </a:r>
          </a:p>
        </p:txBody>
      </p:sp>
      <p:sp>
        <p:nvSpPr>
          <p:cNvPr id="29" name="Rectangle 28"/>
          <p:cNvSpPr/>
          <p:nvPr/>
        </p:nvSpPr>
        <p:spPr>
          <a:xfrm>
            <a:off x="457200" y="3127248"/>
            <a:ext cx="11277295" cy="365760"/>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49300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317754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Other content types</a:t>
            </a:r>
          </a:p>
        </p:txBody>
      </p:sp>
      <p:sp>
        <p:nvSpPr>
          <p:cNvPr id="32" name="TextBox 31"/>
          <p:cNvSpPr txBox="1"/>
          <p:nvPr/>
        </p:nvSpPr>
        <p:spPr>
          <a:xfrm>
            <a:off x="2840675" y="317754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and images</a:t>
            </a:r>
          </a:p>
        </p:txBody>
      </p:sp>
      <p:sp>
        <p:nvSpPr>
          <p:cNvPr id="33" name="TextBox 32"/>
          <p:cNvSpPr txBox="1"/>
          <p:nvPr/>
        </p:nvSpPr>
        <p:spPr>
          <a:xfrm>
            <a:off x="7351593" y="317754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images, audio and video through one interface</a:t>
            </a:r>
          </a:p>
        </p:txBody>
      </p:sp>
      <p:cxnSp>
        <p:nvCxnSpPr>
          <p:cNvPr id="34" name="Connector 33"/>
          <p:cNvCxnSpPr/>
          <p:nvPr/>
        </p:nvCxnSpPr>
        <p:spPr>
          <a:xfrm>
            <a:off x="457200" y="38587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354330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Mixed batches</a:t>
            </a:r>
          </a:p>
        </p:txBody>
      </p:sp>
      <p:sp>
        <p:nvSpPr>
          <p:cNvPr id="36" name="TextBox 35"/>
          <p:cNvSpPr txBox="1"/>
          <p:nvPr/>
        </p:nvSpPr>
        <p:spPr>
          <a:xfrm>
            <a:off x="2840675" y="354330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Handled by your own code</a:t>
            </a:r>
          </a:p>
        </p:txBody>
      </p:sp>
      <p:sp>
        <p:nvSpPr>
          <p:cNvPr id="37" name="TextBox 36"/>
          <p:cNvSpPr txBox="1"/>
          <p:nvPr/>
        </p:nvSpPr>
        <p:spPr>
          <a:xfrm>
            <a:off x="7351593" y="354330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Classified, split and routed to different analyzers in one call</a:t>
            </a:r>
          </a:p>
        </p:txBody>
      </p:sp>
      <p:sp>
        <p:nvSpPr>
          <p:cNvPr id="38" name="Rectangle 37"/>
          <p:cNvSpPr/>
          <p:nvPr/>
        </p:nvSpPr>
        <p:spPr>
          <a:xfrm>
            <a:off x="457200" y="3858768"/>
            <a:ext cx="11277295" cy="365760"/>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22452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3909059"/>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Reasoning over content</a:t>
            </a:r>
          </a:p>
        </p:txBody>
      </p:sp>
      <p:sp>
        <p:nvSpPr>
          <p:cNvPr id="41" name="TextBox 40"/>
          <p:cNvSpPr txBox="1"/>
          <p:nvPr/>
        </p:nvSpPr>
        <p:spPr>
          <a:xfrm>
            <a:off x="2840675" y="3909059"/>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a:t>
            </a:r>
          </a:p>
        </p:txBody>
      </p:sp>
      <p:sp>
        <p:nvSpPr>
          <p:cNvPr id="42" name="TextBox 41"/>
          <p:cNvSpPr txBox="1"/>
          <p:nvPr/>
        </p:nvSpPr>
        <p:spPr>
          <a:xfrm>
            <a:off x="7351593" y="3909059"/>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Agentic mode**, in preview: calculation and validation</a:t>
            </a:r>
          </a:p>
        </p:txBody>
      </p:sp>
      <p:cxnSp>
        <p:nvCxnSpPr>
          <p:cNvPr id="43" name="Connector 42"/>
          <p:cNvCxnSpPr/>
          <p:nvPr/>
        </p:nvCxnSpPr>
        <p:spPr>
          <a:xfrm>
            <a:off x="2712659" y="1664208"/>
            <a:ext cx="0" cy="25603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223577" y="1664208"/>
            <a:ext cx="0" cy="25603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57200" y="4389120"/>
            <a:ext cx="11277295" cy="566928"/>
          </a:xfrm>
          <a:prstGeom prst="rect">
            <a:avLst/>
          </a:prstGeom>
          <a:solidFill>
            <a:srgbClr val="EBEFF7"/>
          </a:solidFill>
          <a:ln>
            <a:noFill/>
          </a:ln>
          <a:effectLst/>
        </p:spPr>
        <p:txBody>
          <a:bodyPr wrap="square" rtlCol="0" anchor="ctr"/>
          <a:lstStyle/>
          <a:p>
            <a:endParaRPr/>
          </a:p>
        </p:txBody>
      </p:sp>
      <p:sp>
        <p:nvSpPr>
          <p:cNvPr id="46" name="Rectangle 45"/>
          <p:cNvSpPr/>
          <p:nvPr/>
        </p:nvSpPr>
        <p:spPr>
          <a:xfrm>
            <a:off x="457200" y="4389120"/>
            <a:ext cx="41148" cy="566928"/>
          </a:xfrm>
          <a:prstGeom prst="rect">
            <a:avLst/>
          </a:prstGeom>
          <a:solidFill>
            <a:srgbClr val="00B39F"/>
          </a:solidFill>
          <a:ln>
            <a:noFill/>
          </a:ln>
          <a:effectLst/>
        </p:spPr>
        <p:txBody>
          <a:bodyPr wrap="square" rtlCol="0" anchor="ctr"/>
          <a:lstStyle/>
          <a:p>
            <a:endParaRPr/>
          </a:p>
        </p:txBody>
      </p:sp>
      <p:sp>
        <p:nvSpPr>
          <p:cNvPr id="47" name="TextBox 46"/>
          <p:cNvSpPr txBox="1"/>
          <p:nvPr/>
        </p:nvSpPr>
        <p:spPr>
          <a:xfrm>
            <a:off x="694944" y="4489704"/>
            <a:ext cx="10856671" cy="384048"/>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These are not alternatives on the same axis. Content Understanding contains an optical character recognition stage — its read and layout analyzers need no language model at all. The real question is whether you need only text, or text plus a defined schema, a confidence score and routing.</a:t>
            </a:r>
          </a:p>
        </p:txBody>
      </p:sp>
      <p:sp>
        <p:nvSpPr>
          <p:cNvPr id="48" name="Rectangle 47"/>
          <p:cNvSpPr/>
          <p:nvPr/>
        </p:nvSpPr>
        <p:spPr>
          <a:xfrm>
            <a:off x="457200" y="5102352"/>
            <a:ext cx="5504688" cy="493776"/>
          </a:xfrm>
          <a:prstGeom prst="rect">
            <a:avLst/>
          </a:prstGeom>
          <a:solidFill>
            <a:srgbClr val="F6F8FD"/>
          </a:solidFill>
          <a:ln w="9525">
            <a:solidFill>
              <a:srgbClr val="E1E7F4"/>
            </a:solidFill>
          </a:ln>
          <a:effectLst/>
        </p:spPr>
        <p:txBody>
          <a:bodyPr wrap="square" rtlCol="0" anchor="ctr"/>
          <a:lstStyle/>
          <a:p>
            <a:endParaRPr/>
          </a:p>
        </p:txBody>
      </p:sp>
      <p:sp>
        <p:nvSpPr>
          <p:cNvPr id="49" name="Rectangle 48"/>
          <p:cNvSpPr/>
          <p:nvPr/>
        </p:nvSpPr>
        <p:spPr>
          <a:xfrm>
            <a:off x="457200" y="5102352"/>
            <a:ext cx="41148" cy="493776"/>
          </a:xfrm>
          <a:prstGeom prst="rect">
            <a:avLst/>
          </a:prstGeom>
          <a:solidFill>
            <a:srgbClr val="44495B"/>
          </a:solidFill>
          <a:ln>
            <a:noFill/>
          </a:ln>
          <a:effectLst/>
        </p:spPr>
        <p:txBody>
          <a:bodyPr wrap="square" rtlCol="0" anchor="ctr"/>
          <a:lstStyle/>
          <a:p>
            <a:endParaRPr/>
          </a:p>
        </p:txBody>
      </p:sp>
      <p:sp>
        <p:nvSpPr>
          <p:cNvPr id="50" name="TextBox 49"/>
          <p:cNvSpPr txBox="1"/>
          <p:nvPr/>
        </p:nvSpPr>
        <p:spPr>
          <a:xfrm>
            <a:off x="640080" y="5166360"/>
            <a:ext cx="5120640" cy="182880"/>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Text is all you need</a:t>
            </a:r>
          </a:p>
        </p:txBody>
      </p:sp>
      <p:sp>
        <p:nvSpPr>
          <p:cNvPr id="51" name="TextBox 50"/>
          <p:cNvSpPr txBox="1"/>
          <p:nvPr/>
        </p:nvSpPr>
        <p:spPr>
          <a:xfrm>
            <a:off x="640080" y="5358384"/>
            <a:ext cx="5120640" cy="201168"/>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A standalone OCR model is simpler and the output is easy to reason about.</a:t>
            </a:r>
          </a:p>
        </p:txBody>
      </p:sp>
      <p:sp>
        <p:nvSpPr>
          <p:cNvPr id="52" name="Rectangle 51"/>
          <p:cNvSpPr/>
          <p:nvPr/>
        </p:nvSpPr>
        <p:spPr>
          <a:xfrm>
            <a:off x="6163056" y="5102352"/>
            <a:ext cx="5504688" cy="493776"/>
          </a:xfrm>
          <a:prstGeom prst="rect">
            <a:avLst/>
          </a:prstGeom>
          <a:solidFill>
            <a:srgbClr val="FFFFFF"/>
          </a:solidFill>
          <a:ln w="9525">
            <a:solidFill>
              <a:srgbClr val="E1E7F4"/>
            </a:solidFill>
          </a:ln>
          <a:effectLst/>
        </p:spPr>
        <p:txBody>
          <a:bodyPr wrap="square" rtlCol="0" anchor="ctr"/>
          <a:lstStyle/>
          <a:p>
            <a:endParaRPr/>
          </a:p>
        </p:txBody>
      </p:sp>
      <p:sp>
        <p:nvSpPr>
          <p:cNvPr id="53" name="Rectangle 52"/>
          <p:cNvSpPr/>
          <p:nvPr/>
        </p:nvSpPr>
        <p:spPr>
          <a:xfrm>
            <a:off x="6163056" y="5102352"/>
            <a:ext cx="41148" cy="493776"/>
          </a:xfrm>
          <a:prstGeom prst="rect">
            <a:avLst/>
          </a:prstGeom>
          <a:solidFill>
            <a:srgbClr val="00B39F"/>
          </a:solidFill>
          <a:ln>
            <a:noFill/>
          </a:ln>
          <a:effectLst/>
        </p:spPr>
        <p:txBody>
          <a:bodyPr wrap="square" rtlCol="0" anchor="ctr"/>
          <a:lstStyle/>
          <a:p>
            <a:endParaRPr/>
          </a:p>
        </p:txBody>
      </p:sp>
      <p:sp>
        <p:nvSpPr>
          <p:cNvPr id="54" name="TextBox 53"/>
          <p:cNvSpPr txBox="1"/>
          <p:nvPr/>
        </p:nvSpPr>
        <p:spPr>
          <a:xfrm>
            <a:off x="6345936" y="5166360"/>
            <a:ext cx="5120640" cy="182880"/>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You need named values you can act on</a:t>
            </a:r>
          </a:p>
        </p:txBody>
      </p:sp>
      <p:sp>
        <p:nvSpPr>
          <p:cNvPr id="55" name="TextBox 54"/>
          <p:cNvSpPr txBox="1"/>
          <p:nvPr/>
        </p:nvSpPr>
        <p:spPr>
          <a:xfrm>
            <a:off x="6345936" y="5358384"/>
            <a:ext cx="5120640" cy="201168"/>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Content Understanding returns your schema with a score you can threshold on.</a:t>
            </a:r>
          </a:p>
        </p:txBody>
      </p:sp>
      <p:sp>
        <p:nvSpPr>
          <p:cNvPr id="56" name="TextBox 55"/>
          <p:cNvSpPr txBox="1"/>
          <p:nvPr/>
        </p:nvSpPr>
        <p:spPr>
          <a:xfrm>
            <a:off x="457200" y="5614416"/>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documents only.   ** preview — no service level agreement.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RUNNING IT</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Limits, cost and where to go next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What constrains a design, how the bill is actually assembled, and the pages behind this deck</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learn.microsoft.com/azure/ai-services/content-understanding/pricing-explainer · service-limits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12</a:t>
            </a:r>
          </a:p>
        </p:txBody>
      </p:sp>
      <p:sp>
        <p:nvSpPr>
          <p:cNvPr id="7" name="TextBox 6"/>
          <p:cNvSpPr txBox="1"/>
          <p:nvPr/>
        </p:nvSpPr>
        <p:spPr>
          <a:xfrm>
            <a:off x="457200" y="1316736"/>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CONSTRAINTS THAT SHAPE A DESIGN</a:t>
            </a:r>
          </a:p>
        </p:txBody>
      </p:sp>
      <p:sp>
        <p:nvSpPr>
          <p:cNvPr id="8" name="TextBox 7"/>
          <p:cNvSpPr txBox="1"/>
          <p:nvPr/>
        </p:nvSpPr>
        <p:spPr>
          <a:xfrm>
            <a:off x="457200" y="1554480"/>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File size</a:t>
            </a:r>
          </a:p>
        </p:txBody>
      </p:sp>
      <p:sp>
        <p:nvSpPr>
          <p:cNvPr id="9" name="TextBox 8"/>
          <p:cNvSpPr txBox="1"/>
          <p:nvPr/>
        </p:nvSpPr>
        <p:spPr>
          <a:xfrm>
            <a:off x="2452055" y="1554480"/>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200 MB, up to 300 pages</a:t>
            </a:r>
          </a:p>
        </p:txBody>
      </p:sp>
      <p:cxnSp>
        <p:nvCxnSpPr>
          <p:cNvPr id="10" name="Connector 9"/>
          <p:cNvCxnSpPr/>
          <p:nvPr/>
        </p:nvCxnSpPr>
        <p:spPr>
          <a:xfrm>
            <a:off x="457200" y="1920240"/>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938528"/>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Field schema</a:t>
            </a:r>
          </a:p>
        </p:txBody>
      </p:sp>
      <p:sp>
        <p:nvSpPr>
          <p:cNvPr id="12" name="TextBox 11"/>
          <p:cNvSpPr txBox="1"/>
          <p:nvPr/>
        </p:nvSpPr>
        <p:spPr>
          <a:xfrm>
            <a:off x="2452055" y="1938528"/>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up to 1,000 fields per analyzer</a:t>
            </a:r>
          </a:p>
        </p:txBody>
      </p:sp>
      <p:cxnSp>
        <p:nvCxnSpPr>
          <p:cNvPr id="13" name="Connector 12"/>
          <p:cNvCxnSpPr/>
          <p:nvPr/>
        </p:nvCxnSpPr>
        <p:spPr>
          <a:xfrm>
            <a:off x="457200" y="2304288"/>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322576"/>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Classification</a:t>
            </a:r>
          </a:p>
        </p:txBody>
      </p:sp>
      <p:sp>
        <p:nvSpPr>
          <p:cNvPr id="15" name="TextBox 14"/>
          <p:cNvSpPr txBox="1"/>
          <p:nvPr/>
        </p:nvSpPr>
        <p:spPr>
          <a:xfrm>
            <a:off x="2452055" y="2322576"/>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up to 200 categories, nested up to 5 levels</a:t>
            </a:r>
          </a:p>
        </p:txBody>
      </p:sp>
      <p:cxnSp>
        <p:nvCxnSpPr>
          <p:cNvPr id="16" name="Connector 15"/>
          <p:cNvCxnSpPr/>
          <p:nvPr/>
        </p:nvCxnSpPr>
        <p:spPr>
          <a:xfrm>
            <a:off x="457200" y="2688336"/>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2706624"/>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Confidence and grounding</a:t>
            </a:r>
          </a:p>
        </p:txBody>
      </p:sp>
      <p:sp>
        <p:nvSpPr>
          <p:cNvPr id="18" name="TextBox 17"/>
          <p:cNvSpPr txBox="1"/>
          <p:nvPr/>
        </p:nvSpPr>
        <p:spPr>
          <a:xfrm>
            <a:off x="2452055" y="2706624"/>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documents only — not images, audio or video</a:t>
            </a:r>
          </a:p>
        </p:txBody>
      </p:sp>
      <p:cxnSp>
        <p:nvCxnSpPr>
          <p:cNvPr id="19" name="Connector 18"/>
          <p:cNvCxnSpPr/>
          <p:nvPr/>
        </p:nvCxnSpPr>
        <p:spPr>
          <a:xfrm>
            <a:off x="457200" y="3072384"/>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3090672"/>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Throughput</a:t>
            </a:r>
          </a:p>
        </p:txBody>
      </p:sp>
      <p:sp>
        <p:nvSpPr>
          <p:cNvPr id="21" name="TextBox 20"/>
          <p:cNvSpPr txBox="1"/>
          <p:nvPr/>
        </p:nvSpPr>
        <p:spPr>
          <a:xfrm>
            <a:off x="2452055" y="3090672"/>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1,000 pages or images a minute; 4 hours of audio or video</a:t>
            </a:r>
          </a:p>
        </p:txBody>
      </p:sp>
      <p:cxnSp>
        <p:nvCxnSpPr>
          <p:cNvPr id="22" name="Connector 21"/>
          <p:cNvCxnSpPr/>
          <p:nvPr/>
        </p:nvCxnSpPr>
        <p:spPr>
          <a:xfrm>
            <a:off x="457200" y="3456432"/>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3474720"/>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Regions</a:t>
            </a:r>
          </a:p>
        </p:txBody>
      </p:sp>
      <p:sp>
        <p:nvSpPr>
          <p:cNvPr id="24" name="TextBox 23"/>
          <p:cNvSpPr txBox="1"/>
          <p:nvPr/>
        </p:nvSpPr>
        <p:spPr>
          <a:xfrm>
            <a:off x="2452055" y="3474720"/>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12 at the time of writing; confirm before you design</a:t>
            </a:r>
          </a:p>
        </p:txBody>
      </p:sp>
      <p:cxnSp>
        <p:nvCxnSpPr>
          <p:cNvPr id="25" name="Connector 24"/>
          <p:cNvCxnSpPr/>
          <p:nvPr/>
        </p:nvCxnSpPr>
        <p:spPr>
          <a:xfrm>
            <a:off x="457200" y="3840480"/>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4041648"/>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BILL HAS THREE PARTS, AND ONLY TWO APPEAR ON THIS SERVICE</a:t>
            </a:r>
          </a:p>
        </p:txBody>
      </p:sp>
      <p:sp>
        <p:nvSpPr>
          <p:cNvPr id="27" name="Rectangle 26"/>
          <p:cNvSpPr/>
          <p:nvPr/>
        </p:nvSpPr>
        <p:spPr>
          <a:xfrm>
            <a:off x="457200" y="4279392"/>
            <a:ext cx="5541264" cy="402336"/>
          </a:xfrm>
          <a:prstGeom prst="rect">
            <a:avLst/>
          </a:prstGeom>
          <a:solidFill>
            <a:srgbClr val="F6F8FD"/>
          </a:solidFill>
          <a:ln w="9525">
            <a:solidFill>
              <a:srgbClr val="E1E7F4"/>
            </a:solidFill>
          </a:ln>
          <a:effectLst/>
        </p:spPr>
        <p:txBody>
          <a:bodyPr wrap="square" rtlCol="0" anchor="ctr"/>
          <a:lstStyle/>
          <a:p>
            <a:endParaRPr/>
          </a:p>
        </p:txBody>
      </p:sp>
      <p:sp>
        <p:nvSpPr>
          <p:cNvPr id="28" name="TextBox 27"/>
          <p:cNvSpPr txBox="1"/>
          <p:nvPr/>
        </p:nvSpPr>
        <p:spPr>
          <a:xfrm>
            <a:off x="621792" y="4315968"/>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Content extraction</a:t>
            </a:r>
          </a:p>
        </p:txBody>
      </p:sp>
      <p:sp>
        <p:nvSpPr>
          <p:cNvPr id="29" name="TextBox 28"/>
          <p:cNvSpPr txBox="1"/>
          <p:nvPr/>
        </p:nvSpPr>
        <p:spPr>
          <a:xfrm>
            <a:off x="2286000" y="4315968"/>
            <a:ext cx="3566160"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per 1,000 pages — the rate depends on the work actually done, not the analyzer you chose</a:t>
            </a:r>
          </a:p>
        </p:txBody>
      </p:sp>
      <p:sp>
        <p:nvSpPr>
          <p:cNvPr id="30" name="Rectangle 29"/>
          <p:cNvSpPr/>
          <p:nvPr/>
        </p:nvSpPr>
        <p:spPr>
          <a:xfrm>
            <a:off x="457200" y="4736592"/>
            <a:ext cx="5541264" cy="402336"/>
          </a:xfrm>
          <a:prstGeom prst="rect">
            <a:avLst/>
          </a:prstGeom>
          <a:solidFill>
            <a:srgbClr val="FFFFFF"/>
          </a:solidFill>
          <a:ln w="9525">
            <a:solidFill>
              <a:srgbClr val="E1E7F4"/>
            </a:solidFill>
          </a:ln>
          <a:effectLst/>
        </p:spPr>
        <p:txBody>
          <a:bodyPr wrap="square" rtlCol="0" anchor="ctr"/>
          <a:lstStyle/>
          <a:p>
            <a:endParaRPr/>
          </a:p>
        </p:txBody>
      </p:sp>
      <p:sp>
        <p:nvSpPr>
          <p:cNvPr id="31" name="TextBox 30"/>
          <p:cNvSpPr txBox="1"/>
          <p:nvPr/>
        </p:nvSpPr>
        <p:spPr>
          <a:xfrm>
            <a:off x="621792" y="4773168"/>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Contextualization</a:t>
            </a:r>
          </a:p>
        </p:txBody>
      </p:sp>
      <p:sp>
        <p:nvSpPr>
          <p:cNvPr id="32" name="TextBox 31"/>
          <p:cNvSpPr txBox="1"/>
          <p:nvPr/>
        </p:nvSpPr>
        <p:spPr>
          <a:xfrm>
            <a:off x="2286000" y="4773168"/>
            <a:ext cx="3566160"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per million tokens — a higher rate applies to the preview advanced tier</a:t>
            </a:r>
          </a:p>
        </p:txBody>
      </p:sp>
      <p:sp>
        <p:nvSpPr>
          <p:cNvPr id="33" name="Rectangle 32"/>
          <p:cNvSpPr/>
          <p:nvPr/>
        </p:nvSpPr>
        <p:spPr>
          <a:xfrm>
            <a:off x="457200" y="5193792"/>
            <a:ext cx="5541264" cy="402336"/>
          </a:xfrm>
          <a:prstGeom prst="rect">
            <a:avLst/>
          </a:prstGeom>
          <a:solidFill>
            <a:srgbClr val="F6F8FD"/>
          </a:solidFill>
          <a:ln w="9525">
            <a:solidFill>
              <a:srgbClr val="E1E7F4"/>
            </a:solidFill>
          </a:ln>
          <a:effectLst/>
        </p:spPr>
        <p:txBody>
          <a:bodyPr wrap="square" rtlCol="0" anchor="ctr"/>
          <a:lstStyle/>
          <a:p>
            <a:endParaRPr/>
          </a:p>
        </p:txBody>
      </p:sp>
      <p:sp>
        <p:nvSpPr>
          <p:cNvPr id="34" name="TextBox 33"/>
          <p:cNvSpPr txBox="1"/>
          <p:nvPr/>
        </p:nvSpPr>
        <p:spPr>
          <a:xfrm>
            <a:off x="621792" y="5230368"/>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Your model deployment</a:t>
            </a:r>
          </a:p>
        </p:txBody>
      </p:sp>
      <p:sp>
        <p:nvSpPr>
          <p:cNvPr id="35" name="TextBox 34"/>
          <p:cNvSpPr txBox="1"/>
          <p:nvPr/>
        </p:nvSpPr>
        <p:spPr>
          <a:xfrm>
            <a:off x="2286000" y="5230368"/>
            <a:ext cx="3566160"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language and embedding tokens are billed on your own Foundry deployment, not here</a:t>
            </a:r>
          </a:p>
        </p:txBody>
      </p:sp>
      <p:sp>
        <p:nvSpPr>
          <p:cNvPr id="36" name="TextBox 35"/>
          <p:cNvSpPr txBox="1"/>
          <p:nvPr/>
        </p:nvSpPr>
        <p:spPr>
          <a:xfrm>
            <a:off x="6345936" y="1316736"/>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SOURCES BEHIND THIS DECK</a:t>
            </a:r>
          </a:p>
        </p:txBody>
      </p:sp>
      <p:sp>
        <p:nvSpPr>
          <p:cNvPr id="37" name="TextBox 36"/>
          <p:cNvSpPr txBox="1"/>
          <p:nvPr/>
        </p:nvSpPr>
        <p:spPr>
          <a:xfrm>
            <a:off x="6345936" y="15544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Overview and key components</a:t>
            </a:r>
          </a:p>
        </p:txBody>
      </p:sp>
      <p:sp>
        <p:nvSpPr>
          <p:cNvPr id="38" name="TextBox 37"/>
          <p:cNvSpPr txBox="1"/>
          <p:nvPr/>
        </p:nvSpPr>
        <p:spPr>
          <a:xfrm>
            <a:off x="6345936" y="17190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learn.microsoft.com/azure/ai-services/content-understanding/overview</a:t>
            </a:r>
          </a:p>
        </p:txBody>
      </p:sp>
      <p:cxnSp>
        <p:nvCxnSpPr>
          <p:cNvPr id="39" name="Connector 38"/>
          <p:cNvCxnSpPr/>
          <p:nvPr/>
        </p:nvCxnSpPr>
        <p:spPr>
          <a:xfrm>
            <a:off x="6345936" y="19385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45936" y="20116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Analyzer reference</a:t>
            </a:r>
          </a:p>
        </p:txBody>
      </p:sp>
      <p:sp>
        <p:nvSpPr>
          <p:cNvPr id="41" name="TextBox 40"/>
          <p:cNvSpPr txBox="1"/>
          <p:nvPr/>
        </p:nvSpPr>
        <p:spPr>
          <a:xfrm>
            <a:off x="6345936" y="21762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.../concepts/analyzer-reference</a:t>
            </a:r>
          </a:p>
        </p:txBody>
      </p:sp>
      <p:cxnSp>
        <p:nvCxnSpPr>
          <p:cNvPr id="42" name="Connector 41"/>
          <p:cNvCxnSpPr/>
          <p:nvPr/>
        </p:nvCxnSpPr>
        <p:spPr>
          <a:xfrm>
            <a:off x="6345936" y="23957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345936" y="24688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What is new</a:t>
            </a:r>
          </a:p>
        </p:txBody>
      </p:sp>
      <p:sp>
        <p:nvSpPr>
          <p:cNvPr id="44" name="TextBox 43"/>
          <p:cNvSpPr txBox="1"/>
          <p:nvPr/>
        </p:nvSpPr>
        <p:spPr>
          <a:xfrm>
            <a:off x="6345936" y="26334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.../whats-new</a:t>
            </a:r>
          </a:p>
        </p:txBody>
      </p:sp>
      <p:cxnSp>
        <p:nvCxnSpPr>
          <p:cNvPr id="45" name="Connector 44"/>
          <p:cNvCxnSpPr/>
          <p:nvPr/>
        </p:nvCxnSpPr>
        <p:spPr>
          <a:xfrm>
            <a:off x="6345936" y="28529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345936" y="29260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Agentic mode</a:t>
            </a:r>
          </a:p>
        </p:txBody>
      </p:sp>
      <p:sp>
        <p:nvSpPr>
          <p:cNvPr id="47" name="TextBox 46"/>
          <p:cNvSpPr txBox="1"/>
          <p:nvPr/>
        </p:nvSpPr>
        <p:spPr>
          <a:xfrm>
            <a:off x="6345936" y="30906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.../concepts/agentic-mode</a:t>
            </a:r>
          </a:p>
        </p:txBody>
      </p:sp>
      <p:cxnSp>
        <p:nvCxnSpPr>
          <p:cNvPr id="48" name="Connector 47"/>
          <p:cNvCxnSpPr/>
          <p:nvPr/>
        </p:nvCxnSpPr>
        <p:spPr>
          <a:xfrm>
            <a:off x="6345936" y="33101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345936" y="33832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Choosing between tools</a:t>
            </a:r>
          </a:p>
        </p:txBody>
      </p:sp>
      <p:sp>
        <p:nvSpPr>
          <p:cNvPr id="50" name="TextBox 49"/>
          <p:cNvSpPr txBox="1"/>
          <p:nvPr/>
        </p:nvSpPr>
        <p:spPr>
          <a:xfrm>
            <a:off x="6345936" y="35478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.../choosing-right-ai-tool</a:t>
            </a:r>
          </a:p>
        </p:txBody>
      </p:sp>
      <p:cxnSp>
        <p:nvCxnSpPr>
          <p:cNvPr id="51" name="Connector 50"/>
          <p:cNvCxnSpPr/>
          <p:nvPr/>
        </p:nvCxnSpPr>
        <p:spPr>
          <a:xfrm>
            <a:off x="6345936" y="37673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345936" y="38404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Service limits and regions</a:t>
            </a:r>
          </a:p>
        </p:txBody>
      </p:sp>
      <p:sp>
        <p:nvSpPr>
          <p:cNvPr id="53" name="TextBox 52"/>
          <p:cNvSpPr txBox="1"/>
          <p:nvPr/>
        </p:nvSpPr>
        <p:spPr>
          <a:xfrm>
            <a:off x="6345936" y="40050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.../service-limits · .../language-region-support</a:t>
            </a:r>
          </a:p>
        </p:txBody>
      </p:sp>
      <p:cxnSp>
        <p:nvCxnSpPr>
          <p:cNvPr id="54" name="Connector 53"/>
          <p:cNvCxnSpPr/>
          <p:nvPr/>
        </p:nvCxnSpPr>
        <p:spPr>
          <a:xfrm>
            <a:off x="6345936" y="42245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345936" y="42976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How billing works</a:t>
            </a:r>
          </a:p>
        </p:txBody>
      </p:sp>
      <p:sp>
        <p:nvSpPr>
          <p:cNvPr id="56" name="TextBox 55"/>
          <p:cNvSpPr txBox="1"/>
          <p:nvPr/>
        </p:nvSpPr>
        <p:spPr>
          <a:xfrm>
            <a:off x="6345936" y="44622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.../pricing-explainer</a:t>
            </a:r>
          </a:p>
        </p:txBody>
      </p:sp>
      <p:cxnSp>
        <p:nvCxnSpPr>
          <p:cNvPr id="57" name="Connector 56"/>
          <p:cNvCxnSpPr/>
          <p:nvPr/>
        </p:nvCxnSpPr>
        <p:spPr>
          <a:xfrm>
            <a:off x="6345936" y="46817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45936" y="47548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Reference architecture</a:t>
            </a:r>
          </a:p>
        </p:txBody>
      </p:sp>
      <p:sp>
        <p:nvSpPr>
          <p:cNvPr id="59" name="TextBox 58"/>
          <p:cNvSpPr txBox="1"/>
          <p:nvPr/>
        </p:nvSpPr>
        <p:spPr>
          <a:xfrm>
            <a:off x="6345936" y="49194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learn.microsoft.com/azure/architecture/ai-ml/idea/multi-modal-content-processing</a:t>
            </a:r>
          </a:p>
        </p:txBody>
      </p:sp>
      <p:cxnSp>
        <p:nvCxnSpPr>
          <p:cNvPr id="60" name="Connector 59"/>
          <p:cNvCxnSpPr/>
          <p:nvPr/>
        </p:nvCxnSpPr>
        <p:spPr>
          <a:xfrm>
            <a:off x="6345936" y="51389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45936" y="52120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Python samples</a:t>
            </a:r>
          </a:p>
        </p:txBody>
      </p:sp>
      <p:sp>
        <p:nvSpPr>
          <p:cNvPr id="62" name="TextBox 61"/>
          <p:cNvSpPr txBox="1"/>
          <p:nvPr/>
        </p:nvSpPr>
        <p:spPr>
          <a:xfrm>
            <a:off x="6345936" y="53766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github.com/Azure-Samples/azure-ai-content-understanding-python</a:t>
            </a:r>
          </a:p>
        </p:txBody>
      </p:sp>
      <p:cxnSp>
        <p:nvCxnSpPr>
          <p:cNvPr id="63" name="Connector 62"/>
          <p:cNvCxnSpPr/>
          <p:nvPr/>
        </p:nvCxnSpPr>
        <p:spPr>
          <a:xfrm>
            <a:off x="6345936" y="55961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6345936" y="5632704"/>
            <a:ext cx="5385816" cy="0"/>
          </a:xfrm>
          <a:prstGeom prst="rect">
            <a:avLst/>
          </a:prstGeom>
          <a:solidFill>
            <a:srgbClr val="EBEFF7"/>
          </a:solidFill>
          <a:ln>
            <a:noFill/>
          </a:ln>
          <a:effectLst/>
        </p:spPr>
        <p:txBody>
          <a:bodyPr wrap="square" rtlCol="0" anchor="ctr"/>
          <a:lstStyle/>
          <a:p>
            <a:endParaRPr/>
          </a:p>
        </p:txBody>
      </p:sp>
      <p:sp>
        <p:nvSpPr>
          <p:cNvPr id="65" name="TextBox 64"/>
          <p:cNvSpPr txBox="1"/>
          <p:nvPr/>
        </p:nvSpPr>
        <p:spPr>
          <a:xfrm>
            <a:off x="6583680" y="5733288"/>
            <a:ext cx="4965192" cy="0"/>
          </a:xfrm>
          <a:prstGeom prst="rect">
            <a:avLst/>
          </a:prstGeom>
          <a:noFill/>
        </p:spPr>
        <p:txBody>
          <a:bodyPr wrap="square" lIns="0" tIns="0" rIns="0" bIns="0" anchor="t">
            <a:spAutoFit/>
          </a:bodyPr>
          <a:lstStyle/>
          <a:p>
            <a:pPr algn="l">
              <a:lnSpc>
                <a:spcPct val="120000"/>
              </a:lnSpc>
            </a:pP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5822</Words>
  <Application>Microsoft Office PowerPoint</Application>
  <PresentationFormat>Widescreen</PresentationFormat>
  <Paragraphs>496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5</cp:revision>
  <dcterms:created xsi:type="dcterms:W3CDTF">2013-01-27T09:14:16Z</dcterms:created>
  <dcterms:modified xsi:type="dcterms:W3CDTF">2026-10-11T09:32:18Z</dcterms:modified>
  <cp:category/>
</cp:coreProperties>
</file>