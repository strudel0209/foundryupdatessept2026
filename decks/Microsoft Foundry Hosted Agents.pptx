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5370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covers hosted agents in Foundry Agent Service: the agent type for teams that want to write their own agent code, in their own framework, without running the infrastructure underneath it.</a:t>
            </a:r>
          </a:p>
          <a:p>
            <a:r>
              <a:t>Hosted agents have been generally available since 9 July 2026, after a public preview announced in April. A few capabilities around them are still preview, and I mark those with an asterisk: network egress controls, the agent optimizer, and the older A2A version 0.3.</a:t>
            </a:r>
          </a:p>
          <a:p>
            <a:r>
              <a:t>The plan is six content slides. First the problem and what the platform takes over. Then the architecture and the request flow. Then the code layer between the agent and the runtime, which some sources call the harness and the official documentation calls the protocol libraries, together with tools. Then deployment, sizing and cost. Then the comparison with prompt agents, which is the first question every customer asks. And finally private networking, which is the second.</a:t>
            </a:r>
          </a:p>
          <a:p>
            <a:r>
              <a:t>Every fact was checked against the official Microsoft documentation on 9 October 2026.</a:t>
            </a:r>
          </a:p>
          <a:p>
            <a:r>
              <a:t>Likely question: is this the same as Azure Container Apps? No. It is an agent runtime with per-session sandboxes, agent identity and Foundry endpoints, not a general container platform.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takeaway: a hosted agent is your own agent code, and Foundry runs it for you.</a:t>
            </a:r>
          </a:p>
          <a:p>
            <a:r>
              <a:t>On the left are the cross-cutting concerns the official documentation lists for agents built with open-source frameworks: containerization, web server setup, security, memory persistence, scaling, instrumentation and version rollbacks. Every team that self-hosts an agent rebuilds these, and they are harder across mixed cloud environments.</a:t>
            </a:r>
          </a:p>
          <a:p>
            <a:r>
              <a:t>On the right is the division of responsibility. The development team owns the code inside the sandbox: the orchestration logic, the container image or a zip of source that Foundry builds into an image, the CPU and memory per session, and the role assignments that give the agent access to data and tools. The platform owns everything around it: a dedicated endpoint, a dedicated Microsoft Entra agent identity created at deploy time, per-session scaling, session state and conversation history, tracing, and immutable versions.</a:t>
            </a:r>
          </a:p>
          <a:p>
            <a:r>
              <a:t>Reasoning comes from Foundry models; the code does the orchestration. Python and C# are supported, with any framework.</a:t>
            </a:r>
          </a:p>
          <a:p>
            <a:r>
              <a:t>Source: learn.microsoft.com/azure/foundry/agents/concepts/hosted-agents.</a:t>
            </a:r>
          </a:p>
          <a:p>
            <a:r>
              <a:t>Likely question: do we still need a container registry? Yes, Azure Container Registry holds the image, unless Foundry builds it from a zip.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the numbers.</a:t>
            </a:r>
          </a:p>
          <a:p>
            <a:r>
              <a:t>Step one: the Azure Developer CLI or the Foundry Toolkit for VS Code builds the container and pushes it to Azure Container Registry; Foundry can also build it from a zip of source.</a:t>
            </a:r>
          </a:p>
          <a:p>
            <a:r>
              <a:t>Step two: creating a version records an immutable snapshot: image, CPU and memory, environment variables and protocols. An endpoint serves one version at a time, with 100% of traffic; traffic splitting isn't supported.</a:t>
            </a:r>
          </a:p>
          <a:p>
            <a:r>
              <a:t>Step three: callers reach the agent's dedicated endpoint, on the protocols the version declares.</a:t>
            </a:r>
          </a:p>
          <a:p>
            <a:r>
              <a:t>Step four: the platform routes the request to a session sandbox. Each session is VM-isolated and keeps $HOME and uploaded files across turns and idle periods.</a:t>
            </a:r>
          </a:p>
          <a:p>
            <a:r>
              <a:t>Step five: the agent code calls Foundry models, tools through the Toolbox MCP endpoint, and Azure resources, all as its own Microsoft Entra agent identity.</a:t>
            </a:r>
          </a:p>
          <a:p>
            <a:r>
              <a:t>Step six: the platform stores conversations, session state and an optional key-value state store, and traces flow to Application Insights automatically.</a:t>
            </a:r>
          </a:p>
          <a:p>
            <a:r>
              <a:t>Presenter note: verify which identity pulls the image; the documentation pages differ between the project managed identity and the agent identity.</a:t>
            </a:r>
          </a:p>
          <a:p>
            <a:r>
              <a:t>Likely question: can two versions run side by side? Not on one endpoint; create a separate agent for a canary.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sources call the code between the agent and the runtime a harness. The official documentation calls it the protocol libraries: lightweight packages that run the HTTP or WebSocket server, answer health checks and emit OpenTelemetry, so the agent code only implements handlers. There is one package per protocol family, in Python and .NET.</a:t>
            </a:r>
          </a:p>
          <a:p>
            <a:r>
              <a:t>The protocol decides how much the platform manages. Responses is the default: an OpenAI-compatible contract with platform-managed conversation history, streaming and background mode, and it is what the platform bridges to the Activity protocol for Teams. Invocations takes arbitrary JSON, for webhooks or non-conversational work, and the agent manages its own state. The WebSocket variant is for real-time voice; connections last about thirty minutes and frames are capped at one megabyte. One agent can expose several protocols. A2A version 1.0 is generally available; version 0.3 is preview.</a:t>
            </a:r>
          </a:p>
          <a:p>
            <a:r>
              <a:t>Tools are not attached to the agent definition. The agent connects to a Toolbox MCP endpoint in the project, which consolidates authentication.</a:t>
            </a:r>
          </a:p>
          <a:p>
            <a:r>
              <a:t>The example uses the Agent Framework hosting package, still prerelease in Python.</a:t>
            </a:r>
          </a:p>
          <a:p>
            <a:r>
              <a:t>Presenter note: verify the status of skills for hosted agents.</a:t>
            </a:r>
          </a:p>
          <a:p>
            <a:r>
              <a:t>Likely question: can we use Node.js? Not today; Python and 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groups of decisions: how to deploy, how big each session is, and what drives the bill.</a:t>
            </a:r>
          </a:p>
          <a:p>
            <a:r>
              <a:t>Deployment. The Azure Developer CLI is the main route: init scaffolds, provision creates resources, deploy builds the image in the registry and creates a version. The Foundry Toolkit for VS Code does the same from the editor; the SDK, REST and Terraform cover automation.</a:t>
            </a:r>
          </a:p>
          <a:p>
            <a:r>
              <a:t>Sizing. Choose one of three sizes per version. The size applies to each session, not to the agent, and there are no replicas: the platform creates a sandbox per session and releases compute after the idle timeout, between 2 and 60 minutes. Concurrent sessions are a per-subscription, per-region quota, raised through support.</a:t>
            </a:r>
          </a:p>
          <a:p>
            <a:r>
              <a:t>Cost. Compute is billed on CPU and memory consumed by active sessions, plus model tokens, plus tools. Right-size from Application Insights, at about seventy per cent sustained use.</a:t>
            </a:r>
          </a:p>
          <a:p>
            <a:r>
              <a:t>Presenter note: verify current per-hour rates on the Foundry Agent Service pricing page before quoting numbers; they were not published for the default region on 9 October.</a:t>
            </a:r>
          </a:p>
          <a:p>
            <a:r>
              <a:t>Likely question: is there a charge when nobody uses the agent? No compute charge once sessions are idle and deprovisioned.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agent types live in Foundry Agent Service, with a managed endpoint, an Entra agent identity, and Foundry models and tools. The difference is who writes the logic.</a:t>
            </a:r>
          </a:p>
          <a:p>
            <a:r>
              <a:t>A prompt agent is a definition: instructions, a model and tools, authored in the portal, SDK or REST, with no code or compute to manage. The documentation positions it for fast starts, internal tools and production agents without custom orchestration.</a:t>
            </a:r>
          </a:p>
          <a:p>
            <a:r>
              <a:t>A hosted agent is code. The team maintains the agent logic and chooses a sandbox size; in return it gets any framework, more protocols, session files and a state store, and control over compute. Cost adds container compute to inference and tools.</a:t>
            </a:r>
          </a:p>
          <a:p>
            <a:r>
              <a:t>On the right are the five documented reasons to choose a hosted agent. If none applies, a prompt agent is the shorter path.</a:t>
            </a:r>
          </a:p>
          <a:p>
            <a:r>
              <a:t>Two notes. Voice-based prompt agents are a third type, in preview. And the official documentation doesn't compare hosted agents with self-hosting on Container Apps or AKS; the honest comparison is the list of concerns on slide 2 that the team would otherwise own.</a:t>
            </a:r>
          </a:p>
          <a:p>
            <a:r>
              <a:t>Likely question: can a prompt agent call a hosted agent? Yes, through A2A or as a tool, for example to wrap custom code.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Hosted agents support network-isolated Foundry resources. The customer provides a subnet delegated to Microsoft.App/environments, /24 recommended, one per Foundry resource, and each session sandbox connects to it for outbound traffic. The decision must be made early: network injection has to be configured when the Foundry account is created; it can't be added later.</a:t>
            </a:r>
          </a:p>
          <a:p>
            <a:r>
              <a:t>Step one: deployment runs from inside the network, typically a self-hosted GitHub or Azure DevOps runner, and pushes to a private container registry. Projects created before 25 June 2026 still need the registry reachable publicly.</a:t>
            </a:r>
          </a:p>
          <a:p>
            <a:r>
              <a:t>Step two: sandboxes reach the Foundry account, the registry and the standard-setup data stores, Cosmos DB, Storage and AI Search, through private endpoints, so conversation data stays in the customer's own resources.</a:t>
            </a:r>
          </a:p>
          <a:p>
            <a:r>
              <a:t>Step three: to publish to Teams without opening the account, enable_m365_public_endpoint creates a scoped, IP-filtered exception for the Activity route only, through Azure Bot Service.</a:t>
            </a:r>
          </a:p>
          <a:p>
            <a:r>
              <a:t>Egress controls, in preview, add host allow and deny rules inside the sandbox: start in Audit, then Enforce.</a:t>
            </a:r>
          </a:p>
          <a:p>
            <a:r>
              <a:t>Presenter note: verify whether the agent endpoint is private when deployed with azd; the documentation pages differ.</a:t>
            </a:r>
          </a:p>
          <a:p>
            <a:r>
              <a:t>Likely question: does the agent run inside our VNet? Its outbound traffic does, through the delegated subnet.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789920" cy="658368"/>
          </a:xfrm>
          <a:prstGeom prst="rect">
            <a:avLst/>
          </a:prstGeom>
          <a:noFill/>
        </p:spPr>
        <p:txBody>
          <a:bodyPr wrap="none" lIns="0" tIns="0" rIns="0" bIns="0" anchor="t">
            <a:spAutoFit/>
          </a:bodyPr>
          <a:lstStyle/>
          <a:p>
            <a:pPr algn="l">
              <a:lnSpc>
                <a:spcPct val="100000"/>
              </a:lnSpc>
            </a:pPr>
            <a:r>
              <a:rPr sz="3600" b="1" i="0" dirty="0">
                <a:solidFill>
                  <a:srgbClr val="FFFFFF"/>
                </a:solidFill>
                <a:latin typeface="Segoe UI"/>
                <a:cs typeface="Segoe UI"/>
              </a:rPr>
              <a:t>Hosted agents in Microsoft Foundry</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Running agent code built with any framework on a managed runtime — how it works, what it costs,</a:t>
            </a:r>
          </a:p>
          <a:p>
            <a:pPr algn="l">
              <a:lnSpc>
                <a:spcPct val="132000"/>
              </a:lnSpc>
            </a:pPr>
            <a:r>
              <a:rPr sz="1450" b="0" i="0" dirty="0">
                <a:solidFill>
                  <a:srgbClr val="B9C2D6"/>
                </a:solidFill>
                <a:latin typeface="Segoe UI"/>
                <a:cs typeface="Segoe UI"/>
              </a:rPr>
              <a:t>how it compares with prompt agents, and how it runs inside a private network</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platform teams,</a:t>
            </a:r>
          </a:p>
          <a:p>
            <a:pPr algn="l">
              <a:lnSpc>
                <a:spcPct val="128000"/>
              </a:lnSpc>
            </a:pPr>
            <a:r>
              <a:rPr sz="950" b="0" i="0" dirty="0">
                <a:solidFill>
                  <a:srgbClr val="B9C2D6"/>
                </a:solidFill>
                <a:latin typeface="Segoe UI"/>
                <a:cs typeface="Segoe UI"/>
              </a:rPr>
              <a:t>developers, 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Hosted agents in Foundry Agent Service</a:t>
            </a:r>
          </a:p>
          <a:p>
            <a:pPr algn="l">
              <a:lnSpc>
                <a:spcPct val="128000"/>
              </a:lnSpc>
            </a:pPr>
            <a:r>
              <a:rPr sz="950" b="0" i="0" dirty="0">
                <a:solidFill>
                  <a:srgbClr val="B9C2D6"/>
                </a:solidFill>
                <a:latin typeface="Segoe UI"/>
                <a:cs typeface="Segoe UI"/>
              </a:rPr>
              <a:t>(generally available since 9 July 2026)</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9 October 2026 — official Microsoft</a:t>
            </a:r>
          </a:p>
          <a:p>
            <a:pPr algn="l">
              <a:lnSpc>
                <a:spcPct val="128000"/>
              </a:lnSpc>
            </a:pPr>
            <a:r>
              <a:rPr sz="950" b="0" i="0" dirty="0">
                <a:solidFill>
                  <a:srgbClr val="B9C2D6"/>
                </a:solidFill>
                <a:latin typeface="Segoe UI"/>
                <a:cs typeface="Segoe UI"/>
              </a:rPr>
              <a:t>documentation,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agents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Agent code packaged as a container and run by Foundry Agent Service on Microsoft-managed infrastructure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2</a:t>
            </a:r>
          </a:p>
        </p:txBody>
      </p:sp>
      <p:sp>
        <p:nvSpPr>
          <p:cNvPr id="7" name="TextBox 6"/>
          <p:cNvSpPr txBox="1"/>
          <p:nvPr/>
        </p:nvSpPr>
        <p:spPr>
          <a:xfrm>
            <a:off x="457200" y="1371600"/>
            <a:ext cx="50749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CONCERNS WITHOUT A MANAGED RUNTIME</a:t>
            </a:r>
          </a:p>
        </p:txBody>
      </p:sp>
      <p:sp>
        <p:nvSpPr>
          <p:cNvPr id="8" name="Rectangle 7"/>
          <p:cNvSpPr/>
          <p:nvPr/>
        </p:nvSpPr>
        <p:spPr>
          <a:xfrm>
            <a:off x="457200" y="166420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Containerization</a:t>
            </a:r>
          </a:p>
        </p:txBody>
      </p:sp>
      <p:sp>
        <p:nvSpPr>
          <p:cNvPr id="9" name="Rectangle 8"/>
          <p:cNvSpPr/>
          <p:nvPr/>
        </p:nvSpPr>
        <p:spPr>
          <a:xfrm>
            <a:off x="3049524" y="166420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Web server setup</a:t>
            </a:r>
          </a:p>
        </p:txBody>
      </p:sp>
      <p:sp>
        <p:nvSpPr>
          <p:cNvPr id="10" name="Rectangle 9"/>
          <p:cNvSpPr/>
          <p:nvPr/>
        </p:nvSpPr>
        <p:spPr>
          <a:xfrm>
            <a:off x="457200" y="202996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Security</a:t>
            </a:r>
          </a:p>
        </p:txBody>
      </p:sp>
      <p:sp>
        <p:nvSpPr>
          <p:cNvPr id="11" name="Rectangle 10"/>
          <p:cNvSpPr/>
          <p:nvPr/>
        </p:nvSpPr>
        <p:spPr>
          <a:xfrm>
            <a:off x="3049524" y="202996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Memory persistence</a:t>
            </a:r>
          </a:p>
        </p:txBody>
      </p:sp>
      <p:sp>
        <p:nvSpPr>
          <p:cNvPr id="12" name="Rectangle 11"/>
          <p:cNvSpPr/>
          <p:nvPr/>
        </p:nvSpPr>
        <p:spPr>
          <a:xfrm>
            <a:off x="457200" y="239572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Scaling</a:t>
            </a:r>
          </a:p>
        </p:txBody>
      </p:sp>
      <p:sp>
        <p:nvSpPr>
          <p:cNvPr id="13" name="Rectangle 12"/>
          <p:cNvSpPr/>
          <p:nvPr/>
        </p:nvSpPr>
        <p:spPr>
          <a:xfrm>
            <a:off x="3049524" y="239572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Instrumentation</a:t>
            </a:r>
          </a:p>
        </p:txBody>
      </p:sp>
      <p:sp>
        <p:nvSpPr>
          <p:cNvPr id="14" name="Rectangle 13"/>
          <p:cNvSpPr/>
          <p:nvPr/>
        </p:nvSpPr>
        <p:spPr>
          <a:xfrm>
            <a:off x="457200" y="276148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Version rollbacks</a:t>
            </a:r>
          </a:p>
        </p:txBody>
      </p:sp>
      <p:sp>
        <p:nvSpPr>
          <p:cNvPr id="15" name="TextBox 14"/>
          <p:cNvSpPr txBox="1"/>
          <p:nvPr/>
        </p:nvSpPr>
        <p:spPr>
          <a:xfrm>
            <a:off x="457200" y="3182112"/>
            <a:ext cx="5074920" cy="365760"/>
          </a:xfrm>
          <a:prstGeom prst="rect">
            <a:avLst/>
          </a:prstGeom>
          <a:noFill/>
        </p:spPr>
        <p:txBody>
          <a:bodyPr wrap="square" lIns="0" tIns="0" rIns="0" bIns="0" anchor="t">
            <a:spAutoFit/>
          </a:bodyPr>
          <a:lstStyle/>
          <a:p>
            <a:pPr algn="l">
              <a:lnSpc>
                <a:spcPct val="115000"/>
              </a:lnSpc>
            </a:pPr>
            <a:r>
              <a:rPr sz="800" b="0" i="1" dirty="0">
                <a:solidFill>
                  <a:srgbClr val="44495B"/>
                </a:solidFill>
                <a:latin typeface="Segoe UI"/>
                <a:cs typeface="Segoe UI"/>
              </a:rPr>
              <a:t>Built and run by the development team for agents on open-source frameworks, and harder across heterogeneous cloud environments.</a:t>
            </a:r>
          </a:p>
        </p:txBody>
      </p:sp>
      <p:sp>
        <p:nvSpPr>
          <p:cNvPr id="16" name="TextBox 15"/>
          <p:cNvSpPr txBox="1"/>
          <p:nvPr/>
        </p:nvSpPr>
        <p:spPr>
          <a:xfrm>
            <a:off x="457200" y="3730752"/>
            <a:ext cx="50749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A HOSTED AGENT IS</a:t>
            </a:r>
          </a:p>
        </p:txBody>
      </p:sp>
      <p:sp>
        <p:nvSpPr>
          <p:cNvPr id="17" name="TextBox 16"/>
          <p:cNvSpPr txBox="1"/>
          <p:nvPr/>
        </p:nvSpPr>
        <p:spPr>
          <a:xfrm>
            <a:off x="457200" y="3986784"/>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Definition</a:t>
            </a:r>
          </a:p>
        </p:txBody>
      </p:sp>
      <p:sp>
        <p:nvSpPr>
          <p:cNvPr id="18" name="TextBox 17"/>
          <p:cNvSpPr txBox="1"/>
          <p:nvPr/>
        </p:nvSpPr>
        <p:spPr>
          <a:xfrm>
            <a:off x="1675180" y="3986784"/>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 containerized agent application that runs on Foundry Agent Service</a:t>
            </a:r>
          </a:p>
        </p:txBody>
      </p:sp>
      <p:cxnSp>
        <p:nvCxnSpPr>
          <p:cNvPr id="19" name="Connector 18"/>
          <p:cNvCxnSpPr/>
          <p:nvPr/>
        </p:nvCxnSpPr>
        <p:spPr>
          <a:xfrm>
            <a:off x="457200" y="4297680"/>
            <a:ext cx="5074920" cy="0"/>
          </a:xfrm>
          <a:prstGeom prst="line">
            <a:avLst/>
          </a:prstGeom>
          <a:ln w="9525">
            <a:solidFill>
              <a:srgbClr val="E1E7F4"/>
            </a:solidFill>
          </a:ln>
        </p:spPr>
      </p:cxnSp>
      <p:sp>
        <p:nvSpPr>
          <p:cNvPr id="20" name="TextBox 19"/>
          <p:cNvSpPr txBox="1"/>
          <p:nvPr/>
        </p:nvSpPr>
        <p:spPr>
          <a:xfrm>
            <a:off x="457200" y="4315968"/>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Code</a:t>
            </a:r>
          </a:p>
        </p:txBody>
      </p:sp>
      <p:sp>
        <p:nvSpPr>
          <p:cNvPr id="21" name="TextBox 20"/>
          <p:cNvSpPr txBox="1"/>
          <p:nvPr/>
        </p:nvSpPr>
        <p:spPr>
          <a:xfrm>
            <a:off x="1675180" y="4315968"/>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Any framework, Python or C#; reasoning by Foundry models</a:t>
            </a:r>
          </a:p>
        </p:txBody>
      </p:sp>
      <p:cxnSp>
        <p:nvCxnSpPr>
          <p:cNvPr id="22" name="Connector 21"/>
          <p:cNvCxnSpPr/>
          <p:nvPr/>
        </p:nvCxnSpPr>
        <p:spPr>
          <a:xfrm>
            <a:off x="457200" y="4626864"/>
            <a:ext cx="5074920" cy="0"/>
          </a:xfrm>
          <a:prstGeom prst="line">
            <a:avLst/>
          </a:prstGeom>
          <a:ln w="9525">
            <a:solidFill>
              <a:srgbClr val="E1E7F4"/>
            </a:solidFill>
          </a:ln>
        </p:spPr>
      </p:cxnSp>
      <p:sp>
        <p:nvSpPr>
          <p:cNvPr id="23" name="TextBox 22"/>
          <p:cNvSpPr txBox="1"/>
          <p:nvPr/>
        </p:nvSpPr>
        <p:spPr>
          <a:xfrm>
            <a:off x="457200" y="4645152"/>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Platform</a:t>
            </a:r>
          </a:p>
        </p:txBody>
      </p:sp>
      <p:sp>
        <p:nvSpPr>
          <p:cNvPr id="24" name="TextBox 23"/>
          <p:cNvSpPr txBox="1"/>
          <p:nvPr/>
        </p:nvSpPr>
        <p:spPr>
          <a:xfrm>
            <a:off x="1675180" y="4645152"/>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Endpoint, identity, scaling, session state and observability</a:t>
            </a:r>
          </a:p>
        </p:txBody>
      </p:sp>
      <p:cxnSp>
        <p:nvCxnSpPr>
          <p:cNvPr id="25" name="Connector 24"/>
          <p:cNvCxnSpPr/>
          <p:nvPr/>
        </p:nvCxnSpPr>
        <p:spPr>
          <a:xfrm>
            <a:off x="457200" y="4956048"/>
            <a:ext cx="5074920" cy="0"/>
          </a:xfrm>
          <a:prstGeom prst="line">
            <a:avLst/>
          </a:prstGeom>
          <a:ln w="9525">
            <a:solidFill>
              <a:srgbClr val="E1E7F4"/>
            </a:solidFill>
          </a:ln>
        </p:spPr>
      </p:cxnSp>
      <p:sp>
        <p:nvSpPr>
          <p:cNvPr id="26" name="TextBox 25"/>
          <p:cNvSpPr txBox="1"/>
          <p:nvPr/>
        </p:nvSpPr>
        <p:spPr>
          <a:xfrm>
            <a:off x="457200" y="4974336"/>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Status</a:t>
            </a:r>
          </a:p>
        </p:txBody>
      </p:sp>
      <p:sp>
        <p:nvSpPr>
          <p:cNvPr id="27" name="TextBox 26"/>
          <p:cNvSpPr txBox="1"/>
          <p:nvPr/>
        </p:nvSpPr>
        <p:spPr>
          <a:xfrm>
            <a:off x="1675180" y="4974336"/>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9 July 2026</a:t>
            </a:r>
          </a:p>
        </p:txBody>
      </p:sp>
      <p:cxnSp>
        <p:nvCxnSpPr>
          <p:cNvPr id="28" name="Connector 27"/>
          <p:cNvCxnSpPr/>
          <p:nvPr/>
        </p:nvCxnSpPr>
        <p:spPr>
          <a:xfrm>
            <a:off x="457200" y="5285232"/>
            <a:ext cx="5074920" cy="0"/>
          </a:xfrm>
          <a:prstGeom prst="line">
            <a:avLst/>
          </a:prstGeom>
          <a:ln w="9525">
            <a:solidFill>
              <a:srgbClr val="E1E7F4"/>
            </a:solidFill>
          </a:ln>
        </p:spPr>
      </p:cxnSp>
      <p:sp>
        <p:nvSpPr>
          <p:cNvPr id="29" name="TextBox 28"/>
          <p:cNvSpPr txBox="1"/>
          <p:nvPr/>
        </p:nvSpPr>
        <p:spPr>
          <a:xfrm>
            <a:off x="5897880" y="1371600"/>
            <a:ext cx="58366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DIVISION OF RESPONSIBILITY</a:t>
            </a:r>
          </a:p>
        </p:txBody>
      </p:sp>
      <p:sp>
        <p:nvSpPr>
          <p:cNvPr id="30" name="Rectangle 29"/>
          <p:cNvSpPr/>
          <p:nvPr/>
        </p:nvSpPr>
        <p:spPr>
          <a:xfrm>
            <a:off x="5897880" y="1664208"/>
            <a:ext cx="5836615" cy="3547872"/>
          </a:xfrm>
          <a:prstGeom prst="rect">
            <a:avLst/>
          </a:prstGeom>
          <a:solidFill>
            <a:srgbClr val="101A3C"/>
          </a:solidFill>
          <a:ln>
            <a:noFill/>
          </a:ln>
          <a:effectLst/>
        </p:spPr>
        <p:txBody>
          <a:bodyPr wrap="square" rtlCol="0" anchor="ctr"/>
          <a:lstStyle/>
          <a:p>
            <a:endParaRPr/>
          </a:p>
        </p:txBody>
      </p:sp>
      <p:sp>
        <p:nvSpPr>
          <p:cNvPr id="31" name="TextBox 30"/>
          <p:cNvSpPr txBox="1"/>
          <p:nvPr/>
        </p:nvSpPr>
        <p:spPr>
          <a:xfrm>
            <a:off x="6080760" y="1755648"/>
            <a:ext cx="5470855"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Owned by the platform — Foundry Agent Service</a:t>
            </a:r>
          </a:p>
        </p:txBody>
      </p:sp>
      <p:sp>
        <p:nvSpPr>
          <p:cNvPr id="32" name="Rectangle 31"/>
          <p:cNvSpPr/>
          <p:nvPr/>
        </p:nvSpPr>
        <p:spPr>
          <a:xfrm>
            <a:off x="6080760" y="206654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Dedicated endpoint per agent</a:t>
            </a:r>
          </a:p>
        </p:txBody>
      </p:sp>
      <p:sp>
        <p:nvSpPr>
          <p:cNvPr id="33" name="Rectangle 32"/>
          <p:cNvSpPr/>
          <p:nvPr/>
        </p:nvSpPr>
        <p:spPr>
          <a:xfrm>
            <a:off x="8871051" y="206654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Microsoft Entra agent identity</a:t>
            </a:r>
          </a:p>
        </p:txBody>
      </p:sp>
      <p:sp>
        <p:nvSpPr>
          <p:cNvPr id="34" name="Rectangle 33"/>
          <p:cNvSpPr/>
          <p:nvPr/>
        </p:nvSpPr>
        <p:spPr>
          <a:xfrm>
            <a:off x="6080760" y="243230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Per-session scaling</a:t>
            </a:r>
          </a:p>
        </p:txBody>
      </p:sp>
      <p:sp>
        <p:nvSpPr>
          <p:cNvPr id="35" name="Rectangle 34"/>
          <p:cNvSpPr/>
          <p:nvPr/>
        </p:nvSpPr>
        <p:spPr>
          <a:xfrm>
            <a:off x="8871051" y="243230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Session state and conversations</a:t>
            </a:r>
          </a:p>
        </p:txBody>
      </p:sp>
      <p:sp>
        <p:nvSpPr>
          <p:cNvPr id="36" name="Rectangle 35"/>
          <p:cNvSpPr/>
          <p:nvPr/>
        </p:nvSpPr>
        <p:spPr>
          <a:xfrm>
            <a:off x="6080760" y="279806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Tracing to Application Insights</a:t>
            </a:r>
          </a:p>
        </p:txBody>
      </p:sp>
      <p:sp>
        <p:nvSpPr>
          <p:cNvPr id="37" name="Rectangle 36"/>
          <p:cNvSpPr/>
          <p:nvPr/>
        </p:nvSpPr>
        <p:spPr>
          <a:xfrm>
            <a:off x="8871051" y="279806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Versions and lifecycle</a:t>
            </a:r>
          </a:p>
        </p:txBody>
      </p:sp>
      <p:sp>
        <p:nvSpPr>
          <p:cNvPr id="38" name="Rectangle 37"/>
          <p:cNvSpPr/>
          <p:nvPr/>
        </p:nvSpPr>
        <p:spPr>
          <a:xfrm>
            <a:off x="6080760" y="3310128"/>
            <a:ext cx="5470855" cy="1719072"/>
          </a:xfrm>
          <a:prstGeom prst="rect">
            <a:avLst/>
          </a:prstGeom>
          <a:solidFill>
            <a:srgbClr val="F6F8FD"/>
          </a:solidFill>
          <a:ln w="9525">
            <a:solidFill>
              <a:srgbClr val="E1E7F4"/>
            </a:solidFill>
          </a:ln>
          <a:effectLst/>
        </p:spPr>
        <p:txBody>
          <a:bodyPr wrap="square" rtlCol="0" anchor="ctr"/>
          <a:lstStyle/>
          <a:p>
            <a:endParaRPr/>
          </a:p>
        </p:txBody>
      </p:sp>
      <p:sp>
        <p:nvSpPr>
          <p:cNvPr id="39" name="TextBox 38"/>
          <p:cNvSpPr txBox="1"/>
          <p:nvPr/>
        </p:nvSpPr>
        <p:spPr>
          <a:xfrm>
            <a:off x="6245352" y="3401568"/>
            <a:ext cx="5196535"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Owned by the development team — inside the session sandbox</a:t>
            </a:r>
          </a:p>
        </p:txBody>
      </p:sp>
      <p:sp>
        <p:nvSpPr>
          <p:cNvPr id="40" name="Rectangle 39"/>
          <p:cNvSpPr/>
          <p:nvPr/>
        </p:nvSpPr>
        <p:spPr>
          <a:xfrm>
            <a:off x="6245352" y="369417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code</a:t>
            </a:r>
          </a:p>
          <a:p>
            <a:pPr algn="ctr">
              <a:lnSpc>
                <a:spcPct val="110000"/>
              </a:lnSpc>
            </a:pPr>
            <a:r>
              <a:rPr sz="750" b="0" i="0" dirty="0">
                <a:solidFill>
                  <a:srgbClr val="44495B"/>
                </a:solidFill>
                <a:latin typeface="Segoe UI"/>
                <a:cs typeface="Segoe UI"/>
              </a:rPr>
              <a:t>orchestration logic in any framework</a:t>
            </a:r>
          </a:p>
        </p:txBody>
      </p:sp>
      <p:sp>
        <p:nvSpPr>
          <p:cNvPr id="41" name="Rectangle 40"/>
          <p:cNvSpPr/>
          <p:nvPr/>
        </p:nvSpPr>
        <p:spPr>
          <a:xfrm>
            <a:off x="8871051" y="369417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Container image</a:t>
            </a:r>
          </a:p>
          <a:p>
            <a:pPr algn="ctr">
              <a:lnSpc>
                <a:spcPct val="110000"/>
              </a:lnSpc>
            </a:pPr>
            <a:r>
              <a:rPr sz="750" b="0" i="0" dirty="0">
                <a:solidFill>
                  <a:srgbClr val="44495B"/>
                </a:solidFill>
                <a:latin typeface="Segoe UI"/>
                <a:cs typeface="Segoe UI"/>
              </a:rPr>
              <a:t>or a .zip of source that Foundry builds</a:t>
            </a:r>
          </a:p>
        </p:txBody>
      </p:sp>
      <p:sp>
        <p:nvSpPr>
          <p:cNvPr id="42" name="Rectangle 41"/>
          <p:cNvSpPr/>
          <p:nvPr/>
        </p:nvSpPr>
        <p:spPr>
          <a:xfrm>
            <a:off x="6245352" y="433425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Compute size</a:t>
            </a:r>
          </a:p>
          <a:p>
            <a:pPr algn="ctr">
              <a:lnSpc>
                <a:spcPct val="110000"/>
              </a:lnSpc>
            </a:pPr>
            <a:r>
              <a:rPr sz="750" b="0" i="0" dirty="0">
                <a:solidFill>
                  <a:srgbClr val="44495B"/>
                </a:solidFill>
                <a:latin typeface="Segoe UI"/>
                <a:cs typeface="Segoe UI"/>
              </a:rPr>
              <a:t>CPU and memory per session</a:t>
            </a:r>
          </a:p>
        </p:txBody>
      </p:sp>
      <p:sp>
        <p:nvSpPr>
          <p:cNvPr id="43" name="Rectangle 42"/>
          <p:cNvSpPr/>
          <p:nvPr/>
        </p:nvSpPr>
        <p:spPr>
          <a:xfrm>
            <a:off x="8871051" y="433425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Tool and data access</a:t>
            </a:r>
          </a:p>
          <a:p>
            <a:pPr algn="ctr">
              <a:lnSpc>
                <a:spcPct val="110000"/>
              </a:lnSpc>
            </a:pPr>
            <a:r>
              <a:rPr sz="750" b="0" i="0" dirty="0">
                <a:solidFill>
                  <a:srgbClr val="44495B"/>
                </a:solidFill>
                <a:latin typeface="Segoe UI"/>
                <a:cs typeface="Segoe UI"/>
              </a:rPr>
              <a:t>role assignments for the agent identity</a:t>
            </a:r>
          </a:p>
        </p:txBody>
      </p:sp>
      <p:sp>
        <p:nvSpPr>
          <p:cNvPr id="44" name="Rectangle 43"/>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45" name="TextBox 44"/>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Platform-owned</a:t>
            </a:r>
          </a:p>
        </p:txBody>
      </p:sp>
      <p:sp>
        <p:nvSpPr>
          <p:cNvPr id="46" name="Rectangle 45"/>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7" name="TextBox 46"/>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Development team</a:t>
            </a:r>
          </a:p>
        </p:txBody>
      </p:sp>
      <p:sp>
        <p:nvSpPr>
          <p:cNvPr id="48" name="Rectangle 47"/>
          <p:cNvSpPr/>
          <p:nvPr/>
        </p:nvSpPr>
        <p:spPr>
          <a:xfrm>
            <a:off x="2798064" y="5545836"/>
            <a:ext cx="146304" cy="91440"/>
          </a:xfrm>
          <a:prstGeom prst="rect">
            <a:avLst/>
          </a:prstGeom>
          <a:solidFill>
            <a:srgbClr val="EBEFF7"/>
          </a:solidFill>
          <a:ln>
            <a:noFill/>
          </a:ln>
          <a:effectLst/>
        </p:spPr>
        <p:txBody>
          <a:bodyPr wrap="square" rtlCol="0" anchor="ctr"/>
          <a:lstStyle/>
          <a:p>
            <a:endParaRPr/>
          </a:p>
        </p:txBody>
      </p:sp>
      <p:sp>
        <p:nvSpPr>
          <p:cNvPr id="49" name="TextBox 48"/>
          <p:cNvSpPr txBox="1"/>
          <p:nvPr/>
        </p:nvSpPr>
        <p:spPr>
          <a:xfrm>
            <a:off x="30175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Concern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 architecture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deployed version serves requests through a dedicated endpoint; each session runs in its own isolated sandbox</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3</a:t>
            </a:r>
          </a:p>
        </p:txBody>
      </p:sp>
      <p:sp>
        <p:nvSpPr>
          <p:cNvPr id="7" name="Rectangle 6"/>
          <p:cNvSpPr/>
          <p:nvPr/>
        </p:nvSpPr>
        <p:spPr>
          <a:xfrm>
            <a:off x="457200" y="1353312"/>
            <a:ext cx="1874519"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Developer tooling</a:t>
            </a:r>
          </a:p>
          <a:p>
            <a:pPr algn="ctr">
              <a:lnSpc>
                <a:spcPct val="112000"/>
              </a:lnSpc>
            </a:pPr>
            <a:r>
              <a:rPr sz="800" b="1" i="0" dirty="0">
                <a:solidFill>
                  <a:srgbClr val="101A3C"/>
                </a:solidFill>
                <a:latin typeface="Segoe UI"/>
                <a:cs typeface="Segoe UI"/>
              </a:rPr>
              <a:t>azd · VS Code · SDK</a:t>
            </a:r>
          </a:p>
        </p:txBody>
      </p:sp>
      <p:sp>
        <p:nvSpPr>
          <p:cNvPr id="8" name="Rectangle 7"/>
          <p:cNvSpPr/>
          <p:nvPr/>
        </p:nvSpPr>
        <p:spPr>
          <a:xfrm>
            <a:off x="2880360" y="1353312"/>
            <a:ext cx="210312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Container Registry</a:t>
            </a:r>
          </a:p>
          <a:p>
            <a:pPr algn="ctr">
              <a:lnSpc>
                <a:spcPct val="110000"/>
              </a:lnSpc>
            </a:pPr>
            <a:r>
              <a:rPr sz="750" b="0" i="0" dirty="0">
                <a:solidFill>
                  <a:srgbClr val="44495B"/>
                </a:solidFill>
                <a:latin typeface="Segoe UI"/>
                <a:cs typeface="Segoe UI"/>
              </a:rPr>
              <a:t>container image</a:t>
            </a:r>
          </a:p>
        </p:txBody>
      </p:sp>
      <p:sp>
        <p:nvSpPr>
          <p:cNvPr id="9" name="Rectangle 8"/>
          <p:cNvSpPr/>
          <p:nvPr/>
        </p:nvSpPr>
        <p:spPr>
          <a:xfrm>
            <a:off x="5532120" y="1353312"/>
            <a:ext cx="274320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version (immutable)</a:t>
            </a:r>
          </a:p>
          <a:p>
            <a:pPr algn="ctr">
              <a:lnSpc>
                <a:spcPct val="110000"/>
              </a:lnSpc>
            </a:pPr>
            <a:r>
              <a:rPr sz="750" b="0" i="0" dirty="0">
                <a:solidFill>
                  <a:srgbClr val="44495B"/>
                </a:solidFill>
                <a:latin typeface="Segoe UI"/>
                <a:cs typeface="Segoe UI"/>
              </a:rPr>
              <a:t>image · CPU and memory · settings · protocols</a:t>
            </a:r>
          </a:p>
        </p:txBody>
      </p:sp>
      <p:cxnSp>
        <p:nvCxnSpPr>
          <p:cNvPr id="10" name="Connector 9"/>
          <p:cNvCxnSpPr/>
          <p:nvPr/>
        </p:nvCxnSpPr>
        <p:spPr>
          <a:xfrm>
            <a:off x="2331720" y="1609344"/>
            <a:ext cx="548640" cy="0"/>
          </a:xfrm>
          <a:prstGeom prst="line">
            <a:avLst/>
          </a:prstGeom>
          <a:ln w="13970">
            <a:solidFill>
              <a:srgbClr val="44495B"/>
            </a:solidFill>
            <a:tailEnd type="triangle" w="med" len="med"/>
          </a:ln>
        </p:spPr>
      </p:cxnSp>
      <p:sp>
        <p:nvSpPr>
          <p:cNvPr id="11" name="Oval 10"/>
          <p:cNvSpPr/>
          <p:nvPr/>
        </p:nvSpPr>
        <p:spPr>
          <a:xfrm>
            <a:off x="2500883" y="150418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2" name="Connector 11"/>
          <p:cNvCxnSpPr/>
          <p:nvPr/>
        </p:nvCxnSpPr>
        <p:spPr>
          <a:xfrm>
            <a:off x="4983480" y="1609344"/>
            <a:ext cx="548640" cy="0"/>
          </a:xfrm>
          <a:prstGeom prst="line">
            <a:avLst/>
          </a:prstGeom>
          <a:ln w="13970">
            <a:solidFill>
              <a:srgbClr val="44495B"/>
            </a:solidFill>
            <a:tailEnd type="triangle" w="med" len="med"/>
          </a:ln>
        </p:spPr>
      </p:cxnSp>
      <p:sp>
        <p:nvSpPr>
          <p:cNvPr id="13" name="Oval 12"/>
          <p:cNvSpPr/>
          <p:nvPr/>
        </p:nvSpPr>
        <p:spPr>
          <a:xfrm>
            <a:off x="5152644" y="150418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14" name="Rectangle 13"/>
          <p:cNvSpPr/>
          <p:nvPr/>
        </p:nvSpPr>
        <p:spPr>
          <a:xfrm>
            <a:off x="8732520" y="1353312"/>
            <a:ext cx="3001975"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Microsoft Entra ID</a:t>
            </a:r>
          </a:p>
          <a:p>
            <a:pPr algn="ctr">
              <a:lnSpc>
                <a:spcPct val="110000"/>
              </a:lnSpc>
            </a:pPr>
            <a:r>
              <a:rPr sz="750" b="0" i="0" dirty="0">
                <a:solidFill>
                  <a:srgbClr val="44495B"/>
                </a:solidFill>
                <a:latin typeface="Segoe UI"/>
                <a:cs typeface="Segoe UI"/>
              </a:rPr>
              <a:t>agent identity, one per agent</a:t>
            </a:r>
          </a:p>
        </p:txBody>
      </p:sp>
      <p:sp>
        <p:nvSpPr>
          <p:cNvPr id="15" name="Rectangle 14"/>
          <p:cNvSpPr/>
          <p:nvPr/>
        </p:nvSpPr>
        <p:spPr>
          <a:xfrm>
            <a:off x="457200" y="2331720"/>
            <a:ext cx="1874519" cy="1874519"/>
          </a:xfrm>
          <a:prstGeom prst="rect">
            <a:avLst/>
          </a:prstGeom>
          <a:solidFill>
            <a:srgbClr val="EBEFF7"/>
          </a:solidFill>
          <a:ln>
            <a:noFill/>
          </a:ln>
          <a:effectLst/>
        </p:spPr>
        <p:txBody>
          <a:bodyPr wrap="square" lIns="54864" tIns="18288" rIns="54864" bIns="18288" rtlCol="0" anchor="ctr"/>
          <a:lstStyle/>
          <a:p>
            <a:pPr algn="ctr">
              <a:lnSpc>
                <a:spcPct val="130000"/>
              </a:lnSpc>
            </a:pPr>
            <a:r>
              <a:rPr sz="900" b="1" i="0" dirty="0">
                <a:solidFill>
                  <a:srgbClr val="101A3C"/>
                </a:solidFill>
                <a:latin typeface="Segoe UI"/>
                <a:cs typeface="Segoe UI"/>
              </a:rPr>
              <a:t>Callers</a:t>
            </a:r>
          </a:p>
          <a:p>
            <a:pPr algn="ctr">
              <a:lnSpc>
                <a:spcPct val="130000"/>
              </a:lnSpc>
            </a:pPr>
            <a:r>
              <a:rPr sz="750" b="0" i="0" dirty="0">
                <a:solidFill>
                  <a:srgbClr val="44495B"/>
                </a:solidFill>
                <a:latin typeface="Segoe UI"/>
                <a:cs typeface="Segoe UI"/>
              </a:rPr>
              <a:t>OpenAI-compatible SDKs</a:t>
            </a:r>
          </a:p>
          <a:p>
            <a:pPr algn="ctr">
              <a:lnSpc>
                <a:spcPct val="130000"/>
              </a:lnSpc>
            </a:pPr>
            <a:r>
              <a:rPr sz="750" b="0" i="0" dirty="0">
                <a:solidFill>
                  <a:srgbClr val="44495B"/>
                </a:solidFill>
                <a:latin typeface="Segoe UI"/>
                <a:cs typeface="Segoe UI"/>
              </a:rPr>
              <a:t>webhooks and custom clients</a:t>
            </a:r>
          </a:p>
          <a:p>
            <a:pPr algn="ctr">
              <a:lnSpc>
                <a:spcPct val="130000"/>
              </a:lnSpc>
            </a:pPr>
            <a:r>
              <a:rPr sz="750" b="0" i="0" dirty="0">
                <a:solidFill>
                  <a:srgbClr val="44495B"/>
                </a:solidFill>
                <a:latin typeface="Segoe UI"/>
                <a:cs typeface="Segoe UI"/>
              </a:rPr>
              <a:t>Teams and Microsoft 365</a:t>
            </a:r>
          </a:p>
          <a:p>
            <a:pPr algn="ctr">
              <a:lnSpc>
                <a:spcPct val="130000"/>
              </a:lnSpc>
            </a:pPr>
            <a:r>
              <a:rPr sz="750" b="0" i="0" dirty="0">
                <a:solidFill>
                  <a:srgbClr val="44495B"/>
                </a:solidFill>
                <a:latin typeface="Segoe UI"/>
                <a:cs typeface="Segoe UI"/>
              </a:rPr>
              <a:t>other agents (A2A)</a:t>
            </a:r>
          </a:p>
        </p:txBody>
      </p:sp>
      <p:sp>
        <p:nvSpPr>
          <p:cNvPr id="16" name="Rectangle 15"/>
          <p:cNvSpPr/>
          <p:nvPr/>
        </p:nvSpPr>
        <p:spPr>
          <a:xfrm>
            <a:off x="2880360" y="2331720"/>
            <a:ext cx="2103120" cy="1874519"/>
          </a:xfrm>
          <a:prstGeom prst="rect">
            <a:avLst/>
          </a:prstGeom>
          <a:solidFill>
            <a:srgbClr val="101A3C"/>
          </a:solidFill>
          <a:ln>
            <a:noFill/>
          </a:ln>
          <a:effectLst/>
        </p:spPr>
        <p:txBody>
          <a:bodyPr wrap="square" rtlCol="0" anchor="ctr"/>
          <a:lstStyle/>
          <a:p>
            <a:endParaRPr/>
          </a:p>
        </p:txBody>
      </p:sp>
      <p:sp>
        <p:nvSpPr>
          <p:cNvPr id="17" name="TextBox 16"/>
          <p:cNvSpPr txBox="1"/>
          <p:nvPr/>
        </p:nvSpPr>
        <p:spPr>
          <a:xfrm>
            <a:off x="2990088" y="2404872"/>
            <a:ext cx="1883664" cy="182880"/>
          </a:xfrm>
          <a:prstGeom prst="rect">
            <a:avLst/>
          </a:prstGeom>
          <a:noFill/>
        </p:spPr>
        <p:txBody>
          <a:bodyPr wrap="square" lIns="0" tIns="0" rIns="0" bIns="0" anchor="t">
            <a:spAutoFit/>
          </a:bodyPr>
          <a:lstStyle/>
          <a:p>
            <a:pPr algn="ctr">
              <a:lnSpc>
                <a:spcPct val="100000"/>
              </a:lnSpc>
            </a:pPr>
            <a:r>
              <a:rPr sz="950" b="1" i="0" dirty="0">
                <a:solidFill>
                  <a:srgbClr val="FFFFFF"/>
                </a:solidFill>
                <a:latin typeface="Segoe UI"/>
                <a:cs typeface="Segoe UI"/>
              </a:rPr>
              <a:t>Agent endpoint</a:t>
            </a:r>
          </a:p>
        </p:txBody>
      </p:sp>
      <p:sp>
        <p:nvSpPr>
          <p:cNvPr id="18" name="Rectangle 17"/>
          <p:cNvSpPr/>
          <p:nvPr/>
        </p:nvSpPr>
        <p:spPr>
          <a:xfrm>
            <a:off x="3017520" y="269748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Responses</a:t>
            </a:r>
          </a:p>
        </p:txBody>
      </p:sp>
      <p:sp>
        <p:nvSpPr>
          <p:cNvPr id="19" name="Rectangle 18"/>
          <p:cNvSpPr/>
          <p:nvPr/>
        </p:nvSpPr>
        <p:spPr>
          <a:xfrm>
            <a:off x="3017520" y="306324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Invocations</a:t>
            </a:r>
          </a:p>
        </p:txBody>
      </p:sp>
      <p:sp>
        <p:nvSpPr>
          <p:cNvPr id="20" name="Rectangle 19"/>
          <p:cNvSpPr/>
          <p:nvPr/>
        </p:nvSpPr>
        <p:spPr>
          <a:xfrm>
            <a:off x="3017520" y="342900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Invocations (WebSocket)</a:t>
            </a:r>
          </a:p>
        </p:txBody>
      </p:sp>
      <p:sp>
        <p:nvSpPr>
          <p:cNvPr id="21" name="Rectangle 20"/>
          <p:cNvSpPr/>
          <p:nvPr/>
        </p:nvSpPr>
        <p:spPr>
          <a:xfrm>
            <a:off x="3017520" y="379476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Activity · A2A</a:t>
            </a:r>
          </a:p>
        </p:txBody>
      </p:sp>
      <p:cxnSp>
        <p:nvCxnSpPr>
          <p:cNvPr id="22" name="Connector 21"/>
          <p:cNvCxnSpPr/>
          <p:nvPr/>
        </p:nvCxnSpPr>
        <p:spPr>
          <a:xfrm>
            <a:off x="2331720" y="3273552"/>
            <a:ext cx="548640" cy="0"/>
          </a:xfrm>
          <a:prstGeom prst="line">
            <a:avLst/>
          </a:prstGeom>
          <a:ln w="13970">
            <a:solidFill>
              <a:srgbClr val="44495B"/>
            </a:solidFill>
            <a:tailEnd type="triangle" w="med" len="med"/>
          </a:ln>
        </p:spPr>
      </p:cxnSp>
      <p:sp>
        <p:nvSpPr>
          <p:cNvPr id="23" name="Oval 22"/>
          <p:cNvSpPr/>
          <p:nvPr/>
        </p:nvSpPr>
        <p:spPr>
          <a:xfrm>
            <a:off x="2500883"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4" name="Rectangle 23"/>
          <p:cNvSpPr/>
          <p:nvPr/>
        </p:nvSpPr>
        <p:spPr>
          <a:xfrm>
            <a:off x="5532120" y="2331720"/>
            <a:ext cx="2743200" cy="1874519"/>
          </a:xfrm>
          <a:prstGeom prst="rect">
            <a:avLst/>
          </a:prstGeom>
          <a:noFill/>
          <a:ln w="9525">
            <a:solidFill>
              <a:srgbClr val="44495B"/>
            </a:solidFill>
            <a:prstDash val="dash"/>
          </a:ln>
          <a:effectLst/>
        </p:spPr>
        <p:txBody>
          <a:bodyPr wrap="square" rtlCol="0" anchor="ctr"/>
          <a:lstStyle/>
          <a:p>
            <a:endParaRPr/>
          </a:p>
        </p:txBody>
      </p:sp>
      <p:sp>
        <p:nvSpPr>
          <p:cNvPr id="25" name="TextBox 24"/>
          <p:cNvSpPr txBox="1"/>
          <p:nvPr/>
        </p:nvSpPr>
        <p:spPr>
          <a:xfrm>
            <a:off x="5641848" y="2377440"/>
            <a:ext cx="2560320" cy="182880"/>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Session sandbox — one per session</a:t>
            </a:r>
          </a:p>
        </p:txBody>
      </p:sp>
      <p:sp>
        <p:nvSpPr>
          <p:cNvPr id="26" name="Rectangle 25"/>
          <p:cNvSpPr/>
          <p:nvPr/>
        </p:nvSpPr>
        <p:spPr>
          <a:xfrm>
            <a:off x="5669280" y="2633472"/>
            <a:ext cx="2468880"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code and framework</a:t>
            </a:r>
          </a:p>
          <a:p>
            <a:pPr algn="ctr">
              <a:lnSpc>
                <a:spcPct val="110000"/>
              </a:lnSpc>
            </a:pPr>
            <a:r>
              <a:rPr sz="750" b="0" i="0" dirty="0">
                <a:solidFill>
                  <a:srgbClr val="44495B"/>
                </a:solidFill>
                <a:latin typeface="Segoe UI"/>
                <a:cs typeface="Segoe UI"/>
              </a:rPr>
              <a:t>the team's container</a:t>
            </a:r>
          </a:p>
        </p:txBody>
      </p:sp>
      <p:sp>
        <p:nvSpPr>
          <p:cNvPr id="27" name="Rectangle 26"/>
          <p:cNvSpPr/>
          <p:nvPr/>
        </p:nvSpPr>
        <p:spPr>
          <a:xfrm>
            <a:off x="5669280" y="3182112"/>
            <a:ext cx="2468880" cy="42062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Protocol library</a:t>
            </a:r>
          </a:p>
          <a:p>
            <a:pPr algn="ctr">
              <a:lnSpc>
                <a:spcPct val="110000"/>
              </a:lnSpc>
            </a:pPr>
            <a:r>
              <a:rPr sz="750" b="0" i="0" dirty="0">
                <a:solidFill>
                  <a:srgbClr val="44495B"/>
                </a:solidFill>
                <a:latin typeface="Segoe UI"/>
                <a:cs typeface="Segoe UI"/>
              </a:rPr>
              <a:t>server, health checks, OpenTelemetry</a:t>
            </a:r>
          </a:p>
        </p:txBody>
      </p:sp>
      <p:sp>
        <p:nvSpPr>
          <p:cNvPr id="28" name="Rectangle 27"/>
          <p:cNvSpPr/>
          <p:nvPr/>
        </p:nvSpPr>
        <p:spPr>
          <a:xfrm>
            <a:off x="5669280" y="3675887"/>
            <a:ext cx="2468880" cy="42062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$HOME and /files</a:t>
            </a:r>
          </a:p>
          <a:p>
            <a:pPr algn="ctr">
              <a:lnSpc>
                <a:spcPct val="110000"/>
              </a:lnSpc>
            </a:pPr>
            <a:r>
              <a:rPr sz="750" b="0" i="0" dirty="0">
                <a:solidFill>
                  <a:srgbClr val="44495B"/>
                </a:solidFill>
                <a:latin typeface="Segoe UI"/>
                <a:cs typeface="Segoe UI"/>
              </a:rPr>
              <a:t>persisted across turns and idle periods</a:t>
            </a:r>
          </a:p>
        </p:txBody>
      </p:sp>
      <p:cxnSp>
        <p:nvCxnSpPr>
          <p:cNvPr id="29" name="Connector 28"/>
          <p:cNvCxnSpPr/>
          <p:nvPr/>
        </p:nvCxnSpPr>
        <p:spPr>
          <a:xfrm>
            <a:off x="4983480" y="3273552"/>
            <a:ext cx="548640" cy="0"/>
          </a:xfrm>
          <a:prstGeom prst="line">
            <a:avLst/>
          </a:prstGeom>
          <a:ln w="13970">
            <a:solidFill>
              <a:srgbClr val="44495B"/>
            </a:solidFill>
            <a:tailEnd type="triangle" w="med" len="med"/>
          </a:ln>
        </p:spPr>
      </p:cxnSp>
      <p:sp>
        <p:nvSpPr>
          <p:cNvPr id="30" name="Oval 29"/>
          <p:cNvSpPr/>
          <p:nvPr/>
        </p:nvSpPr>
        <p:spPr>
          <a:xfrm>
            <a:off x="5152644"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31" name="Connector 30"/>
          <p:cNvCxnSpPr/>
          <p:nvPr/>
        </p:nvCxnSpPr>
        <p:spPr>
          <a:xfrm>
            <a:off x="6903720" y="1865376"/>
            <a:ext cx="0" cy="466344"/>
          </a:xfrm>
          <a:prstGeom prst="line">
            <a:avLst/>
          </a:prstGeom>
          <a:ln w="13970">
            <a:solidFill>
              <a:srgbClr val="44495B"/>
            </a:solidFill>
            <a:tailEnd type="triangle" w="med" len="med"/>
          </a:ln>
        </p:spPr>
      </p:cxnSp>
      <p:sp>
        <p:nvSpPr>
          <p:cNvPr id="32" name="Rectangle 31"/>
          <p:cNvSpPr/>
          <p:nvPr/>
        </p:nvSpPr>
        <p:spPr>
          <a:xfrm>
            <a:off x="8732520" y="23317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models</a:t>
            </a:r>
          </a:p>
          <a:p>
            <a:pPr algn="ctr">
              <a:lnSpc>
                <a:spcPct val="110000"/>
              </a:lnSpc>
            </a:pPr>
            <a:r>
              <a:rPr sz="750" b="0" i="0" dirty="0">
                <a:solidFill>
                  <a:srgbClr val="44495B"/>
                </a:solidFill>
                <a:latin typeface="Segoe UI"/>
                <a:cs typeface="Segoe UI"/>
              </a:rPr>
              <a:t>through the project endpoint</a:t>
            </a:r>
          </a:p>
        </p:txBody>
      </p:sp>
      <p:sp>
        <p:nvSpPr>
          <p:cNvPr id="33" name="Rectangle 32"/>
          <p:cNvSpPr/>
          <p:nvPr/>
        </p:nvSpPr>
        <p:spPr>
          <a:xfrm>
            <a:off x="8732520" y="30175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Toolbox MCP endpoint</a:t>
            </a:r>
          </a:p>
          <a:p>
            <a:pPr algn="ctr">
              <a:lnSpc>
                <a:spcPct val="110000"/>
              </a:lnSpc>
            </a:pPr>
            <a:r>
              <a:rPr sz="750" b="0" i="0" dirty="0">
                <a:solidFill>
                  <a:srgbClr val="44495B"/>
                </a:solidFill>
                <a:latin typeface="Segoe UI"/>
                <a:cs typeface="Segoe UI"/>
              </a:rPr>
              <a:t>Foundry tools, MCP, A2A, skills</a:t>
            </a:r>
          </a:p>
        </p:txBody>
      </p:sp>
      <p:sp>
        <p:nvSpPr>
          <p:cNvPr id="34" name="Rectangle 33"/>
          <p:cNvSpPr/>
          <p:nvPr/>
        </p:nvSpPr>
        <p:spPr>
          <a:xfrm>
            <a:off x="8732520" y="37033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resources</a:t>
            </a:r>
          </a:p>
          <a:p>
            <a:pPr algn="ctr">
              <a:lnSpc>
                <a:spcPct val="110000"/>
              </a:lnSpc>
            </a:pPr>
            <a:r>
              <a:rPr sz="750" b="0" i="0" dirty="0">
                <a:solidFill>
                  <a:srgbClr val="44495B"/>
                </a:solidFill>
                <a:latin typeface="Segoe UI"/>
                <a:cs typeface="Segoe UI"/>
              </a:rPr>
              <a:t>access granted by role assignment</a:t>
            </a:r>
          </a:p>
        </p:txBody>
      </p:sp>
      <p:cxnSp>
        <p:nvCxnSpPr>
          <p:cNvPr id="35" name="Connector 34"/>
          <p:cNvCxnSpPr/>
          <p:nvPr/>
        </p:nvCxnSpPr>
        <p:spPr>
          <a:xfrm>
            <a:off x="8275320" y="3273552"/>
            <a:ext cx="228600" cy="0"/>
          </a:xfrm>
          <a:prstGeom prst="line">
            <a:avLst/>
          </a:prstGeom>
          <a:ln w="13970">
            <a:solidFill>
              <a:srgbClr val="44495B"/>
            </a:solidFill>
          </a:ln>
        </p:spPr>
      </p:cxnSp>
      <p:cxnSp>
        <p:nvCxnSpPr>
          <p:cNvPr id="36" name="Connector 35"/>
          <p:cNvCxnSpPr/>
          <p:nvPr/>
        </p:nvCxnSpPr>
        <p:spPr>
          <a:xfrm>
            <a:off x="8503920" y="2578608"/>
            <a:ext cx="0" cy="1380744"/>
          </a:xfrm>
          <a:prstGeom prst="line">
            <a:avLst/>
          </a:prstGeom>
          <a:ln w="13970">
            <a:solidFill>
              <a:srgbClr val="44495B"/>
            </a:solidFill>
          </a:ln>
        </p:spPr>
      </p:cxnSp>
      <p:cxnSp>
        <p:nvCxnSpPr>
          <p:cNvPr id="37" name="Connector 36"/>
          <p:cNvCxnSpPr/>
          <p:nvPr/>
        </p:nvCxnSpPr>
        <p:spPr>
          <a:xfrm>
            <a:off x="8503920" y="2578608"/>
            <a:ext cx="228600" cy="0"/>
          </a:xfrm>
          <a:prstGeom prst="line">
            <a:avLst/>
          </a:prstGeom>
          <a:ln w="13970">
            <a:solidFill>
              <a:srgbClr val="44495B"/>
            </a:solidFill>
            <a:tailEnd type="triangle" w="med" len="med"/>
          </a:ln>
        </p:spPr>
      </p:cxnSp>
      <p:cxnSp>
        <p:nvCxnSpPr>
          <p:cNvPr id="38" name="Connector 37"/>
          <p:cNvCxnSpPr/>
          <p:nvPr/>
        </p:nvCxnSpPr>
        <p:spPr>
          <a:xfrm>
            <a:off x="8503920" y="3273552"/>
            <a:ext cx="228600" cy="0"/>
          </a:xfrm>
          <a:prstGeom prst="line">
            <a:avLst/>
          </a:prstGeom>
          <a:ln w="13970">
            <a:solidFill>
              <a:srgbClr val="44495B"/>
            </a:solidFill>
            <a:tailEnd type="triangle" w="med" len="med"/>
          </a:ln>
        </p:spPr>
      </p:cxnSp>
      <p:cxnSp>
        <p:nvCxnSpPr>
          <p:cNvPr id="39" name="Connector 38"/>
          <p:cNvCxnSpPr/>
          <p:nvPr/>
        </p:nvCxnSpPr>
        <p:spPr>
          <a:xfrm>
            <a:off x="8503920" y="3959352"/>
            <a:ext cx="228600" cy="0"/>
          </a:xfrm>
          <a:prstGeom prst="line">
            <a:avLst/>
          </a:prstGeom>
          <a:ln w="13970">
            <a:solidFill>
              <a:srgbClr val="44495B"/>
            </a:solidFill>
            <a:tailEnd type="triangle" w="med" len="med"/>
          </a:ln>
        </p:spPr>
      </p:cxnSp>
      <p:sp>
        <p:nvSpPr>
          <p:cNvPr id="40" name="Oval 39"/>
          <p:cNvSpPr/>
          <p:nvPr/>
        </p:nvSpPr>
        <p:spPr>
          <a:xfrm>
            <a:off x="8284464"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cxnSp>
        <p:nvCxnSpPr>
          <p:cNvPr id="41" name="Connector 40"/>
          <p:cNvCxnSpPr/>
          <p:nvPr/>
        </p:nvCxnSpPr>
        <p:spPr>
          <a:xfrm>
            <a:off x="10233507" y="1865376"/>
            <a:ext cx="0" cy="466344"/>
          </a:xfrm>
          <a:prstGeom prst="line">
            <a:avLst/>
          </a:prstGeom>
          <a:ln w="13970">
            <a:solidFill>
              <a:srgbClr val="44495B"/>
            </a:solidFill>
            <a:prstDash val="dash"/>
          </a:ln>
        </p:spPr>
      </p:cxnSp>
      <p:sp>
        <p:nvSpPr>
          <p:cNvPr id="42" name="Rectangle 41"/>
          <p:cNvSpPr/>
          <p:nvPr/>
        </p:nvSpPr>
        <p:spPr>
          <a:xfrm>
            <a:off x="457200" y="4526280"/>
            <a:ext cx="11277295" cy="566928"/>
          </a:xfrm>
          <a:prstGeom prst="rect">
            <a:avLst/>
          </a:prstGeom>
          <a:solidFill>
            <a:srgbClr val="0B1229"/>
          </a:solidFill>
          <a:ln>
            <a:noFill/>
          </a:ln>
          <a:effectLst/>
        </p:spPr>
        <p:txBody>
          <a:bodyPr wrap="square" rtlCol="0" anchor="ctr"/>
          <a:lstStyle/>
          <a:p>
            <a:endParaRPr/>
          </a:p>
        </p:txBody>
      </p:sp>
      <p:sp>
        <p:nvSpPr>
          <p:cNvPr id="43" name="TextBox 42"/>
          <p:cNvSpPr txBox="1"/>
          <p:nvPr/>
        </p:nvSpPr>
        <p:spPr>
          <a:xfrm>
            <a:off x="640080" y="4599432"/>
            <a:ext cx="2194560" cy="182880"/>
          </a:xfrm>
          <a:prstGeom prst="rect">
            <a:avLst/>
          </a:prstGeom>
          <a:noFill/>
        </p:spPr>
        <p:txBody>
          <a:bodyPr wrap="square" lIns="0" tIns="0" rIns="0" bIns="0" anchor="t">
            <a:spAutoFit/>
          </a:bodyPr>
          <a:lstStyle/>
          <a:p>
            <a:pPr algn="l">
              <a:lnSpc>
                <a:spcPct val="100000"/>
              </a:lnSpc>
            </a:pPr>
            <a:r>
              <a:rPr sz="900" b="1" i="0" dirty="0">
                <a:solidFill>
                  <a:srgbClr val="FFFFFF"/>
                </a:solidFill>
                <a:latin typeface="Segoe UI"/>
                <a:cs typeface="Segoe UI"/>
              </a:rPr>
              <a:t>Managed by the platform</a:t>
            </a:r>
          </a:p>
        </p:txBody>
      </p:sp>
      <p:sp>
        <p:nvSpPr>
          <p:cNvPr id="44" name="Rectangle 43"/>
          <p:cNvSpPr/>
          <p:nvPr/>
        </p:nvSpPr>
        <p:spPr>
          <a:xfrm>
            <a:off x="2880360"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Conversation history</a:t>
            </a:r>
          </a:p>
        </p:txBody>
      </p:sp>
      <p:sp>
        <p:nvSpPr>
          <p:cNvPr id="45" name="Rectangle 44"/>
          <p:cNvSpPr/>
          <p:nvPr/>
        </p:nvSpPr>
        <p:spPr>
          <a:xfrm>
            <a:off x="5001768"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Session state</a:t>
            </a:r>
          </a:p>
        </p:txBody>
      </p:sp>
      <p:sp>
        <p:nvSpPr>
          <p:cNvPr id="46" name="Rectangle 45"/>
          <p:cNvSpPr/>
          <p:nvPr/>
        </p:nvSpPr>
        <p:spPr>
          <a:xfrm>
            <a:off x="7123175"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State store</a:t>
            </a:r>
          </a:p>
        </p:txBody>
      </p:sp>
      <p:sp>
        <p:nvSpPr>
          <p:cNvPr id="47" name="Rectangle 46"/>
          <p:cNvSpPr/>
          <p:nvPr/>
        </p:nvSpPr>
        <p:spPr>
          <a:xfrm>
            <a:off x="9244584"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Application Insights traces</a:t>
            </a:r>
          </a:p>
        </p:txBody>
      </p:sp>
      <p:cxnSp>
        <p:nvCxnSpPr>
          <p:cNvPr id="48" name="Connector 47"/>
          <p:cNvCxnSpPr/>
          <p:nvPr/>
        </p:nvCxnSpPr>
        <p:spPr>
          <a:xfrm>
            <a:off x="6903720" y="4206240"/>
            <a:ext cx="0" cy="320040"/>
          </a:xfrm>
          <a:prstGeom prst="line">
            <a:avLst/>
          </a:prstGeom>
          <a:ln w="13970">
            <a:solidFill>
              <a:srgbClr val="44495B"/>
            </a:solidFill>
            <a:prstDash val="dash"/>
          </a:ln>
        </p:spPr>
      </p:cxnSp>
      <p:sp>
        <p:nvSpPr>
          <p:cNvPr id="49" name="Oval 48"/>
          <p:cNvSpPr/>
          <p:nvPr/>
        </p:nvSpPr>
        <p:spPr>
          <a:xfrm>
            <a:off x="6798564" y="426567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6</a:t>
            </a:r>
          </a:p>
        </p:txBody>
      </p:sp>
      <p:sp>
        <p:nvSpPr>
          <p:cNvPr id="50" name="Rectangle 49"/>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1" name="TextBox 50"/>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Agent endpoint</a:t>
            </a:r>
          </a:p>
        </p:txBody>
      </p:sp>
      <p:sp>
        <p:nvSpPr>
          <p:cNvPr id="52" name="Rectangle 51"/>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3" name="TextBox 52"/>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Component or service</a:t>
            </a:r>
          </a:p>
        </p:txBody>
      </p:sp>
      <p:sp>
        <p:nvSpPr>
          <p:cNvPr id="54" name="Rectangle 53"/>
          <p:cNvSpPr/>
          <p:nvPr/>
        </p:nvSpPr>
        <p:spPr>
          <a:xfrm>
            <a:off x="3017520" y="5545836"/>
            <a:ext cx="146304" cy="91440"/>
          </a:xfrm>
          <a:prstGeom prst="rect">
            <a:avLst/>
          </a:prstGeom>
          <a:solidFill>
            <a:srgbClr val="EBEFF7"/>
          </a:solidFill>
          <a:ln>
            <a:noFill/>
          </a:ln>
          <a:effectLst/>
        </p:spPr>
        <p:txBody>
          <a:bodyPr wrap="square" rtlCol="0" anchor="ctr"/>
          <a:lstStyle/>
          <a:p>
            <a:endParaRPr/>
          </a:p>
        </p:txBody>
      </p:sp>
      <p:sp>
        <p:nvSpPr>
          <p:cNvPr id="55" name="TextBox 54"/>
          <p:cNvSpPr txBox="1"/>
          <p:nvPr/>
        </p:nvSpPr>
        <p:spPr>
          <a:xfrm>
            <a:off x="323697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tooling</a:t>
            </a:r>
          </a:p>
        </p:txBody>
      </p:sp>
      <p:sp>
        <p:nvSpPr>
          <p:cNvPr id="56" name="Rectangle 55"/>
          <p:cNvSpPr/>
          <p:nvPr/>
        </p:nvSpPr>
        <p:spPr>
          <a:xfrm>
            <a:off x="4297680" y="5545836"/>
            <a:ext cx="146304" cy="91440"/>
          </a:xfrm>
          <a:prstGeom prst="rect">
            <a:avLst/>
          </a:prstGeom>
          <a:solidFill>
            <a:srgbClr val="0B1229"/>
          </a:solidFill>
          <a:ln>
            <a:noFill/>
          </a:ln>
          <a:effectLst/>
        </p:spPr>
        <p:txBody>
          <a:bodyPr wrap="square" rtlCol="0" anchor="ctr"/>
          <a:lstStyle/>
          <a:p>
            <a:endParaRPr/>
          </a:p>
        </p:txBody>
      </p:sp>
      <p:sp>
        <p:nvSpPr>
          <p:cNvPr id="57" name="TextBox 56"/>
          <p:cNvSpPr txBox="1"/>
          <p:nvPr/>
        </p:nvSpPr>
        <p:spPr>
          <a:xfrm>
            <a:off x="45171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Platform layer</a:t>
            </a:r>
          </a:p>
        </p:txBody>
      </p:sp>
      <p:sp>
        <p:nvSpPr>
          <p:cNvPr id="58" name="Rectangle 57"/>
          <p:cNvSpPr/>
          <p:nvPr/>
        </p:nvSpPr>
        <p:spPr>
          <a:xfrm>
            <a:off x="5413248" y="5532120"/>
            <a:ext cx="146304" cy="118872"/>
          </a:xfrm>
          <a:prstGeom prst="rect">
            <a:avLst/>
          </a:prstGeom>
          <a:noFill/>
          <a:ln w="9525">
            <a:solidFill>
              <a:srgbClr val="44495B"/>
            </a:solidFill>
            <a:prstDash val="dash"/>
          </a:ln>
          <a:effectLst/>
        </p:spPr>
        <p:txBody>
          <a:bodyPr wrap="square" rtlCol="0" anchor="ctr"/>
          <a:lstStyle/>
          <a:p>
            <a:endParaRPr/>
          </a:p>
        </p:txBody>
      </p:sp>
      <p:sp>
        <p:nvSpPr>
          <p:cNvPr id="59" name="TextBox 58"/>
          <p:cNvSpPr txBox="1"/>
          <p:nvPr/>
        </p:nvSpPr>
        <p:spPr>
          <a:xfrm>
            <a:off x="563270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Sandbox</a:t>
            </a:r>
          </a:p>
        </p:txBody>
      </p:sp>
      <p:cxnSp>
        <p:nvCxnSpPr>
          <p:cNvPr id="60" name="Connector 59"/>
          <p:cNvCxnSpPr/>
          <p:nvPr/>
        </p:nvCxnSpPr>
        <p:spPr>
          <a:xfrm>
            <a:off x="6144768" y="5591556"/>
            <a:ext cx="164592" cy="0"/>
          </a:xfrm>
          <a:prstGeom prst="line">
            <a:avLst/>
          </a:prstGeom>
          <a:ln w="13970">
            <a:solidFill>
              <a:srgbClr val="44495B"/>
            </a:solidFill>
          </a:ln>
        </p:spPr>
      </p:cxnSp>
      <p:sp>
        <p:nvSpPr>
          <p:cNvPr id="61" name="TextBox 60"/>
          <p:cNvSpPr txBox="1"/>
          <p:nvPr/>
        </p:nvSpPr>
        <p:spPr>
          <a:xfrm>
            <a:off x="6364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 or deploy</a:t>
            </a:r>
          </a:p>
        </p:txBody>
      </p:sp>
      <p:cxnSp>
        <p:nvCxnSpPr>
          <p:cNvPr id="62" name="Connector 61"/>
          <p:cNvCxnSpPr/>
          <p:nvPr/>
        </p:nvCxnSpPr>
        <p:spPr>
          <a:xfrm>
            <a:off x="7424928" y="5591556"/>
            <a:ext cx="164592" cy="0"/>
          </a:xfrm>
          <a:prstGeom prst="line">
            <a:avLst/>
          </a:prstGeom>
          <a:ln w="13970">
            <a:solidFill>
              <a:srgbClr val="44495B"/>
            </a:solidFill>
            <a:prstDash val="dash"/>
          </a:ln>
        </p:spPr>
      </p:cxnSp>
      <p:sp>
        <p:nvSpPr>
          <p:cNvPr id="63" name="TextBox 62"/>
          <p:cNvSpPr txBox="1"/>
          <p:nvPr/>
        </p:nvSpPr>
        <p:spPr>
          <a:xfrm>
            <a:off x="764438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telemetry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Protocols, protocol libraries and tools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layer between agent code and the Foundry runtime, and the way a hosted agent reaches Foundry tools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 · how-to/deploy-hosted-agent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4</a:t>
            </a:r>
          </a:p>
        </p:txBody>
      </p:sp>
      <p:sp>
        <p:nvSpPr>
          <p:cNvPr id="7" name="TextBox 6"/>
          <p:cNvSpPr txBox="1"/>
          <p:nvPr/>
        </p:nvSpPr>
        <p:spPr>
          <a:xfrm>
            <a:off x="457200" y="1353312"/>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PROTOCOLS THE ENDPOINT EXPOSES</a:t>
            </a:r>
          </a:p>
        </p:txBody>
      </p:sp>
      <p:sp>
        <p:nvSpPr>
          <p:cNvPr id="8" name="Rectangle 7"/>
          <p:cNvSpPr/>
          <p:nvPr/>
        </p:nvSpPr>
        <p:spPr>
          <a:xfrm>
            <a:off x="457200" y="1609344"/>
            <a:ext cx="6446520"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687068"/>
            <a:ext cx="142875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Protocol</a:t>
            </a:r>
          </a:p>
        </p:txBody>
      </p:sp>
      <p:sp>
        <p:nvSpPr>
          <p:cNvPr id="10" name="TextBox 9"/>
          <p:cNvSpPr txBox="1"/>
          <p:nvPr/>
        </p:nvSpPr>
        <p:spPr>
          <a:xfrm>
            <a:off x="2196846" y="1687068"/>
            <a:ext cx="220233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Payload</a:t>
            </a:r>
          </a:p>
        </p:txBody>
      </p:sp>
      <p:sp>
        <p:nvSpPr>
          <p:cNvPr id="11" name="TextBox 10"/>
          <p:cNvSpPr txBox="1"/>
          <p:nvPr/>
        </p:nvSpPr>
        <p:spPr>
          <a:xfrm>
            <a:off x="4582058" y="1687068"/>
            <a:ext cx="226679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Used for</a:t>
            </a:r>
          </a:p>
        </p:txBody>
      </p:sp>
      <p:sp>
        <p:nvSpPr>
          <p:cNvPr id="12" name="Rectangle 11"/>
          <p:cNvSpPr/>
          <p:nvPr/>
        </p:nvSpPr>
        <p:spPr>
          <a:xfrm>
            <a:off x="457200" y="1920240"/>
            <a:ext cx="6446520" cy="347472"/>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267712"/>
            <a:ext cx="6446520" cy="0"/>
          </a:xfrm>
          <a:prstGeom prst="line">
            <a:avLst/>
          </a:prstGeom>
          <a:ln w="9525">
            <a:solidFill>
              <a:srgbClr val="E1E7F4"/>
            </a:solidFill>
          </a:ln>
        </p:spPr>
      </p:cxnSp>
      <p:sp>
        <p:nvSpPr>
          <p:cNvPr id="14" name="TextBox 13"/>
          <p:cNvSpPr txBox="1"/>
          <p:nvPr/>
        </p:nvSpPr>
        <p:spPr>
          <a:xfrm>
            <a:off x="585216" y="1970532"/>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Responses</a:t>
            </a:r>
          </a:p>
        </p:txBody>
      </p:sp>
      <p:sp>
        <p:nvSpPr>
          <p:cNvPr id="15" name="TextBox 14"/>
          <p:cNvSpPr txBox="1"/>
          <p:nvPr/>
        </p:nvSpPr>
        <p:spPr>
          <a:xfrm>
            <a:off x="2196846" y="1970532"/>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OpenAI-compatible; platform keeps history</a:t>
            </a:r>
          </a:p>
        </p:txBody>
      </p:sp>
      <p:sp>
        <p:nvSpPr>
          <p:cNvPr id="16" name="TextBox 15"/>
          <p:cNvSpPr txBox="1"/>
          <p:nvPr/>
        </p:nvSpPr>
        <p:spPr>
          <a:xfrm>
            <a:off x="4582058" y="1970532"/>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Chat, RAG, tools, background work</a:t>
            </a:r>
          </a:p>
        </p:txBody>
      </p:sp>
      <p:cxnSp>
        <p:nvCxnSpPr>
          <p:cNvPr id="17" name="Connector 16"/>
          <p:cNvCxnSpPr/>
          <p:nvPr/>
        </p:nvCxnSpPr>
        <p:spPr>
          <a:xfrm>
            <a:off x="457200" y="2615184"/>
            <a:ext cx="6446520" cy="0"/>
          </a:xfrm>
          <a:prstGeom prst="line">
            <a:avLst/>
          </a:prstGeom>
          <a:ln w="9525">
            <a:solidFill>
              <a:srgbClr val="E1E7F4"/>
            </a:solidFill>
          </a:ln>
        </p:spPr>
      </p:cxnSp>
      <p:sp>
        <p:nvSpPr>
          <p:cNvPr id="18" name="TextBox 17"/>
          <p:cNvSpPr txBox="1"/>
          <p:nvPr/>
        </p:nvSpPr>
        <p:spPr>
          <a:xfrm>
            <a:off x="585216" y="2318004"/>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Invocations</a:t>
            </a:r>
          </a:p>
        </p:txBody>
      </p:sp>
      <p:sp>
        <p:nvSpPr>
          <p:cNvPr id="19" name="TextBox 18"/>
          <p:cNvSpPr txBox="1"/>
          <p:nvPr/>
        </p:nvSpPr>
        <p:spPr>
          <a:xfrm>
            <a:off x="2196846" y="2318004"/>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JSON; the agent defines the schema</a:t>
            </a:r>
          </a:p>
        </p:txBody>
      </p:sp>
      <p:sp>
        <p:nvSpPr>
          <p:cNvPr id="20" name="TextBox 19"/>
          <p:cNvSpPr txBox="1"/>
          <p:nvPr/>
        </p:nvSpPr>
        <p:spPr>
          <a:xfrm>
            <a:off x="4582058" y="2318004"/>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Webhooks, extraction, AG-UI, protocol bridges</a:t>
            </a:r>
          </a:p>
        </p:txBody>
      </p:sp>
      <p:sp>
        <p:nvSpPr>
          <p:cNvPr id="21" name="Rectangle 20"/>
          <p:cNvSpPr/>
          <p:nvPr/>
        </p:nvSpPr>
        <p:spPr>
          <a:xfrm>
            <a:off x="457200" y="2615184"/>
            <a:ext cx="6446520" cy="347472"/>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2962656"/>
            <a:ext cx="6446520" cy="0"/>
          </a:xfrm>
          <a:prstGeom prst="line">
            <a:avLst/>
          </a:prstGeom>
          <a:ln w="9525">
            <a:solidFill>
              <a:srgbClr val="E1E7F4"/>
            </a:solidFill>
          </a:ln>
        </p:spPr>
      </p:cxnSp>
      <p:sp>
        <p:nvSpPr>
          <p:cNvPr id="23" name="TextBox 22"/>
          <p:cNvSpPr txBox="1"/>
          <p:nvPr/>
        </p:nvSpPr>
        <p:spPr>
          <a:xfrm>
            <a:off x="585216" y="2665476"/>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Invocations (WebSocket)</a:t>
            </a:r>
          </a:p>
        </p:txBody>
      </p:sp>
      <p:sp>
        <p:nvSpPr>
          <p:cNvPr id="24" name="TextBox 23"/>
          <p:cNvSpPr txBox="1"/>
          <p:nvPr/>
        </p:nvSpPr>
        <p:spPr>
          <a:xfrm>
            <a:off x="2196846" y="2665476"/>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Two-way stream on one connection</a:t>
            </a:r>
          </a:p>
        </p:txBody>
      </p:sp>
      <p:sp>
        <p:nvSpPr>
          <p:cNvPr id="25" name="TextBox 24"/>
          <p:cNvSpPr txBox="1"/>
          <p:nvPr/>
        </p:nvSpPr>
        <p:spPr>
          <a:xfrm>
            <a:off x="4582058" y="2665476"/>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voice with Pipecat, LiveKit or Voice Live</a:t>
            </a:r>
          </a:p>
        </p:txBody>
      </p:sp>
      <p:cxnSp>
        <p:nvCxnSpPr>
          <p:cNvPr id="26" name="Connector 25"/>
          <p:cNvCxnSpPr/>
          <p:nvPr/>
        </p:nvCxnSpPr>
        <p:spPr>
          <a:xfrm>
            <a:off x="457200" y="3310127"/>
            <a:ext cx="6446520" cy="0"/>
          </a:xfrm>
          <a:prstGeom prst="line">
            <a:avLst/>
          </a:prstGeom>
          <a:ln w="9525">
            <a:solidFill>
              <a:srgbClr val="E1E7F4"/>
            </a:solidFill>
          </a:ln>
        </p:spPr>
      </p:cxnSp>
      <p:sp>
        <p:nvSpPr>
          <p:cNvPr id="27" name="TextBox 26"/>
          <p:cNvSpPr txBox="1"/>
          <p:nvPr/>
        </p:nvSpPr>
        <p:spPr>
          <a:xfrm>
            <a:off x="585216" y="3012948"/>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Activity</a:t>
            </a:r>
          </a:p>
        </p:txBody>
      </p:sp>
      <p:sp>
        <p:nvSpPr>
          <p:cNvPr id="28" name="TextBox 27"/>
          <p:cNvSpPr txBox="1"/>
          <p:nvPr/>
        </p:nvSpPr>
        <p:spPr>
          <a:xfrm>
            <a:off x="2196846" y="3012948"/>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Bridged from Responses by the platform</a:t>
            </a:r>
          </a:p>
        </p:txBody>
      </p:sp>
      <p:sp>
        <p:nvSpPr>
          <p:cNvPr id="29" name="TextBox 28"/>
          <p:cNvSpPr txBox="1"/>
          <p:nvPr/>
        </p:nvSpPr>
        <p:spPr>
          <a:xfrm>
            <a:off x="4582058" y="3012948"/>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Teams and Microsoft 365 channels</a:t>
            </a:r>
          </a:p>
        </p:txBody>
      </p:sp>
      <p:sp>
        <p:nvSpPr>
          <p:cNvPr id="30" name="Rectangle 29"/>
          <p:cNvSpPr/>
          <p:nvPr/>
        </p:nvSpPr>
        <p:spPr>
          <a:xfrm>
            <a:off x="457200" y="3310127"/>
            <a:ext cx="6446520" cy="347472"/>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3657599"/>
            <a:ext cx="6446520" cy="0"/>
          </a:xfrm>
          <a:prstGeom prst="line">
            <a:avLst/>
          </a:prstGeom>
          <a:ln w="9525">
            <a:solidFill>
              <a:srgbClr val="E1E7F4"/>
            </a:solidFill>
          </a:ln>
        </p:spPr>
      </p:cxnSp>
      <p:sp>
        <p:nvSpPr>
          <p:cNvPr id="32" name="TextBox 31"/>
          <p:cNvSpPr txBox="1"/>
          <p:nvPr/>
        </p:nvSpPr>
        <p:spPr>
          <a:xfrm>
            <a:off x="585216" y="3360420"/>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a:t>
            </a:r>
          </a:p>
        </p:txBody>
      </p:sp>
      <p:sp>
        <p:nvSpPr>
          <p:cNvPr id="33" name="TextBox 32"/>
          <p:cNvSpPr txBox="1"/>
          <p:nvPr/>
        </p:nvSpPr>
        <p:spPr>
          <a:xfrm>
            <a:off x="2196846" y="3360420"/>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Agent-to-agent messages</a:t>
            </a:r>
          </a:p>
        </p:txBody>
      </p:sp>
      <p:sp>
        <p:nvSpPr>
          <p:cNvPr id="34" name="TextBox 33"/>
          <p:cNvSpPr txBox="1"/>
          <p:nvPr/>
        </p:nvSpPr>
        <p:spPr>
          <a:xfrm>
            <a:off x="4582058" y="3360420"/>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Delegation from other agents; version 0.3*</a:t>
            </a:r>
          </a:p>
        </p:txBody>
      </p:sp>
      <p:cxnSp>
        <p:nvCxnSpPr>
          <p:cNvPr id="35" name="Connector 34"/>
          <p:cNvCxnSpPr/>
          <p:nvPr/>
        </p:nvCxnSpPr>
        <p:spPr>
          <a:xfrm>
            <a:off x="2068830" y="1920240"/>
            <a:ext cx="0" cy="1737359"/>
          </a:xfrm>
          <a:prstGeom prst="line">
            <a:avLst/>
          </a:prstGeom>
          <a:ln w="9525">
            <a:solidFill>
              <a:srgbClr val="E1E7F4"/>
            </a:solidFill>
          </a:ln>
        </p:spPr>
      </p:cxnSp>
      <p:cxnSp>
        <p:nvCxnSpPr>
          <p:cNvPr id="36" name="Connector 35"/>
          <p:cNvCxnSpPr/>
          <p:nvPr/>
        </p:nvCxnSpPr>
        <p:spPr>
          <a:xfrm>
            <a:off x="4454042" y="1920240"/>
            <a:ext cx="0" cy="1737359"/>
          </a:xfrm>
          <a:prstGeom prst="line">
            <a:avLst/>
          </a:prstGeom>
          <a:ln w="9525">
            <a:solidFill>
              <a:srgbClr val="E1E7F4"/>
            </a:solidFill>
          </a:ln>
        </p:spPr>
      </p:cxnSp>
      <p:sp>
        <p:nvSpPr>
          <p:cNvPr id="37" name="TextBox 36"/>
          <p:cNvSpPr txBox="1"/>
          <p:nvPr/>
        </p:nvSpPr>
        <p:spPr>
          <a:xfrm>
            <a:off x="457200" y="3803903"/>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 LIBRARIES — SERVER, HEALTH CHECKS, TELEMETRY</a:t>
            </a:r>
          </a:p>
        </p:txBody>
      </p:sp>
      <p:sp>
        <p:nvSpPr>
          <p:cNvPr id="38" name="Rectangle 37"/>
          <p:cNvSpPr/>
          <p:nvPr/>
        </p:nvSpPr>
        <p:spPr>
          <a:xfrm>
            <a:off x="457200" y="4041648"/>
            <a:ext cx="6446520" cy="310896"/>
          </a:xfrm>
          <a:prstGeom prst="rect">
            <a:avLst/>
          </a:prstGeom>
          <a:solidFill>
            <a:srgbClr val="101A3C"/>
          </a:solidFill>
          <a:ln>
            <a:noFill/>
          </a:ln>
          <a:effectLst/>
        </p:spPr>
        <p:txBody>
          <a:bodyPr wrap="square" rtlCol="0" anchor="ctr"/>
          <a:lstStyle/>
          <a:p>
            <a:endParaRPr/>
          </a:p>
        </p:txBody>
      </p:sp>
      <p:sp>
        <p:nvSpPr>
          <p:cNvPr id="39" name="TextBox 38"/>
          <p:cNvSpPr txBox="1"/>
          <p:nvPr/>
        </p:nvSpPr>
        <p:spPr>
          <a:xfrm>
            <a:off x="585216" y="4119372"/>
            <a:ext cx="84856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Language</a:t>
            </a:r>
          </a:p>
        </p:txBody>
      </p:sp>
      <p:sp>
        <p:nvSpPr>
          <p:cNvPr id="40" name="TextBox 39"/>
          <p:cNvSpPr txBox="1"/>
          <p:nvPr/>
        </p:nvSpPr>
        <p:spPr>
          <a:xfrm>
            <a:off x="1616659" y="4119372"/>
            <a:ext cx="252465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Responses protocol</a:t>
            </a:r>
          </a:p>
        </p:txBody>
      </p:sp>
      <p:sp>
        <p:nvSpPr>
          <p:cNvPr id="41" name="TextBox 40"/>
          <p:cNvSpPr txBox="1"/>
          <p:nvPr/>
        </p:nvSpPr>
        <p:spPr>
          <a:xfrm>
            <a:off x="4324197" y="4119372"/>
            <a:ext cx="252465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Invocations protocols</a:t>
            </a:r>
          </a:p>
        </p:txBody>
      </p:sp>
      <p:sp>
        <p:nvSpPr>
          <p:cNvPr id="42" name="Rectangle 41"/>
          <p:cNvSpPr/>
          <p:nvPr/>
        </p:nvSpPr>
        <p:spPr>
          <a:xfrm>
            <a:off x="457200" y="4352544"/>
            <a:ext cx="6446520" cy="292608"/>
          </a:xfrm>
          <a:prstGeom prst="rect">
            <a:avLst/>
          </a:prstGeom>
          <a:solidFill>
            <a:srgbClr val="F6F8FD"/>
          </a:solidFill>
          <a:ln>
            <a:noFill/>
          </a:ln>
          <a:effectLst/>
        </p:spPr>
        <p:txBody>
          <a:bodyPr wrap="square" rtlCol="0" anchor="ctr"/>
          <a:lstStyle/>
          <a:p>
            <a:endParaRPr/>
          </a:p>
        </p:txBody>
      </p:sp>
      <p:cxnSp>
        <p:nvCxnSpPr>
          <p:cNvPr id="43" name="Connector 42"/>
          <p:cNvCxnSpPr/>
          <p:nvPr/>
        </p:nvCxnSpPr>
        <p:spPr>
          <a:xfrm>
            <a:off x="457200" y="4645152"/>
            <a:ext cx="6446520" cy="0"/>
          </a:xfrm>
          <a:prstGeom prst="line">
            <a:avLst/>
          </a:prstGeom>
          <a:ln w="9525">
            <a:solidFill>
              <a:srgbClr val="E1E7F4"/>
            </a:solidFill>
          </a:ln>
        </p:spPr>
      </p:cxnSp>
      <p:sp>
        <p:nvSpPr>
          <p:cNvPr id="44" name="TextBox 43"/>
          <p:cNvSpPr txBox="1"/>
          <p:nvPr/>
        </p:nvSpPr>
        <p:spPr>
          <a:xfrm>
            <a:off x="585216" y="4402836"/>
            <a:ext cx="811987" cy="210312"/>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Python</a:t>
            </a:r>
          </a:p>
        </p:txBody>
      </p:sp>
      <p:sp>
        <p:nvSpPr>
          <p:cNvPr id="45" name="TextBox 44"/>
          <p:cNvSpPr txBox="1"/>
          <p:nvPr/>
        </p:nvSpPr>
        <p:spPr>
          <a:xfrm>
            <a:off x="1616659" y="4402836"/>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azure-ai-agentserver-responses</a:t>
            </a:r>
          </a:p>
        </p:txBody>
      </p:sp>
      <p:sp>
        <p:nvSpPr>
          <p:cNvPr id="46" name="TextBox 45"/>
          <p:cNvSpPr txBox="1"/>
          <p:nvPr/>
        </p:nvSpPr>
        <p:spPr>
          <a:xfrm>
            <a:off x="4324197" y="4402836"/>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azure-ai-agentserver-invocations</a:t>
            </a:r>
          </a:p>
        </p:txBody>
      </p:sp>
      <p:cxnSp>
        <p:nvCxnSpPr>
          <p:cNvPr id="47" name="Connector 46"/>
          <p:cNvCxnSpPr/>
          <p:nvPr/>
        </p:nvCxnSpPr>
        <p:spPr>
          <a:xfrm>
            <a:off x="457200" y="4937760"/>
            <a:ext cx="6446520" cy="0"/>
          </a:xfrm>
          <a:prstGeom prst="line">
            <a:avLst/>
          </a:prstGeom>
          <a:ln w="9525">
            <a:solidFill>
              <a:srgbClr val="E1E7F4"/>
            </a:solidFill>
          </a:ln>
        </p:spPr>
      </p:cxnSp>
      <p:sp>
        <p:nvSpPr>
          <p:cNvPr id="48" name="TextBox 47"/>
          <p:cNvSpPr txBox="1"/>
          <p:nvPr/>
        </p:nvSpPr>
        <p:spPr>
          <a:xfrm>
            <a:off x="585216" y="4695444"/>
            <a:ext cx="811987" cy="210312"/>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.NET</a:t>
            </a:r>
          </a:p>
        </p:txBody>
      </p:sp>
      <p:sp>
        <p:nvSpPr>
          <p:cNvPr id="49" name="TextBox 48"/>
          <p:cNvSpPr txBox="1"/>
          <p:nvPr/>
        </p:nvSpPr>
        <p:spPr>
          <a:xfrm>
            <a:off x="1616659" y="4695444"/>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Azure.AI.AgentServer.Responses</a:t>
            </a:r>
          </a:p>
        </p:txBody>
      </p:sp>
      <p:sp>
        <p:nvSpPr>
          <p:cNvPr id="50" name="TextBox 49"/>
          <p:cNvSpPr txBox="1"/>
          <p:nvPr/>
        </p:nvSpPr>
        <p:spPr>
          <a:xfrm>
            <a:off x="4324197" y="4695444"/>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Azure.AI.AgentServer.Invocations</a:t>
            </a:r>
          </a:p>
        </p:txBody>
      </p:sp>
      <p:cxnSp>
        <p:nvCxnSpPr>
          <p:cNvPr id="51" name="Connector 50"/>
          <p:cNvCxnSpPr/>
          <p:nvPr/>
        </p:nvCxnSpPr>
        <p:spPr>
          <a:xfrm>
            <a:off x="1488643" y="4352544"/>
            <a:ext cx="0" cy="585216"/>
          </a:xfrm>
          <a:prstGeom prst="line">
            <a:avLst/>
          </a:prstGeom>
          <a:ln w="9525">
            <a:solidFill>
              <a:srgbClr val="E1E7F4"/>
            </a:solidFill>
          </a:ln>
        </p:spPr>
      </p:cxnSp>
      <p:cxnSp>
        <p:nvCxnSpPr>
          <p:cNvPr id="52" name="Connector 51"/>
          <p:cNvCxnSpPr/>
          <p:nvPr/>
        </p:nvCxnSpPr>
        <p:spPr>
          <a:xfrm>
            <a:off x="4196181" y="4352544"/>
            <a:ext cx="0" cy="585216"/>
          </a:xfrm>
          <a:prstGeom prst="line">
            <a:avLst/>
          </a:prstGeom>
          <a:ln w="9525">
            <a:solidFill>
              <a:srgbClr val="E1E7F4"/>
            </a:solidFill>
          </a:ln>
        </p:spPr>
      </p:cxnSp>
      <p:sp>
        <p:nvSpPr>
          <p:cNvPr id="53" name="TextBox 52"/>
          <p:cNvSpPr txBox="1"/>
          <p:nvPr/>
        </p:nvSpPr>
        <p:spPr>
          <a:xfrm>
            <a:off x="457200" y="5084064"/>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AGENT FRAMEWORKS — PYTHON OR C#</a:t>
            </a:r>
          </a:p>
        </p:txBody>
      </p:sp>
      <p:sp>
        <p:nvSpPr>
          <p:cNvPr id="54" name="Rectangle 53"/>
          <p:cNvSpPr/>
          <p:nvPr/>
        </p:nvSpPr>
        <p:spPr>
          <a:xfrm>
            <a:off x="457200"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Agent Framework</a:t>
            </a:r>
          </a:p>
        </p:txBody>
      </p:sp>
      <p:sp>
        <p:nvSpPr>
          <p:cNvPr id="55" name="Rectangle 54"/>
          <p:cNvSpPr/>
          <p:nvPr/>
        </p:nvSpPr>
        <p:spPr>
          <a:xfrm>
            <a:off x="1543812"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LangGraph</a:t>
            </a:r>
          </a:p>
        </p:txBody>
      </p:sp>
      <p:sp>
        <p:nvSpPr>
          <p:cNvPr id="56" name="Rectangle 55"/>
          <p:cNvSpPr/>
          <p:nvPr/>
        </p:nvSpPr>
        <p:spPr>
          <a:xfrm>
            <a:off x="2630424"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OpenAI Agents SDK</a:t>
            </a:r>
          </a:p>
        </p:txBody>
      </p:sp>
      <p:sp>
        <p:nvSpPr>
          <p:cNvPr id="57" name="Rectangle 56"/>
          <p:cNvSpPr/>
          <p:nvPr/>
        </p:nvSpPr>
        <p:spPr>
          <a:xfrm>
            <a:off x="3717035"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Anthropic Agent SDK</a:t>
            </a:r>
          </a:p>
        </p:txBody>
      </p:sp>
      <p:sp>
        <p:nvSpPr>
          <p:cNvPr id="58" name="Rectangle 57"/>
          <p:cNvSpPr/>
          <p:nvPr/>
        </p:nvSpPr>
        <p:spPr>
          <a:xfrm>
            <a:off x="4803648"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GitHub Copilot SDK</a:t>
            </a:r>
          </a:p>
        </p:txBody>
      </p:sp>
      <p:sp>
        <p:nvSpPr>
          <p:cNvPr id="59" name="Rectangle 58"/>
          <p:cNvSpPr/>
          <p:nvPr/>
        </p:nvSpPr>
        <p:spPr>
          <a:xfrm>
            <a:off x="5890260"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Custom code</a:t>
            </a:r>
          </a:p>
        </p:txBody>
      </p:sp>
      <p:sp>
        <p:nvSpPr>
          <p:cNvPr id="60" name="Rectangle 59"/>
          <p:cNvSpPr/>
          <p:nvPr/>
        </p:nvSpPr>
        <p:spPr>
          <a:xfrm>
            <a:off x="7178040" y="1353312"/>
            <a:ext cx="4556455" cy="1325880"/>
          </a:xfrm>
          <a:prstGeom prst="rect">
            <a:avLst/>
          </a:prstGeom>
          <a:solidFill>
            <a:srgbClr val="0B1229"/>
          </a:solidFill>
          <a:ln>
            <a:noFill/>
          </a:ln>
          <a:effectLst/>
        </p:spPr>
        <p:txBody>
          <a:bodyPr wrap="square" rtlCol="0" anchor="ctr"/>
          <a:lstStyle/>
          <a:p>
            <a:endParaRPr/>
          </a:p>
        </p:txBody>
      </p:sp>
      <p:sp>
        <p:nvSpPr>
          <p:cNvPr id="61" name="TextBox 60"/>
          <p:cNvSpPr txBox="1"/>
          <p:nvPr/>
        </p:nvSpPr>
        <p:spPr>
          <a:xfrm>
            <a:off x="7397496" y="1499616"/>
            <a:ext cx="4117543"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 AGENT FRAMEWORK ENTRY POINT (ILLUSTRATIVE)</a:t>
            </a:r>
          </a:p>
        </p:txBody>
      </p:sp>
      <p:sp>
        <p:nvSpPr>
          <p:cNvPr id="62" name="TextBox 61"/>
          <p:cNvSpPr txBox="1"/>
          <p:nvPr/>
        </p:nvSpPr>
        <p:spPr>
          <a:xfrm>
            <a:off x="7397496" y="1737360"/>
            <a:ext cx="4117543" cy="813816"/>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from agent_framework_foundry_hosting import ResponsesHostServer</a:t>
            </a:r>
          </a:p>
          <a:p>
            <a:pPr algn="l">
              <a:lnSpc>
                <a:spcPct val="128000"/>
              </a:lnSpc>
            </a:pPr>
            <a:endParaRPr sz="750" b="0" i="0" dirty="0">
              <a:solidFill>
                <a:srgbClr val="D6DEEE"/>
              </a:solidFill>
              <a:latin typeface="Consolas"/>
              <a:cs typeface="Consolas"/>
            </a:endParaRPr>
          </a:p>
          <a:p>
            <a:pPr algn="l">
              <a:lnSpc>
                <a:spcPct val="128000"/>
              </a:lnSpc>
            </a:pPr>
            <a:r>
              <a:rPr sz="750" b="0" i="0" dirty="0">
                <a:solidFill>
                  <a:srgbClr val="D6DEEE"/>
                </a:solidFill>
                <a:latin typeface="Consolas"/>
                <a:cs typeface="Consolas"/>
              </a:rPr>
              <a:t>agent = ...          # built with Agent Framework</a:t>
            </a:r>
          </a:p>
          <a:p>
            <a:pPr algn="l">
              <a:lnSpc>
                <a:spcPct val="128000"/>
              </a:lnSpc>
            </a:pPr>
            <a:r>
              <a:rPr sz="750" b="0" i="0" dirty="0">
                <a:solidFill>
                  <a:srgbClr val="D6DEEE"/>
                </a:solidFill>
                <a:latin typeface="Consolas"/>
                <a:cs typeface="Consolas"/>
              </a:rPr>
              <a:t>server = ResponsesHostServer(agent)</a:t>
            </a:r>
          </a:p>
          <a:p>
            <a:pPr algn="l">
              <a:lnSpc>
                <a:spcPct val="128000"/>
              </a:lnSpc>
            </a:pPr>
            <a:r>
              <a:rPr sz="750" b="0" i="0" dirty="0">
                <a:solidFill>
                  <a:srgbClr val="D6DEEE"/>
                </a:solidFill>
                <a:latin typeface="Consolas"/>
                <a:cs typeface="Consolas"/>
              </a:rPr>
              <a:t>server.run()         # serves the Responses protocol</a:t>
            </a:r>
          </a:p>
        </p:txBody>
      </p:sp>
      <p:sp>
        <p:nvSpPr>
          <p:cNvPr id="63" name="Rectangle 62"/>
          <p:cNvSpPr/>
          <p:nvPr/>
        </p:nvSpPr>
        <p:spPr>
          <a:xfrm>
            <a:off x="7178040" y="2816352"/>
            <a:ext cx="4556455" cy="2487168"/>
          </a:xfrm>
          <a:prstGeom prst="rect">
            <a:avLst/>
          </a:prstGeom>
          <a:solidFill>
            <a:srgbClr val="F6F8FD"/>
          </a:solidFill>
          <a:ln w="9525">
            <a:solidFill>
              <a:srgbClr val="E1E7F4"/>
            </a:solidFill>
          </a:ln>
          <a:effectLst/>
        </p:spPr>
        <p:txBody>
          <a:bodyPr wrap="square" rtlCol="0" anchor="ctr"/>
          <a:lstStyle/>
          <a:p>
            <a:endParaRPr/>
          </a:p>
        </p:txBody>
      </p:sp>
      <p:sp>
        <p:nvSpPr>
          <p:cNvPr id="64" name="Rectangle 63"/>
          <p:cNvSpPr/>
          <p:nvPr/>
        </p:nvSpPr>
        <p:spPr>
          <a:xfrm>
            <a:off x="7178040" y="2816352"/>
            <a:ext cx="4556455" cy="41148"/>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7324344" y="2926080"/>
            <a:ext cx="4282135"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Tools through the Toolbox MCP endpoint</a:t>
            </a:r>
          </a:p>
        </p:txBody>
      </p:sp>
      <p:sp>
        <p:nvSpPr>
          <p:cNvPr id="66" name="Rectangle 65"/>
          <p:cNvSpPr/>
          <p:nvPr/>
        </p:nvSpPr>
        <p:spPr>
          <a:xfrm>
            <a:off x="7324344"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Code Interpreter</a:t>
            </a:r>
          </a:p>
        </p:txBody>
      </p:sp>
      <p:sp>
        <p:nvSpPr>
          <p:cNvPr id="67" name="Rectangle 66"/>
          <p:cNvSpPr/>
          <p:nvPr/>
        </p:nvSpPr>
        <p:spPr>
          <a:xfrm>
            <a:off x="840859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Web Search</a:t>
            </a:r>
          </a:p>
        </p:txBody>
      </p:sp>
      <p:sp>
        <p:nvSpPr>
          <p:cNvPr id="68" name="Rectangle 67"/>
          <p:cNvSpPr/>
          <p:nvPr/>
        </p:nvSpPr>
        <p:spPr>
          <a:xfrm>
            <a:off x="949284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Azure AI Search</a:t>
            </a:r>
          </a:p>
        </p:txBody>
      </p:sp>
      <p:sp>
        <p:nvSpPr>
          <p:cNvPr id="69" name="Rectangle 68"/>
          <p:cNvSpPr/>
          <p:nvPr/>
        </p:nvSpPr>
        <p:spPr>
          <a:xfrm>
            <a:off x="1057709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OpenAPI</a:t>
            </a:r>
          </a:p>
        </p:txBody>
      </p:sp>
      <p:sp>
        <p:nvSpPr>
          <p:cNvPr id="70" name="Rectangle 69"/>
          <p:cNvSpPr/>
          <p:nvPr/>
        </p:nvSpPr>
        <p:spPr>
          <a:xfrm>
            <a:off x="7324344"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MCP</a:t>
            </a:r>
          </a:p>
        </p:txBody>
      </p:sp>
      <p:sp>
        <p:nvSpPr>
          <p:cNvPr id="71" name="Rectangle 70"/>
          <p:cNvSpPr/>
          <p:nvPr/>
        </p:nvSpPr>
        <p:spPr>
          <a:xfrm>
            <a:off x="8408593"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A2A</a:t>
            </a:r>
          </a:p>
        </p:txBody>
      </p:sp>
      <p:sp>
        <p:nvSpPr>
          <p:cNvPr id="72" name="Rectangle 71"/>
          <p:cNvSpPr/>
          <p:nvPr/>
        </p:nvSpPr>
        <p:spPr>
          <a:xfrm>
            <a:off x="9492843"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Skills</a:t>
            </a:r>
          </a:p>
        </p:txBody>
      </p:sp>
      <p:sp>
        <p:nvSpPr>
          <p:cNvPr id="73" name="Rectangle 72"/>
          <p:cNvSpPr/>
          <p:nvPr/>
        </p:nvSpPr>
        <p:spPr>
          <a:xfrm>
            <a:off x="7324344" y="3913632"/>
            <a:ext cx="4263847" cy="310896"/>
          </a:xfrm>
          <a:prstGeom prst="rect">
            <a:avLst/>
          </a:prstGeom>
          <a:solidFill>
            <a:srgbClr val="101A3C"/>
          </a:solidFill>
          <a:ln>
            <a:noFill/>
          </a:ln>
          <a:effectLst/>
        </p:spPr>
        <p:txBody>
          <a:bodyPr wrap="square" rtlCol="0" anchor="ctr"/>
          <a:lstStyle/>
          <a:p>
            <a:endParaRPr/>
          </a:p>
        </p:txBody>
      </p:sp>
      <p:sp>
        <p:nvSpPr>
          <p:cNvPr id="74" name="TextBox 73"/>
          <p:cNvSpPr txBox="1"/>
          <p:nvPr/>
        </p:nvSpPr>
        <p:spPr>
          <a:xfrm>
            <a:off x="7452360" y="3991356"/>
            <a:ext cx="194904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Framework</a:t>
            </a:r>
          </a:p>
        </p:txBody>
      </p:sp>
      <p:sp>
        <p:nvSpPr>
          <p:cNvPr id="75" name="TextBox 74"/>
          <p:cNvSpPr txBox="1"/>
          <p:nvPr/>
        </p:nvSpPr>
        <p:spPr>
          <a:xfrm>
            <a:off x="9584283" y="3991356"/>
            <a:ext cx="194904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Connects with</a:t>
            </a:r>
          </a:p>
        </p:txBody>
      </p:sp>
      <p:sp>
        <p:nvSpPr>
          <p:cNvPr id="76" name="Rectangle 75"/>
          <p:cNvSpPr/>
          <p:nvPr/>
        </p:nvSpPr>
        <p:spPr>
          <a:xfrm>
            <a:off x="7324344" y="4224528"/>
            <a:ext cx="4263847" cy="256032"/>
          </a:xfrm>
          <a:prstGeom prst="rect">
            <a:avLst/>
          </a:prstGeom>
          <a:solidFill>
            <a:srgbClr val="F6F8FD"/>
          </a:solidFill>
          <a:ln>
            <a:noFill/>
          </a:ln>
          <a:effectLst/>
        </p:spPr>
        <p:txBody>
          <a:bodyPr wrap="square" rtlCol="0" anchor="ctr"/>
          <a:lstStyle/>
          <a:p>
            <a:endParaRPr/>
          </a:p>
        </p:txBody>
      </p:sp>
      <p:cxnSp>
        <p:nvCxnSpPr>
          <p:cNvPr id="77" name="Connector 76"/>
          <p:cNvCxnSpPr/>
          <p:nvPr/>
        </p:nvCxnSpPr>
        <p:spPr>
          <a:xfrm>
            <a:off x="7324344" y="4480560"/>
            <a:ext cx="4263847" cy="0"/>
          </a:xfrm>
          <a:prstGeom prst="line">
            <a:avLst/>
          </a:prstGeom>
          <a:ln w="9525">
            <a:solidFill>
              <a:srgbClr val="E1E7F4"/>
            </a:solidFill>
          </a:ln>
        </p:spPr>
      </p:cxnSp>
      <p:sp>
        <p:nvSpPr>
          <p:cNvPr id="78" name="TextBox 77"/>
          <p:cNvSpPr txBox="1"/>
          <p:nvPr/>
        </p:nvSpPr>
        <p:spPr>
          <a:xfrm>
            <a:off x="7452360" y="4274820"/>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Agent Framework, Python</a:t>
            </a:r>
          </a:p>
        </p:txBody>
      </p:sp>
      <p:sp>
        <p:nvSpPr>
          <p:cNvPr id="79" name="TextBox 78"/>
          <p:cNvSpPr txBox="1"/>
          <p:nvPr/>
        </p:nvSpPr>
        <p:spPr>
          <a:xfrm>
            <a:off x="9584283" y="4274820"/>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FoundryToolbox</a:t>
            </a:r>
          </a:p>
        </p:txBody>
      </p:sp>
      <p:cxnSp>
        <p:nvCxnSpPr>
          <p:cNvPr id="80" name="Connector 79"/>
          <p:cNvCxnSpPr/>
          <p:nvPr/>
        </p:nvCxnSpPr>
        <p:spPr>
          <a:xfrm>
            <a:off x="7324344" y="4736592"/>
            <a:ext cx="4263847" cy="0"/>
          </a:xfrm>
          <a:prstGeom prst="line">
            <a:avLst/>
          </a:prstGeom>
          <a:ln w="9525">
            <a:solidFill>
              <a:srgbClr val="E1E7F4"/>
            </a:solidFill>
          </a:ln>
        </p:spPr>
      </p:cxnSp>
      <p:sp>
        <p:nvSpPr>
          <p:cNvPr id="81" name="TextBox 80"/>
          <p:cNvSpPr txBox="1"/>
          <p:nvPr/>
        </p:nvSpPr>
        <p:spPr>
          <a:xfrm>
            <a:off x="7452360" y="4530852"/>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Agent Framework, .NET</a:t>
            </a:r>
          </a:p>
        </p:txBody>
      </p:sp>
      <p:sp>
        <p:nvSpPr>
          <p:cNvPr id="82" name="TextBox 81"/>
          <p:cNvSpPr txBox="1"/>
          <p:nvPr/>
        </p:nvSpPr>
        <p:spPr>
          <a:xfrm>
            <a:off x="9584283" y="4530852"/>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AddFoundryToolboxes</a:t>
            </a:r>
          </a:p>
        </p:txBody>
      </p:sp>
      <p:sp>
        <p:nvSpPr>
          <p:cNvPr id="83" name="Rectangle 82"/>
          <p:cNvSpPr/>
          <p:nvPr/>
        </p:nvSpPr>
        <p:spPr>
          <a:xfrm>
            <a:off x="7324344" y="4736592"/>
            <a:ext cx="4263847" cy="256032"/>
          </a:xfrm>
          <a:prstGeom prst="rect">
            <a:avLst/>
          </a:prstGeom>
          <a:solidFill>
            <a:srgbClr val="F6F8FD"/>
          </a:solidFill>
          <a:ln>
            <a:noFill/>
          </a:ln>
          <a:effectLst/>
        </p:spPr>
        <p:txBody>
          <a:bodyPr wrap="square" rtlCol="0" anchor="ctr"/>
          <a:lstStyle/>
          <a:p>
            <a:endParaRPr/>
          </a:p>
        </p:txBody>
      </p:sp>
      <p:cxnSp>
        <p:nvCxnSpPr>
          <p:cNvPr id="84" name="Connector 83"/>
          <p:cNvCxnSpPr/>
          <p:nvPr/>
        </p:nvCxnSpPr>
        <p:spPr>
          <a:xfrm>
            <a:off x="7324344" y="4992624"/>
            <a:ext cx="4263847" cy="0"/>
          </a:xfrm>
          <a:prstGeom prst="line">
            <a:avLst/>
          </a:prstGeom>
          <a:ln w="9525">
            <a:solidFill>
              <a:srgbClr val="E1E7F4"/>
            </a:solidFill>
          </a:ln>
        </p:spPr>
      </p:cxnSp>
      <p:sp>
        <p:nvSpPr>
          <p:cNvPr id="85" name="TextBox 84"/>
          <p:cNvSpPr txBox="1"/>
          <p:nvPr/>
        </p:nvSpPr>
        <p:spPr>
          <a:xfrm>
            <a:off x="7452360" y="4786884"/>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Other frameworks</a:t>
            </a:r>
          </a:p>
        </p:txBody>
      </p:sp>
      <p:sp>
        <p:nvSpPr>
          <p:cNvPr id="86" name="TextBox 85"/>
          <p:cNvSpPr txBox="1"/>
          <p:nvPr/>
        </p:nvSpPr>
        <p:spPr>
          <a:xfrm>
            <a:off x="9584283" y="4786884"/>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Any standard MCP client</a:t>
            </a:r>
          </a:p>
        </p:txBody>
      </p:sp>
      <p:cxnSp>
        <p:nvCxnSpPr>
          <p:cNvPr id="87" name="Connector 86"/>
          <p:cNvCxnSpPr/>
          <p:nvPr/>
        </p:nvCxnSpPr>
        <p:spPr>
          <a:xfrm>
            <a:off x="9456267" y="4224528"/>
            <a:ext cx="0" cy="768096"/>
          </a:xfrm>
          <a:prstGeom prst="line">
            <a:avLst/>
          </a:prstGeom>
          <a:ln w="9525">
            <a:solidFill>
              <a:srgbClr val="E1E7F4"/>
            </a:solidFill>
          </a:ln>
        </p:spPr>
      </p:cxnSp>
      <p:sp>
        <p:nvSpPr>
          <p:cNvPr id="88" name="TextBox 87"/>
          <p:cNvSpPr txBox="1"/>
          <p:nvPr/>
        </p:nvSpPr>
        <p:spPr>
          <a:xfrm>
            <a:off x="7324344" y="5047488"/>
            <a:ext cx="4263847"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Authentication is set once in the toolbox: identity passthrough, agent identity or keys.</a:t>
            </a:r>
          </a:p>
        </p:txBody>
      </p:sp>
      <p:sp>
        <p:nvSpPr>
          <p:cNvPr id="89" name="TextBox 88"/>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RUNNING AT SCALE</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Deployment, sizing and cost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How a version is deployed, how one session is sized, and what drives the bill</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 · concepts/limits-quotas-regions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5</a:t>
            </a:r>
          </a:p>
        </p:txBody>
      </p:sp>
      <p:sp>
        <p:nvSpPr>
          <p:cNvPr id="7" name="Rectangle 6"/>
          <p:cNvSpPr/>
          <p:nvPr/>
        </p:nvSpPr>
        <p:spPr>
          <a:xfrm>
            <a:off x="457200"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53312"/>
            <a:ext cx="3624986"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03504"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1</a:t>
            </a:r>
          </a:p>
        </p:txBody>
      </p:sp>
      <p:sp>
        <p:nvSpPr>
          <p:cNvPr id="10" name="TextBox 9"/>
          <p:cNvSpPr txBox="1"/>
          <p:nvPr/>
        </p:nvSpPr>
        <p:spPr>
          <a:xfrm>
            <a:off x="969264"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Deployment routes</a:t>
            </a:r>
          </a:p>
        </p:txBody>
      </p:sp>
      <p:sp>
        <p:nvSpPr>
          <p:cNvPr id="11" name="TextBox 10"/>
          <p:cNvSpPr txBox="1"/>
          <p:nvPr/>
        </p:nvSpPr>
        <p:spPr>
          <a:xfrm>
            <a:off x="603504"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azd</a:t>
            </a:r>
          </a:p>
        </p:txBody>
      </p:sp>
      <p:sp>
        <p:nvSpPr>
          <p:cNvPr id="12" name="TextBox 11"/>
          <p:cNvSpPr txBox="1"/>
          <p:nvPr/>
        </p:nvSpPr>
        <p:spPr>
          <a:xfrm>
            <a:off x="1503246"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azd ai agent init, then azd provision and azd deploy</a:t>
            </a:r>
          </a:p>
        </p:txBody>
      </p:sp>
      <p:cxnSp>
        <p:nvCxnSpPr>
          <p:cNvPr id="13" name="Connector 12"/>
          <p:cNvCxnSpPr/>
          <p:nvPr/>
        </p:nvCxnSpPr>
        <p:spPr>
          <a:xfrm>
            <a:off x="603504" y="2395728"/>
            <a:ext cx="3332378" cy="0"/>
          </a:xfrm>
          <a:prstGeom prst="line">
            <a:avLst/>
          </a:prstGeom>
          <a:ln w="9525">
            <a:solidFill>
              <a:srgbClr val="E1E7F4"/>
            </a:solidFill>
          </a:ln>
        </p:spPr>
      </p:cxnSp>
      <p:sp>
        <p:nvSpPr>
          <p:cNvPr id="14" name="TextBox 13"/>
          <p:cNvSpPr txBox="1"/>
          <p:nvPr/>
        </p:nvSpPr>
        <p:spPr>
          <a:xfrm>
            <a:off x="603504"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VS Code</a:t>
            </a:r>
          </a:p>
        </p:txBody>
      </p:sp>
      <p:sp>
        <p:nvSpPr>
          <p:cNvPr id="15" name="TextBox 14"/>
          <p:cNvSpPr txBox="1"/>
          <p:nvPr/>
        </p:nvSpPr>
        <p:spPr>
          <a:xfrm>
            <a:off x="1503246"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Foundry Toolkit builds, pushes and deploys</a:t>
            </a:r>
          </a:p>
        </p:txBody>
      </p:sp>
      <p:cxnSp>
        <p:nvCxnSpPr>
          <p:cNvPr id="16" name="Connector 15"/>
          <p:cNvCxnSpPr/>
          <p:nvPr/>
        </p:nvCxnSpPr>
        <p:spPr>
          <a:xfrm>
            <a:off x="603504" y="2926080"/>
            <a:ext cx="3332378" cy="0"/>
          </a:xfrm>
          <a:prstGeom prst="line">
            <a:avLst/>
          </a:prstGeom>
          <a:ln w="9525">
            <a:solidFill>
              <a:srgbClr val="E1E7F4"/>
            </a:solidFill>
          </a:ln>
        </p:spPr>
      </p:cxnSp>
      <p:sp>
        <p:nvSpPr>
          <p:cNvPr id="17" name="TextBox 16"/>
          <p:cNvSpPr txBox="1"/>
          <p:nvPr/>
        </p:nvSpPr>
        <p:spPr>
          <a:xfrm>
            <a:off x="603504"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SDK and REST</a:t>
            </a:r>
          </a:p>
        </p:txBody>
      </p:sp>
      <p:sp>
        <p:nvSpPr>
          <p:cNvPr id="18" name="TextBox 17"/>
          <p:cNvSpPr txBox="1"/>
          <p:nvPr/>
        </p:nvSpPr>
        <p:spPr>
          <a:xfrm>
            <a:off x="1503246"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create_version with a hosted agent definition</a:t>
            </a:r>
          </a:p>
        </p:txBody>
      </p:sp>
      <p:cxnSp>
        <p:nvCxnSpPr>
          <p:cNvPr id="19" name="Connector 18"/>
          <p:cNvCxnSpPr/>
          <p:nvPr/>
        </p:nvCxnSpPr>
        <p:spPr>
          <a:xfrm>
            <a:off x="603504" y="3456432"/>
            <a:ext cx="3332378" cy="0"/>
          </a:xfrm>
          <a:prstGeom prst="line">
            <a:avLst/>
          </a:prstGeom>
          <a:ln w="9525">
            <a:solidFill>
              <a:srgbClr val="E1E7F4"/>
            </a:solidFill>
          </a:ln>
        </p:spPr>
      </p:cxnSp>
      <p:sp>
        <p:nvSpPr>
          <p:cNvPr id="20" name="TextBox 19"/>
          <p:cNvSpPr txBox="1"/>
          <p:nvPr/>
        </p:nvSpPr>
        <p:spPr>
          <a:xfrm>
            <a:off x="603504"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Also</a:t>
            </a:r>
          </a:p>
        </p:txBody>
      </p:sp>
      <p:sp>
        <p:nvSpPr>
          <p:cNvPr id="21" name="TextBox 20"/>
          <p:cNvSpPr txBox="1"/>
          <p:nvPr/>
        </p:nvSpPr>
        <p:spPr>
          <a:xfrm>
            <a:off x="1503246"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Terraform; CI runners inside the network</a:t>
            </a:r>
          </a:p>
        </p:txBody>
      </p:sp>
      <p:cxnSp>
        <p:nvCxnSpPr>
          <p:cNvPr id="22" name="Connector 21"/>
          <p:cNvCxnSpPr/>
          <p:nvPr/>
        </p:nvCxnSpPr>
        <p:spPr>
          <a:xfrm>
            <a:off x="603504" y="3986784"/>
            <a:ext cx="3332378" cy="0"/>
          </a:xfrm>
          <a:prstGeom prst="line">
            <a:avLst/>
          </a:prstGeom>
          <a:ln w="9525">
            <a:solidFill>
              <a:srgbClr val="E1E7F4"/>
            </a:solidFill>
          </a:ln>
        </p:spPr>
      </p:cxnSp>
      <p:sp>
        <p:nvSpPr>
          <p:cNvPr id="23" name="TextBox 22"/>
          <p:cNvSpPr txBox="1"/>
          <p:nvPr/>
        </p:nvSpPr>
        <p:spPr>
          <a:xfrm>
            <a:off x="603504"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Image</a:t>
            </a:r>
          </a:p>
        </p:txBody>
      </p:sp>
      <p:sp>
        <p:nvSpPr>
          <p:cNvPr id="24" name="TextBox 23"/>
          <p:cNvSpPr txBox="1"/>
          <p:nvPr/>
        </p:nvSpPr>
        <p:spPr>
          <a:xfrm>
            <a:off x="1503246"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linux/amd64 container image, or a .zip that Foundry builds</a:t>
            </a:r>
          </a:p>
        </p:txBody>
      </p:sp>
      <p:cxnSp>
        <p:nvCxnSpPr>
          <p:cNvPr id="25" name="Connector 24"/>
          <p:cNvCxnSpPr/>
          <p:nvPr/>
        </p:nvCxnSpPr>
        <p:spPr>
          <a:xfrm>
            <a:off x="603504" y="4517136"/>
            <a:ext cx="3332378" cy="0"/>
          </a:xfrm>
          <a:prstGeom prst="line">
            <a:avLst/>
          </a:prstGeom>
          <a:ln w="9525">
            <a:solidFill>
              <a:srgbClr val="E1E7F4"/>
            </a:solidFill>
          </a:ln>
        </p:spPr>
      </p:cxnSp>
      <p:sp>
        <p:nvSpPr>
          <p:cNvPr id="26" name="TextBox 25"/>
          <p:cNvSpPr txBox="1"/>
          <p:nvPr/>
        </p:nvSpPr>
        <p:spPr>
          <a:xfrm>
            <a:off x="603504"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Versions</a:t>
            </a:r>
          </a:p>
        </p:txBody>
      </p:sp>
      <p:sp>
        <p:nvSpPr>
          <p:cNvPr id="27" name="TextBox 26"/>
          <p:cNvSpPr txBox="1"/>
          <p:nvPr/>
        </p:nvSpPr>
        <p:spPr>
          <a:xfrm>
            <a:off x="1503246"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Immutable; up to 1,000 per agent; one version serves all traffic</a:t>
            </a:r>
          </a:p>
        </p:txBody>
      </p:sp>
      <p:cxnSp>
        <p:nvCxnSpPr>
          <p:cNvPr id="28" name="Connector 27"/>
          <p:cNvCxnSpPr/>
          <p:nvPr/>
        </p:nvCxnSpPr>
        <p:spPr>
          <a:xfrm>
            <a:off x="603504" y="5047488"/>
            <a:ext cx="3332378" cy="0"/>
          </a:xfrm>
          <a:prstGeom prst="line">
            <a:avLst/>
          </a:prstGeom>
          <a:ln w="9525">
            <a:solidFill>
              <a:srgbClr val="E1E7F4"/>
            </a:solidFill>
          </a:ln>
        </p:spPr>
      </p:cxnSp>
      <p:sp>
        <p:nvSpPr>
          <p:cNvPr id="29" name="Rectangle 28"/>
          <p:cNvSpPr/>
          <p:nvPr/>
        </p:nvSpPr>
        <p:spPr>
          <a:xfrm>
            <a:off x="4283354"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30" name="Rectangle 29"/>
          <p:cNvSpPr/>
          <p:nvPr/>
        </p:nvSpPr>
        <p:spPr>
          <a:xfrm>
            <a:off x="4283354" y="1353312"/>
            <a:ext cx="3624986" cy="41148"/>
          </a:xfrm>
          <a:prstGeom prst="rect">
            <a:avLst/>
          </a:prstGeom>
          <a:solidFill>
            <a:srgbClr val="00B39F"/>
          </a:solidFill>
          <a:ln>
            <a:noFill/>
          </a:ln>
          <a:effectLst/>
        </p:spPr>
        <p:txBody>
          <a:bodyPr wrap="square" rtlCol="0" anchor="ctr"/>
          <a:lstStyle/>
          <a:p>
            <a:endParaRPr/>
          </a:p>
        </p:txBody>
      </p:sp>
      <p:sp>
        <p:nvSpPr>
          <p:cNvPr id="31" name="TextBox 30"/>
          <p:cNvSpPr txBox="1"/>
          <p:nvPr/>
        </p:nvSpPr>
        <p:spPr>
          <a:xfrm>
            <a:off x="4429658"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2</a:t>
            </a:r>
          </a:p>
        </p:txBody>
      </p:sp>
      <p:sp>
        <p:nvSpPr>
          <p:cNvPr id="32" name="TextBox 31"/>
          <p:cNvSpPr txBox="1"/>
          <p:nvPr/>
        </p:nvSpPr>
        <p:spPr>
          <a:xfrm>
            <a:off x="4795418"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Sizing and sessions</a:t>
            </a:r>
          </a:p>
        </p:txBody>
      </p:sp>
      <p:sp>
        <p:nvSpPr>
          <p:cNvPr id="33" name="TextBox 32"/>
          <p:cNvSpPr txBox="1"/>
          <p:nvPr/>
        </p:nvSpPr>
        <p:spPr>
          <a:xfrm>
            <a:off x="4429658"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Sizes</a:t>
            </a:r>
          </a:p>
        </p:txBody>
      </p:sp>
      <p:sp>
        <p:nvSpPr>
          <p:cNvPr id="34" name="TextBox 33"/>
          <p:cNvSpPr txBox="1"/>
          <p:nvPr/>
        </p:nvSpPr>
        <p:spPr>
          <a:xfrm>
            <a:off x="5329400"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0.5 vCPU / 1 GiB · 1 vCPU / 2 GiB · 2 vCPU / 4 GiB</a:t>
            </a:r>
          </a:p>
        </p:txBody>
      </p:sp>
      <p:cxnSp>
        <p:nvCxnSpPr>
          <p:cNvPr id="35" name="Connector 34"/>
          <p:cNvCxnSpPr/>
          <p:nvPr/>
        </p:nvCxnSpPr>
        <p:spPr>
          <a:xfrm>
            <a:off x="4429658" y="2395728"/>
            <a:ext cx="3332378" cy="0"/>
          </a:xfrm>
          <a:prstGeom prst="line">
            <a:avLst/>
          </a:prstGeom>
          <a:ln w="9525">
            <a:solidFill>
              <a:srgbClr val="E1E7F4"/>
            </a:solidFill>
          </a:ln>
        </p:spPr>
      </p:cxnSp>
      <p:sp>
        <p:nvSpPr>
          <p:cNvPr id="36" name="TextBox 35"/>
          <p:cNvSpPr txBox="1"/>
          <p:nvPr/>
        </p:nvSpPr>
        <p:spPr>
          <a:xfrm>
            <a:off x="4429658"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Disk</a:t>
            </a:r>
          </a:p>
        </p:txBody>
      </p:sp>
      <p:sp>
        <p:nvSpPr>
          <p:cNvPr id="37" name="TextBox 36"/>
          <p:cNvSpPr txBox="1"/>
          <p:nvPr/>
        </p:nvSpPr>
        <p:spPr>
          <a:xfrm>
            <a:off x="5329400"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20 GiB per session at 1 vCPU or more</a:t>
            </a:r>
          </a:p>
        </p:txBody>
      </p:sp>
      <p:cxnSp>
        <p:nvCxnSpPr>
          <p:cNvPr id="38" name="Connector 37"/>
          <p:cNvCxnSpPr/>
          <p:nvPr/>
        </p:nvCxnSpPr>
        <p:spPr>
          <a:xfrm>
            <a:off x="4429658" y="2926080"/>
            <a:ext cx="3332378" cy="0"/>
          </a:xfrm>
          <a:prstGeom prst="line">
            <a:avLst/>
          </a:prstGeom>
          <a:ln w="9525">
            <a:solidFill>
              <a:srgbClr val="E1E7F4"/>
            </a:solidFill>
          </a:ln>
        </p:spPr>
      </p:cxnSp>
      <p:sp>
        <p:nvSpPr>
          <p:cNvPr id="39" name="TextBox 38"/>
          <p:cNvSpPr txBox="1"/>
          <p:nvPr/>
        </p:nvSpPr>
        <p:spPr>
          <a:xfrm>
            <a:off x="4429658"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Idle timeout</a:t>
            </a:r>
          </a:p>
        </p:txBody>
      </p:sp>
      <p:sp>
        <p:nvSpPr>
          <p:cNvPr id="40" name="TextBox 39"/>
          <p:cNvSpPr txBox="1"/>
          <p:nvPr/>
        </p:nvSpPr>
        <p:spPr>
          <a:xfrm>
            <a:off x="5329400"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2 to 60 minutes, 15 by default; state persisted</a:t>
            </a:r>
          </a:p>
        </p:txBody>
      </p:sp>
      <p:cxnSp>
        <p:nvCxnSpPr>
          <p:cNvPr id="41" name="Connector 40"/>
          <p:cNvCxnSpPr/>
          <p:nvPr/>
        </p:nvCxnSpPr>
        <p:spPr>
          <a:xfrm>
            <a:off x="4429658" y="3456432"/>
            <a:ext cx="3332378" cy="0"/>
          </a:xfrm>
          <a:prstGeom prst="line">
            <a:avLst/>
          </a:prstGeom>
          <a:ln w="9525">
            <a:solidFill>
              <a:srgbClr val="E1E7F4"/>
            </a:solidFill>
          </a:ln>
        </p:spPr>
      </p:cxnSp>
      <p:sp>
        <p:nvSpPr>
          <p:cNvPr id="42" name="TextBox 41"/>
          <p:cNvSpPr txBox="1"/>
          <p:nvPr/>
        </p:nvSpPr>
        <p:spPr>
          <a:xfrm>
            <a:off x="4429658"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Retention</a:t>
            </a:r>
          </a:p>
        </p:txBody>
      </p:sp>
      <p:sp>
        <p:nvSpPr>
          <p:cNvPr id="43" name="TextBox 42"/>
          <p:cNvSpPr txBox="1"/>
          <p:nvPr/>
        </p:nvSpPr>
        <p:spPr>
          <a:xfrm>
            <a:off x="5329400"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 deleted after 30 days without activity</a:t>
            </a:r>
          </a:p>
        </p:txBody>
      </p:sp>
      <p:cxnSp>
        <p:nvCxnSpPr>
          <p:cNvPr id="44" name="Connector 43"/>
          <p:cNvCxnSpPr/>
          <p:nvPr/>
        </p:nvCxnSpPr>
        <p:spPr>
          <a:xfrm>
            <a:off x="4429658" y="3986784"/>
            <a:ext cx="3332378" cy="0"/>
          </a:xfrm>
          <a:prstGeom prst="line">
            <a:avLst/>
          </a:prstGeom>
          <a:ln w="9525">
            <a:solidFill>
              <a:srgbClr val="E1E7F4"/>
            </a:solidFill>
          </a:ln>
        </p:spPr>
      </p:cxnSp>
      <p:sp>
        <p:nvSpPr>
          <p:cNvPr id="45" name="TextBox 44"/>
          <p:cNvSpPr txBox="1"/>
          <p:nvPr/>
        </p:nvSpPr>
        <p:spPr>
          <a:xfrm>
            <a:off x="4429658"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Scaling</a:t>
            </a:r>
          </a:p>
        </p:txBody>
      </p:sp>
      <p:sp>
        <p:nvSpPr>
          <p:cNvPr id="46" name="TextBox 45"/>
          <p:cNvSpPr txBox="1"/>
          <p:nvPr/>
        </p:nvSpPr>
        <p:spPr>
          <a:xfrm>
            <a:off x="5329400"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session; no replicas or warm pool to size</a:t>
            </a:r>
          </a:p>
        </p:txBody>
      </p:sp>
      <p:cxnSp>
        <p:nvCxnSpPr>
          <p:cNvPr id="47" name="Connector 46"/>
          <p:cNvCxnSpPr/>
          <p:nvPr/>
        </p:nvCxnSpPr>
        <p:spPr>
          <a:xfrm>
            <a:off x="4429658" y="4517136"/>
            <a:ext cx="3332378" cy="0"/>
          </a:xfrm>
          <a:prstGeom prst="line">
            <a:avLst/>
          </a:prstGeom>
          <a:ln w="9525">
            <a:solidFill>
              <a:srgbClr val="E1E7F4"/>
            </a:solidFill>
          </a:ln>
        </p:spPr>
      </p:cxnSp>
      <p:sp>
        <p:nvSpPr>
          <p:cNvPr id="48" name="TextBox 47"/>
          <p:cNvSpPr txBox="1"/>
          <p:nvPr/>
        </p:nvSpPr>
        <p:spPr>
          <a:xfrm>
            <a:off x="4429658"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Quota</a:t>
            </a:r>
          </a:p>
        </p:txBody>
      </p:sp>
      <p:sp>
        <p:nvSpPr>
          <p:cNvPr id="49" name="TextBox 48"/>
          <p:cNvSpPr txBox="1"/>
          <p:nvPr/>
        </p:nvSpPr>
        <p:spPr>
          <a:xfrm>
            <a:off x="5329400"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Concurrent sessions per subscription and region: 2,000 in 7 regions, 1,000 elsewhere</a:t>
            </a:r>
          </a:p>
        </p:txBody>
      </p:sp>
      <p:cxnSp>
        <p:nvCxnSpPr>
          <p:cNvPr id="50" name="Connector 49"/>
          <p:cNvCxnSpPr/>
          <p:nvPr/>
        </p:nvCxnSpPr>
        <p:spPr>
          <a:xfrm>
            <a:off x="4429658" y="5047488"/>
            <a:ext cx="3332378" cy="0"/>
          </a:xfrm>
          <a:prstGeom prst="line">
            <a:avLst/>
          </a:prstGeom>
          <a:ln w="9525">
            <a:solidFill>
              <a:srgbClr val="E1E7F4"/>
            </a:solidFill>
          </a:ln>
        </p:spPr>
      </p:cxnSp>
      <p:sp>
        <p:nvSpPr>
          <p:cNvPr id="51" name="Rectangle 50"/>
          <p:cNvSpPr/>
          <p:nvPr/>
        </p:nvSpPr>
        <p:spPr>
          <a:xfrm>
            <a:off x="8109508"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52" name="Rectangle 51"/>
          <p:cNvSpPr/>
          <p:nvPr/>
        </p:nvSpPr>
        <p:spPr>
          <a:xfrm>
            <a:off x="8109508" y="1353312"/>
            <a:ext cx="3624986" cy="41148"/>
          </a:xfrm>
          <a:prstGeom prst="rect">
            <a:avLst/>
          </a:prstGeom>
          <a:solidFill>
            <a:srgbClr val="00B39F"/>
          </a:solidFill>
          <a:ln>
            <a:noFill/>
          </a:ln>
          <a:effectLst/>
        </p:spPr>
        <p:txBody>
          <a:bodyPr wrap="square" rtlCol="0" anchor="ctr"/>
          <a:lstStyle/>
          <a:p>
            <a:endParaRPr/>
          </a:p>
        </p:txBody>
      </p:sp>
      <p:sp>
        <p:nvSpPr>
          <p:cNvPr id="53" name="TextBox 52"/>
          <p:cNvSpPr txBox="1"/>
          <p:nvPr/>
        </p:nvSpPr>
        <p:spPr>
          <a:xfrm>
            <a:off x="8255812"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3</a:t>
            </a:r>
          </a:p>
        </p:txBody>
      </p:sp>
      <p:sp>
        <p:nvSpPr>
          <p:cNvPr id="54" name="TextBox 53"/>
          <p:cNvSpPr txBox="1"/>
          <p:nvPr/>
        </p:nvSpPr>
        <p:spPr>
          <a:xfrm>
            <a:off x="8621572"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Cost drivers</a:t>
            </a:r>
          </a:p>
        </p:txBody>
      </p:sp>
      <p:sp>
        <p:nvSpPr>
          <p:cNvPr id="55" name="TextBox 54"/>
          <p:cNvSpPr txBox="1"/>
          <p:nvPr/>
        </p:nvSpPr>
        <p:spPr>
          <a:xfrm>
            <a:off x="8255812"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Compute</a:t>
            </a:r>
          </a:p>
        </p:txBody>
      </p:sp>
      <p:sp>
        <p:nvSpPr>
          <p:cNvPr id="56" name="TextBox 55"/>
          <p:cNvSpPr txBox="1"/>
          <p:nvPr/>
        </p:nvSpPr>
        <p:spPr>
          <a:xfrm>
            <a:off x="9155554"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vCPU-hours and memory GiB-hours of active sessions</a:t>
            </a:r>
          </a:p>
        </p:txBody>
      </p:sp>
      <p:cxnSp>
        <p:nvCxnSpPr>
          <p:cNvPr id="57" name="Connector 56"/>
          <p:cNvCxnSpPr/>
          <p:nvPr/>
        </p:nvCxnSpPr>
        <p:spPr>
          <a:xfrm>
            <a:off x="8255812" y="2395728"/>
            <a:ext cx="3332379" cy="0"/>
          </a:xfrm>
          <a:prstGeom prst="line">
            <a:avLst/>
          </a:prstGeom>
          <a:ln w="9525">
            <a:solidFill>
              <a:srgbClr val="E1E7F4"/>
            </a:solidFill>
          </a:ln>
        </p:spPr>
      </p:cxnSp>
      <p:sp>
        <p:nvSpPr>
          <p:cNvPr id="58" name="TextBox 57"/>
          <p:cNvSpPr txBox="1"/>
          <p:nvPr/>
        </p:nvSpPr>
        <p:spPr>
          <a:xfrm>
            <a:off x="8255812"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Models</a:t>
            </a:r>
          </a:p>
        </p:txBody>
      </p:sp>
      <p:sp>
        <p:nvSpPr>
          <p:cNvPr id="59" name="TextBox 58"/>
          <p:cNvSpPr txBox="1"/>
          <p:nvPr/>
        </p:nvSpPr>
        <p:spPr>
          <a:xfrm>
            <a:off x="9155554"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Tokens consumed, at the deployment’s rate</a:t>
            </a:r>
          </a:p>
        </p:txBody>
      </p:sp>
      <p:cxnSp>
        <p:nvCxnSpPr>
          <p:cNvPr id="60" name="Connector 59"/>
          <p:cNvCxnSpPr/>
          <p:nvPr/>
        </p:nvCxnSpPr>
        <p:spPr>
          <a:xfrm>
            <a:off x="8255812" y="2926080"/>
            <a:ext cx="3332379" cy="0"/>
          </a:xfrm>
          <a:prstGeom prst="line">
            <a:avLst/>
          </a:prstGeom>
          <a:ln w="9525">
            <a:solidFill>
              <a:srgbClr val="E1E7F4"/>
            </a:solidFill>
          </a:ln>
        </p:spPr>
      </p:cxnSp>
      <p:sp>
        <p:nvSpPr>
          <p:cNvPr id="61" name="TextBox 60"/>
          <p:cNvSpPr txBox="1"/>
          <p:nvPr/>
        </p:nvSpPr>
        <p:spPr>
          <a:xfrm>
            <a:off x="8255812"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Tools</a:t>
            </a:r>
          </a:p>
        </p:txBody>
      </p:sp>
      <p:sp>
        <p:nvSpPr>
          <p:cNvPr id="62" name="TextBox 61"/>
          <p:cNvSpPr txBox="1"/>
          <p:nvPr/>
        </p:nvSpPr>
        <p:spPr>
          <a:xfrm>
            <a:off x="9155554"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use, for example Code Interpreter per session</a:t>
            </a:r>
          </a:p>
        </p:txBody>
      </p:sp>
      <p:cxnSp>
        <p:nvCxnSpPr>
          <p:cNvPr id="63" name="Connector 62"/>
          <p:cNvCxnSpPr/>
          <p:nvPr/>
        </p:nvCxnSpPr>
        <p:spPr>
          <a:xfrm>
            <a:off x="8255812" y="3456432"/>
            <a:ext cx="3332379" cy="0"/>
          </a:xfrm>
          <a:prstGeom prst="line">
            <a:avLst/>
          </a:prstGeom>
          <a:ln w="9525">
            <a:solidFill>
              <a:srgbClr val="E1E7F4"/>
            </a:solidFill>
          </a:ln>
        </p:spPr>
      </p:cxnSp>
      <p:sp>
        <p:nvSpPr>
          <p:cNvPr id="64" name="TextBox 63"/>
          <p:cNvSpPr txBox="1"/>
          <p:nvPr/>
        </p:nvSpPr>
        <p:spPr>
          <a:xfrm>
            <a:off x="8255812"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Multiplier</a:t>
            </a:r>
          </a:p>
        </p:txBody>
      </p:sp>
      <p:sp>
        <p:nvSpPr>
          <p:cNvPr id="65" name="TextBox 64"/>
          <p:cNvSpPr txBox="1"/>
          <p:nvPr/>
        </p:nvSpPr>
        <p:spPr>
          <a:xfrm>
            <a:off x="9155554"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Size is per session, so oversizing scales with concurrency</a:t>
            </a:r>
          </a:p>
        </p:txBody>
      </p:sp>
      <p:cxnSp>
        <p:nvCxnSpPr>
          <p:cNvPr id="66" name="Connector 65"/>
          <p:cNvCxnSpPr/>
          <p:nvPr/>
        </p:nvCxnSpPr>
        <p:spPr>
          <a:xfrm>
            <a:off x="8255812" y="3986784"/>
            <a:ext cx="3332379" cy="0"/>
          </a:xfrm>
          <a:prstGeom prst="line">
            <a:avLst/>
          </a:prstGeom>
          <a:ln w="9525">
            <a:solidFill>
              <a:srgbClr val="E1E7F4"/>
            </a:solidFill>
          </a:ln>
        </p:spPr>
      </p:cxnSp>
      <p:sp>
        <p:nvSpPr>
          <p:cNvPr id="67" name="TextBox 66"/>
          <p:cNvSpPr txBox="1"/>
          <p:nvPr/>
        </p:nvSpPr>
        <p:spPr>
          <a:xfrm>
            <a:off x="8255812"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Right-size</a:t>
            </a:r>
          </a:p>
        </p:txBody>
      </p:sp>
      <p:sp>
        <p:nvSpPr>
          <p:cNvPr id="68" name="TextBox 67"/>
          <p:cNvSpPr txBox="1"/>
          <p:nvPr/>
        </p:nvSpPr>
        <p:spPr>
          <a:xfrm>
            <a:off x="9155554"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Raise above ~70% sustained use; lower if well below</a:t>
            </a:r>
          </a:p>
        </p:txBody>
      </p:sp>
      <p:cxnSp>
        <p:nvCxnSpPr>
          <p:cNvPr id="69" name="Connector 68"/>
          <p:cNvCxnSpPr/>
          <p:nvPr/>
        </p:nvCxnSpPr>
        <p:spPr>
          <a:xfrm>
            <a:off x="8255812" y="4517136"/>
            <a:ext cx="3332379" cy="0"/>
          </a:xfrm>
          <a:prstGeom prst="line">
            <a:avLst/>
          </a:prstGeom>
          <a:ln w="9525">
            <a:solidFill>
              <a:srgbClr val="E1E7F4"/>
            </a:solidFill>
          </a:ln>
        </p:spPr>
      </p:cxnSp>
      <p:sp>
        <p:nvSpPr>
          <p:cNvPr id="70" name="TextBox 69"/>
          <p:cNvSpPr txBox="1"/>
          <p:nvPr/>
        </p:nvSpPr>
        <p:spPr>
          <a:xfrm>
            <a:off x="8255812"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Regions</a:t>
            </a:r>
          </a:p>
        </p:txBody>
      </p:sp>
      <p:sp>
        <p:nvSpPr>
          <p:cNvPr id="71" name="TextBox 70"/>
          <p:cNvSpPr txBox="1"/>
          <p:nvPr/>
        </p:nvSpPr>
        <p:spPr>
          <a:xfrm>
            <a:off x="9155554"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31, including Switzerland North and West</a:t>
            </a:r>
          </a:p>
        </p:txBody>
      </p:sp>
      <p:cxnSp>
        <p:nvCxnSpPr>
          <p:cNvPr id="72" name="Connector 71"/>
          <p:cNvCxnSpPr/>
          <p:nvPr/>
        </p:nvCxnSpPr>
        <p:spPr>
          <a:xfrm>
            <a:off x="8255812" y="5047488"/>
            <a:ext cx="3332379" cy="0"/>
          </a:xfrm>
          <a:prstGeom prst="line">
            <a:avLst/>
          </a:prstGeom>
          <a:ln w="9525">
            <a:solidFill>
              <a:srgbClr val="E1E7F4"/>
            </a:solidFill>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AND SECURING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prompt agents and hosted agents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questions asked of both agent types in Foundry Agent Service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learn.microsoft.com/azure/foundry/agents/overview · 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6</a:t>
            </a:r>
          </a:p>
        </p:txBody>
      </p:sp>
      <p:sp>
        <p:nvSpPr>
          <p:cNvPr id="7" name="Rectangle 6"/>
          <p:cNvSpPr/>
          <p:nvPr/>
        </p:nvSpPr>
        <p:spPr>
          <a:xfrm>
            <a:off x="457200" y="1353312"/>
            <a:ext cx="7635240"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344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112264" y="1431036"/>
            <a:ext cx="25658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Prompt agent</a:t>
            </a:r>
          </a:p>
        </p:txBody>
      </p:sp>
      <p:sp>
        <p:nvSpPr>
          <p:cNvPr id="10" name="TextBox 9"/>
          <p:cNvSpPr txBox="1"/>
          <p:nvPr/>
        </p:nvSpPr>
        <p:spPr>
          <a:xfrm>
            <a:off x="4860950" y="1431036"/>
            <a:ext cx="317662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Hosted agent</a:t>
            </a:r>
          </a:p>
        </p:txBody>
      </p:sp>
      <p:sp>
        <p:nvSpPr>
          <p:cNvPr id="11" name="Rectangle 10"/>
          <p:cNvSpPr/>
          <p:nvPr/>
        </p:nvSpPr>
        <p:spPr>
          <a:xfrm>
            <a:off x="457200" y="1664208"/>
            <a:ext cx="7635240" cy="42062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7635240" cy="0"/>
          </a:xfrm>
          <a:prstGeom prst="line">
            <a:avLst/>
          </a:prstGeom>
          <a:ln w="9525">
            <a:solidFill>
              <a:srgbClr val="E1E7F4"/>
            </a:solidFill>
          </a:ln>
        </p:spPr>
      </p:cxnSp>
      <p:sp>
        <p:nvSpPr>
          <p:cNvPr id="13" name="TextBox 12"/>
          <p:cNvSpPr txBox="1"/>
          <p:nvPr/>
        </p:nvSpPr>
        <p:spPr>
          <a:xfrm>
            <a:off x="585216" y="1714500"/>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Defined by</a:t>
            </a:r>
          </a:p>
        </p:txBody>
      </p:sp>
      <p:sp>
        <p:nvSpPr>
          <p:cNvPr id="14" name="TextBox 13"/>
          <p:cNvSpPr txBox="1"/>
          <p:nvPr/>
        </p:nvSpPr>
        <p:spPr>
          <a:xfrm>
            <a:off x="2112264" y="1714500"/>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Instructions, a model and tools</a:t>
            </a:r>
          </a:p>
        </p:txBody>
      </p:sp>
      <p:sp>
        <p:nvSpPr>
          <p:cNvPr id="15" name="TextBox 14"/>
          <p:cNvSpPr txBox="1"/>
          <p:nvPr/>
        </p:nvSpPr>
        <p:spPr>
          <a:xfrm>
            <a:off x="4860950" y="1714500"/>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 code packaged as a container</a:t>
            </a:r>
          </a:p>
        </p:txBody>
      </p:sp>
      <p:cxnSp>
        <p:nvCxnSpPr>
          <p:cNvPr id="16" name="Connector 15"/>
          <p:cNvCxnSpPr/>
          <p:nvPr/>
        </p:nvCxnSpPr>
        <p:spPr>
          <a:xfrm>
            <a:off x="457200" y="2505456"/>
            <a:ext cx="7635240" cy="0"/>
          </a:xfrm>
          <a:prstGeom prst="line">
            <a:avLst/>
          </a:prstGeom>
          <a:ln w="9525">
            <a:solidFill>
              <a:srgbClr val="E1E7F4"/>
            </a:solidFill>
          </a:ln>
        </p:spPr>
      </p:cxnSp>
      <p:sp>
        <p:nvSpPr>
          <p:cNvPr id="17" name="TextBox 16"/>
          <p:cNvSpPr txBox="1"/>
          <p:nvPr/>
        </p:nvSpPr>
        <p:spPr>
          <a:xfrm>
            <a:off x="585216" y="2135124"/>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Authoring</a:t>
            </a:r>
          </a:p>
        </p:txBody>
      </p:sp>
      <p:sp>
        <p:nvSpPr>
          <p:cNvPr id="18" name="TextBox 17"/>
          <p:cNvSpPr txBox="1"/>
          <p:nvPr/>
        </p:nvSpPr>
        <p:spPr>
          <a:xfrm>
            <a:off x="2112264" y="2135124"/>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SDK or REST</a:t>
            </a:r>
          </a:p>
        </p:txBody>
      </p:sp>
      <p:sp>
        <p:nvSpPr>
          <p:cNvPr id="19" name="TextBox 18"/>
          <p:cNvSpPr txBox="1"/>
          <p:nvPr/>
        </p:nvSpPr>
        <p:spPr>
          <a:xfrm>
            <a:off x="4860950" y="2135124"/>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framework, in Python or C#</a:t>
            </a:r>
          </a:p>
        </p:txBody>
      </p:sp>
      <p:sp>
        <p:nvSpPr>
          <p:cNvPr id="20" name="Rectangle 19"/>
          <p:cNvSpPr/>
          <p:nvPr/>
        </p:nvSpPr>
        <p:spPr>
          <a:xfrm>
            <a:off x="457200" y="2505456"/>
            <a:ext cx="7635240" cy="42062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926080"/>
            <a:ext cx="7635240" cy="0"/>
          </a:xfrm>
          <a:prstGeom prst="line">
            <a:avLst/>
          </a:prstGeom>
          <a:ln w="9525">
            <a:solidFill>
              <a:srgbClr val="E1E7F4"/>
            </a:solidFill>
          </a:ln>
        </p:spPr>
      </p:cxnSp>
      <p:sp>
        <p:nvSpPr>
          <p:cNvPr id="22" name="TextBox 21"/>
          <p:cNvSpPr txBox="1"/>
          <p:nvPr/>
        </p:nvSpPr>
        <p:spPr>
          <a:xfrm>
            <a:off x="585216" y="2555748"/>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Code to maintain</a:t>
            </a:r>
          </a:p>
        </p:txBody>
      </p:sp>
      <p:sp>
        <p:nvSpPr>
          <p:cNvPr id="23" name="TextBox 22"/>
          <p:cNvSpPr txBox="1"/>
          <p:nvPr/>
        </p:nvSpPr>
        <p:spPr>
          <a:xfrm>
            <a:off x="2112264" y="2555748"/>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None</a:t>
            </a:r>
          </a:p>
        </p:txBody>
      </p:sp>
      <p:sp>
        <p:nvSpPr>
          <p:cNvPr id="24" name="TextBox 23"/>
          <p:cNvSpPr txBox="1"/>
          <p:nvPr/>
        </p:nvSpPr>
        <p:spPr>
          <a:xfrm>
            <a:off x="4860950" y="2555748"/>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agent logic</a:t>
            </a:r>
          </a:p>
        </p:txBody>
      </p:sp>
      <p:cxnSp>
        <p:nvCxnSpPr>
          <p:cNvPr id="25" name="Connector 24"/>
          <p:cNvCxnSpPr/>
          <p:nvPr/>
        </p:nvCxnSpPr>
        <p:spPr>
          <a:xfrm>
            <a:off x="457200" y="3346704"/>
            <a:ext cx="7635240" cy="0"/>
          </a:xfrm>
          <a:prstGeom prst="line">
            <a:avLst/>
          </a:prstGeom>
          <a:ln w="9525">
            <a:solidFill>
              <a:srgbClr val="E1E7F4"/>
            </a:solidFill>
          </a:ln>
        </p:spPr>
      </p:cxnSp>
      <p:sp>
        <p:nvSpPr>
          <p:cNvPr id="26" name="TextBox 25"/>
          <p:cNvSpPr txBox="1"/>
          <p:nvPr/>
        </p:nvSpPr>
        <p:spPr>
          <a:xfrm>
            <a:off x="585216" y="2976372"/>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Compute</a:t>
            </a:r>
          </a:p>
        </p:txBody>
      </p:sp>
      <p:sp>
        <p:nvSpPr>
          <p:cNvPr id="27" name="TextBox 26"/>
          <p:cNvSpPr txBox="1"/>
          <p:nvPr/>
        </p:nvSpPr>
        <p:spPr>
          <a:xfrm>
            <a:off x="2112264" y="2976372"/>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None to manage</a:t>
            </a:r>
          </a:p>
        </p:txBody>
      </p:sp>
      <p:sp>
        <p:nvSpPr>
          <p:cNvPr id="28" name="TextBox 27"/>
          <p:cNvSpPr txBox="1"/>
          <p:nvPr/>
        </p:nvSpPr>
        <p:spPr>
          <a:xfrm>
            <a:off x="4860950" y="2976372"/>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Per-session sandbox, size chosen per version</a:t>
            </a:r>
          </a:p>
        </p:txBody>
      </p:sp>
      <p:sp>
        <p:nvSpPr>
          <p:cNvPr id="29" name="Rectangle 28"/>
          <p:cNvSpPr/>
          <p:nvPr/>
        </p:nvSpPr>
        <p:spPr>
          <a:xfrm>
            <a:off x="457200" y="3346704"/>
            <a:ext cx="7635240" cy="42062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67328"/>
            <a:ext cx="7635240" cy="0"/>
          </a:xfrm>
          <a:prstGeom prst="line">
            <a:avLst/>
          </a:prstGeom>
          <a:ln w="9525">
            <a:solidFill>
              <a:srgbClr val="E1E7F4"/>
            </a:solidFill>
          </a:ln>
        </p:spPr>
      </p:cxnSp>
      <p:sp>
        <p:nvSpPr>
          <p:cNvPr id="31" name="TextBox 30"/>
          <p:cNvSpPr txBox="1"/>
          <p:nvPr/>
        </p:nvSpPr>
        <p:spPr>
          <a:xfrm>
            <a:off x="585216" y="3396996"/>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Protocols</a:t>
            </a:r>
          </a:p>
        </p:txBody>
      </p:sp>
      <p:sp>
        <p:nvSpPr>
          <p:cNvPr id="32" name="TextBox 31"/>
          <p:cNvSpPr txBox="1"/>
          <p:nvPr/>
        </p:nvSpPr>
        <p:spPr>
          <a:xfrm>
            <a:off x="2112264" y="3396996"/>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Responses</a:t>
            </a:r>
          </a:p>
        </p:txBody>
      </p:sp>
      <p:sp>
        <p:nvSpPr>
          <p:cNvPr id="33" name="TextBox 32"/>
          <p:cNvSpPr txBox="1"/>
          <p:nvPr/>
        </p:nvSpPr>
        <p:spPr>
          <a:xfrm>
            <a:off x="4860950" y="3396996"/>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Responses, Invocations, WebSocket, Activity, A2A</a:t>
            </a:r>
          </a:p>
        </p:txBody>
      </p:sp>
      <p:cxnSp>
        <p:nvCxnSpPr>
          <p:cNvPr id="34" name="Connector 33"/>
          <p:cNvCxnSpPr/>
          <p:nvPr/>
        </p:nvCxnSpPr>
        <p:spPr>
          <a:xfrm>
            <a:off x="457200" y="4187952"/>
            <a:ext cx="7635240" cy="0"/>
          </a:xfrm>
          <a:prstGeom prst="line">
            <a:avLst/>
          </a:prstGeom>
          <a:ln w="9525">
            <a:solidFill>
              <a:srgbClr val="E1E7F4"/>
            </a:solidFill>
          </a:ln>
        </p:spPr>
      </p:cxnSp>
      <p:sp>
        <p:nvSpPr>
          <p:cNvPr id="35" name="TextBox 34"/>
          <p:cNvSpPr txBox="1"/>
          <p:nvPr/>
        </p:nvSpPr>
        <p:spPr>
          <a:xfrm>
            <a:off x="585216" y="3817620"/>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State</a:t>
            </a:r>
          </a:p>
        </p:txBody>
      </p:sp>
      <p:sp>
        <p:nvSpPr>
          <p:cNvPr id="36" name="TextBox 35"/>
          <p:cNvSpPr txBox="1"/>
          <p:nvPr/>
        </p:nvSpPr>
        <p:spPr>
          <a:xfrm>
            <a:off x="2112264" y="3817620"/>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Conversation history</a:t>
            </a:r>
          </a:p>
        </p:txBody>
      </p:sp>
      <p:sp>
        <p:nvSpPr>
          <p:cNvPr id="37" name="TextBox 36"/>
          <p:cNvSpPr txBox="1"/>
          <p:nvPr/>
        </p:nvSpPr>
        <p:spPr>
          <a:xfrm>
            <a:off x="4860950" y="3817620"/>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History, session files and a state store</a:t>
            </a:r>
          </a:p>
        </p:txBody>
      </p:sp>
      <p:sp>
        <p:nvSpPr>
          <p:cNvPr id="38" name="Rectangle 37"/>
          <p:cNvSpPr/>
          <p:nvPr/>
        </p:nvSpPr>
        <p:spPr>
          <a:xfrm>
            <a:off x="457200" y="4187952"/>
            <a:ext cx="7635240" cy="42062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608576"/>
            <a:ext cx="7635240" cy="0"/>
          </a:xfrm>
          <a:prstGeom prst="line">
            <a:avLst/>
          </a:prstGeom>
          <a:ln w="9525">
            <a:solidFill>
              <a:srgbClr val="E1E7F4"/>
            </a:solidFill>
          </a:ln>
        </p:spPr>
      </p:cxnSp>
      <p:sp>
        <p:nvSpPr>
          <p:cNvPr id="40" name="TextBox 39"/>
          <p:cNvSpPr txBox="1"/>
          <p:nvPr/>
        </p:nvSpPr>
        <p:spPr>
          <a:xfrm>
            <a:off x="585216" y="4238244"/>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Tools</a:t>
            </a:r>
          </a:p>
        </p:txBody>
      </p:sp>
      <p:sp>
        <p:nvSpPr>
          <p:cNvPr id="41" name="TextBox 40"/>
          <p:cNvSpPr txBox="1"/>
          <p:nvPr/>
        </p:nvSpPr>
        <p:spPr>
          <a:xfrm>
            <a:off x="2112264" y="4238244"/>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Attached to the agent definition</a:t>
            </a:r>
          </a:p>
        </p:txBody>
      </p:sp>
      <p:sp>
        <p:nvSpPr>
          <p:cNvPr id="42" name="TextBox 41"/>
          <p:cNvSpPr txBox="1"/>
          <p:nvPr/>
        </p:nvSpPr>
        <p:spPr>
          <a:xfrm>
            <a:off x="4860950" y="4238244"/>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Through the Toolbox MCP endpoint</a:t>
            </a:r>
          </a:p>
        </p:txBody>
      </p:sp>
      <p:cxnSp>
        <p:nvCxnSpPr>
          <p:cNvPr id="43" name="Connector 42"/>
          <p:cNvCxnSpPr/>
          <p:nvPr/>
        </p:nvCxnSpPr>
        <p:spPr>
          <a:xfrm>
            <a:off x="457200" y="5029200"/>
            <a:ext cx="7635240" cy="0"/>
          </a:xfrm>
          <a:prstGeom prst="line">
            <a:avLst/>
          </a:prstGeom>
          <a:ln w="9525">
            <a:solidFill>
              <a:srgbClr val="E1E7F4"/>
            </a:solidFill>
          </a:ln>
        </p:spPr>
      </p:cxnSp>
      <p:sp>
        <p:nvSpPr>
          <p:cNvPr id="44" name="TextBox 43"/>
          <p:cNvSpPr txBox="1"/>
          <p:nvPr/>
        </p:nvSpPr>
        <p:spPr>
          <a:xfrm>
            <a:off x="585216" y="4658868"/>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Identity</a:t>
            </a:r>
          </a:p>
        </p:txBody>
      </p:sp>
      <p:sp>
        <p:nvSpPr>
          <p:cNvPr id="45" name="TextBox 44"/>
          <p:cNvSpPr txBox="1"/>
          <p:nvPr/>
        </p:nvSpPr>
        <p:spPr>
          <a:xfrm>
            <a:off x="2112264" y="4658868"/>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agent identity</a:t>
            </a:r>
          </a:p>
        </p:txBody>
      </p:sp>
      <p:sp>
        <p:nvSpPr>
          <p:cNvPr id="46" name="TextBox 45"/>
          <p:cNvSpPr txBox="1"/>
          <p:nvPr/>
        </p:nvSpPr>
        <p:spPr>
          <a:xfrm>
            <a:off x="4860950" y="4658868"/>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Dedicated agent identity, created at deploy time</a:t>
            </a:r>
          </a:p>
        </p:txBody>
      </p:sp>
      <p:sp>
        <p:nvSpPr>
          <p:cNvPr id="47" name="Rectangle 46"/>
          <p:cNvSpPr/>
          <p:nvPr/>
        </p:nvSpPr>
        <p:spPr>
          <a:xfrm>
            <a:off x="457200" y="5029200"/>
            <a:ext cx="7635240" cy="42062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5449824"/>
            <a:ext cx="7635240" cy="0"/>
          </a:xfrm>
          <a:prstGeom prst="line">
            <a:avLst/>
          </a:prstGeom>
          <a:ln w="9525">
            <a:solidFill>
              <a:srgbClr val="E1E7F4"/>
            </a:solidFill>
          </a:ln>
        </p:spPr>
      </p:cxnSp>
      <p:sp>
        <p:nvSpPr>
          <p:cNvPr id="49" name="TextBox 48"/>
          <p:cNvSpPr txBox="1"/>
          <p:nvPr/>
        </p:nvSpPr>
        <p:spPr>
          <a:xfrm>
            <a:off x="585216" y="5079492"/>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Cost</a:t>
            </a:r>
          </a:p>
        </p:txBody>
      </p:sp>
      <p:sp>
        <p:nvSpPr>
          <p:cNvPr id="50" name="TextBox 49"/>
          <p:cNvSpPr txBox="1"/>
          <p:nvPr/>
        </p:nvSpPr>
        <p:spPr>
          <a:xfrm>
            <a:off x="2112264" y="5079492"/>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Inference and tools</a:t>
            </a:r>
          </a:p>
        </p:txBody>
      </p:sp>
      <p:sp>
        <p:nvSpPr>
          <p:cNvPr id="51" name="TextBox 50"/>
          <p:cNvSpPr txBox="1"/>
          <p:nvPr/>
        </p:nvSpPr>
        <p:spPr>
          <a:xfrm>
            <a:off x="4860950" y="5079492"/>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Inference, tools and container compute</a:t>
            </a:r>
          </a:p>
        </p:txBody>
      </p:sp>
      <p:cxnSp>
        <p:nvCxnSpPr>
          <p:cNvPr id="52" name="Connector 51"/>
          <p:cNvCxnSpPr/>
          <p:nvPr/>
        </p:nvCxnSpPr>
        <p:spPr>
          <a:xfrm>
            <a:off x="1984248" y="1664208"/>
            <a:ext cx="0" cy="3785616"/>
          </a:xfrm>
          <a:prstGeom prst="line">
            <a:avLst/>
          </a:prstGeom>
          <a:ln w="9525">
            <a:solidFill>
              <a:srgbClr val="E1E7F4"/>
            </a:solidFill>
          </a:ln>
        </p:spPr>
      </p:cxnSp>
      <p:cxnSp>
        <p:nvCxnSpPr>
          <p:cNvPr id="53" name="Connector 52"/>
          <p:cNvCxnSpPr/>
          <p:nvPr/>
        </p:nvCxnSpPr>
        <p:spPr>
          <a:xfrm>
            <a:off x="4732934" y="1664208"/>
            <a:ext cx="0" cy="3785616"/>
          </a:xfrm>
          <a:prstGeom prst="line">
            <a:avLst/>
          </a:prstGeom>
          <a:ln w="9525">
            <a:solidFill>
              <a:srgbClr val="E1E7F4"/>
            </a:solidFill>
          </a:ln>
        </p:spPr>
      </p:cxnSp>
      <p:sp>
        <p:nvSpPr>
          <p:cNvPr id="54" name="TextBox 53"/>
          <p:cNvSpPr txBox="1"/>
          <p:nvPr/>
        </p:nvSpPr>
        <p:spPr>
          <a:xfrm>
            <a:off x="8321040" y="1353312"/>
            <a:ext cx="341345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HOSTED AGENT WHEN THE WORKLOAD NEEDS</a:t>
            </a:r>
          </a:p>
        </p:txBody>
      </p:sp>
      <p:sp>
        <p:nvSpPr>
          <p:cNvPr id="55" name="Rectangle 54"/>
          <p:cNvSpPr/>
          <p:nvPr/>
        </p:nvSpPr>
        <p:spPr>
          <a:xfrm>
            <a:off x="8321040" y="1627632"/>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56" name="Rectangle 55"/>
          <p:cNvSpPr/>
          <p:nvPr/>
        </p:nvSpPr>
        <p:spPr>
          <a:xfrm>
            <a:off x="8321040" y="1627632"/>
            <a:ext cx="41148" cy="530352"/>
          </a:xfrm>
          <a:prstGeom prst="rect">
            <a:avLst/>
          </a:prstGeom>
          <a:solidFill>
            <a:srgbClr val="00B39F"/>
          </a:solidFill>
          <a:ln>
            <a:noFill/>
          </a:ln>
          <a:effectLst/>
        </p:spPr>
        <p:txBody>
          <a:bodyPr wrap="square" rtlCol="0" anchor="ctr"/>
          <a:lstStyle/>
          <a:p>
            <a:endParaRPr/>
          </a:p>
        </p:txBody>
      </p:sp>
      <p:sp>
        <p:nvSpPr>
          <p:cNvPr id="57" name="TextBox 56"/>
          <p:cNvSpPr txBox="1"/>
          <p:nvPr/>
        </p:nvSpPr>
        <p:spPr>
          <a:xfrm>
            <a:off x="8467344" y="1728216"/>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Own code</a:t>
            </a:r>
          </a:p>
        </p:txBody>
      </p:sp>
      <p:sp>
        <p:nvSpPr>
          <p:cNvPr id="58" name="TextBox 57"/>
          <p:cNvSpPr txBox="1"/>
          <p:nvPr/>
        </p:nvSpPr>
        <p:spPr>
          <a:xfrm>
            <a:off x="8467344" y="1970532"/>
            <a:ext cx="3120847" cy="137159"/>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a framework or orchestration logic</a:t>
            </a:r>
          </a:p>
        </p:txBody>
      </p:sp>
      <p:sp>
        <p:nvSpPr>
          <p:cNvPr id="59" name="Rectangle 58"/>
          <p:cNvSpPr/>
          <p:nvPr/>
        </p:nvSpPr>
        <p:spPr>
          <a:xfrm>
            <a:off x="8321040" y="2231136"/>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0" name="Rectangle 59"/>
          <p:cNvSpPr/>
          <p:nvPr/>
        </p:nvSpPr>
        <p:spPr>
          <a:xfrm>
            <a:off x="8321040" y="2231136"/>
            <a:ext cx="41148" cy="530352"/>
          </a:xfrm>
          <a:prstGeom prst="rect">
            <a:avLst/>
          </a:prstGeom>
          <a:solidFill>
            <a:srgbClr val="00B39F"/>
          </a:solidFill>
          <a:ln>
            <a:noFill/>
          </a:ln>
          <a:effectLst/>
        </p:spPr>
        <p:txBody>
          <a:bodyPr wrap="square" rtlCol="0" anchor="ctr"/>
          <a:lstStyle/>
          <a:p>
            <a:endParaRPr/>
          </a:p>
        </p:txBody>
      </p:sp>
      <p:sp>
        <p:nvSpPr>
          <p:cNvPr id="61" name="TextBox 60"/>
          <p:cNvSpPr txBox="1"/>
          <p:nvPr/>
        </p:nvSpPr>
        <p:spPr>
          <a:xfrm>
            <a:off x="8467344" y="2331720"/>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Custom protocols</a:t>
            </a:r>
          </a:p>
        </p:txBody>
      </p:sp>
      <p:sp>
        <p:nvSpPr>
          <p:cNvPr id="62" name="TextBox 61"/>
          <p:cNvSpPr txBox="1"/>
          <p:nvPr/>
        </p:nvSpPr>
        <p:spPr>
          <a:xfrm>
            <a:off x="8467344" y="2574036"/>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webhooks, voice, non-OpenAI payloads</a:t>
            </a:r>
          </a:p>
        </p:txBody>
      </p:sp>
      <p:sp>
        <p:nvSpPr>
          <p:cNvPr id="63" name="Rectangle 62"/>
          <p:cNvSpPr/>
          <p:nvPr/>
        </p:nvSpPr>
        <p:spPr>
          <a:xfrm>
            <a:off x="8321040" y="2834640"/>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4" name="Rectangle 63"/>
          <p:cNvSpPr/>
          <p:nvPr/>
        </p:nvSpPr>
        <p:spPr>
          <a:xfrm>
            <a:off x="8321040" y="2834640"/>
            <a:ext cx="41148" cy="530352"/>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8467344" y="2935224"/>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Compute control</a:t>
            </a:r>
          </a:p>
        </p:txBody>
      </p:sp>
      <p:sp>
        <p:nvSpPr>
          <p:cNvPr id="66" name="TextBox 65"/>
          <p:cNvSpPr txBox="1"/>
          <p:nvPr/>
        </p:nvSpPr>
        <p:spPr>
          <a:xfrm>
            <a:off x="8467344" y="3177540"/>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CPU and memory per session</a:t>
            </a:r>
          </a:p>
        </p:txBody>
      </p:sp>
      <p:sp>
        <p:nvSpPr>
          <p:cNvPr id="67" name="Rectangle 66"/>
          <p:cNvSpPr/>
          <p:nvPr/>
        </p:nvSpPr>
        <p:spPr>
          <a:xfrm>
            <a:off x="8321040" y="3438144"/>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8" name="Rectangle 67"/>
          <p:cNvSpPr/>
          <p:nvPr/>
        </p:nvSpPr>
        <p:spPr>
          <a:xfrm>
            <a:off x="8321040" y="3438144"/>
            <a:ext cx="41148" cy="530352"/>
          </a:xfrm>
          <a:prstGeom prst="rect">
            <a:avLst/>
          </a:prstGeom>
          <a:solidFill>
            <a:srgbClr val="00B39F"/>
          </a:solidFill>
          <a:ln>
            <a:noFill/>
          </a:ln>
          <a:effectLst/>
        </p:spPr>
        <p:txBody>
          <a:bodyPr wrap="square" rtlCol="0" anchor="ctr"/>
          <a:lstStyle/>
          <a:p>
            <a:endParaRPr/>
          </a:p>
        </p:txBody>
      </p:sp>
      <p:sp>
        <p:nvSpPr>
          <p:cNvPr id="69" name="TextBox 68"/>
          <p:cNvSpPr txBox="1"/>
          <p:nvPr/>
        </p:nvSpPr>
        <p:spPr>
          <a:xfrm>
            <a:off x="8467344" y="3538727"/>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Stateful work</a:t>
            </a:r>
          </a:p>
        </p:txBody>
      </p:sp>
      <p:sp>
        <p:nvSpPr>
          <p:cNvPr id="70" name="TextBox 69"/>
          <p:cNvSpPr txBox="1"/>
          <p:nvPr/>
        </p:nvSpPr>
        <p:spPr>
          <a:xfrm>
            <a:off x="8467344" y="3781044"/>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files and state across turns</a:t>
            </a:r>
          </a:p>
        </p:txBody>
      </p:sp>
      <p:sp>
        <p:nvSpPr>
          <p:cNvPr id="71" name="Rectangle 70"/>
          <p:cNvSpPr/>
          <p:nvPr/>
        </p:nvSpPr>
        <p:spPr>
          <a:xfrm>
            <a:off x="8321040" y="4041648"/>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72" name="Rectangle 71"/>
          <p:cNvSpPr/>
          <p:nvPr/>
        </p:nvSpPr>
        <p:spPr>
          <a:xfrm>
            <a:off x="8321040" y="4041648"/>
            <a:ext cx="41148" cy="530352"/>
          </a:xfrm>
          <a:prstGeom prst="rect">
            <a:avLst/>
          </a:prstGeom>
          <a:solidFill>
            <a:srgbClr val="00B39F"/>
          </a:solidFill>
          <a:ln>
            <a:noFill/>
          </a:ln>
          <a:effectLst/>
        </p:spPr>
        <p:txBody>
          <a:bodyPr wrap="square" rtlCol="0" anchor="ctr"/>
          <a:lstStyle/>
          <a:p>
            <a:endParaRPr/>
          </a:p>
        </p:txBody>
      </p:sp>
      <p:sp>
        <p:nvSpPr>
          <p:cNvPr id="73" name="TextBox 72"/>
          <p:cNvSpPr txBox="1"/>
          <p:nvPr/>
        </p:nvSpPr>
        <p:spPr>
          <a:xfrm>
            <a:off x="8467344" y="4142232"/>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Long-lived work</a:t>
            </a:r>
          </a:p>
        </p:txBody>
      </p:sp>
      <p:sp>
        <p:nvSpPr>
          <p:cNvPr id="74" name="TextBox 73"/>
          <p:cNvSpPr txBox="1"/>
          <p:nvPr/>
        </p:nvSpPr>
        <p:spPr>
          <a:xfrm>
            <a:off x="8467344" y="4384548"/>
            <a:ext cx="3120847" cy="137159"/>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work that survives interruptions</a:t>
            </a:r>
          </a:p>
        </p:txBody>
      </p:sp>
      <p:sp>
        <p:nvSpPr>
          <p:cNvPr id="75" name="Rectangle 74"/>
          <p:cNvSpPr/>
          <p:nvPr/>
        </p:nvSpPr>
        <p:spPr>
          <a:xfrm>
            <a:off x="8321040" y="4736592"/>
            <a:ext cx="3413455" cy="566928"/>
          </a:xfrm>
          <a:prstGeom prst="rect">
            <a:avLst/>
          </a:prstGeom>
          <a:solidFill>
            <a:srgbClr val="EBEFF7"/>
          </a:solidFill>
          <a:ln>
            <a:noFill/>
          </a:ln>
          <a:effectLst/>
        </p:spPr>
        <p:txBody>
          <a:bodyPr wrap="square" rtlCol="0" anchor="ctr"/>
          <a:lstStyle/>
          <a:p>
            <a:endParaRPr/>
          </a:p>
        </p:txBody>
      </p:sp>
      <p:sp>
        <p:nvSpPr>
          <p:cNvPr id="76" name="Rectangle 75"/>
          <p:cNvSpPr/>
          <p:nvPr/>
        </p:nvSpPr>
        <p:spPr>
          <a:xfrm>
            <a:off x="8321040" y="4736592"/>
            <a:ext cx="41148" cy="566928"/>
          </a:xfrm>
          <a:prstGeom prst="rect">
            <a:avLst/>
          </a:prstGeom>
          <a:solidFill>
            <a:srgbClr val="00B39F"/>
          </a:solidFill>
          <a:ln>
            <a:noFill/>
          </a:ln>
          <a:effectLst/>
        </p:spPr>
        <p:txBody>
          <a:bodyPr wrap="square" rtlCol="0" anchor="ctr"/>
          <a:lstStyle/>
          <a:p>
            <a:endParaRPr/>
          </a:p>
        </p:txBody>
      </p:sp>
      <p:sp>
        <p:nvSpPr>
          <p:cNvPr id="77" name="TextBox 76"/>
          <p:cNvSpPr txBox="1"/>
          <p:nvPr/>
        </p:nvSpPr>
        <p:spPr>
          <a:xfrm>
            <a:off x="8558784" y="4837176"/>
            <a:ext cx="299283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Otherwise start with a prompt agent: faster to build, nothing to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AND SECURING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agents in private networks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Sessions connect to a delegated subnet in a customer virtual network; Foundry and its data stores are reached privately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learn.microsoft.com/azure/foundry/agents/how-to/virtual-networks · add-hosted-agent-guardrails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7</a:t>
            </a:r>
          </a:p>
        </p:txBody>
      </p:sp>
      <p:sp>
        <p:nvSpPr>
          <p:cNvPr id="7" name="Rectangle 6"/>
          <p:cNvSpPr/>
          <p:nvPr/>
        </p:nvSpPr>
        <p:spPr>
          <a:xfrm>
            <a:off x="457200" y="1371600"/>
            <a:ext cx="6903720" cy="3611880"/>
          </a:xfrm>
          <a:prstGeom prst="rect">
            <a:avLst/>
          </a:prstGeom>
          <a:noFill/>
          <a:ln w="9525">
            <a:solidFill>
              <a:srgbClr val="44495B"/>
            </a:solidFill>
            <a:prstDash val="dash"/>
          </a:ln>
          <a:effectLst/>
        </p:spPr>
        <p:txBody>
          <a:bodyPr wrap="square" rtlCol="0" anchor="ctr"/>
          <a:lstStyle/>
          <a:p>
            <a:endParaRPr/>
          </a:p>
        </p:txBody>
      </p:sp>
      <p:sp>
        <p:nvSpPr>
          <p:cNvPr id="8" name="TextBox 7"/>
          <p:cNvSpPr txBox="1"/>
          <p:nvPr/>
        </p:nvSpPr>
        <p:spPr>
          <a:xfrm>
            <a:off x="566928" y="1426464"/>
            <a:ext cx="3657600" cy="182880"/>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Customer virtual network — same region as Foundry</a:t>
            </a:r>
          </a:p>
        </p:txBody>
      </p:sp>
      <p:sp>
        <p:nvSpPr>
          <p:cNvPr id="9" name="Rectangle 8"/>
          <p:cNvSpPr/>
          <p:nvPr/>
        </p:nvSpPr>
        <p:spPr>
          <a:xfrm>
            <a:off x="640080" y="1737360"/>
            <a:ext cx="3017520" cy="2286000"/>
          </a:xfrm>
          <a:prstGeom prst="rect">
            <a:avLst/>
          </a:prstGeom>
          <a:noFill/>
          <a:ln w="9525">
            <a:solidFill>
              <a:srgbClr val="44495B"/>
            </a:solidFill>
            <a:prstDash val="dash"/>
          </a:ln>
          <a:effectLst/>
        </p:spPr>
        <p:txBody>
          <a:bodyPr wrap="square" rtlCol="0" anchor="ctr"/>
          <a:lstStyle/>
          <a:p>
            <a:endParaRPr/>
          </a:p>
        </p:txBody>
      </p:sp>
      <p:sp>
        <p:nvSpPr>
          <p:cNvPr id="10" name="TextBox 9"/>
          <p:cNvSpPr txBox="1"/>
          <p:nvPr/>
        </p:nvSpPr>
        <p:spPr>
          <a:xfrm>
            <a:off x="731519" y="1792224"/>
            <a:ext cx="2834639" cy="292608"/>
          </a:xfrm>
          <a:prstGeom prst="rect">
            <a:avLst/>
          </a:prstGeom>
          <a:noFill/>
        </p:spPr>
        <p:txBody>
          <a:bodyPr wrap="square" lIns="0" tIns="0" rIns="0" bIns="0" anchor="t">
            <a:spAutoFit/>
          </a:bodyPr>
          <a:lstStyle/>
          <a:p>
            <a:pPr algn="l">
              <a:lnSpc>
                <a:spcPct val="110000"/>
              </a:lnSpc>
            </a:pPr>
            <a:r>
              <a:rPr sz="750" b="0" i="0" dirty="0">
                <a:solidFill>
                  <a:srgbClr val="101A3C"/>
                </a:solidFill>
                <a:latin typeface="Segoe UI"/>
                <a:cs typeface="Segoe UI"/>
              </a:rPr>
              <a:t>Agent subnet</a:t>
            </a:r>
          </a:p>
          <a:p>
            <a:pPr algn="l">
              <a:lnSpc>
                <a:spcPct val="110000"/>
              </a:lnSpc>
            </a:pPr>
            <a:r>
              <a:rPr sz="750" b="0" i="0" dirty="0">
                <a:solidFill>
                  <a:srgbClr val="101A3C"/>
                </a:solidFill>
                <a:latin typeface="Segoe UI"/>
                <a:cs typeface="Segoe UI"/>
              </a:rPr>
              <a:t>delegated to Microsoft.App/environments</a:t>
            </a:r>
          </a:p>
        </p:txBody>
      </p:sp>
      <p:sp>
        <p:nvSpPr>
          <p:cNvPr id="11" name="Rectangle 10"/>
          <p:cNvSpPr/>
          <p:nvPr/>
        </p:nvSpPr>
        <p:spPr>
          <a:xfrm>
            <a:off x="804671" y="2240280"/>
            <a:ext cx="1280160" cy="658368"/>
          </a:xfrm>
          <a:prstGeom prst="rect">
            <a:avLst/>
          </a:prstGeom>
          <a:solidFill>
            <a:srgbClr val="101A3C"/>
          </a:solidFill>
          <a:ln>
            <a:noFill/>
          </a:ln>
          <a:effectLst/>
        </p:spPr>
        <p:txBody>
          <a:bodyPr wrap="square" lIns="54864" tIns="18288" rIns="54864" bIns="18288" rtlCol="0" anchor="ctr"/>
          <a:lstStyle/>
          <a:p>
            <a:pPr algn="ctr">
              <a:lnSpc>
                <a:spcPct val="110000"/>
              </a:lnSpc>
            </a:pPr>
            <a:r>
              <a:rPr sz="800" b="1" i="0" dirty="0">
                <a:solidFill>
                  <a:srgbClr val="FFFFFF"/>
                </a:solidFill>
                <a:latin typeface="Segoe UI"/>
                <a:cs typeface="Segoe UI"/>
              </a:rPr>
              <a:t>Session sandbox</a:t>
            </a:r>
          </a:p>
          <a:p>
            <a:pPr algn="ctr">
              <a:lnSpc>
                <a:spcPct val="110000"/>
              </a:lnSpc>
            </a:pPr>
            <a:r>
              <a:rPr sz="750" b="0" i="0" dirty="0">
                <a:solidFill>
                  <a:srgbClr val="B9C2D6"/>
                </a:solidFill>
                <a:latin typeface="Segoe UI"/>
                <a:cs typeface="Segoe UI"/>
              </a:rPr>
              <a:t>agent container</a:t>
            </a:r>
          </a:p>
        </p:txBody>
      </p:sp>
      <p:sp>
        <p:nvSpPr>
          <p:cNvPr id="12" name="Rectangle 11"/>
          <p:cNvSpPr/>
          <p:nvPr/>
        </p:nvSpPr>
        <p:spPr>
          <a:xfrm>
            <a:off x="2194560" y="2240280"/>
            <a:ext cx="1280160" cy="658368"/>
          </a:xfrm>
          <a:prstGeom prst="rect">
            <a:avLst/>
          </a:prstGeom>
          <a:solidFill>
            <a:srgbClr val="101A3C"/>
          </a:solidFill>
          <a:ln>
            <a:noFill/>
          </a:ln>
          <a:effectLst/>
        </p:spPr>
        <p:txBody>
          <a:bodyPr wrap="square" lIns="54864" tIns="18288" rIns="54864" bIns="18288" rtlCol="0" anchor="ctr"/>
          <a:lstStyle/>
          <a:p>
            <a:pPr algn="ctr">
              <a:lnSpc>
                <a:spcPct val="110000"/>
              </a:lnSpc>
            </a:pPr>
            <a:r>
              <a:rPr sz="800" b="1" i="0" dirty="0">
                <a:solidFill>
                  <a:srgbClr val="FFFFFF"/>
                </a:solidFill>
                <a:latin typeface="Segoe UI"/>
                <a:cs typeface="Segoe UI"/>
              </a:rPr>
              <a:t>Session sandbox</a:t>
            </a:r>
          </a:p>
          <a:p>
            <a:pPr algn="ctr">
              <a:lnSpc>
                <a:spcPct val="110000"/>
              </a:lnSpc>
            </a:pPr>
            <a:r>
              <a:rPr sz="750" b="0" i="0" dirty="0">
                <a:solidFill>
                  <a:srgbClr val="B9C2D6"/>
                </a:solidFill>
                <a:latin typeface="Segoe UI"/>
                <a:cs typeface="Segoe UI"/>
              </a:rPr>
              <a:t>agent container</a:t>
            </a:r>
          </a:p>
        </p:txBody>
      </p:sp>
      <p:sp>
        <p:nvSpPr>
          <p:cNvPr id="13" name="Rectangle 12"/>
          <p:cNvSpPr/>
          <p:nvPr/>
        </p:nvSpPr>
        <p:spPr>
          <a:xfrm>
            <a:off x="804671" y="3063239"/>
            <a:ext cx="2688336"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Egress controls*</a:t>
            </a:r>
          </a:p>
          <a:p>
            <a:pPr algn="ctr">
              <a:lnSpc>
                <a:spcPct val="110000"/>
              </a:lnSpc>
            </a:pPr>
            <a:r>
              <a:rPr sz="750" b="0" i="0" dirty="0">
                <a:solidFill>
                  <a:srgbClr val="44495B"/>
                </a:solidFill>
                <a:latin typeface="Segoe UI"/>
                <a:cs typeface="Segoe UI"/>
              </a:rPr>
              <a:t>allow and deny rules per host; Audit, then Enforce</a:t>
            </a:r>
          </a:p>
        </p:txBody>
      </p:sp>
      <p:sp>
        <p:nvSpPr>
          <p:cNvPr id="14" name="Rectangle 13"/>
          <p:cNvSpPr/>
          <p:nvPr/>
        </p:nvSpPr>
        <p:spPr>
          <a:xfrm>
            <a:off x="3886200" y="1737360"/>
            <a:ext cx="3291840" cy="2286000"/>
          </a:xfrm>
          <a:prstGeom prst="rect">
            <a:avLst/>
          </a:prstGeom>
          <a:noFill/>
          <a:ln w="9525">
            <a:solidFill>
              <a:srgbClr val="44495B"/>
            </a:solidFill>
            <a:prstDash val="dash"/>
          </a:ln>
          <a:effectLst/>
        </p:spPr>
        <p:txBody>
          <a:bodyPr wrap="square" rtlCol="0" anchor="ctr"/>
          <a:lstStyle/>
          <a:p>
            <a:endParaRPr/>
          </a:p>
        </p:txBody>
      </p:sp>
      <p:sp>
        <p:nvSpPr>
          <p:cNvPr id="15" name="TextBox 14"/>
          <p:cNvSpPr txBox="1"/>
          <p:nvPr/>
        </p:nvSpPr>
        <p:spPr>
          <a:xfrm>
            <a:off x="3977639" y="1792224"/>
            <a:ext cx="3108960" cy="182880"/>
          </a:xfrm>
          <a:prstGeom prst="rect">
            <a:avLst/>
          </a:prstGeom>
          <a:noFill/>
        </p:spPr>
        <p:txBody>
          <a:bodyPr wrap="square" lIns="0" tIns="0" rIns="0" bIns="0" anchor="t">
            <a:spAutoFit/>
          </a:bodyPr>
          <a:lstStyle/>
          <a:p>
            <a:pPr algn="l">
              <a:lnSpc>
                <a:spcPct val="100000"/>
              </a:lnSpc>
            </a:pPr>
            <a:r>
              <a:rPr sz="750" b="0" i="0" dirty="0">
                <a:solidFill>
                  <a:srgbClr val="101A3C"/>
                </a:solidFill>
                <a:latin typeface="Segoe UI"/>
                <a:cs typeface="Segoe UI"/>
              </a:rPr>
              <a:t>Private endpoint subnet</a:t>
            </a:r>
          </a:p>
        </p:txBody>
      </p:sp>
      <p:sp>
        <p:nvSpPr>
          <p:cNvPr id="16" name="Rectangle 15"/>
          <p:cNvSpPr/>
          <p:nvPr/>
        </p:nvSpPr>
        <p:spPr>
          <a:xfrm>
            <a:off x="4023360" y="2066543"/>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Foundry account</a:t>
            </a:r>
          </a:p>
          <a:p>
            <a:pPr algn="ctr">
              <a:lnSpc>
                <a:spcPct val="105000"/>
              </a:lnSpc>
            </a:pPr>
            <a:r>
              <a:rPr sz="750" b="0" i="0" dirty="0">
                <a:solidFill>
                  <a:srgbClr val="44495B"/>
                </a:solidFill>
                <a:latin typeface="Segoe UI"/>
                <a:cs typeface="Segoe UI"/>
              </a:rPr>
              <a:t>private endpoint</a:t>
            </a:r>
          </a:p>
        </p:txBody>
      </p:sp>
      <p:sp>
        <p:nvSpPr>
          <p:cNvPr id="17" name="Rectangle 16"/>
          <p:cNvSpPr/>
          <p:nvPr/>
        </p:nvSpPr>
        <p:spPr>
          <a:xfrm>
            <a:off x="4023360" y="2670048"/>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Container registry</a:t>
            </a:r>
          </a:p>
          <a:p>
            <a:pPr algn="ctr">
              <a:lnSpc>
                <a:spcPct val="105000"/>
              </a:lnSpc>
            </a:pPr>
            <a:r>
              <a:rPr sz="750" b="0" i="0" dirty="0">
                <a:solidFill>
                  <a:srgbClr val="44495B"/>
                </a:solidFill>
                <a:latin typeface="Segoe UI"/>
                <a:cs typeface="Segoe UI"/>
              </a:rPr>
              <a:t>private endpoint</a:t>
            </a:r>
          </a:p>
        </p:txBody>
      </p:sp>
      <p:sp>
        <p:nvSpPr>
          <p:cNvPr id="18" name="Rectangle 17"/>
          <p:cNvSpPr/>
          <p:nvPr/>
        </p:nvSpPr>
        <p:spPr>
          <a:xfrm>
            <a:off x="4023360" y="3273552"/>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Cosmos DB · Storage · AI Search</a:t>
            </a:r>
          </a:p>
          <a:p>
            <a:pPr algn="ctr">
              <a:lnSpc>
                <a:spcPct val="105000"/>
              </a:lnSpc>
            </a:pPr>
            <a:r>
              <a:rPr sz="750" b="0" i="0" dirty="0">
                <a:solidFill>
                  <a:srgbClr val="44495B"/>
                </a:solidFill>
                <a:latin typeface="Segoe UI"/>
                <a:cs typeface="Segoe UI"/>
              </a:rPr>
              <a:t>private endpoint</a:t>
            </a:r>
          </a:p>
        </p:txBody>
      </p:sp>
      <p:cxnSp>
        <p:nvCxnSpPr>
          <p:cNvPr id="19" name="Connector 18"/>
          <p:cNvCxnSpPr/>
          <p:nvPr/>
        </p:nvCxnSpPr>
        <p:spPr>
          <a:xfrm>
            <a:off x="3657600" y="2569464"/>
            <a:ext cx="228600" cy="0"/>
          </a:xfrm>
          <a:prstGeom prst="line">
            <a:avLst/>
          </a:prstGeom>
          <a:ln w="13970">
            <a:solidFill>
              <a:srgbClr val="44495B"/>
            </a:solidFill>
            <a:tailEnd type="triangle" w="med" len="med"/>
          </a:ln>
        </p:spPr>
      </p:cxnSp>
      <p:sp>
        <p:nvSpPr>
          <p:cNvPr id="20" name="Oval 19"/>
          <p:cNvSpPr/>
          <p:nvPr/>
        </p:nvSpPr>
        <p:spPr>
          <a:xfrm>
            <a:off x="3666744" y="24643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1" name="Rectangle 20"/>
          <p:cNvSpPr/>
          <p:nvPr/>
        </p:nvSpPr>
        <p:spPr>
          <a:xfrm>
            <a:off x="640080" y="4160520"/>
            <a:ext cx="3017520" cy="640080"/>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Self-hosted CI runner</a:t>
            </a:r>
          </a:p>
          <a:p>
            <a:pPr algn="ctr">
              <a:lnSpc>
                <a:spcPct val="110000"/>
              </a:lnSpc>
            </a:pPr>
            <a:r>
              <a:rPr sz="750" b="0" i="0" dirty="0">
                <a:solidFill>
                  <a:srgbClr val="44495B"/>
                </a:solidFill>
                <a:latin typeface="Segoe UI"/>
                <a:cs typeface="Segoe UI"/>
              </a:rPr>
              <a:t>builds and deploys from inside the network</a:t>
            </a:r>
          </a:p>
        </p:txBody>
      </p:sp>
      <p:cxnSp>
        <p:nvCxnSpPr>
          <p:cNvPr id="22" name="Connector 21"/>
          <p:cNvCxnSpPr/>
          <p:nvPr/>
        </p:nvCxnSpPr>
        <p:spPr>
          <a:xfrm>
            <a:off x="3657600" y="4480560"/>
            <a:ext cx="777240" cy="0"/>
          </a:xfrm>
          <a:prstGeom prst="line">
            <a:avLst/>
          </a:prstGeom>
          <a:ln w="13970">
            <a:solidFill>
              <a:srgbClr val="44495B"/>
            </a:solidFill>
          </a:ln>
        </p:spPr>
      </p:cxnSp>
      <p:cxnSp>
        <p:nvCxnSpPr>
          <p:cNvPr id="23" name="Connector 22"/>
          <p:cNvCxnSpPr/>
          <p:nvPr/>
        </p:nvCxnSpPr>
        <p:spPr>
          <a:xfrm flipV="1">
            <a:off x="4434840" y="4023360"/>
            <a:ext cx="0" cy="457200"/>
          </a:xfrm>
          <a:prstGeom prst="line">
            <a:avLst/>
          </a:prstGeom>
          <a:ln w="13970">
            <a:solidFill>
              <a:srgbClr val="44495B"/>
            </a:solidFill>
            <a:tailEnd type="triangle" w="med" len="med"/>
          </a:ln>
        </p:spPr>
      </p:cxnSp>
      <p:sp>
        <p:nvSpPr>
          <p:cNvPr id="24" name="Oval 23"/>
          <p:cNvSpPr/>
          <p:nvPr/>
        </p:nvSpPr>
        <p:spPr>
          <a:xfrm>
            <a:off x="4101083" y="437540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5" name="Rectangle 24"/>
          <p:cNvSpPr/>
          <p:nvPr/>
        </p:nvSpPr>
        <p:spPr>
          <a:xfrm>
            <a:off x="7680960" y="1371600"/>
            <a:ext cx="1783080" cy="640080"/>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Teams and Microsoft 365</a:t>
            </a:r>
          </a:p>
          <a:p>
            <a:pPr algn="ctr">
              <a:lnSpc>
                <a:spcPct val="110000"/>
              </a:lnSpc>
            </a:pPr>
            <a:r>
              <a:rPr sz="750" b="0" i="0" dirty="0">
                <a:solidFill>
                  <a:srgbClr val="44495B"/>
                </a:solidFill>
                <a:latin typeface="Segoe UI"/>
                <a:cs typeface="Segoe UI"/>
              </a:rPr>
              <a:t>users</a:t>
            </a:r>
          </a:p>
        </p:txBody>
      </p:sp>
      <p:sp>
        <p:nvSpPr>
          <p:cNvPr id="26" name="Rectangle 25"/>
          <p:cNvSpPr/>
          <p:nvPr/>
        </p:nvSpPr>
        <p:spPr>
          <a:xfrm>
            <a:off x="7680960" y="2331720"/>
            <a:ext cx="178308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Bot Service</a:t>
            </a:r>
          </a:p>
          <a:p>
            <a:pPr algn="ctr">
              <a:lnSpc>
                <a:spcPct val="110000"/>
              </a:lnSpc>
            </a:pPr>
            <a:r>
              <a:rPr sz="750" b="0" i="0" dirty="0">
                <a:solidFill>
                  <a:srgbClr val="44495B"/>
                </a:solidFill>
                <a:latin typeface="Segoe UI"/>
                <a:cs typeface="Segoe UI"/>
              </a:rPr>
              <a:t>Activity protocol only</a:t>
            </a:r>
          </a:p>
        </p:txBody>
      </p:sp>
      <p:cxnSp>
        <p:nvCxnSpPr>
          <p:cNvPr id="27" name="Connector 26"/>
          <p:cNvCxnSpPr/>
          <p:nvPr/>
        </p:nvCxnSpPr>
        <p:spPr>
          <a:xfrm>
            <a:off x="8572500" y="2011680"/>
            <a:ext cx="0" cy="320040"/>
          </a:xfrm>
          <a:prstGeom prst="line">
            <a:avLst/>
          </a:prstGeom>
          <a:ln w="13970">
            <a:solidFill>
              <a:srgbClr val="44495B"/>
            </a:solidFill>
            <a:tailEnd type="triangle" w="med" len="med"/>
          </a:ln>
        </p:spPr>
      </p:cxnSp>
      <p:cxnSp>
        <p:nvCxnSpPr>
          <p:cNvPr id="28" name="Connector 27"/>
          <p:cNvCxnSpPr/>
          <p:nvPr/>
        </p:nvCxnSpPr>
        <p:spPr>
          <a:xfrm flipH="1">
            <a:off x="7040879" y="2395728"/>
            <a:ext cx="640081" cy="0"/>
          </a:xfrm>
          <a:prstGeom prst="line">
            <a:avLst/>
          </a:prstGeom>
          <a:ln w="13970">
            <a:solidFill>
              <a:srgbClr val="44495B"/>
            </a:solidFill>
            <a:tailEnd type="triangle" w="med" len="med"/>
          </a:ln>
        </p:spPr>
      </p:cxnSp>
      <p:sp>
        <p:nvSpPr>
          <p:cNvPr id="29" name="Oval 28"/>
          <p:cNvSpPr/>
          <p:nvPr/>
        </p:nvSpPr>
        <p:spPr>
          <a:xfrm>
            <a:off x="7420356" y="22905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30" name="TextBox 29"/>
          <p:cNvSpPr txBox="1"/>
          <p:nvPr/>
        </p:nvSpPr>
        <p:spPr>
          <a:xfrm>
            <a:off x="7680960" y="3429000"/>
            <a:ext cx="1783080" cy="685800"/>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enable_m365_public_endpoint: an IP-filtered exception for this route; the account stays private</a:t>
            </a:r>
          </a:p>
        </p:txBody>
      </p:sp>
      <p:sp>
        <p:nvSpPr>
          <p:cNvPr id="31" name="TextBox 30"/>
          <p:cNvSpPr txBox="1"/>
          <p:nvPr/>
        </p:nvSpPr>
        <p:spPr>
          <a:xfrm>
            <a:off x="9555480" y="1371600"/>
            <a:ext cx="21790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SECURITY LAYERS</a:t>
            </a:r>
          </a:p>
        </p:txBody>
      </p:sp>
      <p:sp>
        <p:nvSpPr>
          <p:cNvPr id="32" name="TextBox 31"/>
          <p:cNvSpPr txBox="1"/>
          <p:nvPr/>
        </p:nvSpPr>
        <p:spPr>
          <a:xfrm>
            <a:off x="9555480" y="162763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Identity</a:t>
            </a:r>
          </a:p>
        </p:txBody>
      </p:sp>
      <p:sp>
        <p:nvSpPr>
          <p:cNvPr id="33" name="TextBox 32"/>
          <p:cNvSpPr txBox="1"/>
          <p:nvPr/>
        </p:nvSpPr>
        <p:spPr>
          <a:xfrm>
            <a:off x="10339925" y="162763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Entra agent identity; role-based access</a:t>
            </a:r>
          </a:p>
        </p:txBody>
      </p:sp>
      <p:cxnSp>
        <p:nvCxnSpPr>
          <p:cNvPr id="34" name="Connector 33"/>
          <p:cNvCxnSpPr/>
          <p:nvPr/>
        </p:nvCxnSpPr>
        <p:spPr>
          <a:xfrm>
            <a:off x="9555480" y="2112264"/>
            <a:ext cx="2179015" cy="0"/>
          </a:xfrm>
          <a:prstGeom prst="line">
            <a:avLst/>
          </a:prstGeom>
          <a:ln w="9525">
            <a:solidFill>
              <a:srgbClr val="E1E7F4"/>
            </a:solidFill>
          </a:ln>
        </p:spPr>
      </p:cxnSp>
      <p:sp>
        <p:nvSpPr>
          <p:cNvPr id="35" name="TextBox 34"/>
          <p:cNvSpPr txBox="1"/>
          <p:nvPr/>
        </p:nvSpPr>
        <p:spPr>
          <a:xfrm>
            <a:off x="9555480" y="213055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Network</a:t>
            </a:r>
          </a:p>
        </p:txBody>
      </p:sp>
      <p:sp>
        <p:nvSpPr>
          <p:cNvPr id="36" name="TextBox 35"/>
          <p:cNvSpPr txBox="1"/>
          <p:nvPr/>
        </p:nvSpPr>
        <p:spPr>
          <a:xfrm>
            <a:off x="10339925" y="213055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Injection set when the account is created</a:t>
            </a:r>
          </a:p>
        </p:txBody>
      </p:sp>
      <p:cxnSp>
        <p:nvCxnSpPr>
          <p:cNvPr id="37" name="Connector 36"/>
          <p:cNvCxnSpPr/>
          <p:nvPr/>
        </p:nvCxnSpPr>
        <p:spPr>
          <a:xfrm>
            <a:off x="9555480" y="2615184"/>
            <a:ext cx="2179015" cy="0"/>
          </a:xfrm>
          <a:prstGeom prst="line">
            <a:avLst/>
          </a:prstGeom>
          <a:ln w="9525">
            <a:solidFill>
              <a:srgbClr val="E1E7F4"/>
            </a:solidFill>
          </a:ln>
        </p:spPr>
      </p:cxnSp>
      <p:sp>
        <p:nvSpPr>
          <p:cNvPr id="38" name="TextBox 37"/>
          <p:cNvSpPr txBox="1"/>
          <p:nvPr/>
        </p:nvSpPr>
        <p:spPr>
          <a:xfrm>
            <a:off x="9555480" y="263347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Egress</a:t>
            </a:r>
          </a:p>
        </p:txBody>
      </p:sp>
      <p:sp>
        <p:nvSpPr>
          <p:cNvPr id="39" name="TextBox 38"/>
          <p:cNvSpPr txBox="1"/>
          <p:nvPr/>
        </p:nvSpPr>
        <p:spPr>
          <a:xfrm>
            <a:off x="10339925" y="263347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Up to 480 rules; fails closed*</a:t>
            </a:r>
          </a:p>
        </p:txBody>
      </p:sp>
      <p:cxnSp>
        <p:nvCxnSpPr>
          <p:cNvPr id="40" name="Connector 39"/>
          <p:cNvCxnSpPr/>
          <p:nvPr/>
        </p:nvCxnSpPr>
        <p:spPr>
          <a:xfrm>
            <a:off x="9555480" y="3118103"/>
            <a:ext cx="2179015" cy="0"/>
          </a:xfrm>
          <a:prstGeom prst="line">
            <a:avLst/>
          </a:prstGeom>
          <a:ln w="9525">
            <a:solidFill>
              <a:srgbClr val="E1E7F4"/>
            </a:solidFill>
          </a:ln>
        </p:spPr>
      </p:cxnSp>
      <p:sp>
        <p:nvSpPr>
          <p:cNvPr id="41" name="TextBox 40"/>
          <p:cNvSpPr txBox="1"/>
          <p:nvPr/>
        </p:nvSpPr>
        <p:spPr>
          <a:xfrm>
            <a:off x="9555480" y="313639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Registry</a:t>
            </a:r>
          </a:p>
        </p:txBody>
      </p:sp>
      <p:sp>
        <p:nvSpPr>
          <p:cNvPr id="42" name="TextBox 41"/>
          <p:cNvSpPr txBox="1"/>
          <p:nvPr/>
        </p:nvSpPr>
        <p:spPr>
          <a:xfrm>
            <a:off x="10339925" y="313639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Private for projects after 25 Jun 2026</a:t>
            </a:r>
          </a:p>
        </p:txBody>
      </p:sp>
      <p:cxnSp>
        <p:nvCxnSpPr>
          <p:cNvPr id="43" name="Connector 42"/>
          <p:cNvCxnSpPr/>
          <p:nvPr/>
        </p:nvCxnSpPr>
        <p:spPr>
          <a:xfrm>
            <a:off x="9555480" y="3621023"/>
            <a:ext cx="2179015" cy="0"/>
          </a:xfrm>
          <a:prstGeom prst="line">
            <a:avLst/>
          </a:prstGeom>
          <a:ln w="9525">
            <a:solidFill>
              <a:srgbClr val="E1E7F4"/>
            </a:solidFill>
          </a:ln>
        </p:spPr>
      </p:cxnSp>
      <p:sp>
        <p:nvSpPr>
          <p:cNvPr id="44" name="TextBox 43"/>
          <p:cNvSpPr txBox="1"/>
          <p:nvPr/>
        </p:nvSpPr>
        <p:spPr>
          <a:xfrm>
            <a:off x="9555480" y="363931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Data</a:t>
            </a:r>
          </a:p>
        </p:txBody>
      </p:sp>
      <p:sp>
        <p:nvSpPr>
          <p:cNvPr id="45" name="TextBox 44"/>
          <p:cNvSpPr txBox="1"/>
          <p:nvPr/>
        </p:nvSpPr>
        <p:spPr>
          <a:xfrm>
            <a:off x="10339925" y="363931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Standard setup keeps data in own resources</a:t>
            </a:r>
          </a:p>
        </p:txBody>
      </p:sp>
      <p:cxnSp>
        <p:nvCxnSpPr>
          <p:cNvPr id="46" name="Connector 45"/>
          <p:cNvCxnSpPr/>
          <p:nvPr/>
        </p:nvCxnSpPr>
        <p:spPr>
          <a:xfrm>
            <a:off x="9555480" y="4123944"/>
            <a:ext cx="2179015" cy="0"/>
          </a:xfrm>
          <a:prstGeom prst="line">
            <a:avLst/>
          </a:prstGeom>
          <a:ln w="9525">
            <a:solidFill>
              <a:srgbClr val="E1E7F4"/>
            </a:solidFill>
          </a:ln>
        </p:spPr>
      </p:cxnSp>
      <p:sp>
        <p:nvSpPr>
          <p:cNvPr id="47" name="TextBox 46"/>
          <p:cNvSpPr txBox="1"/>
          <p:nvPr/>
        </p:nvSpPr>
        <p:spPr>
          <a:xfrm>
            <a:off x="9555480" y="414223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Content</a:t>
            </a:r>
          </a:p>
        </p:txBody>
      </p:sp>
      <p:sp>
        <p:nvSpPr>
          <p:cNvPr id="48" name="TextBox 47"/>
          <p:cNvSpPr txBox="1"/>
          <p:nvPr/>
        </p:nvSpPr>
        <p:spPr>
          <a:xfrm>
            <a:off x="10339925" y="414223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Guardrails via the RAI policy</a:t>
            </a:r>
          </a:p>
        </p:txBody>
      </p:sp>
      <p:cxnSp>
        <p:nvCxnSpPr>
          <p:cNvPr id="49" name="Connector 48"/>
          <p:cNvCxnSpPr/>
          <p:nvPr/>
        </p:nvCxnSpPr>
        <p:spPr>
          <a:xfrm>
            <a:off x="9555480" y="4626864"/>
            <a:ext cx="2179015" cy="0"/>
          </a:xfrm>
          <a:prstGeom prst="line">
            <a:avLst/>
          </a:prstGeom>
          <a:ln w="9525">
            <a:solidFill>
              <a:srgbClr val="E1E7F4"/>
            </a:solidFill>
          </a:ln>
        </p:spPr>
      </p:cxnSp>
      <p:sp>
        <p:nvSpPr>
          <p:cNvPr id="50" name="Rectangle 49"/>
          <p:cNvSpPr/>
          <p:nvPr/>
        </p:nvSpPr>
        <p:spPr>
          <a:xfrm>
            <a:off x="457200" y="5102352"/>
            <a:ext cx="9006840" cy="329184"/>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5102352"/>
            <a:ext cx="41148" cy="329184"/>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5202936"/>
            <a:ext cx="8586216" cy="146303"/>
          </a:xfrm>
          <a:prstGeom prst="rect">
            <a:avLst/>
          </a:prstGeom>
          <a:noFill/>
        </p:spPr>
        <p:txBody>
          <a:bodyPr wrap="square" lIns="0" tIns="0" rIns="0" bIns="0" anchor="t">
            <a:spAutoFit/>
          </a:bodyPr>
          <a:lstStyle/>
          <a:p>
            <a:pPr algn="l">
              <a:lnSpc>
                <a:spcPct val="120000"/>
              </a:lnSpc>
            </a:pPr>
            <a:r>
              <a:rPr sz="750" b="0" i="0" dirty="0">
                <a:solidFill>
                  <a:srgbClr val="101A3C"/>
                </a:solidFill>
                <a:latin typeface="Segoe UI"/>
                <a:cs typeface="Segoe UI"/>
              </a:rPr>
              <a:t>Limits: one agent subnet per Foundry resource · Code Interpreter without file upload or download · no streaming or citations in Teams</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Hosted agent</a:t>
            </a:r>
          </a:p>
        </p:txBody>
      </p:sp>
      <p:sp>
        <p:nvSpPr>
          <p:cNvPr id="55" name="Rectangle 54"/>
          <p:cNvSpPr/>
          <p:nvPr/>
        </p:nvSpPr>
        <p:spPr>
          <a:xfrm>
            <a:off x="1463040"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168249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Resource</a:t>
            </a:r>
          </a:p>
        </p:txBody>
      </p:sp>
      <p:sp>
        <p:nvSpPr>
          <p:cNvPr id="57" name="Rectangle 56"/>
          <p:cNvSpPr/>
          <p:nvPr/>
        </p:nvSpPr>
        <p:spPr>
          <a:xfrm>
            <a:off x="2249424"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246888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tooling</a:t>
            </a:r>
          </a:p>
        </p:txBody>
      </p:sp>
      <p:sp>
        <p:nvSpPr>
          <p:cNvPr id="59" name="Rectangle 58"/>
          <p:cNvSpPr/>
          <p:nvPr/>
        </p:nvSpPr>
        <p:spPr>
          <a:xfrm>
            <a:off x="3529584" y="5532120"/>
            <a:ext cx="146304" cy="118872"/>
          </a:xfrm>
          <a:prstGeom prst="rect">
            <a:avLst/>
          </a:prstGeom>
          <a:noFill/>
          <a:ln w="9525">
            <a:solidFill>
              <a:srgbClr val="44495B"/>
            </a:solidFill>
            <a:prstDash val="dash"/>
          </a:ln>
          <a:effectLst/>
        </p:spPr>
        <p:txBody>
          <a:bodyPr wrap="square" rtlCol="0" anchor="ctr"/>
          <a:lstStyle/>
          <a:p>
            <a:endParaRPr/>
          </a:p>
        </p:txBody>
      </p:sp>
      <p:sp>
        <p:nvSpPr>
          <p:cNvPr id="60" name="TextBox 59"/>
          <p:cNvSpPr txBox="1"/>
          <p:nvPr/>
        </p:nvSpPr>
        <p:spPr>
          <a:xfrm>
            <a:off x="374904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Network boundary</a:t>
            </a:r>
          </a:p>
        </p:txBody>
      </p:sp>
      <p:cxnSp>
        <p:nvCxnSpPr>
          <p:cNvPr id="61" name="Connector 60"/>
          <p:cNvCxnSpPr/>
          <p:nvPr/>
        </p:nvCxnSpPr>
        <p:spPr>
          <a:xfrm>
            <a:off x="4754880" y="5591556"/>
            <a:ext cx="164592" cy="0"/>
          </a:xfrm>
          <a:prstGeom prst="line">
            <a:avLst/>
          </a:prstGeom>
          <a:ln w="13970">
            <a:solidFill>
              <a:srgbClr val="44495B"/>
            </a:solidFill>
          </a:ln>
        </p:spPr>
      </p:cxnSp>
      <p:sp>
        <p:nvSpPr>
          <p:cNvPr id="62" name="TextBox 61"/>
          <p:cNvSpPr txBox="1"/>
          <p:nvPr/>
        </p:nvSpPr>
        <p:spPr>
          <a:xfrm>
            <a:off x="49743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Traffic</a:t>
            </a:r>
          </a:p>
        </p:txBody>
      </p:sp>
      <p:sp>
        <p:nvSpPr>
          <p:cNvPr id="63" name="TextBox 62"/>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3166</Words>
  <Application>Microsoft Office PowerPoint</Application>
  <PresentationFormat>Widescreen</PresentationFormat>
  <Paragraphs>365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2</cp:revision>
  <dcterms:created xsi:type="dcterms:W3CDTF">2013-01-27T09:14:16Z</dcterms:created>
  <dcterms:modified xsi:type="dcterms:W3CDTF">2026-10-11T09:32:54Z</dcterms:modified>
  <cp:category/>
</cp:coreProperties>
</file>