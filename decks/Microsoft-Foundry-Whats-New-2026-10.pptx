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80" r:id="rId17"/>
    <p:sldId id="272" r:id="rId18"/>
    <p:sldId id="281" r:id="rId19"/>
    <p:sldId id="273" r:id="rId20"/>
    <p:sldId id="274" r:id="rId21"/>
    <p:sldId id="275" r:id="rId22"/>
    <p:sldId id="276" r:id="rId23"/>
    <p:sldId id="277" r:id="rId24"/>
    <p:sldId id="278" r:id="rId25"/>
    <p:sldId id="27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3" d="100"/>
          <a:sy n="123" d="100"/>
        </p:scale>
        <p:origin x="96" y="26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8D2D6-B216-4F90-A60B-C08DD324B53F}" type="datetimeFigureOut">
              <a:t>11/10/2026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13479-2E92-4FDE-93BB-3E5B3A01EA27}" type="slidenum">
              <a:t>‹#›</a:t>
            </a:fld>
            <a:endParaRPr lang="en-US"/>
          </a:p>
        </p:txBody>
      </p:sp>
    </p:spTree>
    <p:extLst>
      <p:ext uri="{BB962C8B-B14F-4D97-AF65-F5344CB8AC3E}">
        <p14:creationId xmlns:p14="http://schemas.microsoft.com/office/powerpoint/2010/main" val="2518709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placing the session in time. Everything here was checked against Microsoft Learn, the Foundry developer blog and GitHub on 11 September 2026. The two events that matter are Build 2026 on 2 June and the July-August roundup published on 9 September; Ignite 2026 has not happened, so nothing in this deck is Ignite news. Flag the rename early: Azure AI Foundry is now Microsoft Foundry, Azure AI Services are now Foundry Tools, the old portal is Foundry (classic), and the documentation moved from slash azure slash ai-foundry to slash azure slash foundry. The deck follows the platform's own layer model - models first, then data and tools, then agents, then the control plane - because that is the order in which you make design decisions. Status labels appear on every slide: GA means generally available, Preview means public preview with no SLA. Likely question: is Microsoft Foundry a new service or a rename? Answer: largely a rename and a consolidation onto one resource provider namespace, with genuinely new surfaces such as the Control Plane and hosted agents added on top.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agenda follows the way Microsoft describes the platform itself: Foundry Models, Foundry Tools and Microsoft IQ, Foundry Agent Service with the Agent Framework, and Foundry Control Plane. The order is the order in which architecture decisions are made. You choose and deploy models first, because everything else calls them. You then give those models context and the ability to act through tools, Toolboxes and the three IQs. Agents assemble models and tools into something that runs, either as a prompt agent hosted by Foundry or as your own code in a hosted agent. The Control Plane comes last because it governs agents once they exist: guardrails, evaluations and tracing. For a thirty minute slot, present sections one, two and four in full and show only the Control Plane overview and the guardrails slide from section five. For sixty minutes, present every slide and keep the timeline as a closing summary. Copilot Studio and Azure Machine Learning are deliberately out of scope; both are adjacent products with their own sessions. Likely question: does this order match the Foundry portal? Answer: broadly yes, the portal groups Models, Agents, Tools and Knowledge under Build and puts governance under Operate.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slide top to bottom. The top band is how you reach the platform: the portal and playgrounds, the SDKs in four languages, the Visual Studio Code extension, the azd extension, and the Foundry MCP Server and Skill that let GitHub Copilot or Claude Code drive Foundry. The three columns are the building blocks Microsoft documents as products: Foundry Models, Foundry Agent Service, and Foundry Tools with the knowledge layer. Inside Agent Service the Agent Runtime hosts prompt agents and hosted agents, and the Responses API serves agents you run elsewhere. Tools are attached to agents through a Toolbox; knowledge comes from Foundry IQ, Work IQ, Fabric IQ and memory. The dark band is the Control Plane, which spans every column: observability, trust and safety, and management. Everything sits on one Foundry resource, a Cognitive Services account of kind AIServices with projects and connections, which is what gives you a single role, network and policy model. Foundry Local is drawn apart on purpose: it runs on the device without an Azure subscription and is not governed by the Control Plane. Items marked with an asterisk are in preview. Likely question: where does Copilot Studio fit? Answer: outside this picture; it is a separate low-code product that can publish agents to the same Microsoft 365 channels.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composes two published Microsoft patterns: the Baseline Microsoft Foundry chat reference architecture from the Azure Architecture Center, and the AI gateway capabilities of Azure API Management, which can now be attached to a Foundry resource. Walk the numbers. Users arrive through three channels; for Teams and Microsoft 365 Copilot the platform bridges the Responses protocol to the Activity protocol, so you do not implement channel code. The AI gateway is where cost control lives: token quotas per consumer, load balancing across Data Zone Standard and Provisioned deployments, semantic caching, and a Content Safety policy on prompts; the Foundry integration of the gateway is in preview. The hosted agent runs in Agent Service with its own Microsoft Entra agent identity and a per-session sandbox; a prompt agent would sit in the same box with less to manage. Tools come through one Toolbox endpoint, knowledge through Foundry IQ, Work IQ and Fabric IQ, and peers through A2A, which is also preview. The standard agent setup keeps conversation state and files in resources you own, reached over private endpoints, with Azure Firewall enforcing egress for public MCP servers. The Control Plane observes, evaluates and governs all of it. Likely question: is the AI gateway mandatory? Answer: no; the baseline works without it, but multi-team token governance and cross-deployment failover are the reasons to add 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slide left to right: your code, the Foundry API, and why it is designed this way. The Foundry API is one project endpoint, secured with Microsoft Entra ID and managed identity, that exposes three surfaces. The OpenAI-compatible surface means existing OpenAI SDK code keeps working; the Anthropic Messages surface does the same for Claude; the Foundry-native surface adds what a platform needs around a model call: agents and hosted agents, toolboxes, evaluations, tracing, datasets, indexes and connections. The headline change this year is versioning. Monthly API versions are gone; Foundry-native routes take a single stable identifier, v1, and preview capabilities are opted into explicitly per request rather than by picking a newer version, so production code is not broken by a release. The Foundry SDK reached its 2.x line with hosted agent and toolbox operations out of beta, and evaluation jobs now run as long-running operations that you poll. One practical limit: the project endpoint does not route embeddings, so call the OpenAI-compatible surface directly for those. An Azure OpenAI resource only exposes the OpenAI-compatible surface; a Foundry resource exposes all three, and an existing Azure OpenAI resource can be upgraded in place keeping its endpoint and keys. Likely question: does my existing OpenAI SDK code still work? Answer: yes, unchanged, against the OpenAI-compatible surface.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point of this slide is that the SDK is no longer the only entry point. The Visual Studio Code Toolkit went generally available at Build 2026 on 2 June and covers the inner loop: scaffold from a template or with GitHub Copilot, run and debug locally with trace visualisation, attach a Toolbox, then deploy to Agent Service. The azd extension covers the outer loop with four verbs - init, run, invoke and delete - and is still preview at 1.0.0-beta.13. DevPack is worth calling out because people misread it: version 0.1.3 is an installer, not a runtime. It lays down Azure CLI, azd, the extensions and the Foundry agent-dev skill, then wires up VS Code, the GitHub Copilot CLI and Claude Code. Distinguish Foundry Local from Foundry Local on Azure Local; the latter ships as extension 2607 with preview model evaluation and vLLM parallelism. Likely question: what do we use offline or at the edge? Answer: Foundry Local, which needs no Azure subscription.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things to land here. First, the split between the two categories is commercial, not technical. Sold by Azure means Azure hosts and operates the model, bills it through your subscription, covers it with the Azure SLA and supports it through Microsoft; some of these models also share fungible provisioned throughput. Partners and community means the model is a Non-Microsoft Product under the Product Terms, bought through Azure Marketplace, which is why the subscription needs Marketplace purchase permissions and why student, free-credit and Visual Studio subscriptions cannot buy them. This is a procurement conversation as much as an architecture one. Anthropic Claude sits in the partners and community category, not sold by Azure, even though it went generally available in Foundry on 18 June 2026; Microsoft documents two deployment options for Claude, Hosted on Azure, where Anthropic operates the model on Azure infrastructure, and Hosted on Anthropic, where it runs on Anthropic infrastructure with a broader API surface. Second, the table. gpt-6-astra is the newest OpenAI model with a one-million-token context and a preview multi-agent orchestration capability; the gpt-5.6 tiers are the everyday choice. The catalog holds over ten thousand models with roughly fifty added a month, so treat the table as a snapshot. Likely question: which category gives me an SLA? Answer: only models sold by Azure.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Billing model on the rows, processing scope on the columns; the cell is the SKU you deploy. Standard is pay per token and best effort. Provisioned reserves throughput units and is the only row with guaranteed capacity and lower latency variance. Batch is asynchronous, half price, with a twenty-four-hour target and no real-time commitment. Developer exists only for evaluating fine-tuned models. The strip below separates two things people confuse with deployment types. Priority and Flex processing are not types; they are service tiers on a Standard deployment, chosen per request: Priority for steadier latency, Flex, in preview, for half the token price with no SLA. Slide 9 covers both. Instant access models and managed compute, both preview, replace a serverless deployment altogether. On the right, three questions decide the choice: where inference may run, how predictable latency must be, and how price-sensitive the workload is. Likely question: where exactly is my prompt processed on Data Zone EU? Answer: inside the EU Data Boundary, which may include EFTA countries, not in a region you choose. Presenter note: the exact SLA percentages are in the Azure OpenAI Service SLA document, not on the deployment-types page; check before quoting a number.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service tiers sit on a Standard deployment and pull in opposite directions. Priority Processing buys lower, steadier latency on pay-as-you-go without reserving provisioned throughput. The targets are medians per five-minute window, not a contractual SLA, and three things downgrade a request to standard: ramping more than half the tokens per minute in under fifteen minutes, peak demand, and long context above 272 thousand tokens on gpt-5.6 or 128 thousand on gpt-5.4 and gpt-4.1. Flex processing, in preview, goes the other way: half the Standard token price in exchange for variable latency and no latency or service SLA. It is chosen per request with service_tier set to flex, on the same Global Standard deployment and the same quota, and the call stays synchronous, so it is not the Batch API. When Flex capacity is short the call returns 429 and nothing falls back on its own; retry with default if Standard cost is acceptable. Today only gpt-5.6-sol supports it; other models return 400. For both tiers, log the service_tier in the response. Source: learn.microsoft.com/azure/foundry/openai/how-to/flex-processing. Likely question: Flex or Batch for overnight work? Batch for large file-based jobs; Flex when the code already calls the API request by request.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 router is itself a trained language model that you deploy like any other Foundry model, so it is one deployment, one endpoint and one quota line. The three modes differ only in how much quality you are willing to trade: balanced picks the cheapest model within roughly one to two per cent of the best answer, cost widens that band to about five or six per cent, quality ignores cost. Two details catch people out. First, underlying models need no separate deployment except Claude, which you must deploy yourself because the router invokes your deployments. Second, the effective context window collapses to the smallest model in the pool, so if you need long context, define a subset that excludes the small models. Automatic failover is on by default and needs at least two models in the subset. There is a newer Learn article, Evaluate model router for your workload, worth sending as follow-up. Likely question: will my context window shrink? Answer: yes, unless you constrain the subset. Presenter note: September additions — session affinity (preview) for stateless Chat Completions, per-request routing metadata (preview), and expansion to 32 regions with 23 offering Data Zone Standard.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tool-call loop in words: the user sends a message, the model decides from the instructions and the available tool definitions whether to call a tool, the service or your application executes it, and the result flows back into the conversation. The reason toolboxes exist is operational rather than functional. Credentials move out of agent code - key, Entra managed identity, OAuth on-behalf-of, or unauthenticated - and guardrails apply to tool inputs and outputs at the toolbox level. Versioning matters too: you promote a default version and every consuming agent picks it up with no code change. The bottom row shows where each tool can be attached. Most built-in and custom tools, plus the three IQs, are available through a Toolbox. Tool search, skills and the reminder tool exist only inside a Toolbox; tool search hides tools by default and exposes two meta-tools, tool_search and call_tool, because hundreds of tool definitions cost tokens and hurt selection accuracy. A few tools still attach directly to an agent rather than through a Toolbox: function calling because it executes client-side, Grounding with Bing, computer use, image generation, SharePoint, the Fabric data agent and Azure Functions. Logic Apps connectors are surfaced as converted MCP servers in the catalog, and the Deep Research tool now lives only in the classic experience - use the Deep Research model with web search. Likely question: can my LangGraph agent use a toolbox? Answer: yes, any MCP-capable runtime can.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trade-off to explain is indexed versus remote. Indexed sources are ingested before the query - bring your own index, upload directly, or let the automatic indexer pipeline build data source, skillset, indexer and index - and only indexed sources return service-generated citation URLs, itself still preview. Remote sources are never ingested; they are retrieved at query time through each platform's native APIs. Both flow through the same unified ranking. Retrieval reasoning effort, in preview, has three settings: minimal bypasses the LLM, low is the default, medium adds an iterative pass. Source selection uses the source name, index description and retrievalInstructions, and alwaysQuery forces a source in. If a customer only has a handful of uploaded files, say so plainly: file search is lighter weight than a knowledge base. Web IQ is separate, limited access, sub-200-millisecond grounding with zero data retention. Likely question: is this just RAG? Answer: yes - agentic RAG, with query planning and reranking built in.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Microsoft IQ is the umbrella for three intelligence layers, and the Build 2026 blog calls it the generally available intelligence layer, but two of the three parts, Work IQ and Fabric IQ, are still public preview, so be precise. The top row says what each layer knows. The matrix is the point of the slide: there is not one connection per IQ, there are three paths to each. Directly, each IQ has its own native mechanism because the problems differ: Foundry IQ is retrieval, so it is an MCP tool over a project connection; Work IQ is delegation, so your agent hands it a natural-language task over the A2A protocol and Work IQ retrieves, reasons and answers as a peer agent; Fabric IQ registers as a server-side tool and answers against the ontology. Through a Toolbox, all three sit behind the one MCP endpoint your agents already use, which is the simplest option when several agents need the same context. Through a Foundry IQ knowledge base, Work IQ and Fabric IQ become remote knowledge sources that the knowledge base plans and queries alongside your indexed content. The bottom row is what to plan for: identity, which always flows with the call; billing, which differs for each; and the one-time setup steps. Likely question: do users need Copilot licences? Answer: not for the Work IQ API, which bills Copilot Credits, but connector-backed Microsoft 365 tools may require a licence per calling user.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diagram left to right. Callers, your own application or another agent, reach the Agent Runtime, which manages conversations, tool calls and the agent lifecycle. Inside it there are two agent types plus one pattern. A prompt agent is configuration only: instructions, a model and tools, and Foundry runs it with no code or infrastructure on your side. A hosted agent is your own code and framework packaged as a container; Foundry runs it with a managed endpoint, scaling and identity, and every session runs in a VM-isolated sandbox. The third pattern is to call the Responses API directly from code you already run elsewhere, which Microsoft calls an ephemeral agent: nothing is persisted in Foundry. The arrows to the right show what the runtime uses on every turn: Foundry Models for inference, a Toolbox for tools and knowledge, Memory, still preview, and Observability, which receives server-side traces automatically. Identity and security sits underneath everything: each agent gets its own Entra identity, the project has a managed identity, and guardrails and private networking apply. Publishing gives an agent a stable versioned endpoint and a place in Teams, Microsoft 365 Copilot and the Entra Agent Registry. The Agents API is built on the Responses API, hence the renamed primitives. At the bottom, the two deployment templates decide where state lives: basic on platform storage, standard in your own Cosmos DB, Storage and AI Search, which is the option for customer-managed keys and network isolation. Likely question: when is the Assistants API retired? Answer: no date is published on Learn; verify before committing. Presenter note: no SLA page for Agent Service was found; do not quote a figure.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Match the protocol to the caller. Your own application uses Responses if it wants a stateful, OpenAI-compatible surface, or Invocations if it wants a schema-free request and response, with a WebSocket variant for streaming interactions. Teams and Microsoft 365 Copilot use the Activity protocol, and this is the part people misunderstand: you do not implement it. If your agent speaks the Responses protocol and you publish to Microsoft 365 channels, the platform bridges Responses to Activity automatically. A2A, still preview, is for agent-to-agent delegation. All of these endpoints are live immediately after deployment; publishing is a separate, optional step. On identity for Microsoft 365 channels, the agent runs on-behalf-of the user when a user token is present, and on its own agent identity for autonomous or background work. Avoid the phrase agent protocol; it is not a documented Foundry term. Likely question: do I need to implement the Activity protocol? Answer: no, it is bridged for you. Presenter note: the A2A tool is GA in the new agent experience; the a2a_preview endpoint on hosted agents remains public preview — separate the two if asked (learn.microsoft.com/azure/foundry/agents/how-to/migrate, 11 Sep 2026).</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questions come up whenever hosted agents reach an architecture review. The first is what is generally available. The table answers it: the runtime, all three protocols, the Activity protocol for Microsoft 365, A2A at version 1.0, state handling and private networking are generally available. Resilient long-running execution and Agent Optimizer are preview — design intent, not production dependencies.</a:t>
            </a:r>
          </a:p>
          <a:p>
            <a:endParaRPr/>
          </a:p>
          <a:p>
            <a:r>
              <a:t>The second question used to have an expensive answer. Microsoft 365 and Teams do not support private network connectivity; they require the endpoint they invoke to be reachable over the public internet. Bridging that to a project with public network access disabled previously meant API Management, an Application Gateway or a proxy container app. Setting enable_m365_public_endpoint on the Activity protocol configuration replaces that chain with a service-managed exception scoped to one route; everything else stays on the private endpoint.</a:t>
            </a:r>
          </a:p>
          <a:p>
            <a:endParaRPr/>
          </a:p>
          <a:p>
            <a:r>
              <a:t>Two cautions. The setting changes reachability, not authorization, so keep a Bot Service scheme configured. And the PATCH replaces protocol_configuration wholesale — omit responses or Entra and the endpoint loses them.</a:t>
            </a:r>
          </a:p>
          <a:p>
            <a:endParaRPr/>
          </a:p>
          <a:p>
            <a:r>
              <a:t>Likely question: can we publish from the portal? No — with public network access disabled, use the REST flow from a client that can reach the private endpoint.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the lineage, because customers ask. Agent Framework combines AutoGen's agent abstractions with Semantic Kernel's enterprise features - session state, type safety, middleware, telemetry - and adds graph-based workflows. Microsoft describes it as the direct successor to both, built by the same teams. Version 1.0 went generally available on 3 April 2026 for .NET and Python; Go is public preview and still lacks declarative agents, retrieval-augmented generation, CodeAct and functional workflows. Be careful about what is stable versus preview inside 1.0: single agent, connectors, middleware, memory providers, workflows, multi-agent orchestration, declarative agents and MCP are stable, while DevUI, the Foundry Hosted Agent Integration, Skills and the agent harness are preview. Mention the Harness Agent - an opinionated agent for long multi-step tasks with planning, context compaction and tool approval. Do not claim that Foundry workflows run on Agent Framework; that is not documented. Likely question: do I have to choose? Answer: no - the framework runs inside the service. Presenter note: dotnet-1.21.0 (14 Sep 2026) carries four breaking changes — AgentFileStore line-numbering, A2A run modes, LocalCodeAct subprocess isolation, MCP skill archives limited to ZIP — and moves to Azure.AI.Projects 3.0.0-beta.2. Check before upgrading.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Routines reached general availability on 24 September 2026, and they answer a question the rest of this section does not: when does the agent run when nobody is typing? Before routines, teams assembled that trigger layer themselves from schedulers, Logic Apps, Functions, queues, storage and authentication code. A routine collapses it into one project-scoped object: one trigger, one action, with the permissions, connections and run history living beside the agent.</a:t>
            </a:r>
          </a:p>
          <a:p>
            <a:endParaRPr/>
          </a:p>
          <a:p>
            <a:r>
              <a:t>The comparison on the right is the one customers ask for, and it is Microsoft's own table. A routine extends a single agent with an automatic trigger. A workflow orchestrates several agents with branching and state. The test is the question each answers — when should this run, versus how should these connect.</a:t>
            </a:r>
          </a:p>
          <a:p>
            <a:endParaRPr/>
          </a:p>
          <a:p>
            <a:r>
              <a:t>Three limits decide whether it fits. Routines do not support workflow agents, they do not support customer-managed keys, and they are absent from five regions. The dispatch identity is fixed at creation, so choosing agent identity when the agent needs delegated user access means deleting and recreating the routine.</a:t>
            </a:r>
          </a:p>
          <a:p>
            <a:endParaRPr/>
          </a:p>
          <a:p>
            <a:r>
              <a:t>Likely question: can one routine call several agents? No — one trigger, one action. Chain them inside the agent, or use a workflow.</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the problem. A normal agent turn lives exactly as long as the HTTP request: if the client disconnects or the container restarts, the work is gone. That is fine for chat, and it rules out anything that takes hours, waits for a person, or must not be lost half-way. Long-running agents, in preview, add durability to a hosted agent through the agent server libraries. The table on the left is the comparison customers ask for: prompt and hosted agents share the request lifetime; long-running agents keep working for hours or days, survive a crash and can wait for a human. The ring shows the mechanism in six steps. Work arrives with its own identity; the runtime persists the input and takes a lease; the handler runs and writes checkpoints to the Foundry state store; if the process is lost the lease expires; another process reclaims the record; and the handler is re-entered from the beginning, skipping steps that are already checkpointed. Say clearly that this is not a retry and not deterministic replay, so every step must be safe to run twice. On the right: background execution, crash recovery, human in the loop, steering, and durable state that LangGraph and Agent Framework checkpointers can use. It is not a workflow engine: fan-out, timers and child workflows belong in the Durable Task extension or Agent Framework workflows. Likely question: is it exactly-once? Answer: no — at-least-once with checkpoints and watermarks; design steps to be idempotent.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the Control Plane as four pillars rather than as a screen. Microsoft defines it as a unified management interface that provides visibility, governance and control for agents, models and tools across the Foundry estate, and the capability reference groups its functions into observability, evaluation and optimisation, trust and safety, and manage, secure and govern. Observe is about seeing what agents do: OpenTelemetry traces land in Application Insights, the monitoring dashboard shows tokens, latency and run success, and the fleet inventory lists every agent with its Entra Agent ID. Evaluate measures quality and safety: evaluators you run before release, continuous evaluation that samples production traffic, and scheduled red-teaming scans. Protect is where guardrails, identity and network isolation live, and where Defender and Purview alerts are surfaced. Govern closes the loop with versioned policies, quotas and cost through the AI gateway, and lifecycle actions to start, stop or block an agent. The bottom row shows that the Control Plane composes existing Azure and Microsoft 365 services rather than replacing them, and that Foundry agents also appear automatically in the Microsoft Agent 365 registry. The next three slides go one level deeper into guardrails, evaluations and tracing. Likely question: is this the same as Agent 365? Answer: no, Agent 365 is the Microsoft 365 side control plane; Foundry agents sync into its registry, and Foundry Control Plane governs the Azure side.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diagram as one agent turn. A guardrail scans at four points: input, tool call, tool response, output. Points one and four serve model deployments and agents; points two and three are agent-only, and both are preview.</a:t>
            </a:r>
          </a:p>
          <a:p>
            <a:endParaRPr/>
          </a:p>
          <a:p>
            <a:r>
              <a:t>A control is the intersection of three choices — which risk, at which point, what action. That structure is why two guardrails with the same filters can behave differently.</a:t>
            </a:r>
          </a:p>
          <a:p>
            <a:endParaRPr/>
          </a:p>
          <a:p>
            <a:r>
              <a:t>Two things catch people out. A model deployment carries the Microsoft.DefaultV2 guardrail unless you assign another; and a guardrail assigned to an agent fully replaces the model's, so check the agent, not the model, when you reason about what is enforced. Azure AI Content Safety is the classification engine underneath, not an alternative — guardrails call it for you.</a:t>
            </a:r>
          </a:p>
          <a:p>
            <a:endParaRPr/>
          </a:p>
          <a:p>
            <a:r>
              <a:t>Presenter note: network egress controls, still preview, sit in the same Responsible AI policy and cover hosted agents only. Ordered rules match on destination host, first match wins, with a default action for the rest. Roll out in Audit mode, then Enforce. Limit 480 rules; fails closed.</a:t>
            </a:r>
          </a:p>
          <a:p>
            <a:endParaRPr/>
          </a:p>
          <a:p>
            <a:r>
              <a:t>Likely question: we already call the Content Safety API — is this a replacement? No; it is the managed way to apply the same classifiers inside Foundry.</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four columns as a pipeline. First, what to evaluate. Before release you point Foundry at a live target, a model deployment or an agent, and Foundry generates the responses; or you bring your own test data; or you let Foundry generate synthetic conversations from a scenario description; or you run adversarial probes with the AI Red Teaming Agent, which is built on PyRIT and reports an attack success rate. In production you need no dataset at all: evaluations can run on traces and response IDs, on a sampled share of live traffic, or on a fixed dataset on a schedule to detect drift. Second, whatever the source, each case becomes one JSONL record with a small set of fields, and you evaluate at turn level or conversation level, never mixing the two in one run. Third, the evaluators. Quality evaluators such as groundedness and relevance, risk and safety evaluators, agent-specific evaluators for task adherence, intent resolution and tool calls, and custom evaluators including the rubric evaluator with weighted criteria. Most are AI-assisted and use a Foundry model deployment you choose as the judge; Groundedness Pro uses Content Safety and needs no model. Fourth, results flow to the portal, the monitoring dashboard, the Control Plane, Azure Monitor alerts, cluster analysis and, in preview, the Agent Optimizer. The classic azure-ai-evaluation SDK still exists but the new surface is the Foundry SDK with an OpenAI-style evals API on the project endpoint. Likely question: can we use our own judge model? Answer: yes, any deployment in the project.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slide as a pipeline in four numbered parts. First, where spans come from. Prompt agents are traced server-side by Foundry with nothing to configure. Hosted agents get an Application Insights connection injected into the container and the protocol libraries emit spans by default. Agent Framework, LangChain, LangGraph and the OpenAI Agents SDK have OpenTelemetry built in. Only your own application code needs instrumenting, and that path is still preview. Second, one standard. Everything is OpenTelemetry using the GenAI semantic conventions, so a model call, a tool call and an agent step are spans with standard attributes, and W3C Trace Context stitches client and server spans into one trace. Content recording, meaning prompts, tool arguments and outputs, is off by default and should stay off outside development. Third, where the spans land: Application Insights connected to the project is the store behind every Foundry view, with traces visible within two to five minutes; any OTLP endpoint works as an alternative or in parallel, including the Aspire Dashboard locally and Grafana Tempo, Jaeger, Datadog or Honeycomb. Fourth, where you read them: the Traces view in the portal, the Control Plane per agent, the monitoring dashboard for trends, and Azure Monitor for queries and alerts. The bottom row is the four-step recipe for client-side tracing: install, opt in explicitly, export to the project's Application Insights, and pass the agent reference so spans are attributed to the right agent. Likely question: can we keep traces out of Azure Monitor? Answer: yes, export over OTLP to your own backend; Foundry's own views, however, read from Application Insights.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close the technical part and to set expectations about pace. Two things are worth stressing. First, the gap between announcement and general availability is now short but uneven: Toolboxes went from public preview at Build in June to generally available in July, while memory has stayed preview across the same period. Second, Flex processing arrived in preview in the same window, and with it a behaviour change: a request that asks for flex on a model without Flex support now returns HTTP 400 instead of falling back to standard. If a customer has flex-tier code paths, that is the action item to take away today. Everything in the lower band is still preview and carries no service level agreement, so it belongs in a proof of concept rather than in a production commitment. Likely question: what should we watch next? Answer: Ignite 2026, which has not taken place yet, and the monthly Foundry roundup on the developer blog.</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method rather than content. Every fact in this deck came from Microsoft Learn, the Foundry developer blog on devblogs.microsoft.com, the Azure product pages or public GitHub repositories, read on 11 September 2026. Where a page did not support a claim, the claim is not on the slide; instead it is marked with a verify tag and repeated in the right-hand column here. That is deliberate: preview status, region counts, SLA percentages and retirement dates are exactly the numbers customers write into designs, and a wrong one is expensive. Two specific cautions. Do not quote an Agent Service service level agreement, because no SLA page was found. Do not attribute the Control Plane to a specific announcement event. On refresh cadence, the Foundry roundup on the developer blog is published roughly monthly and the what's-new page on Learn is updated continuously, so re-check anything preview-labelled before reusing these slides. Likely question: how often should this deck be refreshed? Answer: monthly, or before any customer commitment.</a:t>
            </a:r>
          </a:p>
          <a:p>
            <a:endParaRPr/>
          </a:p>
          <a:p>
            <a:r>
              <a:t>Presenter checklist, not for the audience. Items the documentation did not confirm on 11 September 2026: the Foundry Agent Service SLA (no SLA page found); the general availability date for publishing to Microsoft Teams and Microsoft 365 Copilot (planned for June 2026, not confirmed); the Assistants API retirement date (not on Microsoft Learn); SLA percentages per deployment type (see the Azure OpenAI Service SLA); a legacy ToolSet class in the classic azure-ai-agents SDK; the default guardrail severity (medium is not documented); the Control Plane announcement date (do not attribute it to Ignite 2025); the Logic Apps connector count (1,400+ appears only on the product page). Re-check these before presenting.</a:t>
            </a:r>
          </a:p>
          <a:p>
            <a:endParaRPr/>
          </a:p>
          <a:p>
            <a:r>
              <a:t>Resolved since the September edition: Model Router regions — 28 in August, 32 from September 2026, of which 23 also offer Data Zone Standard.</a:t>
            </a:r>
          </a:p>
          <a:p>
            <a:endParaRPr/>
          </a:p>
          <a:p>
            <a:r>
              <a:t>Added 7 October 2026: Flex processing. Learn gives no launch date (the article is dated 24 September 2026, updated 28 September); confirm the supported-model list, which starts with gpt-5.6-sol only, before presenting.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p:cNvSpPr/>
          <p:nvPr/>
        </p:nvSpPr>
        <p:spPr>
          <a:xfrm>
            <a:off x="0" y="0"/>
            <a:ext cx="12192000" cy="6858000"/>
          </a:xfrm>
          <a:prstGeom prst="rect">
            <a:avLst/>
          </a:prstGeom>
          <a:solidFill>
            <a:srgbClr val="0B1229"/>
          </a:solidFill>
        </p:spPr>
        <p:txBody>
          <a:bodyPr/>
          <a:lstStyle/>
          <a:p>
            <a:endParaRPr/>
          </a:p>
        </p:txBody>
      </p:sp>
      <p:sp>
        <p:nvSpPr>
          <p:cNvPr id="3" name="Shape"/>
          <p:cNvSpPr/>
          <p:nvPr/>
        </p:nvSpPr>
        <p:spPr>
          <a:xfrm>
            <a:off x="685800" y="1207008"/>
            <a:ext cx="502920" cy="45720"/>
          </a:xfrm>
          <a:prstGeom prst="rect">
            <a:avLst/>
          </a:prstGeom>
          <a:solidFill>
            <a:srgbClr val="00B39F"/>
          </a:solidFill>
        </p:spPr>
        <p:txBody>
          <a:bodyPr/>
          <a:lstStyle/>
          <a:p>
            <a:endParaRPr/>
          </a:p>
        </p:txBody>
      </p:sp>
      <p:sp>
        <p:nvSpPr>
          <p:cNvPr id="4" name="TextBox"/>
          <p:cNvSpPr txBox="1"/>
          <p:nvPr/>
        </p:nvSpPr>
        <p:spPr>
          <a:xfrm>
            <a:off x="594360" y="1412748"/>
            <a:ext cx="7315200" cy="1356360"/>
          </a:xfrm>
          <a:prstGeom prst="rect">
            <a:avLst/>
          </a:prstGeom>
        </p:spPr>
        <p:txBody>
          <a:bodyPr anchor="ctr"/>
          <a:lstStyle/>
          <a:p>
            <a:r>
              <a:rPr sz="4000" b="1">
                <a:solidFill>
                  <a:srgbClr val="FFFFFF"/>
                </a:solidFill>
                <a:latin typeface="Segoe UI"/>
              </a:rPr>
              <a:t>Microsoft Foundry</a:t>
            </a:r>
          </a:p>
          <a:p>
            <a:r>
              <a:rPr sz="4000" b="1">
                <a:solidFill>
                  <a:srgbClr val="FFFFFF"/>
                </a:solidFill>
                <a:latin typeface="Segoe UI"/>
              </a:rPr>
              <a:t>What's new</a:t>
            </a:r>
          </a:p>
        </p:txBody>
      </p:sp>
      <p:sp>
        <p:nvSpPr>
          <p:cNvPr id="5" name="TextBox"/>
          <p:cNvSpPr txBox="1"/>
          <p:nvPr/>
        </p:nvSpPr>
        <p:spPr>
          <a:xfrm>
            <a:off x="594360" y="2994660"/>
            <a:ext cx="7315200" cy="777240"/>
          </a:xfrm>
          <a:prstGeom prst="rect">
            <a:avLst/>
          </a:prstGeom>
        </p:spPr>
        <p:txBody>
          <a:bodyPr anchor="ctr"/>
          <a:lstStyle/>
          <a:p>
            <a:r>
              <a:rPr sz="1400">
                <a:solidFill>
                  <a:srgbClr val="FFFFFF"/>
                </a:solidFill>
                <a:latin typeface="Segoe UI"/>
              </a:rPr>
              <a:t>The platform layers in order: models, data and tools,</a:t>
            </a:r>
          </a:p>
          <a:p>
            <a:r>
              <a:rPr sz="1400">
                <a:solidFill>
                  <a:srgbClr val="FFFFFF"/>
                </a:solidFill>
                <a:latin typeface="Segoe UI"/>
              </a:rPr>
              <a:t>agents and frameworks, control plane — with what</a:t>
            </a:r>
          </a:p>
          <a:p>
            <a:r>
              <a:rPr sz="1400">
                <a:solidFill>
                  <a:srgbClr val="FFFFFF"/>
                </a:solidFill>
                <a:latin typeface="Segoe UI"/>
              </a:rPr>
              <a:t>changed since Build 2026.</a:t>
            </a:r>
          </a:p>
        </p:txBody>
      </p:sp>
      <p:sp>
        <p:nvSpPr>
          <p:cNvPr id="6" name="TextBox"/>
          <p:cNvSpPr txBox="1"/>
          <p:nvPr/>
        </p:nvSpPr>
        <p:spPr>
          <a:xfrm>
            <a:off x="594360" y="4000500"/>
            <a:ext cx="7315200" cy="472440"/>
          </a:xfrm>
          <a:prstGeom prst="rect">
            <a:avLst/>
          </a:prstGeom>
        </p:spPr>
        <p:txBody>
          <a:bodyPr anchor="ctr"/>
          <a:lstStyle/>
          <a:p>
            <a:r>
              <a:rPr sz="1100">
                <a:solidFill>
                  <a:srgbClr val="B9C2D6"/>
                </a:solidFill>
                <a:latin typeface="Segoe UI"/>
              </a:rPr>
              <a:t>October </a:t>
            </a:r>
            <a:r>
              <a:rPr sz="1100" dirty="0">
                <a:solidFill>
                  <a:srgbClr val="B9C2D6"/>
                </a:solidFill>
                <a:latin typeface="Segoe UI"/>
              </a:rPr>
              <a:t>2026</a:t>
            </a:r>
          </a:p>
        </p:txBody>
      </p:sp>
      <p:sp>
        <p:nvSpPr>
          <p:cNvPr id="7" name="TextBox"/>
          <p:cNvSpPr txBox="1"/>
          <p:nvPr/>
        </p:nvSpPr>
        <p:spPr>
          <a:xfrm>
            <a:off x="7772400" y="1449324"/>
            <a:ext cx="3749040" cy="411480"/>
          </a:xfrm>
          <a:prstGeom prst="rect">
            <a:avLst/>
          </a:prstGeom>
        </p:spPr>
        <p:txBody>
          <a:bodyPr anchor="ctr"/>
          <a:lstStyle/>
          <a:p>
            <a:r>
              <a:rPr sz="900" b="1">
                <a:solidFill>
                  <a:srgbClr val="00B39F"/>
                </a:solidFill>
                <a:latin typeface="Segoe UI"/>
              </a:rPr>
              <a:t>I N   T H I S   S E S S I O N</a:t>
            </a:r>
          </a:p>
          <a:p>
            <a:endParaRPr sz="900" b="1">
              <a:solidFill>
                <a:srgbClr val="00B39F"/>
              </a:solidFill>
              <a:latin typeface="Segoe UI"/>
            </a:endParaRPr>
          </a:p>
        </p:txBody>
      </p:sp>
      <p:sp>
        <p:nvSpPr>
          <p:cNvPr id="8" name="TextBox"/>
          <p:cNvSpPr txBox="1"/>
          <p:nvPr/>
        </p:nvSpPr>
        <p:spPr>
          <a:xfrm>
            <a:off x="7772400" y="1805940"/>
            <a:ext cx="640080" cy="533400"/>
          </a:xfrm>
          <a:prstGeom prst="rect">
            <a:avLst/>
          </a:prstGeom>
        </p:spPr>
        <p:txBody>
          <a:bodyPr anchor="ctr"/>
          <a:lstStyle/>
          <a:p>
            <a:r>
              <a:rPr sz="1300" b="1">
                <a:solidFill>
                  <a:srgbClr val="00B39F"/>
                </a:solidFill>
                <a:latin typeface="Segoe UI"/>
              </a:rPr>
              <a:t>01</a:t>
            </a:r>
          </a:p>
          <a:p>
            <a:endParaRPr sz="1300" b="1">
              <a:solidFill>
                <a:srgbClr val="00B39F"/>
              </a:solidFill>
              <a:latin typeface="Segoe UI"/>
            </a:endParaRPr>
          </a:p>
        </p:txBody>
      </p:sp>
      <p:sp>
        <p:nvSpPr>
          <p:cNvPr id="9" name="TextBox"/>
          <p:cNvSpPr txBox="1"/>
          <p:nvPr/>
        </p:nvSpPr>
        <p:spPr>
          <a:xfrm>
            <a:off x="8284464" y="1805940"/>
            <a:ext cx="3236976" cy="472440"/>
          </a:xfrm>
          <a:prstGeom prst="rect">
            <a:avLst/>
          </a:prstGeom>
        </p:spPr>
        <p:txBody>
          <a:bodyPr anchor="ctr"/>
          <a:lstStyle/>
          <a:p>
            <a:r>
              <a:rPr sz="1100">
                <a:solidFill>
                  <a:srgbClr val="FFFFFF"/>
                </a:solidFill>
                <a:latin typeface="Segoe UI"/>
              </a:rPr>
              <a:t>High level — the AI app and</a:t>
            </a:r>
          </a:p>
          <a:p>
            <a:r>
              <a:rPr sz="1100">
                <a:solidFill>
                  <a:srgbClr val="FFFFFF"/>
                </a:solidFill>
                <a:latin typeface="Segoe UI"/>
              </a:rPr>
              <a:t>agent factory, API and SDK</a:t>
            </a:r>
          </a:p>
        </p:txBody>
      </p:sp>
      <p:sp>
        <p:nvSpPr>
          <p:cNvPr id="10" name="TextBox"/>
          <p:cNvSpPr txBox="1"/>
          <p:nvPr/>
        </p:nvSpPr>
        <p:spPr>
          <a:xfrm>
            <a:off x="7772400" y="2409444"/>
            <a:ext cx="640080" cy="533400"/>
          </a:xfrm>
          <a:prstGeom prst="rect">
            <a:avLst/>
          </a:prstGeom>
        </p:spPr>
        <p:txBody>
          <a:bodyPr anchor="ctr"/>
          <a:lstStyle/>
          <a:p>
            <a:r>
              <a:rPr sz="1300" b="1">
                <a:solidFill>
                  <a:srgbClr val="00B39F"/>
                </a:solidFill>
                <a:latin typeface="Segoe UI"/>
              </a:rPr>
              <a:t>02</a:t>
            </a:r>
          </a:p>
          <a:p>
            <a:endParaRPr sz="1300" b="1">
              <a:solidFill>
                <a:srgbClr val="00B39F"/>
              </a:solidFill>
              <a:latin typeface="Segoe UI"/>
            </a:endParaRPr>
          </a:p>
        </p:txBody>
      </p:sp>
      <p:sp>
        <p:nvSpPr>
          <p:cNvPr id="11" name="TextBox"/>
          <p:cNvSpPr txBox="1"/>
          <p:nvPr/>
        </p:nvSpPr>
        <p:spPr>
          <a:xfrm>
            <a:off x="8284464" y="2409444"/>
            <a:ext cx="3236976" cy="472440"/>
          </a:xfrm>
          <a:prstGeom prst="rect">
            <a:avLst/>
          </a:prstGeom>
        </p:spPr>
        <p:txBody>
          <a:bodyPr anchor="ctr"/>
          <a:lstStyle/>
          <a:p>
            <a:r>
              <a:rPr sz="1100">
                <a:solidFill>
                  <a:srgbClr val="FFFFFF"/>
                </a:solidFill>
                <a:latin typeface="Segoe UI"/>
              </a:rPr>
              <a:t>Models — catalog, deployment</a:t>
            </a:r>
          </a:p>
          <a:p>
            <a:r>
              <a:rPr sz="1100">
                <a:solidFill>
                  <a:srgbClr val="FFFFFF"/>
                </a:solidFill>
                <a:latin typeface="Segoe UI"/>
              </a:rPr>
              <a:t>types, Model Router</a:t>
            </a:r>
          </a:p>
        </p:txBody>
      </p:sp>
      <p:sp>
        <p:nvSpPr>
          <p:cNvPr id="12" name="TextBox"/>
          <p:cNvSpPr txBox="1"/>
          <p:nvPr/>
        </p:nvSpPr>
        <p:spPr>
          <a:xfrm>
            <a:off x="7772400" y="3012948"/>
            <a:ext cx="640080" cy="533400"/>
          </a:xfrm>
          <a:prstGeom prst="rect">
            <a:avLst/>
          </a:prstGeom>
        </p:spPr>
        <p:txBody>
          <a:bodyPr anchor="ctr"/>
          <a:lstStyle/>
          <a:p>
            <a:r>
              <a:rPr sz="1300" b="1">
                <a:solidFill>
                  <a:srgbClr val="00B39F"/>
                </a:solidFill>
                <a:latin typeface="Segoe UI"/>
              </a:rPr>
              <a:t>03</a:t>
            </a:r>
          </a:p>
          <a:p>
            <a:endParaRPr sz="1300" b="1">
              <a:solidFill>
                <a:srgbClr val="00B39F"/>
              </a:solidFill>
              <a:latin typeface="Segoe UI"/>
            </a:endParaRPr>
          </a:p>
        </p:txBody>
      </p:sp>
      <p:sp>
        <p:nvSpPr>
          <p:cNvPr id="13" name="TextBox"/>
          <p:cNvSpPr txBox="1"/>
          <p:nvPr/>
        </p:nvSpPr>
        <p:spPr>
          <a:xfrm>
            <a:off x="8284464" y="3012948"/>
            <a:ext cx="3236976" cy="472440"/>
          </a:xfrm>
          <a:prstGeom prst="rect">
            <a:avLst/>
          </a:prstGeom>
        </p:spPr>
        <p:txBody>
          <a:bodyPr anchor="ctr"/>
          <a:lstStyle/>
          <a:p>
            <a:r>
              <a:rPr sz="1100">
                <a:solidFill>
                  <a:srgbClr val="FFFFFF"/>
                </a:solidFill>
                <a:latin typeface="Segoe UI"/>
              </a:rPr>
              <a:t>Data — tools, Toolboxes,</a:t>
            </a:r>
          </a:p>
          <a:p>
            <a:r>
              <a:rPr sz="1100">
                <a:solidFill>
                  <a:srgbClr val="FFFFFF"/>
                </a:solidFill>
                <a:latin typeface="Segoe UI"/>
              </a:rPr>
              <a:t>Foundry IQ, Work IQ, Fabric IQ</a:t>
            </a:r>
          </a:p>
        </p:txBody>
      </p:sp>
      <p:sp>
        <p:nvSpPr>
          <p:cNvPr id="14" name="TextBox"/>
          <p:cNvSpPr txBox="1"/>
          <p:nvPr/>
        </p:nvSpPr>
        <p:spPr>
          <a:xfrm>
            <a:off x="7772400" y="3616452"/>
            <a:ext cx="640080" cy="533400"/>
          </a:xfrm>
          <a:prstGeom prst="rect">
            <a:avLst/>
          </a:prstGeom>
        </p:spPr>
        <p:txBody>
          <a:bodyPr anchor="ctr"/>
          <a:lstStyle/>
          <a:p>
            <a:r>
              <a:rPr sz="1300" b="1">
                <a:solidFill>
                  <a:srgbClr val="00B39F"/>
                </a:solidFill>
                <a:latin typeface="Segoe UI"/>
              </a:rPr>
              <a:t>04</a:t>
            </a:r>
          </a:p>
          <a:p>
            <a:endParaRPr sz="1300" b="1">
              <a:solidFill>
                <a:srgbClr val="00B39F"/>
              </a:solidFill>
              <a:latin typeface="Segoe UI"/>
            </a:endParaRPr>
          </a:p>
        </p:txBody>
      </p:sp>
      <p:sp>
        <p:nvSpPr>
          <p:cNvPr id="15" name="TextBox"/>
          <p:cNvSpPr txBox="1"/>
          <p:nvPr/>
        </p:nvSpPr>
        <p:spPr>
          <a:xfrm>
            <a:off x="8284464" y="3616452"/>
            <a:ext cx="3236976" cy="472440"/>
          </a:xfrm>
          <a:prstGeom prst="rect">
            <a:avLst/>
          </a:prstGeom>
        </p:spPr>
        <p:txBody>
          <a:bodyPr anchor="ctr"/>
          <a:lstStyle/>
          <a:p>
            <a:r>
              <a:rPr sz="1100">
                <a:solidFill>
                  <a:srgbClr val="FFFFFF"/>
                </a:solidFill>
                <a:latin typeface="Segoe UI"/>
              </a:rPr>
              <a:t>Agents — Agent Service, Agent</a:t>
            </a:r>
          </a:p>
          <a:p>
            <a:r>
              <a:rPr sz="1100">
                <a:solidFill>
                  <a:srgbClr val="FFFFFF"/>
                </a:solidFill>
                <a:latin typeface="Segoe UI"/>
              </a:rPr>
              <a:t>Framework, long-running agents</a:t>
            </a:r>
          </a:p>
        </p:txBody>
      </p:sp>
      <p:sp>
        <p:nvSpPr>
          <p:cNvPr id="16" name="TextBox"/>
          <p:cNvSpPr txBox="1"/>
          <p:nvPr/>
        </p:nvSpPr>
        <p:spPr>
          <a:xfrm>
            <a:off x="7772400" y="4219956"/>
            <a:ext cx="640080" cy="533400"/>
          </a:xfrm>
          <a:prstGeom prst="rect">
            <a:avLst/>
          </a:prstGeom>
        </p:spPr>
        <p:txBody>
          <a:bodyPr anchor="ctr"/>
          <a:lstStyle/>
          <a:p>
            <a:r>
              <a:rPr sz="1300" b="1">
                <a:solidFill>
                  <a:srgbClr val="00B39F"/>
                </a:solidFill>
                <a:latin typeface="Segoe UI"/>
              </a:rPr>
              <a:t>05</a:t>
            </a:r>
          </a:p>
          <a:p>
            <a:endParaRPr sz="1300" b="1">
              <a:solidFill>
                <a:srgbClr val="00B39F"/>
              </a:solidFill>
              <a:latin typeface="Segoe UI"/>
            </a:endParaRPr>
          </a:p>
        </p:txBody>
      </p:sp>
      <p:sp>
        <p:nvSpPr>
          <p:cNvPr id="17" name="TextBox"/>
          <p:cNvSpPr txBox="1"/>
          <p:nvPr/>
        </p:nvSpPr>
        <p:spPr>
          <a:xfrm>
            <a:off x="8284464" y="4219956"/>
            <a:ext cx="3236976" cy="472440"/>
          </a:xfrm>
          <a:prstGeom prst="rect">
            <a:avLst/>
          </a:prstGeom>
        </p:spPr>
        <p:txBody>
          <a:bodyPr anchor="ctr"/>
          <a:lstStyle/>
          <a:p>
            <a:r>
              <a:rPr sz="1100">
                <a:solidFill>
                  <a:srgbClr val="FFFFFF"/>
                </a:solidFill>
                <a:latin typeface="Segoe UI"/>
              </a:rPr>
              <a:t>Control plane — guardrails,</a:t>
            </a:r>
          </a:p>
          <a:p>
            <a:r>
              <a:rPr sz="1100">
                <a:solidFill>
                  <a:srgbClr val="FFFFFF"/>
                </a:solidFill>
                <a:latin typeface="Segoe UI"/>
              </a:rPr>
              <a:t>evaluations, tracing</a:t>
            </a:r>
          </a:p>
        </p:txBody>
      </p:sp>
      <p:sp>
        <p:nvSpPr>
          <p:cNvPr id="18" name="Shape"/>
          <p:cNvSpPr/>
          <p:nvPr/>
        </p:nvSpPr>
        <p:spPr>
          <a:xfrm>
            <a:off x="0" y="6693408"/>
            <a:ext cx="12192000" cy="164592"/>
          </a:xfrm>
          <a:prstGeom prst="rect">
            <a:avLst/>
          </a:prstGeom>
          <a:solidFill>
            <a:srgbClr val="00B39F"/>
          </a:solidFill>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A G E N D A</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Agenda</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Microsoft Foundry, layer by layer: Models, Data and Tools, Agents and Frameworks, Control Plane.</a:t>
            </a:r>
          </a:p>
          <a:p>
            <a:endParaRPr sz="1200">
              <a:solidFill>
                <a:srgbClr val="44495B"/>
              </a:solidFill>
              <a:latin typeface="Segoe UI"/>
            </a:endParaRPr>
          </a:p>
        </p:txBody>
      </p:sp>
      <p:sp>
        <p:nvSpPr>
          <p:cNvPr id="37" name="Shape"/>
          <p:cNvSpPr/>
          <p:nvPr/>
        </p:nvSpPr>
        <p:spPr>
          <a:xfrm>
            <a:off x="548640" y="5687568"/>
            <a:ext cx="11094720" cy="9525"/>
          </a:xfrm>
          <a:prstGeom prst="rect">
            <a:avLst/>
          </a:prstGeom>
          <a:solidFill>
            <a:srgbClr val="E1E7F4"/>
          </a:solidFill>
        </p:spPr>
        <p:txBody>
          <a:bodyPr/>
          <a:lstStyle/>
          <a:p>
            <a:endParaRPr/>
          </a:p>
        </p:txBody>
      </p:sp>
      <p:sp>
        <p:nvSpPr>
          <p:cNvPr id="38"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learn.microsoft.com/azure/foundry/what-is-foundry</a:t>
            </a:r>
          </a:p>
          <a:p>
            <a:endParaRPr sz="900">
              <a:solidFill>
                <a:srgbClr val="44495B"/>
              </a:solidFill>
              <a:latin typeface="Segoe UI"/>
            </a:endParaRPr>
          </a:p>
        </p:txBody>
      </p:sp>
      <p:sp>
        <p:nvSpPr>
          <p:cNvPr id="39"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2</a:t>
            </a:r>
          </a:p>
        </p:txBody>
      </p:sp>
      <p:sp>
        <p:nvSpPr>
          <p:cNvPr id="40" name="Rectangle 39"/>
          <p:cNvSpPr/>
          <p:nvPr/>
        </p:nvSpPr>
        <p:spPr>
          <a:xfrm>
            <a:off x="548640" y="1417320"/>
            <a:ext cx="5440680" cy="1280160"/>
          </a:xfrm>
          <a:prstGeom prst="rect">
            <a:avLst/>
          </a:prstGeom>
          <a:solidFill>
            <a:srgbClr val="F6F8FD"/>
          </a:solidFill>
          <a:ln w="9525">
            <a:solidFill>
              <a:srgbClr val="E1E7F4"/>
            </a:solidFill>
          </a:ln>
          <a:effectLst/>
        </p:spPr>
        <p:txBody>
          <a:bodyPr rtlCol="0" anchor="ctr"/>
          <a:lstStyle/>
          <a:p>
            <a:endParaRPr/>
          </a:p>
        </p:txBody>
      </p:sp>
      <p:sp>
        <p:nvSpPr>
          <p:cNvPr id="41" name="Rectangle 40"/>
          <p:cNvSpPr/>
          <p:nvPr/>
        </p:nvSpPr>
        <p:spPr>
          <a:xfrm>
            <a:off x="548640" y="1417320"/>
            <a:ext cx="5440680" cy="36576"/>
          </a:xfrm>
          <a:prstGeom prst="rect">
            <a:avLst/>
          </a:prstGeom>
          <a:solidFill>
            <a:srgbClr val="00B39F"/>
          </a:solidFill>
          <a:ln>
            <a:noFill/>
          </a:ln>
          <a:effectLst/>
        </p:spPr>
        <p:txBody>
          <a:bodyPr rtlCol="0" anchor="ctr"/>
          <a:lstStyle/>
          <a:p>
            <a:endParaRPr/>
          </a:p>
        </p:txBody>
      </p:sp>
      <p:sp>
        <p:nvSpPr>
          <p:cNvPr id="42" name="TextBox 41"/>
          <p:cNvSpPr txBox="1"/>
          <p:nvPr/>
        </p:nvSpPr>
        <p:spPr>
          <a:xfrm>
            <a:off x="658368" y="1563624"/>
            <a:ext cx="640080" cy="457200"/>
          </a:xfrm>
          <a:prstGeom prst="rect">
            <a:avLst/>
          </a:prstGeom>
          <a:noFill/>
        </p:spPr>
        <p:txBody>
          <a:bodyPr wrap="square" lIns="36576" tIns="18288" rIns="36576" bIns="18288" anchor="t">
            <a:spAutoFit/>
          </a:bodyPr>
          <a:lstStyle/>
          <a:p>
            <a:pPr algn="l"/>
            <a:r>
              <a:rPr sz="2000" b="1">
                <a:solidFill>
                  <a:srgbClr val="008173"/>
                </a:solidFill>
                <a:latin typeface="Segoe UI"/>
              </a:rPr>
              <a:t>01</a:t>
            </a:r>
          </a:p>
        </p:txBody>
      </p:sp>
      <p:sp>
        <p:nvSpPr>
          <p:cNvPr id="43" name="TextBox 42"/>
          <p:cNvSpPr txBox="1"/>
          <p:nvPr/>
        </p:nvSpPr>
        <p:spPr>
          <a:xfrm>
            <a:off x="1298448" y="1600200"/>
            <a:ext cx="3566160" cy="365760"/>
          </a:xfrm>
          <a:prstGeom prst="rect">
            <a:avLst/>
          </a:prstGeom>
          <a:noFill/>
        </p:spPr>
        <p:txBody>
          <a:bodyPr wrap="square" lIns="36576" tIns="18288" rIns="36576" bIns="18288" anchor="t">
            <a:spAutoFit/>
          </a:bodyPr>
          <a:lstStyle/>
          <a:p>
            <a:pPr algn="l"/>
            <a:r>
              <a:rPr sz="1250" b="1">
                <a:solidFill>
                  <a:srgbClr val="101A3C"/>
                </a:solidFill>
                <a:latin typeface="Segoe UI"/>
              </a:rPr>
              <a:t>Microsoft Foundry architecture</a:t>
            </a:r>
          </a:p>
        </p:txBody>
      </p:sp>
      <p:sp>
        <p:nvSpPr>
          <p:cNvPr id="44" name="TextBox 43"/>
          <p:cNvSpPr txBox="1"/>
          <p:nvPr/>
        </p:nvSpPr>
        <p:spPr>
          <a:xfrm>
            <a:off x="4754879" y="1618488"/>
            <a:ext cx="1143000" cy="274320"/>
          </a:xfrm>
          <a:prstGeom prst="rect">
            <a:avLst/>
          </a:prstGeom>
          <a:noFill/>
        </p:spPr>
        <p:txBody>
          <a:bodyPr wrap="square" lIns="36576" tIns="18288" rIns="36576" bIns="18288" anchor="t">
            <a:spAutoFit/>
          </a:bodyPr>
          <a:lstStyle/>
          <a:p>
            <a:pPr algn="r"/>
            <a:r>
              <a:rPr sz="900" b="0">
                <a:solidFill>
                  <a:srgbClr val="44495B"/>
                </a:solidFill>
                <a:latin typeface="Segoe UI"/>
              </a:rPr>
              <a:t>Slides 3–6</a:t>
            </a:r>
          </a:p>
        </p:txBody>
      </p:sp>
      <p:sp>
        <p:nvSpPr>
          <p:cNvPr id="45" name="TextBox 44"/>
          <p:cNvSpPr txBox="1"/>
          <p:nvPr/>
        </p:nvSpPr>
        <p:spPr>
          <a:xfrm>
            <a:off x="1298448" y="1984248"/>
            <a:ext cx="4526280" cy="640080"/>
          </a:xfrm>
          <a:prstGeom prst="rect">
            <a:avLst/>
          </a:prstGeom>
          <a:noFill/>
        </p:spPr>
        <p:txBody>
          <a:bodyPr wrap="square" lIns="36576" tIns="18288" rIns="36576" bIns="18288" anchor="t">
            <a:spAutoFit/>
          </a:bodyPr>
          <a:lstStyle/>
          <a:p>
            <a:pPr algn="l"/>
            <a:r>
              <a:rPr sz="1000" b="0">
                <a:solidFill>
                  <a:srgbClr val="141B33"/>
                </a:solidFill>
                <a:latin typeface="Segoe UI"/>
              </a:rPr>
              <a:t>The AI app and agent factory: high-level and resource-level architecture · Baseline chat reference architecture · Foundry API, SDK and developer tooling</a:t>
            </a:r>
          </a:p>
        </p:txBody>
      </p:sp>
      <p:sp>
        <p:nvSpPr>
          <p:cNvPr id="46" name="Rectangle 45"/>
          <p:cNvSpPr/>
          <p:nvPr/>
        </p:nvSpPr>
        <p:spPr>
          <a:xfrm>
            <a:off x="6199632" y="1417320"/>
            <a:ext cx="5440680" cy="1280160"/>
          </a:xfrm>
          <a:prstGeom prst="rect">
            <a:avLst/>
          </a:prstGeom>
          <a:solidFill>
            <a:srgbClr val="F6F8FD"/>
          </a:solidFill>
          <a:ln w="9525">
            <a:solidFill>
              <a:srgbClr val="E1E7F4"/>
            </a:solidFill>
          </a:ln>
          <a:effectLst/>
        </p:spPr>
        <p:txBody>
          <a:bodyPr rtlCol="0" anchor="ctr"/>
          <a:lstStyle/>
          <a:p>
            <a:endParaRPr/>
          </a:p>
        </p:txBody>
      </p:sp>
      <p:sp>
        <p:nvSpPr>
          <p:cNvPr id="47" name="Rectangle 46"/>
          <p:cNvSpPr/>
          <p:nvPr/>
        </p:nvSpPr>
        <p:spPr>
          <a:xfrm>
            <a:off x="6199632" y="1417320"/>
            <a:ext cx="5440680" cy="36576"/>
          </a:xfrm>
          <a:prstGeom prst="rect">
            <a:avLst/>
          </a:prstGeom>
          <a:solidFill>
            <a:srgbClr val="00B39F"/>
          </a:solidFill>
          <a:ln>
            <a:noFill/>
          </a:ln>
          <a:effectLst/>
        </p:spPr>
        <p:txBody>
          <a:bodyPr rtlCol="0" anchor="ctr"/>
          <a:lstStyle/>
          <a:p>
            <a:endParaRPr/>
          </a:p>
        </p:txBody>
      </p:sp>
      <p:sp>
        <p:nvSpPr>
          <p:cNvPr id="48" name="TextBox 47"/>
          <p:cNvSpPr txBox="1"/>
          <p:nvPr/>
        </p:nvSpPr>
        <p:spPr>
          <a:xfrm>
            <a:off x="6309360" y="1563624"/>
            <a:ext cx="640080" cy="457200"/>
          </a:xfrm>
          <a:prstGeom prst="rect">
            <a:avLst/>
          </a:prstGeom>
          <a:noFill/>
        </p:spPr>
        <p:txBody>
          <a:bodyPr wrap="square" lIns="36576" tIns="18288" rIns="36576" bIns="18288" anchor="t">
            <a:spAutoFit/>
          </a:bodyPr>
          <a:lstStyle/>
          <a:p>
            <a:pPr algn="l"/>
            <a:r>
              <a:rPr sz="2000" b="1">
                <a:solidFill>
                  <a:srgbClr val="008173"/>
                </a:solidFill>
                <a:latin typeface="Segoe UI"/>
              </a:rPr>
              <a:t>02</a:t>
            </a:r>
          </a:p>
        </p:txBody>
      </p:sp>
      <p:sp>
        <p:nvSpPr>
          <p:cNvPr id="49" name="TextBox 48"/>
          <p:cNvSpPr txBox="1"/>
          <p:nvPr/>
        </p:nvSpPr>
        <p:spPr>
          <a:xfrm>
            <a:off x="6949440" y="1600200"/>
            <a:ext cx="3566160" cy="365760"/>
          </a:xfrm>
          <a:prstGeom prst="rect">
            <a:avLst/>
          </a:prstGeom>
          <a:noFill/>
        </p:spPr>
        <p:txBody>
          <a:bodyPr wrap="square" lIns="36576" tIns="18288" rIns="36576" bIns="18288" anchor="t">
            <a:spAutoFit/>
          </a:bodyPr>
          <a:lstStyle/>
          <a:p>
            <a:pPr algn="l"/>
            <a:r>
              <a:rPr sz="1250" b="1">
                <a:solidFill>
                  <a:srgbClr val="101A3C"/>
                </a:solidFill>
                <a:latin typeface="Segoe UI"/>
              </a:rPr>
              <a:t>Foundry Models</a:t>
            </a:r>
          </a:p>
        </p:txBody>
      </p:sp>
      <p:sp>
        <p:nvSpPr>
          <p:cNvPr id="50" name="TextBox 49"/>
          <p:cNvSpPr txBox="1"/>
          <p:nvPr/>
        </p:nvSpPr>
        <p:spPr>
          <a:xfrm>
            <a:off x="10405872" y="1618488"/>
            <a:ext cx="1143000" cy="274320"/>
          </a:xfrm>
          <a:prstGeom prst="rect">
            <a:avLst/>
          </a:prstGeom>
          <a:noFill/>
        </p:spPr>
        <p:txBody>
          <a:bodyPr wrap="square" lIns="36576" tIns="18288" rIns="36576" bIns="18288" anchor="t">
            <a:spAutoFit/>
          </a:bodyPr>
          <a:lstStyle/>
          <a:p>
            <a:pPr algn="r"/>
            <a:r>
              <a:rPr sz="900" b="0">
                <a:solidFill>
                  <a:srgbClr val="44495B"/>
                </a:solidFill>
                <a:latin typeface="Segoe UI"/>
              </a:rPr>
              <a:t>Slides 7–10</a:t>
            </a:r>
          </a:p>
        </p:txBody>
      </p:sp>
      <p:sp>
        <p:nvSpPr>
          <p:cNvPr id="51" name="TextBox 50"/>
          <p:cNvSpPr txBox="1"/>
          <p:nvPr/>
        </p:nvSpPr>
        <p:spPr>
          <a:xfrm>
            <a:off x="6949440" y="1984248"/>
            <a:ext cx="4526280" cy="640080"/>
          </a:xfrm>
          <a:prstGeom prst="rect">
            <a:avLst/>
          </a:prstGeom>
          <a:noFill/>
        </p:spPr>
        <p:txBody>
          <a:bodyPr wrap="square" lIns="36576" tIns="18288" rIns="36576" bIns="18288" anchor="t">
            <a:spAutoFit/>
          </a:bodyPr>
          <a:lstStyle/>
          <a:p>
            <a:pPr algn="l"/>
            <a:r>
              <a:rPr sz="1000" b="0">
                <a:solidFill>
                  <a:srgbClr val="141B33"/>
                </a:solidFill>
                <a:latin typeface="Segoe UI"/>
              </a:rPr>
              <a:t>Foundry Models sold by Azure and from partners · Deployment types, Priority and Flex processing · Model Router</a:t>
            </a:r>
          </a:p>
        </p:txBody>
      </p:sp>
      <p:sp>
        <p:nvSpPr>
          <p:cNvPr id="52" name="Rectangle 51"/>
          <p:cNvSpPr/>
          <p:nvPr/>
        </p:nvSpPr>
        <p:spPr>
          <a:xfrm>
            <a:off x="548640" y="2852928"/>
            <a:ext cx="5440680" cy="1280160"/>
          </a:xfrm>
          <a:prstGeom prst="rect">
            <a:avLst/>
          </a:prstGeom>
          <a:solidFill>
            <a:srgbClr val="F6F8FD"/>
          </a:solidFill>
          <a:ln w="9525">
            <a:solidFill>
              <a:srgbClr val="E1E7F4"/>
            </a:solidFill>
          </a:ln>
          <a:effectLst/>
        </p:spPr>
        <p:txBody>
          <a:bodyPr rtlCol="0" anchor="ctr"/>
          <a:lstStyle/>
          <a:p>
            <a:endParaRPr/>
          </a:p>
        </p:txBody>
      </p:sp>
      <p:sp>
        <p:nvSpPr>
          <p:cNvPr id="53" name="Rectangle 52"/>
          <p:cNvSpPr/>
          <p:nvPr/>
        </p:nvSpPr>
        <p:spPr>
          <a:xfrm>
            <a:off x="548640" y="2852928"/>
            <a:ext cx="5440680" cy="36576"/>
          </a:xfrm>
          <a:prstGeom prst="rect">
            <a:avLst/>
          </a:prstGeom>
          <a:solidFill>
            <a:srgbClr val="00B39F"/>
          </a:solidFill>
          <a:ln>
            <a:noFill/>
          </a:ln>
          <a:effectLst/>
        </p:spPr>
        <p:txBody>
          <a:bodyPr rtlCol="0" anchor="ctr"/>
          <a:lstStyle/>
          <a:p>
            <a:endParaRPr/>
          </a:p>
        </p:txBody>
      </p:sp>
      <p:sp>
        <p:nvSpPr>
          <p:cNvPr id="54" name="TextBox 53"/>
          <p:cNvSpPr txBox="1"/>
          <p:nvPr/>
        </p:nvSpPr>
        <p:spPr>
          <a:xfrm>
            <a:off x="658368" y="2999232"/>
            <a:ext cx="640080" cy="457200"/>
          </a:xfrm>
          <a:prstGeom prst="rect">
            <a:avLst/>
          </a:prstGeom>
          <a:noFill/>
        </p:spPr>
        <p:txBody>
          <a:bodyPr wrap="square" lIns="36576" tIns="18288" rIns="36576" bIns="18288" anchor="t">
            <a:spAutoFit/>
          </a:bodyPr>
          <a:lstStyle/>
          <a:p>
            <a:pPr algn="l"/>
            <a:r>
              <a:rPr sz="2000" b="1">
                <a:solidFill>
                  <a:srgbClr val="008173"/>
                </a:solidFill>
                <a:latin typeface="Segoe UI"/>
              </a:rPr>
              <a:t>03</a:t>
            </a:r>
          </a:p>
        </p:txBody>
      </p:sp>
      <p:sp>
        <p:nvSpPr>
          <p:cNvPr id="55" name="TextBox 54"/>
          <p:cNvSpPr txBox="1"/>
          <p:nvPr/>
        </p:nvSpPr>
        <p:spPr>
          <a:xfrm>
            <a:off x="1298448" y="3035808"/>
            <a:ext cx="3566160" cy="365760"/>
          </a:xfrm>
          <a:prstGeom prst="rect">
            <a:avLst/>
          </a:prstGeom>
          <a:noFill/>
        </p:spPr>
        <p:txBody>
          <a:bodyPr wrap="square" lIns="36576" tIns="18288" rIns="36576" bIns="18288" anchor="t">
            <a:spAutoFit/>
          </a:bodyPr>
          <a:lstStyle/>
          <a:p>
            <a:pPr algn="l"/>
            <a:r>
              <a:rPr sz="1250" b="1">
                <a:solidFill>
                  <a:srgbClr val="101A3C"/>
                </a:solidFill>
                <a:latin typeface="Segoe UI"/>
              </a:rPr>
              <a:t>Foundry Tools and Microsoft IQ</a:t>
            </a:r>
          </a:p>
        </p:txBody>
      </p:sp>
      <p:sp>
        <p:nvSpPr>
          <p:cNvPr id="56" name="TextBox 55"/>
          <p:cNvSpPr txBox="1"/>
          <p:nvPr/>
        </p:nvSpPr>
        <p:spPr>
          <a:xfrm>
            <a:off x="4754879" y="3054096"/>
            <a:ext cx="1143000" cy="274320"/>
          </a:xfrm>
          <a:prstGeom prst="rect">
            <a:avLst/>
          </a:prstGeom>
          <a:noFill/>
        </p:spPr>
        <p:txBody>
          <a:bodyPr wrap="square" lIns="36576" tIns="18288" rIns="36576" bIns="18288" anchor="t">
            <a:spAutoFit/>
          </a:bodyPr>
          <a:lstStyle/>
          <a:p>
            <a:pPr algn="r"/>
            <a:r>
              <a:rPr sz="900" b="0">
                <a:solidFill>
                  <a:srgbClr val="44495B"/>
                </a:solidFill>
                <a:latin typeface="Segoe UI"/>
              </a:rPr>
              <a:t>Slides 11–13</a:t>
            </a:r>
          </a:p>
        </p:txBody>
      </p:sp>
      <p:sp>
        <p:nvSpPr>
          <p:cNvPr id="57" name="TextBox 56"/>
          <p:cNvSpPr txBox="1"/>
          <p:nvPr/>
        </p:nvSpPr>
        <p:spPr>
          <a:xfrm>
            <a:off x="1298448" y="3419856"/>
            <a:ext cx="4526280" cy="640080"/>
          </a:xfrm>
          <a:prstGeom prst="rect">
            <a:avLst/>
          </a:prstGeom>
          <a:noFill/>
        </p:spPr>
        <p:txBody>
          <a:bodyPr wrap="square" lIns="36576" tIns="18288" rIns="36576" bIns="18288" anchor="t">
            <a:spAutoFit/>
          </a:bodyPr>
          <a:lstStyle/>
          <a:p>
            <a:pPr algn="l"/>
            <a:r>
              <a:rPr sz="1000" b="0">
                <a:solidFill>
                  <a:srgbClr val="141B33"/>
                </a:solidFill>
                <a:latin typeface="Segoe UI"/>
              </a:rPr>
              <a:t>Tools, Toolboxes and Skills · Foundry IQ knowledge bases and agentic retrieval · Work IQ and Fabric IQ</a:t>
            </a:r>
          </a:p>
        </p:txBody>
      </p:sp>
      <p:sp>
        <p:nvSpPr>
          <p:cNvPr id="58" name="Rectangle 57"/>
          <p:cNvSpPr/>
          <p:nvPr/>
        </p:nvSpPr>
        <p:spPr>
          <a:xfrm>
            <a:off x="6199632" y="2852928"/>
            <a:ext cx="5440680" cy="1280160"/>
          </a:xfrm>
          <a:prstGeom prst="rect">
            <a:avLst/>
          </a:prstGeom>
          <a:solidFill>
            <a:srgbClr val="F6F8FD"/>
          </a:solidFill>
          <a:ln w="9525">
            <a:solidFill>
              <a:srgbClr val="E1E7F4"/>
            </a:solidFill>
          </a:ln>
          <a:effectLst/>
        </p:spPr>
        <p:txBody>
          <a:bodyPr rtlCol="0" anchor="ctr"/>
          <a:lstStyle/>
          <a:p>
            <a:endParaRPr/>
          </a:p>
        </p:txBody>
      </p:sp>
      <p:sp>
        <p:nvSpPr>
          <p:cNvPr id="59" name="Rectangle 58"/>
          <p:cNvSpPr/>
          <p:nvPr/>
        </p:nvSpPr>
        <p:spPr>
          <a:xfrm>
            <a:off x="6199632" y="2852928"/>
            <a:ext cx="5440680" cy="36576"/>
          </a:xfrm>
          <a:prstGeom prst="rect">
            <a:avLst/>
          </a:prstGeom>
          <a:solidFill>
            <a:srgbClr val="00B39F"/>
          </a:solidFill>
          <a:ln>
            <a:noFill/>
          </a:ln>
          <a:effectLst/>
        </p:spPr>
        <p:txBody>
          <a:bodyPr rtlCol="0" anchor="ctr"/>
          <a:lstStyle/>
          <a:p>
            <a:endParaRPr/>
          </a:p>
        </p:txBody>
      </p:sp>
      <p:sp>
        <p:nvSpPr>
          <p:cNvPr id="60" name="TextBox 59"/>
          <p:cNvSpPr txBox="1"/>
          <p:nvPr/>
        </p:nvSpPr>
        <p:spPr>
          <a:xfrm>
            <a:off x="6309360" y="2999232"/>
            <a:ext cx="640080" cy="457200"/>
          </a:xfrm>
          <a:prstGeom prst="rect">
            <a:avLst/>
          </a:prstGeom>
          <a:noFill/>
        </p:spPr>
        <p:txBody>
          <a:bodyPr wrap="square" lIns="36576" tIns="18288" rIns="36576" bIns="18288" anchor="t">
            <a:spAutoFit/>
          </a:bodyPr>
          <a:lstStyle/>
          <a:p>
            <a:pPr algn="l"/>
            <a:r>
              <a:rPr sz="2000" b="1">
                <a:solidFill>
                  <a:srgbClr val="008173"/>
                </a:solidFill>
                <a:latin typeface="Segoe UI"/>
              </a:rPr>
              <a:t>04</a:t>
            </a:r>
          </a:p>
        </p:txBody>
      </p:sp>
      <p:sp>
        <p:nvSpPr>
          <p:cNvPr id="61" name="TextBox 60"/>
          <p:cNvSpPr txBox="1"/>
          <p:nvPr/>
        </p:nvSpPr>
        <p:spPr>
          <a:xfrm>
            <a:off x="6949440" y="3035808"/>
            <a:ext cx="3566160" cy="365760"/>
          </a:xfrm>
          <a:prstGeom prst="rect">
            <a:avLst/>
          </a:prstGeom>
          <a:noFill/>
        </p:spPr>
        <p:txBody>
          <a:bodyPr wrap="square" lIns="36576" tIns="18288" rIns="36576" bIns="18288" anchor="t">
            <a:spAutoFit/>
          </a:bodyPr>
          <a:lstStyle/>
          <a:p>
            <a:pPr algn="l"/>
            <a:r>
              <a:rPr sz="1250" b="1">
                <a:solidFill>
                  <a:srgbClr val="101A3C"/>
                </a:solidFill>
                <a:latin typeface="Segoe UI"/>
              </a:rPr>
              <a:t>Agent Service and Agent Framework</a:t>
            </a:r>
          </a:p>
        </p:txBody>
      </p:sp>
      <p:sp>
        <p:nvSpPr>
          <p:cNvPr id="62" name="TextBox 61"/>
          <p:cNvSpPr txBox="1"/>
          <p:nvPr/>
        </p:nvSpPr>
        <p:spPr>
          <a:xfrm>
            <a:off x="10405872" y="3054096"/>
            <a:ext cx="1143000" cy="274320"/>
          </a:xfrm>
          <a:prstGeom prst="rect">
            <a:avLst/>
          </a:prstGeom>
          <a:noFill/>
        </p:spPr>
        <p:txBody>
          <a:bodyPr wrap="square" lIns="36576" tIns="18288" rIns="36576" bIns="18288" anchor="t">
            <a:spAutoFit/>
          </a:bodyPr>
          <a:lstStyle/>
          <a:p>
            <a:pPr algn="r"/>
            <a:r>
              <a:rPr sz="900" b="0">
                <a:solidFill>
                  <a:srgbClr val="44495B"/>
                </a:solidFill>
                <a:latin typeface="Segoe UI"/>
              </a:rPr>
              <a:t>Slides 14–19</a:t>
            </a:r>
          </a:p>
        </p:txBody>
      </p:sp>
      <p:sp>
        <p:nvSpPr>
          <p:cNvPr id="63" name="TextBox 62"/>
          <p:cNvSpPr txBox="1"/>
          <p:nvPr/>
        </p:nvSpPr>
        <p:spPr>
          <a:xfrm>
            <a:off x="6949440" y="3419856"/>
            <a:ext cx="4526280" cy="640080"/>
          </a:xfrm>
          <a:prstGeom prst="rect">
            <a:avLst/>
          </a:prstGeom>
          <a:noFill/>
        </p:spPr>
        <p:txBody>
          <a:bodyPr wrap="square" lIns="36576" tIns="18288" rIns="36576" bIns="18288" anchor="t">
            <a:spAutoFit/>
          </a:bodyPr>
          <a:lstStyle/>
          <a:p>
            <a:pPr algn="l"/>
            <a:r>
              <a:rPr sz="1000" b="0">
                <a:solidFill>
                  <a:srgbClr val="141B33"/>
                </a:solidFill>
                <a:latin typeface="Segoe UI"/>
              </a:rPr>
              <a:t>Agent Service, protocols and APIs · Publishing to Teams and Microsoft 365 · Agent Service compared with Microsoft Agent Framework · Routines · Long-running agents</a:t>
            </a:r>
          </a:p>
        </p:txBody>
      </p:sp>
      <p:sp>
        <p:nvSpPr>
          <p:cNvPr id="64" name="Rectangle 63"/>
          <p:cNvSpPr/>
          <p:nvPr/>
        </p:nvSpPr>
        <p:spPr>
          <a:xfrm>
            <a:off x="548640" y="4288536"/>
            <a:ext cx="5440680" cy="1280160"/>
          </a:xfrm>
          <a:prstGeom prst="rect">
            <a:avLst/>
          </a:prstGeom>
          <a:solidFill>
            <a:srgbClr val="F6F8FD"/>
          </a:solidFill>
          <a:ln w="9525">
            <a:solidFill>
              <a:srgbClr val="E1E7F4"/>
            </a:solidFill>
          </a:ln>
          <a:effectLst/>
        </p:spPr>
        <p:txBody>
          <a:bodyPr rtlCol="0" anchor="ctr"/>
          <a:lstStyle/>
          <a:p>
            <a:endParaRPr/>
          </a:p>
        </p:txBody>
      </p:sp>
      <p:sp>
        <p:nvSpPr>
          <p:cNvPr id="65" name="Rectangle 64"/>
          <p:cNvSpPr/>
          <p:nvPr/>
        </p:nvSpPr>
        <p:spPr>
          <a:xfrm>
            <a:off x="548640" y="4288536"/>
            <a:ext cx="5440680" cy="36576"/>
          </a:xfrm>
          <a:prstGeom prst="rect">
            <a:avLst/>
          </a:prstGeom>
          <a:solidFill>
            <a:srgbClr val="00B39F"/>
          </a:solidFill>
          <a:ln>
            <a:noFill/>
          </a:ln>
          <a:effectLst/>
        </p:spPr>
        <p:txBody>
          <a:bodyPr rtlCol="0" anchor="ctr"/>
          <a:lstStyle/>
          <a:p>
            <a:endParaRPr/>
          </a:p>
        </p:txBody>
      </p:sp>
      <p:sp>
        <p:nvSpPr>
          <p:cNvPr id="66" name="TextBox 65"/>
          <p:cNvSpPr txBox="1"/>
          <p:nvPr/>
        </p:nvSpPr>
        <p:spPr>
          <a:xfrm>
            <a:off x="658368" y="4434840"/>
            <a:ext cx="640080" cy="457200"/>
          </a:xfrm>
          <a:prstGeom prst="rect">
            <a:avLst/>
          </a:prstGeom>
          <a:noFill/>
        </p:spPr>
        <p:txBody>
          <a:bodyPr wrap="square" lIns="36576" tIns="18288" rIns="36576" bIns="18288" anchor="t">
            <a:spAutoFit/>
          </a:bodyPr>
          <a:lstStyle/>
          <a:p>
            <a:pPr algn="l"/>
            <a:r>
              <a:rPr sz="2000" b="1">
                <a:solidFill>
                  <a:srgbClr val="008173"/>
                </a:solidFill>
                <a:latin typeface="Segoe UI"/>
              </a:rPr>
              <a:t>05</a:t>
            </a:r>
          </a:p>
        </p:txBody>
      </p:sp>
      <p:sp>
        <p:nvSpPr>
          <p:cNvPr id="67" name="TextBox 66"/>
          <p:cNvSpPr txBox="1"/>
          <p:nvPr/>
        </p:nvSpPr>
        <p:spPr>
          <a:xfrm>
            <a:off x="1298448" y="4471416"/>
            <a:ext cx="3566160" cy="365760"/>
          </a:xfrm>
          <a:prstGeom prst="rect">
            <a:avLst/>
          </a:prstGeom>
          <a:noFill/>
        </p:spPr>
        <p:txBody>
          <a:bodyPr wrap="square" lIns="36576" tIns="18288" rIns="36576" bIns="18288" anchor="t">
            <a:spAutoFit/>
          </a:bodyPr>
          <a:lstStyle/>
          <a:p>
            <a:pPr algn="l"/>
            <a:r>
              <a:rPr sz="1250" b="1">
                <a:solidFill>
                  <a:srgbClr val="101A3C"/>
                </a:solidFill>
                <a:latin typeface="Segoe UI"/>
              </a:rPr>
              <a:t>Foundry Control Plane</a:t>
            </a:r>
          </a:p>
        </p:txBody>
      </p:sp>
      <p:sp>
        <p:nvSpPr>
          <p:cNvPr id="68" name="TextBox 67"/>
          <p:cNvSpPr txBox="1"/>
          <p:nvPr/>
        </p:nvSpPr>
        <p:spPr>
          <a:xfrm>
            <a:off x="4754879" y="4489703"/>
            <a:ext cx="1143000" cy="274320"/>
          </a:xfrm>
          <a:prstGeom prst="rect">
            <a:avLst/>
          </a:prstGeom>
          <a:noFill/>
        </p:spPr>
        <p:txBody>
          <a:bodyPr wrap="square" lIns="36576" tIns="18288" rIns="36576" bIns="18288" anchor="t">
            <a:spAutoFit/>
          </a:bodyPr>
          <a:lstStyle/>
          <a:p>
            <a:pPr algn="r"/>
            <a:r>
              <a:rPr sz="900" b="0">
                <a:solidFill>
                  <a:srgbClr val="44495B"/>
                </a:solidFill>
                <a:latin typeface="Segoe UI"/>
              </a:rPr>
              <a:t>Slides 20–23</a:t>
            </a:r>
          </a:p>
        </p:txBody>
      </p:sp>
      <p:sp>
        <p:nvSpPr>
          <p:cNvPr id="69" name="TextBox 68"/>
          <p:cNvSpPr txBox="1"/>
          <p:nvPr/>
        </p:nvSpPr>
        <p:spPr>
          <a:xfrm>
            <a:off x="1298448" y="4855464"/>
            <a:ext cx="4526280" cy="640080"/>
          </a:xfrm>
          <a:prstGeom prst="rect">
            <a:avLst/>
          </a:prstGeom>
          <a:noFill/>
        </p:spPr>
        <p:txBody>
          <a:bodyPr wrap="square" lIns="36576" tIns="18288" rIns="36576" bIns="18288" anchor="t">
            <a:spAutoFit/>
          </a:bodyPr>
          <a:lstStyle/>
          <a:p>
            <a:pPr algn="l"/>
            <a:r>
              <a:rPr sz="1000" b="0">
                <a:solidFill>
                  <a:srgbClr val="141B33"/>
                </a:solidFill>
                <a:latin typeface="Segoe UI"/>
              </a:rPr>
              <a:t>Operate view · Guardrails and Azure AI Content Safety · Evaluations · Tracing with OpenTelemetry</a:t>
            </a:r>
          </a:p>
        </p:txBody>
      </p:sp>
      <p:sp>
        <p:nvSpPr>
          <p:cNvPr id="70" name="Rectangle 69"/>
          <p:cNvSpPr/>
          <p:nvPr/>
        </p:nvSpPr>
        <p:spPr>
          <a:xfrm>
            <a:off x="6199632" y="4288536"/>
            <a:ext cx="5440680" cy="1280160"/>
          </a:xfrm>
          <a:prstGeom prst="rect">
            <a:avLst/>
          </a:prstGeom>
          <a:solidFill>
            <a:srgbClr val="F6F8FD"/>
          </a:solidFill>
          <a:ln w="9525">
            <a:solidFill>
              <a:srgbClr val="E1E7F4"/>
            </a:solidFill>
          </a:ln>
          <a:effectLst/>
        </p:spPr>
        <p:txBody>
          <a:bodyPr rtlCol="0" anchor="ctr"/>
          <a:lstStyle/>
          <a:p>
            <a:endParaRPr/>
          </a:p>
        </p:txBody>
      </p:sp>
      <p:sp>
        <p:nvSpPr>
          <p:cNvPr id="71" name="Rectangle 70"/>
          <p:cNvSpPr/>
          <p:nvPr/>
        </p:nvSpPr>
        <p:spPr>
          <a:xfrm>
            <a:off x="6199632" y="4288536"/>
            <a:ext cx="5440680" cy="36576"/>
          </a:xfrm>
          <a:prstGeom prst="rect">
            <a:avLst/>
          </a:prstGeom>
          <a:solidFill>
            <a:srgbClr val="101A3C"/>
          </a:solidFill>
          <a:ln>
            <a:noFill/>
          </a:ln>
          <a:effectLst/>
        </p:spPr>
        <p:txBody>
          <a:bodyPr rtlCol="0" anchor="ctr"/>
          <a:lstStyle/>
          <a:p>
            <a:endParaRPr/>
          </a:p>
        </p:txBody>
      </p:sp>
      <p:sp>
        <p:nvSpPr>
          <p:cNvPr id="72" name="TextBox 71"/>
          <p:cNvSpPr txBox="1"/>
          <p:nvPr/>
        </p:nvSpPr>
        <p:spPr>
          <a:xfrm>
            <a:off x="6309360" y="4434840"/>
            <a:ext cx="640080" cy="457200"/>
          </a:xfrm>
          <a:prstGeom prst="rect">
            <a:avLst/>
          </a:prstGeom>
          <a:noFill/>
        </p:spPr>
        <p:txBody>
          <a:bodyPr wrap="square" lIns="36576" tIns="18288" rIns="36576" bIns="18288" anchor="t">
            <a:spAutoFit/>
          </a:bodyPr>
          <a:lstStyle/>
          <a:p>
            <a:pPr algn="l"/>
            <a:r>
              <a:rPr sz="2000" b="1">
                <a:solidFill>
                  <a:srgbClr val="008173"/>
                </a:solidFill>
                <a:latin typeface="Segoe UI"/>
              </a:rPr>
              <a:t>06</a:t>
            </a:r>
          </a:p>
        </p:txBody>
      </p:sp>
      <p:sp>
        <p:nvSpPr>
          <p:cNvPr id="73" name="TextBox 72"/>
          <p:cNvSpPr txBox="1"/>
          <p:nvPr/>
        </p:nvSpPr>
        <p:spPr>
          <a:xfrm>
            <a:off x="6949440" y="4471416"/>
            <a:ext cx="3566160" cy="365760"/>
          </a:xfrm>
          <a:prstGeom prst="rect">
            <a:avLst/>
          </a:prstGeom>
          <a:noFill/>
        </p:spPr>
        <p:txBody>
          <a:bodyPr wrap="square" lIns="36576" tIns="18288" rIns="36576" bIns="18288" anchor="t">
            <a:spAutoFit/>
          </a:bodyPr>
          <a:lstStyle/>
          <a:p>
            <a:pPr algn="l"/>
            <a:r>
              <a:rPr sz="1250" b="1">
                <a:solidFill>
                  <a:srgbClr val="101A3C"/>
                </a:solidFill>
                <a:latin typeface="Segoe UI"/>
              </a:rPr>
              <a:t>Wrap-up</a:t>
            </a:r>
          </a:p>
        </p:txBody>
      </p:sp>
      <p:sp>
        <p:nvSpPr>
          <p:cNvPr id="74" name="TextBox 73"/>
          <p:cNvSpPr txBox="1"/>
          <p:nvPr/>
        </p:nvSpPr>
        <p:spPr>
          <a:xfrm>
            <a:off x="10405872" y="4489703"/>
            <a:ext cx="1143000" cy="274320"/>
          </a:xfrm>
          <a:prstGeom prst="rect">
            <a:avLst/>
          </a:prstGeom>
          <a:noFill/>
        </p:spPr>
        <p:txBody>
          <a:bodyPr wrap="square" lIns="36576" tIns="18288" rIns="36576" bIns="18288" anchor="t">
            <a:spAutoFit/>
          </a:bodyPr>
          <a:lstStyle/>
          <a:p>
            <a:pPr algn="r"/>
            <a:r>
              <a:rPr sz="900" b="0">
                <a:solidFill>
                  <a:srgbClr val="44495B"/>
                </a:solidFill>
                <a:latin typeface="Segoe UI"/>
              </a:rPr>
              <a:t>Slides 24–25</a:t>
            </a:r>
          </a:p>
        </p:txBody>
      </p:sp>
      <p:sp>
        <p:nvSpPr>
          <p:cNvPr id="75" name="TextBox 74"/>
          <p:cNvSpPr txBox="1"/>
          <p:nvPr/>
        </p:nvSpPr>
        <p:spPr>
          <a:xfrm>
            <a:off x="6949440" y="4855464"/>
            <a:ext cx="4526280" cy="640080"/>
          </a:xfrm>
          <a:prstGeom prst="rect">
            <a:avLst/>
          </a:prstGeom>
          <a:noFill/>
        </p:spPr>
        <p:txBody>
          <a:bodyPr wrap="square" lIns="36576" tIns="18288" rIns="36576" bIns="18288" anchor="t">
            <a:spAutoFit/>
          </a:bodyPr>
          <a:lstStyle/>
          <a:p>
            <a:pPr algn="l"/>
            <a:r>
              <a:rPr sz="1000" b="0">
                <a:solidFill>
                  <a:srgbClr val="141B33"/>
                </a:solidFill>
                <a:latin typeface="Segoe UI"/>
              </a:rPr>
              <a:t>What changed since Build 2026 · 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1   ·   H I G H   L E V E L</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Microsoft Foundry — high-level architecture</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One Foundry resource: Models, Agent Service, Tools and Knowledge as the building blocks, with the Control Plane across all of them.</a:t>
            </a:r>
          </a:p>
          <a:p>
            <a:endParaRPr sz="1200">
              <a:solidFill>
                <a:srgbClr val="44495B"/>
              </a:solidFill>
              <a:latin typeface="Segoe UI"/>
            </a:endParaRPr>
          </a:p>
        </p:txBody>
      </p:sp>
      <p:sp>
        <p:nvSpPr>
          <p:cNvPr id="40" name="Shape"/>
          <p:cNvSpPr/>
          <p:nvPr/>
        </p:nvSpPr>
        <p:spPr>
          <a:xfrm>
            <a:off x="548640" y="5687568"/>
            <a:ext cx="11094720" cy="9525"/>
          </a:xfrm>
          <a:prstGeom prst="rect">
            <a:avLst/>
          </a:prstGeom>
          <a:solidFill>
            <a:srgbClr val="E1E7F4"/>
          </a:solidFill>
        </p:spPr>
        <p:txBody>
          <a:bodyPr/>
          <a:lstStyle/>
          <a:p>
            <a:endParaRPr/>
          </a:p>
        </p:txBody>
      </p:sp>
      <p:sp>
        <p:nvSpPr>
          <p:cNvPr id="41"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learn.microsoft.com/azure/foundry/what-is-foundry</a:t>
            </a:r>
          </a:p>
          <a:p>
            <a:endParaRPr sz="900">
              <a:solidFill>
                <a:srgbClr val="44495B"/>
              </a:solidFill>
              <a:latin typeface="Segoe UI"/>
            </a:endParaRPr>
          </a:p>
        </p:txBody>
      </p:sp>
      <p:sp>
        <p:nvSpPr>
          <p:cNvPr id="42"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3</a:t>
            </a:r>
          </a:p>
        </p:txBody>
      </p:sp>
      <p:sp>
        <p:nvSpPr>
          <p:cNvPr id="43" name="Rectangle 42"/>
          <p:cNvSpPr/>
          <p:nvPr/>
        </p:nvSpPr>
        <p:spPr>
          <a:xfrm>
            <a:off x="548640" y="1298448"/>
            <a:ext cx="8823960" cy="786384"/>
          </a:xfrm>
          <a:prstGeom prst="rect">
            <a:avLst/>
          </a:prstGeom>
          <a:solidFill>
            <a:srgbClr val="EBEFF7"/>
          </a:solidFill>
          <a:ln>
            <a:noFill/>
          </a:ln>
          <a:effectLst/>
        </p:spPr>
        <p:txBody>
          <a:bodyPr rtlCol="0" anchor="ctr"/>
          <a:lstStyle/>
          <a:p>
            <a:pPr algn="ctr"/>
            <a:endParaRPr/>
          </a:p>
        </p:txBody>
      </p:sp>
      <p:sp>
        <p:nvSpPr>
          <p:cNvPr id="44" name="TextBox 43"/>
          <p:cNvSpPr txBox="1"/>
          <p:nvPr/>
        </p:nvSpPr>
        <p:spPr>
          <a:xfrm>
            <a:off x="594360" y="1316736"/>
            <a:ext cx="3657600" cy="219456"/>
          </a:xfrm>
          <a:prstGeom prst="rect">
            <a:avLst/>
          </a:prstGeom>
          <a:noFill/>
        </p:spPr>
        <p:txBody>
          <a:bodyPr wrap="square" lIns="54864" tIns="18288" rIns="54864" bIns="18288" anchor="ctr">
            <a:spAutoFit/>
          </a:bodyPr>
          <a:lstStyle/>
          <a:p>
            <a:pPr algn="l"/>
            <a:r>
              <a:rPr sz="800" b="1" spc="200">
                <a:solidFill>
                  <a:srgbClr val="008173"/>
                </a:solidFill>
                <a:latin typeface="Segoe UI"/>
              </a:rPr>
              <a:t>BUILD SURFACES AND DEVELOPER TOOLS</a:t>
            </a:r>
          </a:p>
        </p:txBody>
      </p:sp>
      <p:sp>
        <p:nvSpPr>
          <p:cNvPr id="45" name="Rectangle 44"/>
          <p:cNvSpPr/>
          <p:nvPr/>
        </p:nvSpPr>
        <p:spPr>
          <a:xfrm>
            <a:off x="594360" y="1554480"/>
            <a:ext cx="1394460" cy="457200"/>
          </a:xfrm>
          <a:prstGeom prst="rect">
            <a:avLst/>
          </a:prstGeom>
          <a:solidFill>
            <a:srgbClr val="FFFFFF"/>
          </a:solidFill>
          <a:ln w="9525">
            <a:solidFill>
              <a:srgbClr val="E1E7F4"/>
            </a:solidFill>
          </a:ln>
          <a:effectLst/>
        </p:spPr>
        <p:txBody>
          <a:bodyPr rtlCol="0" anchor="ctr"/>
          <a:lstStyle/>
          <a:p>
            <a:pPr algn="ctr"/>
            <a:endParaRPr/>
          </a:p>
        </p:txBody>
      </p:sp>
      <p:sp>
        <p:nvSpPr>
          <p:cNvPr id="46" name="TextBox 45"/>
          <p:cNvSpPr txBox="1"/>
          <p:nvPr/>
        </p:nvSpPr>
        <p:spPr>
          <a:xfrm>
            <a:off x="594360" y="1554480"/>
            <a:ext cx="1394460" cy="457200"/>
          </a:xfrm>
          <a:prstGeom prst="rect">
            <a:avLst/>
          </a:prstGeom>
          <a:noFill/>
        </p:spPr>
        <p:txBody>
          <a:bodyPr wrap="square" lIns="54864" tIns="18288" rIns="54864" bIns="18288" anchor="ctr">
            <a:spAutoFit/>
          </a:bodyPr>
          <a:lstStyle/>
          <a:p>
            <a:pPr algn="ctr"/>
            <a:r>
              <a:rPr sz="850" b="0">
                <a:solidFill>
                  <a:srgbClr val="141B33"/>
                </a:solidFill>
                <a:latin typeface="Segoe UI"/>
              </a:rPr>
              <a:t>Foundry portal and playgrounds</a:t>
            </a:r>
          </a:p>
        </p:txBody>
      </p:sp>
      <p:sp>
        <p:nvSpPr>
          <p:cNvPr id="47" name="Rectangle 46"/>
          <p:cNvSpPr/>
          <p:nvPr/>
        </p:nvSpPr>
        <p:spPr>
          <a:xfrm>
            <a:off x="2061972" y="1554480"/>
            <a:ext cx="1394460" cy="457200"/>
          </a:xfrm>
          <a:prstGeom prst="rect">
            <a:avLst/>
          </a:prstGeom>
          <a:solidFill>
            <a:srgbClr val="FFFFFF"/>
          </a:solidFill>
          <a:ln w="9525">
            <a:solidFill>
              <a:srgbClr val="E1E7F4"/>
            </a:solidFill>
          </a:ln>
          <a:effectLst/>
        </p:spPr>
        <p:txBody>
          <a:bodyPr rtlCol="0" anchor="ctr"/>
          <a:lstStyle/>
          <a:p>
            <a:pPr algn="ctr"/>
            <a:endParaRPr/>
          </a:p>
        </p:txBody>
      </p:sp>
      <p:sp>
        <p:nvSpPr>
          <p:cNvPr id="48" name="TextBox 47"/>
          <p:cNvSpPr txBox="1"/>
          <p:nvPr/>
        </p:nvSpPr>
        <p:spPr>
          <a:xfrm>
            <a:off x="2061972" y="1554480"/>
            <a:ext cx="1394460" cy="457200"/>
          </a:xfrm>
          <a:prstGeom prst="rect">
            <a:avLst/>
          </a:prstGeom>
          <a:noFill/>
        </p:spPr>
        <p:txBody>
          <a:bodyPr wrap="square" lIns="54864" tIns="18288" rIns="54864" bIns="18288" anchor="ctr">
            <a:spAutoFit/>
          </a:bodyPr>
          <a:lstStyle/>
          <a:p>
            <a:pPr algn="ctr"/>
            <a:r>
              <a:rPr sz="850" b="0">
                <a:solidFill>
                  <a:srgbClr val="141B33"/>
                </a:solidFill>
                <a:latin typeface="Segoe UI"/>
              </a:rPr>
              <a:t>Foundry SDKs — Python, C#, JavaScript, Java</a:t>
            </a:r>
          </a:p>
        </p:txBody>
      </p:sp>
      <p:sp>
        <p:nvSpPr>
          <p:cNvPr id="49" name="Rectangle 48"/>
          <p:cNvSpPr/>
          <p:nvPr/>
        </p:nvSpPr>
        <p:spPr>
          <a:xfrm>
            <a:off x="3529584" y="1554480"/>
            <a:ext cx="1394460" cy="457200"/>
          </a:xfrm>
          <a:prstGeom prst="rect">
            <a:avLst/>
          </a:prstGeom>
          <a:solidFill>
            <a:srgbClr val="FFFFFF"/>
          </a:solidFill>
          <a:ln w="9525">
            <a:solidFill>
              <a:srgbClr val="E1E7F4"/>
            </a:solidFill>
          </a:ln>
          <a:effectLst/>
        </p:spPr>
        <p:txBody>
          <a:bodyPr rtlCol="0" anchor="ctr"/>
          <a:lstStyle/>
          <a:p>
            <a:pPr algn="ctr"/>
            <a:endParaRPr/>
          </a:p>
        </p:txBody>
      </p:sp>
      <p:sp>
        <p:nvSpPr>
          <p:cNvPr id="50" name="TextBox 49"/>
          <p:cNvSpPr txBox="1"/>
          <p:nvPr/>
        </p:nvSpPr>
        <p:spPr>
          <a:xfrm>
            <a:off x="3529584" y="1554480"/>
            <a:ext cx="1394460" cy="457200"/>
          </a:xfrm>
          <a:prstGeom prst="rect">
            <a:avLst/>
          </a:prstGeom>
          <a:noFill/>
        </p:spPr>
        <p:txBody>
          <a:bodyPr wrap="square" lIns="54864" tIns="18288" rIns="54864" bIns="18288" anchor="ctr">
            <a:spAutoFit/>
          </a:bodyPr>
          <a:lstStyle/>
          <a:p>
            <a:pPr algn="ctr"/>
            <a:r>
              <a:rPr sz="850" b="0">
                <a:solidFill>
                  <a:srgbClr val="141B33"/>
                </a:solidFill>
                <a:latin typeface="Segoe UI"/>
              </a:rPr>
              <a:t>Visual Studio Code extension</a:t>
            </a:r>
          </a:p>
        </p:txBody>
      </p:sp>
      <p:sp>
        <p:nvSpPr>
          <p:cNvPr id="51" name="Rectangle 50"/>
          <p:cNvSpPr/>
          <p:nvPr/>
        </p:nvSpPr>
        <p:spPr>
          <a:xfrm>
            <a:off x="4997196" y="1554480"/>
            <a:ext cx="1394460" cy="457200"/>
          </a:xfrm>
          <a:prstGeom prst="rect">
            <a:avLst/>
          </a:prstGeom>
          <a:solidFill>
            <a:srgbClr val="FFFFFF"/>
          </a:solidFill>
          <a:ln w="9525">
            <a:solidFill>
              <a:srgbClr val="E1E7F4"/>
            </a:solidFill>
          </a:ln>
          <a:effectLst/>
        </p:spPr>
        <p:txBody>
          <a:bodyPr rtlCol="0" anchor="ctr"/>
          <a:lstStyle/>
          <a:p>
            <a:pPr algn="ctr"/>
            <a:endParaRPr/>
          </a:p>
        </p:txBody>
      </p:sp>
      <p:sp>
        <p:nvSpPr>
          <p:cNvPr id="52" name="TextBox 51"/>
          <p:cNvSpPr txBox="1"/>
          <p:nvPr/>
        </p:nvSpPr>
        <p:spPr>
          <a:xfrm>
            <a:off x="4997196" y="1554480"/>
            <a:ext cx="1394460" cy="457200"/>
          </a:xfrm>
          <a:prstGeom prst="rect">
            <a:avLst/>
          </a:prstGeom>
          <a:noFill/>
        </p:spPr>
        <p:txBody>
          <a:bodyPr wrap="square" lIns="54864" tIns="18288" rIns="54864" bIns="18288" anchor="ctr">
            <a:spAutoFit/>
          </a:bodyPr>
          <a:lstStyle/>
          <a:p>
            <a:pPr algn="ctr"/>
            <a:r>
              <a:rPr sz="850" b="0">
                <a:solidFill>
                  <a:srgbClr val="141B33"/>
                </a:solidFill>
                <a:latin typeface="Segoe UI"/>
              </a:rPr>
              <a:t>Azure Developer CLI (azd) extension*</a:t>
            </a:r>
          </a:p>
        </p:txBody>
      </p:sp>
      <p:sp>
        <p:nvSpPr>
          <p:cNvPr id="53" name="Rectangle 52"/>
          <p:cNvSpPr/>
          <p:nvPr/>
        </p:nvSpPr>
        <p:spPr>
          <a:xfrm>
            <a:off x="6464808" y="1554480"/>
            <a:ext cx="1394460" cy="457200"/>
          </a:xfrm>
          <a:prstGeom prst="rect">
            <a:avLst/>
          </a:prstGeom>
          <a:solidFill>
            <a:srgbClr val="FFFFFF"/>
          </a:solidFill>
          <a:ln w="9525">
            <a:solidFill>
              <a:srgbClr val="E1E7F4"/>
            </a:solidFill>
          </a:ln>
          <a:effectLst/>
        </p:spPr>
        <p:txBody>
          <a:bodyPr rtlCol="0" anchor="ctr"/>
          <a:lstStyle/>
          <a:p>
            <a:pPr algn="ctr"/>
            <a:endParaRPr/>
          </a:p>
        </p:txBody>
      </p:sp>
      <p:sp>
        <p:nvSpPr>
          <p:cNvPr id="54" name="TextBox 53"/>
          <p:cNvSpPr txBox="1"/>
          <p:nvPr/>
        </p:nvSpPr>
        <p:spPr>
          <a:xfrm>
            <a:off x="6464808" y="1554480"/>
            <a:ext cx="1394460" cy="457200"/>
          </a:xfrm>
          <a:prstGeom prst="rect">
            <a:avLst/>
          </a:prstGeom>
          <a:noFill/>
        </p:spPr>
        <p:txBody>
          <a:bodyPr wrap="square" lIns="54864" tIns="18288" rIns="54864" bIns="18288" anchor="ctr">
            <a:spAutoFit/>
          </a:bodyPr>
          <a:lstStyle/>
          <a:p>
            <a:pPr algn="ctr"/>
            <a:r>
              <a:rPr sz="850" b="0">
                <a:solidFill>
                  <a:srgbClr val="141B33"/>
                </a:solidFill>
                <a:latin typeface="Segoe UI"/>
              </a:rPr>
              <a:t>Foundry MCP Server and Skill*  (coding agents)</a:t>
            </a:r>
          </a:p>
        </p:txBody>
      </p:sp>
      <p:sp>
        <p:nvSpPr>
          <p:cNvPr id="55" name="Rectangle 54"/>
          <p:cNvSpPr/>
          <p:nvPr/>
        </p:nvSpPr>
        <p:spPr>
          <a:xfrm>
            <a:off x="7932420" y="1554480"/>
            <a:ext cx="1394460" cy="457200"/>
          </a:xfrm>
          <a:prstGeom prst="rect">
            <a:avLst/>
          </a:prstGeom>
          <a:solidFill>
            <a:srgbClr val="FFFFFF"/>
          </a:solidFill>
          <a:ln w="9525">
            <a:solidFill>
              <a:srgbClr val="E1E7F4"/>
            </a:solidFill>
          </a:ln>
          <a:effectLst/>
        </p:spPr>
        <p:txBody>
          <a:bodyPr rtlCol="0" anchor="ctr"/>
          <a:lstStyle/>
          <a:p>
            <a:pPr algn="ctr"/>
            <a:endParaRPr/>
          </a:p>
        </p:txBody>
      </p:sp>
      <p:sp>
        <p:nvSpPr>
          <p:cNvPr id="56" name="TextBox 55"/>
          <p:cNvSpPr txBox="1"/>
          <p:nvPr/>
        </p:nvSpPr>
        <p:spPr>
          <a:xfrm>
            <a:off x="7932420" y="1554480"/>
            <a:ext cx="1394460" cy="457200"/>
          </a:xfrm>
          <a:prstGeom prst="rect">
            <a:avLst/>
          </a:prstGeom>
          <a:noFill/>
        </p:spPr>
        <p:txBody>
          <a:bodyPr wrap="square" lIns="54864" tIns="18288" rIns="54864" bIns="18288" anchor="ctr">
            <a:spAutoFit/>
          </a:bodyPr>
          <a:lstStyle/>
          <a:p>
            <a:pPr algn="ctr"/>
            <a:r>
              <a:rPr sz="850" b="0">
                <a:solidFill>
                  <a:srgbClr val="141B33"/>
                </a:solidFill>
                <a:latin typeface="Segoe UI"/>
              </a:rPr>
              <a:t>Templates, samples, LangChain / LangGraph</a:t>
            </a:r>
          </a:p>
        </p:txBody>
      </p:sp>
      <p:sp>
        <p:nvSpPr>
          <p:cNvPr id="57" name="Rectangle 56"/>
          <p:cNvSpPr/>
          <p:nvPr/>
        </p:nvSpPr>
        <p:spPr>
          <a:xfrm>
            <a:off x="548640" y="2194560"/>
            <a:ext cx="2855976" cy="2103120"/>
          </a:xfrm>
          <a:prstGeom prst="rect">
            <a:avLst/>
          </a:prstGeom>
          <a:solidFill>
            <a:srgbClr val="F6F8FD"/>
          </a:solidFill>
          <a:ln w="9525">
            <a:solidFill>
              <a:srgbClr val="E1E7F4"/>
            </a:solidFill>
          </a:ln>
          <a:effectLst/>
        </p:spPr>
        <p:txBody>
          <a:bodyPr rtlCol="0" anchor="ctr"/>
          <a:lstStyle/>
          <a:p>
            <a:pPr algn="ctr"/>
            <a:endParaRPr/>
          </a:p>
        </p:txBody>
      </p:sp>
      <p:sp>
        <p:nvSpPr>
          <p:cNvPr id="58" name="Rectangle 57"/>
          <p:cNvSpPr/>
          <p:nvPr/>
        </p:nvSpPr>
        <p:spPr>
          <a:xfrm>
            <a:off x="548640" y="2194560"/>
            <a:ext cx="2855976" cy="310896"/>
          </a:xfrm>
          <a:prstGeom prst="rect">
            <a:avLst/>
          </a:prstGeom>
          <a:solidFill>
            <a:srgbClr val="101A3C"/>
          </a:solidFill>
          <a:ln>
            <a:noFill/>
          </a:ln>
          <a:effectLst/>
        </p:spPr>
        <p:txBody>
          <a:bodyPr rtlCol="0" anchor="ctr"/>
          <a:lstStyle/>
          <a:p>
            <a:pPr algn="ctr"/>
            <a:endParaRPr/>
          </a:p>
        </p:txBody>
      </p:sp>
      <p:sp>
        <p:nvSpPr>
          <p:cNvPr id="59" name="TextBox 58"/>
          <p:cNvSpPr txBox="1"/>
          <p:nvPr/>
        </p:nvSpPr>
        <p:spPr>
          <a:xfrm>
            <a:off x="548640" y="2194560"/>
            <a:ext cx="2855976" cy="310896"/>
          </a:xfrm>
          <a:prstGeom prst="rect">
            <a:avLst/>
          </a:prstGeom>
          <a:noFill/>
        </p:spPr>
        <p:txBody>
          <a:bodyPr wrap="square" lIns="54864" tIns="18288" rIns="54864" bIns="18288" anchor="ctr">
            <a:spAutoFit/>
          </a:bodyPr>
          <a:lstStyle/>
          <a:p>
            <a:pPr algn="ctr"/>
            <a:r>
              <a:rPr sz="1100" b="1">
                <a:solidFill>
                  <a:srgbClr val="FFFFFF"/>
                </a:solidFill>
                <a:latin typeface="Segoe UI"/>
              </a:rPr>
              <a:t>Foundry Models</a:t>
            </a:r>
          </a:p>
        </p:txBody>
      </p:sp>
      <p:sp>
        <p:nvSpPr>
          <p:cNvPr id="60" name="Rectangle 59"/>
          <p:cNvSpPr/>
          <p:nvPr/>
        </p:nvSpPr>
        <p:spPr>
          <a:xfrm>
            <a:off x="621792" y="2587751"/>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61" name="TextBox 60"/>
          <p:cNvSpPr txBox="1"/>
          <p:nvPr/>
        </p:nvSpPr>
        <p:spPr>
          <a:xfrm>
            <a:off x="640080" y="2596895"/>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Model catalog</a:t>
            </a:r>
            <a:r>
              <a:rPr sz="900" b="0">
                <a:solidFill>
                  <a:srgbClr val="141B33"/>
                </a:solidFill>
                <a:latin typeface="Segoe UI"/>
              </a:rPr>
              <a:t>  sold by Azure · partners and community</a:t>
            </a:r>
          </a:p>
        </p:txBody>
      </p:sp>
      <p:sp>
        <p:nvSpPr>
          <p:cNvPr id="62" name="Rectangle 61"/>
          <p:cNvSpPr/>
          <p:nvPr/>
        </p:nvSpPr>
        <p:spPr>
          <a:xfrm>
            <a:off x="621792" y="3026663"/>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63" name="TextBox 62"/>
          <p:cNvSpPr txBox="1"/>
          <p:nvPr/>
        </p:nvSpPr>
        <p:spPr>
          <a:xfrm>
            <a:off x="640080" y="3035807"/>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Deployment types</a:t>
            </a:r>
            <a:r>
              <a:rPr sz="900" b="0">
                <a:solidFill>
                  <a:srgbClr val="141B33"/>
                </a:solidFill>
                <a:latin typeface="Segoe UI"/>
              </a:rPr>
              <a:t>  standard · provisioned · batch · priority processing</a:t>
            </a:r>
          </a:p>
        </p:txBody>
      </p:sp>
      <p:sp>
        <p:nvSpPr>
          <p:cNvPr id="64" name="Rectangle 63"/>
          <p:cNvSpPr/>
          <p:nvPr/>
        </p:nvSpPr>
        <p:spPr>
          <a:xfrm>
            <a:off x="621792" y="3465575"/>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65" name="TextBox 64"/>
          <p:cNvSpPr txBox="1"/>
          <p:nvPr/>
        </p:nvSpPr>
        <p:spPr>
          <a:xfrm>
            <a:off x="640080" y="3474719"/>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Model router</a:t>
            </a:r>
            <a:r>
              <a:rPr sz="900" b="0">
                <a:solidFill>
                  <a:srgbClr val="141B33"/>
                </a:solidFill>
                <a:latin typeface="Segoe UI"/>
              </a:rPr>
              <a:t>  benchmarks and leaderboards</a:t>
            </a:r>
          </a:p>
        </p:txBody>
      </p:sp>
      <p:sp>
        <p:nvSpPr>
          <p:cNvPr id="66" name="Rectangle 65"/>
          <p:cNvSpPr/>
          <p:nvPr/>
        </p:nvSpPr>
        <p:spPr>
          <a:xfrm>
            <a:off x="621792" y="3904487"/>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67" name="TextBox 66"/>
          <p:cNvSpPr txBox="1"/>
          <p:nvPr/>
        </p:nvSpPr>
        <p:spPr>
          <a:xfrm>
            <a:off x="640080" y="3913631"/>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Fine-tuning</a:t>
            </a:r>
            <a:r>
              <a:rPr sz="900" b="0">
                <a:solidFill>
                  <a:srgbClr val="141B33"/>
                </a:solidFill>
                <a:latin typeface="Segoe UI"/>
              </a:rPr>
              <a:t>  managed compute* · instant access models*</a:t>
            </a:r>
          </a:p>
        </p:txBody>
      </p:sp>
      <p:sp>
        <p:nvSpPr>
          <p:cNvPr id="68" name="Rectangle 67"/>
          <p:cNvSpPr/>
          <p:nvPr/>
        </p:nvSpPr>
        <p:spPr>
          <a:xfrm>
            <a:off x="3532632" y="2194560"/>
            <a:ext cx="2855976" cy="2103120"/>
          </a:xfrm>
          <a:prstGeom prst="rect">
            <a:avLst/>
          </a:prstGeom>
          <a:solidFill>
            <a:srgbClr val="F6F8FD"/>
          </a:solidFill>
          <a:ln w="9525">
            <a:solidFill>
              <a:srgbClr val="E1E7F4"/>
            </a:solidFill>
          </a:ln>
          <a:effectLst/>
        </p:spPr>
        <p:txBody>
          <a:bodyPr rtlCol="0" anchor="ctr"/>
          <a:lstStyle/>
          <a:p>
            <a:pPr algn="ctr"/>
            <a:endParaRPr/>
          </a:p>
        </p:txBody>
      </p:sp>
      <p:sp>
        <p:nvSpPr>
          <p:cNvPr id="69" name="Rectangle 68"/>
          <p:cNvSpPr/>
          <p:nvPr/>
        </p:nvSpPr>
        <p:spPr>
          <a:xfrm>
            <a:off x="3532632" y="2194560"/>
            <a:ext cx="2855976" cy="310896"/>
          </a:xfrm>
          <a:prstGeom prst="rect">
            <a:avLst/>
          </a:prstGeom>
          <a:solidFill>
            <a:srgbClr val="101A3C"/>
          </a:solidFill>
          <a:ln>
            <a:noFill/>
          </a:ln>
          <a:effectLst/>
        </p:spPr>
        <p:txBody>
          <a:bodyPr rtlCol="0" anchor="ctr"/>
          <a:lstStyle/>
          <a:p>
            <a:pPr algn="ctr"/>
            <a:endParaRPr/>
          </a:p>
        </p:txBody>
      </p:sp>
      <p:sp>
        <p:nvSpPr>
          <p:cNvPr id="70" name="TextBox 69"/>
          <p:cNvSpPr txBox="1"/>
          <p:nvPr/>
        </p:nvSpPr>
        <p:spPr>
          <a:xfrm>
            <a:off x="3532632" y="2194560"/>
            <a:ext cx="2855976" cy="310896"/>
          </a:xfrm>
          <a:prstGeom prst="rect">
            <a:avLst/>
          </a:prstGeom>
          <a:noFill/>
        </p:spPr>
        <p:txBody>
          <a:bodyPr wrap="square" lIns="54864" tIns="18288" rIns="54864" bIns="18288" anchor="ctr">
            <a:spAutoFit/>
          </a:bodyPr>
          <a:lstStyle/>
          <a:p>
            <a:pPr algn="ctr"/>
            <a:r>
              <a:rPr sz="1100" b="1">
                <a:solidFill>
                  <a:srgbClr val="FFFFFF"/>
                </a:solidFill>
                <a:latin typeface="Segoe UI"/>
              </a:rPr>
              <a:t>Foundry Agent Service</a:t>
            </a:r>
          </a:p>
        </p:txBody>
      </p:sp>
      <p:sp>
        <p:nvSpPr>
          <p:cNvPr id="71" name="Rectangle 70"/>
          <p:cNvSpPr/>
          <p:nvPr/>
        </p:nvSpPr>
        <p:spPr>
          <a:xfrm>
            <a:off x="3605784" y="2587751"/>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72" name="TextBox 71"/>
          <p:cNvSpPr txBox="1"/>
          <p:nvPr/>
        </p:nvSpPr>
        <p:spPr>
          <a:xfrm>
            <a:off x="3624072" y="2596895"/>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Agent Runtime</a:t>
            </a:r>
            <a:r>
              <a:rPr sz="900" b="0">
                <a:solidFill>
                  <a:srgbClr val="141B33"/>
                </a:solidFill>
                <a:latin typeface="Segoe UI"/>
              </a:rPr>
              <a:t>  prompt agents · hosted agents · Responses API</a:t>
            </a:r>
          </a:p>
        </p:txBody>
      </p:sp>
      <p:sp>
        <p:nvSpPr>
          <p:cNvPr id="73" name="Rectangle 72"/>
          <p:cNvSpPr/>
          <p:nvPr/>
        </p:nvSpPr>
        <p:spPr>
          <a:xfrm>
            <a:off x="3605784" y="3026663"/>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74" name="TextBox 73"/>
          <p:cNvSpPr txBox="1"/>
          <p:nvPr/>
        </p:nvSpPr>
        <p:spPr>
          <a:xfrm>
            <a:off x="3624072" y="3035807"/>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Workflows and routines</a:t>
            </a:r>
            <a:r>
              <a:rPr sz="900" b="0">
                <a:solidFill>
                  <a:srgbClr val="141B33"/>
                </a:solidFill>
                <a:latin typeface="Segoe UI"/>
              </a:rPr>
              <a:t>  agent-to-agent (A2A)*</a:t>
            </a:r>
          </a:p>
        </p:txBody>
      </p:sp>
      <p:sp>
        <p:nvSpPr>
          <p:cNvPr id="75" name="Rectangle 74"/>
          <p:cNvSpPr/>
          <p:nvPr/>
        </p:nvSpPr>
        <p:spPr>
          <a:xfrm>
            <a:off x="3605784" y="3465575"/>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76" name="TextBox 75"/>
          <p:cNvSpPr txBox="1"/>
          <p:nvPr/>
        </p:nvSpPr>
        <p:spPr>
          <a:xfrm>
            <a:off x="3624072" y="3474719"/>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Agent identity</a:t>
            </a:r>
            <a:r>
              <a:rPr sz="900" b="0">
                <a:solidFill>
                  <a:srgbClr val="141B33"/>
                </a:solidFill>
                <a:latin typeface="Segoe UI"/>
              </a:rPr>
              <a:t>  Microsoft Entra · versioning and stable endpoints</a:t>
            </a:r>
          </a:p>
        </p:txBody>
      </p:sp>
      <p:sp>
        <p:nvSpPr>
          <p:cNvPr id="77" name="Rectangle 76"/>
          <p:cNvSpPr/>
          <p:nvPr/>
        </p:nvSpPr>
        <p:spPr>
          <a:xfrm>
            <a:off x="3605784" y="3904487"/>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78" name="TextBox 77"/>
          <p:cNvSpPr txBox="1"/>
          <p:nvPr/>
        </p:nvSpPr>
        <p:spPr>
          <a:xfrm>
            <a:off x="3624072" y="3913631"/>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Publishing</a:t>
            </a:r>
            <a:r>
              <a:rPr sz="900" b="0">
                <a:solidFill>
                  <a:srgbClr val="141B33"/>
                </a:solidFill>
                <a:latin typeface="Segoe UI"/>
              </a:rPr>
              <a:t>  Teams · Microsoft 365 Copilot · Entra Agent Registry</a:t>
            </a:r>
          </a:p>
        </p:txBody>
      </p:sp>
      <p:sp>
        <p:nvSpPr>
          <p:cNvPr id="79" name="Rectangle 78"/>
          <p:cNvSpPr/>
          <p:nvPr/>
        </p:nvSpPr>
        <p:spPr>
          <a:xfrm>
            <a:off x="6516624" y="2194560"/>
            <a:ext cx="2855976" cy="2103120"/>
          </a:xfrm>
          <a:prstGeom prst="rect">
            <a:avLst/>
          </a:prstGeom>
          <a:solidFill>
            <a:srgbClr val="F6F8FD"/>
          </a:solidFill>
          <a:ln w="9525">
            <a:solidFill>
              <a:srgbClr val="E1E7F4"/>
            </a:solidFill>
          </a:ln>
          <a:effectLst/>
        </p:spPr>
        <p:txBody>
          <a:bodyPr rtlCol="0" anchor="ctr"/>
          <a:lstStyle/>
          <a:p>
            <a:pPr algn="ctr"/>
            <a:endParaRPr/>
          </a:p>
        </p:txBody>
      </p:sp>
      <p:sp>
        <p:nvSpPr>
          <p:cNvPr id="80" name="Rectangle 79"/>
          <p:cNvSpPr/>
          <p:nvPr/>
        </p:nvSpPr>
        <p:spPr>
          <a:xfrm>
            <a:off x="6516624" y="2194560"/>
            <a:ext cx="2855976" cy="310896"/>
          </a:xfrm>
          <a:prstGeom prst="rect">
            <a:avLst/>
          </a:prstGeom>
          <a:solidFill>
            <a:srgbClr val="101A3C"/>
          </a:solidFill>
          <a:ln>
            <a:noFill/>
          </a:ln>
          <a:effectLst/>
        </p:spPr>
        <p:txBody>
          <a:bodyPr rtlCol="0" anchor="ctr"/>
          <a:lstStyle/>
          <a:p>
            <a:pPr algn="ctr"/>
            <a:endParaRPr/>
          </a:p>
        </p:txBody>
      </p:sp>
      <p:sp>
        <p:nvSpPr>
          <p:cNvPr id="81" name="TextBox 80"/>
          <p:cNvSpPr txBox="1"/>
          <p:nvPr/>
        </p:nvSpPr>
        <p:spPr>
          <a:xfrm>
            <a:off x="6516624" y="2194560"/>
            <a:ext cx="2855976" cy="310896"/>
          </a:xfrm>
          <a:prstGeom prst="rect">
            <a:avLst/>
          </a:prstGeom>
          <a:noFill/>
        </p:spPr>
        <p:txBody>
          <a:bodyPr wrap="square" lIns="54864" tIns="18288" rIns="54864" bIns="18288" anchor="ctr">
            <a:spAutoFit/>
          </a:bodyPr>
          <a:lstStyle/>
          <a:p>
            <a:pPr algn="ctr"/>
            <a:r>
              <a:rPr sz="1100" b="1">
                <a:solidFill>
                  <a:srgbClr val="FFFFFF"/>
                </a:solidFill>
                <a:latin typeface="Segoe UI"/>
              </a:rPr>
              <a:t>Foundry Tools and Knowledge</a:t>
            </a:r>
          </a:p>
        </p:txBody>
      </p:sp>
      <p:sp>
        <p:nvSpPr>
          <p:cNvPr id="82" name="Rectangle 81"/>
          <p:cNvSpPr/>
          <p:nvPr/>
        </p:nvSpPr>
        <p:spPr>
          <a:xfrm>
            <a:off x="6589776" y="2587751"/>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83" name="TextBox 82"/>
          <p:cNvSpPr txBox="1"/>
          <p:nvPr/>
        </p:nvSpPr>
        <p:spPr>
          <a:xfrm>
            <a:off x="6608064" y="2596895"/>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Toolbox</a:t>
            </a:r>
            <a:r>
              <a:rPr sz="900" b="0">
                <a:solidFill>
                  <a:srgbClr val="141B33"/>
                </a:solidFill>
                <a:latin typeface="Segoe UI"/>
              </a:rPr>
              <a:t>  tool catalog · MCP · OpenAPI · functions · code interpreter · file search · web search</a:t>
            </a:r>
          </a:p>
        </p:txBody>
      </p:sp>
      <p:sp>
        <p:nvSpPr>
          <p:cNvPr id="84" name="Rectangle 83"/>
          <p:cNvSpPr/>
          <p:nvPr/>
        </p:nvSpPr>
        <p:spPr>
          <a:xfrm>
            <a:off x="6589776" y="3026663"/>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85" name="TextBox 84"/>
          <p:cNvSpPr txBox="1"/>
          <p:nvPr/>
        </p:nvSpPr>
        <p:spPr>
          <a:xfrm>
            <a:off x="6608064" y="3035807"/>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Skills*</a:t>
            </a:r>
            <a:r>
              <a:rPr sz="900" b="0">
                <a:solidFill>
                  <a:srgbClr val="141B33"/>
                </a:solidFill>
                <a:latin typeface="Segoe UI"/>
              </a:rPr>
              <a:t>  browser automation* · computer use* · image generation*</a:t>
            </a:r>
          </a:p>
        </p:txBody>
      </p:sp>
      <p:sp>
        <p:nvSpPr>
          <p:cNvPr id="86" name="Rectangle 85"/>
          <p:cNvSpPr/>
          <p:nvPr/>
        </p:nvSpPr>
        <p:spPr>
          <a:xfrm>
            <a:off x="6589776" y="3465575"/>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87" name="TextBox 86"/>
          <p:cNvSpPr txBox="1"/>
          <p:nvPr/>
        </p:nvSpPr>
        <p:spPr>
          <a:xfrm>
            <a:off x="6608064" y="3474719"/>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Knowledge</a:t>
            </a:r>
            <a:r>
              <a:rPr sz="900" b="0">
                <a:solidFill>
                  <a:srgbClr val="141B33"/>
                </a:solidFill>
                <a:latin typeface="Segoe UI"/>
              </a:rPr>
              <a:t>  Foundry IQ · Work IQ* · Fabric IQ* · memory*</a:t>
            </a:r>
          </a:p>
        </p:txBody>
      </p:sp>
      <p:sp>
        <p:nvSpPr>
          <p:cNvPr id="88" name="Rectangle 87"/>
          <p:cNvSpPr/>
          <p:nvPr/>
        </p:nvSpPr>
        <p:spPr>
          <a:xfrm>
            <a:off x="6589776" y="3904487"/>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89" name="TextBox 88"/>
          <p:cNvSpPr txBox="1"/>
          <p:nvPr/>
        </p:nvSpPr>
        <p:spPr>
          <a:xfrm>
            <a:off x="6608064" y="3913631"/>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Foundry Tools</a:t>
            </a:r>
            <a:r>
              <a:rPr sz="900" b="0">
                <a:solidFill>
                  <a:srgbClr val="141B33"/>
                </a:solidFill>
                <a:latin typeface="Segoe UI"/>
              </a:rPr>
              <a:t>  Speech · Language · Translator</a:t>
            </a:r>
          </a:p>
        </p:txBody>
      </p:sp>
      <p:sp>
        <p:nvSpPr>
          <p:cNvPr id="90" name="Rectangle 89"/>
          <p:cNvSpPr/>
          <p:nvPr/>
        </p:nvSpPr>
        <p:spPr>
          <a:xfrm>
            <a:off x="548640" y="4407407"/>
            <a:ext cx="8823960" cy="841248"/>
          </a:xfrm>
          <a:prstGeom prst="rect">
            <a:avLst/>
          </a:prstGeom>
          <a:solidFill>
            <a:srgbClr val="0B1229"/>
          </a:solidFill>
          <a:ln>
            <a:noFill/>
          </a:ln>
          <a:effectLst/>
        </p:spPr>
        <p:txBody>
          <a:bodyPr rtlCol="0" anchor="ctr"/>
          <a:lstStyle/>
          <a:p>
            <a:pPr algn="ctr"/>
            <a:endParaRPr/>
          </a:p>
        </p:txBody>
      </p:sp>
      <p:sp>
        <p:nvSpPr>
          <p:cNvPr id="91" name="TextBox 90"/>
          <p:cNvSpPr txBox="1"/>
          <p:nvPr/>
        </p:nvSpPr>
        <p:spPr>
          <a:xfrm>
            <a:off x="594360" y="4407407"/>
            <a:ext cx="1600200" cy="841248"/>
          </a:xfrm>
          <a:prstGeom prst="rect">
            <a:avLst/>
          </a:prstGeom>
          <a:noFill/>
        </p:spPr>
        <p:txBody>
          <a:bodyPr wrap="square" lIns="54864" tIns="18288" rIns="54864" bIns="18288" anchor="ctr">
            <a:spAutoFit/>
          </a:bodyPr>
          <a:lstStyle/>
          <a:p>
            <a:pPr algn="l"/>
            <a:r>
              <a:rPr sz="1150" b="1">
                <a:solidFill>
                  <a:srgbClr val="FFFFFF"/>
                </a:solidFill>
                <a:latin typeface="Segoe UI"/>
              </a:rPr>
              <a:t>Foundry</a:t>
            </a:r>
          </a:p>
          <a:p>
            <a:pPr algn="l"/>
            <a:r>
              <a:rPr sz="1150" b="1">
                <a:solidFill>
                  <a:srgbClr val="FFFFFF"/>
                </a:solidFill>
                <a:latin typeface="Segoe UI"/>
              </a:rPr>
              <a:t>Control Plane</a:t>
            </a:r>
          </a:p>
        </p:txBody>
      </p:sp>
      <p:sp>
        <p:nvSpPr>
          <p:cNvPr id="92" name="TextBox 91"/>
          <p:cNvSpPr txBox="1"/>
          <p:nvPr/>
        </p:nvSpPr>
        <p:spPr>
          <a:xfrm>
            <a:off x="2240280" y="4462271"/>
            <a:ext cx="2255520" cy="731520"/>
          </a:xfrm>
          <a:prstGeom prst="rect">
            <a:avLst/>
          </a:prstGeom>
          <a:noFill/>
        </p:spPr>
        <p:txBody>
          <a:bodyPr wrap="square" lIns="54864" tIns="18288" rIns="54864" bIns="18288" anchor="ctr">
            <a:spAutoFit/>
          </a:bodyPr>
          <a:lstStyle/>
          <a:p>
            <a:pPr algn="l"/>
            <a:r>
              <a:rPr sz="850" b="1">
                <a:solidFill>
                  <a:srgbClr val="FFFFFF"/>
                </a:solidFill>
                <a:latin typeface="Segoe UI"/>
              </a:rPr>
              <a:t>Observability</a:t>
            </a:r>
          </a:p>
          <a:p>
            <a:pPr algn="l"/>
            <a:r>
              <a:rPr sz="850" b="0">
                <a:solidFill>
                  <a:srgbClr val="FFFFFF"/>
                </a:solidFill>
                <a:latin typeface="Segoe UI"/>
              </a:rPr>
              <a:t>tracing · agent monitoring dashboard* · evaluations and continuous evaluation · AI red teaming</a:t>
            </a:r>
          </a:p>
        </p:txBody>
      </p:sp>
      <p:sp>
        <p:nvSpPr>
          <p:cNvPr id="93" name="TextBox 92"/>
          <p:cNvSpPr txBox="1"/>
          <p:nvPr/>
        </p:nvSpPr>
        <p:spPr>
          <a:xfrm>
            <a:off x="4587240" y="4462271"/>
            <a:ext cx="2255520" cy="731520"/>
          </a:xfrm>
          <a:prstGeom prst="rect">
            <a:avLst/>
          </a:prstGeom>
          <a:noFill/>
        </p:spPr>
        <p:txBody>
          <a:bodyPr wrap="square" lIns="54864" tIns="18288" rIns="54864" bIns="18288" anchor="ctr">
            <a:spAutoFit/>
          </a:bodyPr>
          <a:lstStyle/>
          <a:p>
            <a:pPr algn="l"/>
            <a:r>
              <a:rPr sz="850" b="1">
                <a:solidFill>
                  <a:srgbClr val="FFFFFF"/>
                </a:solidFill>
                <a:latin typeface="Segoe UI"/>
              </a:rPr>
              <a:t>Trust and safety</a:t>
            </a:r>
          </a:p>
          <a:p>
            <a:pPr algn="l"/>
            <a:r>
              <a:rPr sz="850" b="0">
                <a:solidFill>
                  <a:srgbClr val="FFFFFF"/>
                </a:solidFill>
                <a:latin typeface="Segoe UI"/>
              </a:rPr>
              <a:t>guardrails and controls · Prompt Shields · groundedness · PII · task adherence · guided guardrail*</a:t>
            </a:r>
          </a:p>
        </p:txBody>
      </p:sp>
      <p:sp>
        <p:nvSpPr>
          <p:cNvPr id="94" name="TextBox 93"/>
          <p:cNvSpPr txBox="1"/>
          <p:nvPr/>
        </p:nvSpPr>
        <p:spPr>
          <a:xfrm>
            <a:off x="6934200" y="4462271"/>
            <a:ext cx="2255520" cy="731520"/>
          </a:xfrm>
          <a:prstGeom prst="rect">
            <a:avLst/>
          </a:prstGeom>
          <a:noFill/>
        </p:spPr>
        <p:txBody>
          <a:bodyPr wrap="square" lIns="54864" tIns="18288" rIns="54864" bIns="18288" anchor="ctr">
            <a:spAutoFit/>
          </a:bodyPr>
          <a:lstStyle/>
          <a:p>
            <a:pPr algn="l"/>
            <a:r>
              <a:rPr sz="850" b="1">
                <a:solidFill>
                  <a:srgbClr val="FFFFFF"/>
                </a:solidFill>
                <a:latin typeface="Segoe UI"/>
              </a:rPr>
              <a:t>Manage, secure and govern</a:t>
            </a:r>
          </a:p>
          <a:p>
            <a:pPr algn="l"/>
            <a:r>
              <a:rPr sz="850" b="0">
                <a:solidFill>
                  <a:srgbClr val="FFFFFF"/>
                </a:solidFill>
                <a:latin typeface="Segoe UI"/>
              </a:rPr>
              <a:t>Entra identity and Agent ID · RBAC · network isolation · customer-managed keys · Azure Policy · quota · AI gateway · Defender and Purview alerts</a:t>
            </a:r>
          </a:p>
        </p:txBody>
      </p:sp>
      <p:sp>
        <p:nvSpPr>
          <p:cNvPr id="95" name="Rectangle 94"/>
          <p:cNvSpPr/>
          <p:nvPr/>
        </p:nvSpPr>
        <p:spPr>
          <a:xfrm>
            <a:off x="548640" y="5321807"/>
            <a:ext cx="8823960" cy="274320"/>
          </a:xfrm>
          <a:prstGeom prst="rect">
            <a:avLst/>
          </a:prstGeom>
          <a:solidFill>
            <a:srgbClr val="EBEFF7"/>
          </a:solidFill>
          <a:ln>
            <a:noFill/>
          </a:ln>
          <a:effectLst/>
        </p:spPr>
        <p:txBody>
          <a:bodyPr rtlCol="0" anchor="ctr"/>
          <a:lstStyle/>
          <a:p>
            <a:pPr algn="ctr"/>
            <a:endParaRPr/>
          </a:p>
        </p:txBody>
      </p:sp>
      <p:sp>
        <p:nvSpPr>
          <p:cNvPr id="96" name="TextBox 95"/>
          <p:cNvSpPr txBox="1"/>
          <p:nvPr/>
        </p:nvSpPr>
        <p:spPr>
          <a:xfrm>
            <a:off x="548640" y="5321807"/>
            <a:ext cx="8823960" cy="274320"/>
          </a:xfrm>
          <a:prstGeom prst="rect">
            <a:avLst/>
          </a:prstGeom>
          <a:noFill/>
        </p:spPr>
        <p:txBody>
          <a:bodyPr wrap="square" lIns="54864" tIns="18288" rIns="54864" bIns="18288" anchor="ctr">
            <a:spAutoFit/>
          </a:bodyPr>
          <a:lstStyle/>
          <a:p>
            <a:pPr algn="ctr"/>
            <a:r>
              <a:rPr sz="850" b="1">
                <a:solidFill>
                  <a:srgbClr val="141B33"/>
                </a:solidFill>
                <a:latin typeface="Segoe UI"/>
              </a:rPr>
              <a:t>Foundry resource</a:t>
            </a:r>
            <a:r>
              <a:rPr sz="850" b="0">
                <a:solidFill>
                  <a:srgbClr val="141B33"/>
                </a:solidFill>
                <a:latin typeface="Segoe UI"/>
              </a:rPr>
              <a:t>  Microsoft.CognitiveServices/accounts, kind AIServices → projects → connections · one RBAC, networking and Azure Policy model under a single resource provider namespace</a:t>
            </a:r>
          </a:p>
        </p:txBody>
      </p:sp>
      <p:sp>
        <p:nvSpPr>
          <p:cNvPr id="97" name="Rectangle 96"/>
          <p:cNvSpPr/>
          <p:nvPr/>
        </p:nvSpPr>
        <p:spPr>
          <a:xfrm>
            <a:off x="9573768" y="1298448"/>
            <a:ext cx="2066543" cy="2999231"/>
          </a:xfrm>
          <a:prstGeom prst="rect">
            <a:avLst/>
          </a:prstGeom>
          <a:solidFill>
            <a:srgbClr val="F6F8FD"/>
          </a:solidFill>
          <a:ln w="9525">
            <a:solidFill>
              <a:srgbClr val="E1E7F4"/>
            </a:solidFill>
            <a:prstDash val="dash"/>
          </a:ln>
          <a:effectLst/>
        </p:spPr>
        <p:txBody>
          <a:bodyPr rtlCol="0" anchor="ctr"/>
          <a:lstStyle/>
          <a:p>
            <a:pPr algn="ctr"/>
            <a:endParaRPr/>
          </a:p>
        </p:txBody>
      </p:sp>
      <p:sp>
        <p:nvSpPr>
          <p:cNvPr id="98" name="Rectangle 97"/>
          <p:cNvSpPr/>
          <p:nvPr/>
        </p:nvSpPr>
        <p:spPr>
          <a:xfrm>
            <a:off x="9573768" y="1298448"/>
            <a:ext cx="2066543" cy="310896"/>
          </a:xfrm>
          <a:prstGeom prst="rect">
            <a:avLst/>
          </a:prstGeom>
          <a:solidFill>
            <a:srgbClr val="101A3C"/>
          </a:solidFill>
          <a:ln>
            <a:noFill/>
          </a:ln>
          <a:effectLst/>
        </p:spPr>
        <p:txBody>
          <a:bodyPr rtlCol="0" anchor="ctr"/>
          <a:lstStyle/>
          <a:p>
            <a:pPr algn="ctr"/>
            <a:endParaRPr/>
          </a:p>
        </p:txBody>
      </p:sp>
      <p:sp>
        <p:nvSpPr>
          <p:cNvPr id="99" name="TextBox 98"/>
          <p:cNvSpPr txBox="1"/>
          <p:nvPr/>
        </p:nvSpPr>
        <p:spPr>
          <a:xfrm>
            <a:off x="9573768" y="1298448"/>
            <a:ext cx="2066543" cy="310896"/>
          </a:xfrm>
          <a:prstGeom prst="rect">
            <a:avLst/>
          </a:prstGeom>
          <a:noFill/>
        </p:spPr>
        <p:txBody>
          <a:bodyPr wrap="square" lIns="54864" tIns="18288" rIns="54864" bIns="18288" anchor="ctr">
            <a:spAutoFit/>
          </a:bodyPr>
          <a:lstStyle/>
          <a:p>
            <a:pPr algn="ctr"/>
            <a:r>
              <a:rPr sz="1100" b="1">
                <a:solidFill>
                  <a:srgbClr val="FFFFFF"/>
                </a:solidFill>
                <a:latin typeface="Segoe UI"/>
              </a:rPr>
              <a:t>Foundry Local</a:t>
            </a:r>
          </a:p>
        </p:txBody>
      </p:sp>
      <p:sp>
        <p:nvSpPr>
          <p:cNvPr id="100" name="Rectangle 99"/>
          <p:cNvSpPr/>
          <p:nvPr/>
        </p:nvSpPr>
        <p:spPr>
          <a:xfrm>
            <a:off x="9646920" y="1691640"/>
            <a:ext cx="1920239" cy="384048"/>
          </a:xfrm>
          <a:prstGeom prst="rect">
            <a:avLst/>
          </a:prstGeom>
          <a:solidFill>
            <a:srgbClr val="FFFFFF"/>
          </a:solidFill>
          <a:ln w="9525">
            <a:solidFill>
              <a:srgbClr val="E1E7F4"/>
            </a:solidFill>
          </a:ln>
          <a:effectLst/>
        </p:spPr>
        <p:txBody>
          <a:bodyPr rtlCol="0" anchor="ctr"/>
          <a:lstStyle/>
          <a:p>
            <a:pPr algn="ctr"/>
            <a:endParaRPr/>
          </a:p>
        </p:txBody>
      </p:sp>
      <p:sp>
        <p:nvSpPr>
          <p:cNvPr id="101" name="TextBox 100"/>
          <p:cNvSpPr txBox="1"/>
          <p:nvPr/>
        </p:nvSpPr>
        <p:spPr>
          <a:xfrm>
            <a:off x="9665208" y="1700784"/>
            <a:ext cx="1883663" cy="365759"/>
          </a:xfrm>
          <a:prstGeom prst="rect">
            <a:avLst/>
          </a:prstGeom>
          <a:noFill/>
        </p:spPr>
        <p:txBody>
          <a:bodyPr wrap="square" lIns="54864" tIns="18288" rIns="54864" bIns="18288" anchor="ctr">
            <a:spAutoFit/>
          </a:bodyPr>
          <a:lstStyle/>
          <a:p>
            <a:pPr algn="l"/>
            <a:r>
              <a:rPr sz="900" b="1">
                <a:solidFill>
                  <a:srgbClr val="141B33"/>
                </a:solidFill>
                <a:latin typeface="Segoe UI"/>
              </a:rPr>
              <a:t>On-device inference</a:t>
            </a:r>
            <a:r>
              <a:rPr sz="900" b="0">
                <a:solidFill>
                  <a:srgbClr val="141B33"/>
                </a:solidFill>
                <a:latin typeface="Segoe UI"/>
              </a:rPr>
              <a:t>  Windows · macOS (Apple silicon) · Linux</a:t>
            </a:r>
          </a:p>
        </p:txBody>
      </p:sp>
      <p:sp>
        <p:nvSpPr>
          <p:cNvPr id="102" name="Rectangle 101"/>
          <p:cNvSpPr/>
          <p:nvPr/>
        </p:nvSpPr>
        <p:spPr>
          <a:xfrm>
            <a:off x="9646920" y="2130552"/>
            <a:ext cx="1920239" cy="384048"/>
          </a:xfrm>
          <a:prstGeom prst="rect">
            <a:avLst/>
          </a:prstGeom>
          <a:solidFill>
            <a:srgbClr val="FFFFFF"/>
          </a:solidFill>
          <a:ln w="9525">
            <a:solidFill>
              <a:srgbClr val="E1E7F4"/>
            </a:solidFill>
          </a:ln>
          <a:effectLst/>
        </p:spPr>
        <p:txBody>
          <a:bodyPr rtlCol="0" anchor="ctr"/>
          <a:lstStyle/>
          <a:p>
            <a:pPr algn="ctr"/>
            <a:endParaRPr/>
          </a:p>
        </p:txBody>
      </p:sp>
      <p:sp>
        <p:nvSpPr>
          <p:cNvPr id="103" name="TextBox 102"/>
          <p:cNvSpPr txBox="1"/>
          <p:nvPr/>
        </p:nvSpPr>
        <p:spPr>
          <a:xfrm>
            <a:off x="9665208" y="2139696"/>
            <a:ext cx="1883663" cy="365759"/>
          </a:xfrm>
          <a:prstGeom prst="rect">
            <a:avLst/>
          </a:prstGeom>
          <a:noFill/>
        </p:spPr>
        <p:txBody>
          <a:bodyPr wrap="square" lIns="54864" tIns="18288" rIns="54864" bIns="18288" anchor="ctr">
            <a:spAutoFit/>
          </a:bodyPr>
          <a:lstStyle/>
          <a:p>
            <a:pPr algn="l"/>
            <a:r>
              <a:rPr sz="900" b="1">
                <a:solidFill>
                  <a:srgbClr val="141B33"/>
                </a:solidFill>
                <a:latin typeface="Segoe UI"/>
              </a:rPr>
              <a:t>ONNX Runtime</a:t>
            </a:r>
            <a:r>
              <a:rPr sz="900" b="0">
                <a:solidFill>
                  <a:srgbClr val="141B33"/>
                </a:solidFill>
                <a:latin typeface="Segoe UI"/>
              </a:rPr>
              <a:t>  GPU, NPU or CPU selected automatically</a:t>
            </a:r>
          </a:p>
        </p:txBody>
      </p:sp>
      <p:sp>
        <p:nvSpPr>
          <p:cNvPr id="104" name="Rectangle 103"/>
          <p:cNvSpPr/>
          <p:nvPr/>
        </p:nvSpPr>
        <p:spPr>
          <a:xfrm>
            <a:off x="9646920" y="2569464"/>
            <a:ext cx="1920239" cy="384048"/>
          </a:xfrm>
          <a:prstGeom prst="rect">
            <a:avLst/>
          </a:prstGeom>
          <a:solidFill>
            <a:srgbClr val="FFFFFF"/>
          </a:solidFill>
          <a:ln w="9525">
            <a:solidFill>
              <a:srgbClr val="E1E7F4"/>
            </a:solidFill>
          </a:ln>
          <a:effectLst/>
        </p:spPr>
        <p:txBody>
          <a:bodyPr rtlCol="0" anchor="ctr"/>
          <a:lstStyle/>
          <a:p>
            <a:pPr algn="ctr"/>
            <a:endParaRPr/>
          </a:p>
        </p:txBody>
      </p:sp>
      <p:sp>
        <p:nvSpPr>
          <p:cNvPr id="105" name="TextBox 104"/>
          <p:cNvSpPr txBox="1"/>
          <p:nvPr/>
        </p:nvSpPr>
        <p:spPr>
          <a:xfrm>
            <a:off x="9665208" y="2578608"/>
            <a:ext cx="1883663" cy="365759"/>
          </a:xfrm>
          <a:prstGeom prst="rect">
            <a:avLst/>
          </a:prstGeom>
          <a:noFill/>
        </p:spPr>
        <p:txBody>
          <a:bodyPr wrap="square" lIns="54864" tIns="18288" rIns="54864" bIns="18288" anchor="ctr">
            <a:spAutoFit/>
          </a:bodyPr>
          <a:lstStyle/>
          <a:p>
            <a:pPr algn="l"/>
            <a:r>
              <a:rPr sz="900" b="1">
                <a:solidFill>
                  <a:srgbClr val="141B33"/>
                </a:solidFill>
                <a:latin typeface="Segoe UI"/>
              </a:rPr>
              <a:t>OpenAI-compatible API</a:t>
            </a:r>
            <a:r>
              <a:rPr sz="900" b="0">
                <a:solidFill>
                  <a:srgbClr val="141B33"/>
                </a:solidFill>
                <a:latin typeface="Segoe UI"/>
              </a:rPr>
              <a:t>  including the Responses API format</a:t>
            </a:r>
          </a:p>
        </p:txBody>
      </p:sp>
      <p:sp>
        <p:nvSpPr>
          <p:cNvPr id="106" name="Rectangle 105"/>
          <p:cNvSpPr/>
          <p:nvPr/>
        </p:nvSpPr>
        <p:spPr>
          <a:xfrm>
            <a:off x="9646920" y="3008376"/>
            <a:ext cx="1920239" cy="384048"/>
          </a:xfrm>
          <a:prstGeom prst="rect">
            <a:avLst/>
          </a:prstGeom>
          <a:solidFill>
            <a:srgbClr val="FFFFFF"/>
          </a:solidFill>
          <a:ln w="9525">
            <a:solidFill>
              <a:srgbClr val="E1E7F4"/>
            </a:solidFill>
          </a:ln>
          <a:effectLst/>
        </p:spPr>
        <p:txBody>
          <a:bodyPr rtlCol="0" anchor="ctr"/>
          <a:lstStyle/>
          <a:p>
            <a:pPr algn="ctr"/>
            <a:endParaRPr/>
          </a:p>
        </p:txBody>
      </p:sp>
      <p:sp>
        <p:nvSpPr>
          <p:cNvPr id="107" name="TextBox 106"/>
          <p:cNvSpPr txBox="1"/>
          <p:nvPr/>
        </p:nvSpPr>
        <p:spPr>
          <a:xfrm>
            <a:off x="9665208" y="3017520"/>
            <a:ext cx="1883663" cy="365759"/>
          </a:xfrm>
          <a:prstGeom prst="rect">
            <a:avLst/>
          </a:prstGeom>
          <a:noFill/>
        </p:spPr>
        <p:txBody>
          <a:bodyPr wrap="square" lIns="54864" tIns="18288" rIns="54864" bIns="18288" anchor="ctr">
            <a:spAutoFit/>
          </a:bodyPr>
          <a:lstStyle/>
          <a:p>
            <a:pPr algn="l"/>
            <a:r>
              <a:rPr sz="900" b="1">
                <a:solidFill>
                  <a:srgbClr val="141B33"/>
                </a:solidFill>
                <a:latin typeface="Segoe UI"/>
              </a:rPr>
              <a:t>SDKs</a:t>
            </a:r>
            <a:r>
              <a:rPr sz="900" b="0">
                <a:solidFill>
                  <a:srgbClr val="141B33"/>
                </a:solidFill>
                <a:latin typeface="Segoe UI"/>
              </a:rPr>
              <a:t>  C# · JavaScript · Rust · Python</a:t>
            </a:r>
          </a:p>
        </p:txBody>
      </p:sp>
      <p:sp>
        <p:nvSpPr>
          <p:cNvPr id="108" name="Rectangle 107"/>
          <p:cNvSpPr/>
          <p:nvPr/>
        </p:nvSpPr>
        <p:spPr>
          <a:xfrm>
            <a:off x="9646920" y="3447288"/>
            <a:ext cx="1920239" cy="384048"/>
          </a:xfrm>
          <a:prstGeom prst="rect">
            <a:avLst/>
          </a:prstGeom>
          <a:solidFill>
            <a:srgbClr val="FFFFFF"/>
          </a:solidFill>
          <a:ln w="9525">
            <a:solidFill>
              <a:srgbClr val="E1E7F4"/>
            </a:solidFill>
          </a:ln>
          <a:effectLst/>
        </p:spPr>
        <p:txBody>
          <a:bodyPr rtlCol="0" anchor="ctr"/>
          <a:lstStyle/>
          <a:p>
            <a:pPr algn="ctr"/>
            <a:endParaRPr/>
          </a:p>
        </p:txBody>
      </p:sp>
      <p:sp>
        <p:nvSpPr>
          <p:cNvPr id="109" name="TextBox 108"/>
          <p:cNvSpPr txBox="1"/>
          <p:nvPr/>
        </p:nvSpPr>
        <p:spPr>
          <a:xfrm>
            <a:off x="9665208" y="3456432"/>
            <a:ext cx="1883663" cy="365759"/>
          </a:xfrm>
          <a:prstGeom prst="rect">
            <a:avLst/>
          </a:prstGeom>
          <a:noFill/>
        </p:spPr>
        <p:txBody>
          <a:bodyPr wrap="square" lIns="54864" tIns="18288" rIns="54864" bIns="18288" anchor="ctr">
            <a:spAutoFit/>
          </a:bodyPr>
          <a:lstStyle/>
          <a:p>
            <a:pPr algn="l"/>
            <a:r>
              <a:rPr sz="900" b="1">
                <a:solidFill>
                  <a:srgbClr val="141B33"/>
                </a:solidFill>
                <a:latin typeface="Segoe UI"/>
              </a:rPr>
              <a:t>No Azure subscription</a:t>
            </a:r>
            <a:r>
              <a:rPr sz="900" b="0">
                <a:solidFill>
                  <a:srgbClr val="141B33"/>
                </a:solidFill>
                <a:latin typeface="Segoe UI"/>
              </a:rPr>
              <a:t>  runs outside the Foundry resource</a:t>
            </a:r>
          </a:p>
        </p:txBody>
      </p:sp>
      <p:sp>
        <p:nvSpPr>
          <p:cNvPr id="110" name="TextBox 109"/>
          <p:cNvSpPr txBox="1"/>
          <p:nvPr/>
        </p:nvSpPr>
        <p:spPr>
          <a:xfrm>
            <a:off x="9573768" y="4407407"/>
            <a:ext cx="2066543" cy="841248"/>
          </a:xfrm>
          <a:prstGeom prst="rect">
            <a:avLst/>
          </a:prstGeom>
          <a:noFill/>
        </p:spPr>
        <p:txBody>
          <a:bodyPr wrap="square" lIns="54864" tIns="18288" rIns="54864" bIns="18288" anchor="ctr">
            <a:spAutoFit/>
          </a:bodyPr>
          <a:lstStyle/>
          <a:p>
            <a:pPr algn="ctr"/>
            <a:r>
              <a:rPr sz="850" b="0">
                <a:solidFill>
                  <a:srgbClr val="44495B"/>
                </a:solidFill>
                <a:latin typeface="Segoe UI"/>
              </a:rPr>
              <a:t>Runs on the device, outside Azure; not governed by the Control Plane.</a:t>
            </a:r>
          </a:p>
        </p:txBody>
      </p:sp>
      <p:sp>
        <p:nvSpPr>
          <p:cNvPr id="111" name="Rectangle 110"/>
          <p:cNvSpPr/>
          <p:nvPr/>
        </p:nvSpPr>
        <p:spPr>
          <a:xfrm>
            <a:off x="548640" y="5705855"/>
            <a:ext cx="201168" cy="109728"/>
          </a:xfrm>
          <a:prstGeom prst="rect">
            <a:avLst/>
          </a:prstGeom>
          <a:solidFill>
            <a:srgbClr val="101A3C"/>
          </a:solidFill>
          <a:ln>
            <a:noFill/>
          </a:ln>
          <a:effectLst/>
        </p:spPr>
        <p:txBody>
          <a:bodyPr rtlCol="0" anchor="ctr"/>
          <a:lstStyle/>
          <a:p>
            <a:pPr algn="ctr"/>
            <a:endParaRPr/>
          </a:p>
        </p:txBody>
      </p:sp>
      <p:sp>
        <p:nvSpPr>
          <p:cNvPr id="112" name="TextBox 111"/>
          <p:cNvSpPr txBox="1"/>
          <p:nvPr/>
        </p:nvSpPr>
        <p:spPr>
          <a:xfrm>
            <a:off x="768096" y="5650992"/>
            <a:ext cx="1280160" cy="219456"/>
          </a:xfrm>
          <a:prstGeom prst="rect">
            <a:avLst/>
          </a:prstGeom>
          <a:noFill/>
        </p:spPr>
        <p:txBody>
          <a:bodyPr wrap="square" lIns="54864" tIns="18288" rIns="54864" bIns="18288" anchor="ctr">
            <a:spAutoFit/>
          </a:bodyPr>
          <a:lstStyle/>
          <a:p>
            <a:pPr algn="l"/>
            <a:r>
              <a:rPr sz="800" b="0">
                <a:solidFill>
                  <a:srgbClr val="44495B"/>
                </a:solidFill>
                <a:latin typeface="Segoe UI"/>
              </a:rPr>
              <a:t>Foundry product</a:t>
            </a:r>
          </a:p>
        </p:txBody>
      </p:sp>
      <p:sp>
        <p:nvSpPr>
          <p:cNvPr id="113" name="Rectangle 112"/>
          <p:cNvSpPr/>
          <p:nvPr/>
        </p:nvSpPr>
        <p:spPr>
          <a:xfrm>
            <a:off x="2103120" y="5705855"/>
            <a:ext cx="201168" cy="109728"/>
          </a:xfrm>
          <a:prstGeom prst="rect">
            <a:avLst/>
          </a:prstGeom>
          <a:solidFill>
            <a:srgbClr val="FFFFFF"/>
          </a:solidFill>
          <a:ln w="9525">
            <a:solidFill>
              <a:srgbClr val="E1E7F4"/>
            </a:solidFill>
          </a:ln>
          <a:effectLst/>
        </p:spPr>
        <p:txBody>
          <a:bodyPr rtlCol="0" anchor="ctr"/>
          <a:lstStyle/>
          <a:p>
            <a:pPr algn="ctr"/>
            <a:endParaRPr/>
          </a:p>
        </p:txBody>
      </p:sp>
      <p:sp>
        <p:nvSpPr>
          <p:cNvPr id="114" name="TextBox 113"/>
          <p:cNvSpPr txBox="1"/>
          <p:nvPr/>
        </p:nvSpPr>
        <p:spPr>
          <a:xfrm>
            <a:off x="2322576" y="5650992"/>
            <a:ext cx="914400" cy="219456"/>
          </a:xfrm>
          <a:prstGeom prst="rect">
            <a:avLst/>
          </a:prstGeom>
          <a:noFill/>
        </p:spPr>
        <p:txBody>
          <a:bodyPr wrap="square" lIns="54864" tIns="18288" rIns="54864" bIns="18288" anchor="ctr">
            <a:spAutoFit/>
          </a:bodyPr>
          <a:lstStyle/>
          <a:p>
            <a:pPr algn="l"/>
            <a:r>
              <a:rPr sz="800" b="0">
                <a:solidFill>
                  <a:srgbClr val="44495B"/>
                </a:solidFill>
                <a:latin typeface="Segoe UI"/>
              </a:rPr>
              <a:t>Capability</a:t>
            </a:r>
          </a:p>
        </p:txBody>
      </p:sp>
      <p:sp>
        <p:nvSpPr>
          <p:cNvPr id="115" name="Rectangle 114"/>
          <p:cNvSpPr/>
          <p:nvPr/>
        </p:nvSpPr>
        <p:spPr>
          <a:xfrm>
            <a:off x="3291840" y="5705855"/>
            <a:ext cx="201168" cy="109728"/>
          </a:xfrm>
          <a:prstGeom prst="rect">
            <a:avLst/>
          </a:prstGeom>
          <a:solidFill>
            <a:srgbClr val="EBEFF7"/>
          </a:solidFill>
          <a:ln>
            <a:noFill/>
          </a:ln>
          <a:effectLst/>
        </p:spPr>
        <p:txBody>
          <a:bodyPr rtlCol="0" anchor="ctr"/>
          <a:lstStyle/>
          <a:p>
            <a:pPr algn="ctr"/>
            <a:endParaRPr/>
          </a:p>
        </p:txBody>
      </p:sp>
      <p:sp>
        <p:nvSpPr>
          <p:cNvPr id="116" name="TextBox 115"/>
          <p:cNvSpPr txBox="1"/>
          <p:nvPr/>
        </p:nvSpPr>
        <p:spPr>
          <a:xfrm>
            <a:off x="3511296" y="5650992"/>
            <a:ext cx="2011680" cy="219456"/>
          </a:xfrm>
          <a:prstGeom prst="rect">
            <a:avLst/>
          </a:prstGeom>
          <a:noFill/>
        </p:spPr>
        <p:txBody>
          <a:bodyPr wrap="square" lIns="54864" tIns="18288" rIns="54864" bIns="18288" anchor="ctr">
            <a:spAutoFit/>
          </a:bodyPr>
          <a:lstStyle/>
          <a:p>
            <a:pPr algn="l"/>
            <a:r>
              <a:rPr sz="800" b="0">
                <a:solidFill>
                  <a:srgbClr val="44495B"/>
                </a:solidFill>
                <a:latin typeface="Segoe UI"/>
              </a:rPr>
              <a:t>Developer surface / resource model</a:t>
            </a:r>
          </a:p>
        </p:txBody>
      </p:sp>
      <p:sp>
        <p:nvSpPr>
          <p:cNvPr id="117" name="Rectangle 116"/>
          <p:cNvSpPr/>
          <p:nvPr/>
        </p:nvSpPr>
        <p:spPr>
          <a:xfrm>
            <a:off x="5669279" y="5705855"/>
            <a:ext cx="201168" cy="109728"/>
          </a:xfrm>
          <a:prstGeom prst="rect">
            <a:avLst/>
          </a:prstGeom>
          <a:solidFill>
            <a:srgbClr val="0B1229"/>
          </a:solidFill>
          <a:ln>
            <a:noFill/>
          </a:ln>
          <a:effectLst/>
        </p:spPr>
        <p:txBody>
          <a:bodyPr rtlCol="0" anchor="ctr"/>
          <a:lstStyle/>
          <a:p>
            <a:pPr algn="ctr"/>
            <a:endParaRPr/>
          </a:p>
        </p:txBody>
      </p:sp>
      <p:sp>
        <p:nvSpPr>
          <p:cNvPr id="118" name="TextBox 117"/>
          <p:cNvSpPr txBox="1"/>
          <p:nvPr/>
        </p:nvSpPr>
        <p:spPr>
          <a:xfrm>
            <a:off x="5888736" y="5650992"/>
            <a:ext cx="1463040" cy="219456"/>
          </a:xfrm>
          <a:prstGeom prst="rect">
            <a:avLst/>
          </a:prstGeom>
          <a:noFill/>
        </p:spPr>
        <p:txBody>
          <a:bodyPr wrap="square" lIns="54864" tIns="18288" rIns="54864" bIns="18288" anchor="ctr">
            <a:spAutoFit/>
          </a:bodyPr>
          <a:lstStyle/>
          <a:p>
            <a:pPr algn="l"/>
            <a:r>
              <a:rPr sz="800" b="0">
                <a:solidFill>
                  <a:srgbClr val="44495B"/>
                </a:solidFill>
                <a:latin typeface="Segoe UI"/>
              </a:rPr>
              <a:t>Governance layer</a:t>
            </a:r>
          </a:p>
        </p:txBody>
      </p:sp>
      <p:sp>
        <p:nvSpPr>
          <p:cNvPr id="119" name="TextBox 118"/>
          <p:cNvSpPr txBox="1"/>
          <p:nvPr/>
        </p:nvSpPr>
        <p:spPr>
          <a:xfrm>
            <a:off x="7406640" y="5650992"/>
            <a:ext cx="1828800" cy="219456"/>
          </a:xfrm>
          <a:prstGeom prst="rect">
            <a:avLst/>
          </a:prstGeom>
          <a:noFill/>
        </p:spPr>
        <p:txBody>
          <a:bodyPr wrap="square" lIns="54864" tIns="18288" rIns="54864" bIns="18288" anchor="ctr">
            <a:spAutoFit/>
          </a:bodyPr>
          <a:lstStyle/>
          <a:p>
            <a:pPr algn="l"/>
            <a:r>
              <a:rPr sz="800" b="0">
                <a:solidFill>
                  <a:srgbClr val="44495B"/>
                </a:solidFill>
                <a:latin typeface="Segoe UI"/>
              </a:rPr>
              <a:t>*  preview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1   ·   H I G H   L E V E L</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Foundry AI workload — end-to-end reference architecture</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Channel → AI gateway → hosted agent with models, tools, knowledge and peer agents → Control Plane.</a:t>
            </a:r>
          </a:p>
          <a:p>
            <a:endParaRPr sz="1200">
              <a:solidFill>
                <a:srgbClr val="44495B"/>
              </a:solidFill>
              <a:latin typeface="Segoe UI"/>
            </a:endParaRPr>
          </a:p>
        </p:txBody>
      </p:sp>
      <p:sp>
        <p:nvSpPr>
          <p:cNvPr id="39" name="Shape"/>
          <p:cNvSpPr/>
          <p:nvPr/>
        </p:nvSpPr>
        <p:spPr>
          <a:xfrm>
            <a:off x="548640" y="5687568"/>
            <a:ext cx="11094720" cy="9525"/>
          </a:xfrm>
          <a:prstGeom prst="rect">
            <a:avLst/>
          </a:prstGeom>
          <a:solidFill>
            <a:srgbClr val="E1E7F4"/>
          </a:solidFill>
        </p:spPr>
        <p:txBody>
          <a:bodyPr/>
          <a:lstStyle/>
          <a:p>
            <a:endParaRPr/>
          </a:p>
        </p:txBody>
      </p:sp>
      <p:sp>
        <p:nvSpPr>
          <p:cNvPr id="40"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Sources: Azure Architecture Center — baseline-microsoft-foundry-chat · API Management — genai-gateway-capabilities</a:t>
            </a:r>
          </a:p>
          <a:p>
            <a:endParaRPr sz="900">
              <a:solidFill>
                <a:srgbClr val="44495B"/>
              </a:solidFill>
              <a:latin typeface="Segoe UI"/>
            </a:endParaRPr>
          </a:p>
        </p:txBody>
      </p:sp>
      <p:sp>
        <p:nvSpPr>
          <p:cNvPr id="41"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4</a:t>
            </a:r>
          </a:p>
        </p:txBody>
      </p:sp>
      <p:sp>
        <p:nvSpPr>
          <p:cNvPr id="42" name="TextBox 41"/>
          <p:cNvSpPr txBox="1"/>
          <p:nvPr/>
        </p:nvSpPr>
        <p:spPr>
          <a:xfrm>
            <a:off x="548640" y="1280160"/>
            <a:ext cx="1572768" cy="219456"/>
          </a:xfrm>
          <a:prstGeom prst="rect">
            <a:avLst/>
          </a:prstGeom>
          <a:noFill/>
        </p:spPr>
        <p:txBody>
          <a:bodyPr wrap="square" lIns="54864" tIns="18288" rIns="54864" bIns="18288" anchor="ctr">
            <a:spAutoFit/>
          </a:bodyPr>
          <a:lstStyle/>
          <a:p>
            <a:pPr algn="l"/>
            <a:r>
              <a:rPr sz="800" b="1" spc="200">
                <a:solidFill>
                  <a:srgbClr val="008173"/>
                </a:solidFill>
                <a:latin typeface="Segoe UI"/>
              </a:rPr>
              <a:t>CHANNELS</a:t>
            </a:r>
          </a:p>
        </p:txBody>
      </p:sp>
      <p:sp>
        <p:nvSpPr>
          <p:cNvPr id="43" name="Rectangle 42"/>
          <p:cNvSpPr/>
          <p:nvPr/>
        </p:nvSpPr>
        <p:spPr>
          <a:xfrm>
            <a:off x="548640" y="1554480"/>
            <a:ext cx="1572768" cy="640080"/>
          </a:xfrm>
          <a:prstGeom prst="rect">
            <a:avLst/>
          </a:prstGeom>
          <a:solidFill>
            <a:srgbClr val="EBEFF7"/>
          </a:solidFill>
          <a:ln>
            <a:noFill/>
          </a:ln>
          <a:effectLst/>
        </p:spPr>
        <p:txBody>
          <a:bodyPr rtlCol="0" anchor="ctr"/>
          <a:lstStyle/>
          <a:p>
            <a:pPr algn="ctr"/>
            <a:endParaRPr/>
          </a:p>
        </p:txBody>
      </p:sp>
      <p:sp>
        <p:nvSpPr>
          <p:cNvPr id="44" name="TextBox 43"/>
          <p:cNvSpPr txBox="1"/>
          <p:nvPr/>
        </p:nvSpPr>
        <p:spPr>
          <a:xfrm>
            <a:off x="694944" y="1554480"/>
            <a:ext cx="1426464" cy="640080"/>
          </a:xfrm>
          <a:prstGeom prst="rect">
            <a:avLst/>
          </a:prstGeom>
          <a:noFill/>
        </p:spPr>
        <p:txBody>
          <a:bodyPr wrap="square" lIns="54864" tIns="18288" rIns="54864" bIns="18288" anchor="ctr">
            <a:spAutoFit/>
          </a:bodyPr>
          <a:lstStyle/>
          <a:p>
            <a:pPr algn="l"/>
            <a:r>
              <a:rPr sz="800" b="1">
                <a:solidFill>
                  <a:srgbClr val="141B33"/>
                </a:solidFill>
                <a:latin typeface="Segoe UI"/>
              </a:rPr>
              <a:t>Microsoft 365 Copilot and Teams</a:t>
            </a:r>
          </a:p>
          <a:p>
            <a:pPr algn="l"/>
            <a:r>
              <a:rPr sz="800" b="0">
                <a:solidFill>
                  <a:srgbClr val="141B33"/>
                </a:solidFill>
                <a:latin typeface="Segoe UI"/>
              </a:rPr>
              <a:t>Activity protocol, bridged from Responses</a:t>
            </a:r>
          </a:p>
        </p:txBody>
      </p:sp>
      <p:sp>
        <p:nvSpPr>
          <p:cNvPr id="45" name="Oval 44"/>
          <p:cNvSpPr/>
          <p:nvPr/>
        </p:nvSpPr>
        <p:spPr>
          <a:xfrm>
            <a:off x="438912" y="1463039"/>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1</a:t>
            </a:r>
          </a:p>
        </p:txBody>
      </p:sp>
      <p:sp>
        <p:nvSpPr>
          <p:cNvPr id="46" name="Rectangle 45"/>
          <p:cNvSpPr/>
          <p:nvPr/>
        </p:nvSpPr>
        <p:spPr>
          <a:xfrm>
            <a:off x="548640" y="2267712"/>
            <a:ext cx="1572768" cy="640080"/>
          </a:xfrm>
          <a:prstGeom prst="rect">
            <a:avLst/>
          </a:prstGeom>
          <a:solidFill>
            <a:srgbClr val="EBEFF7"/>
          </a:solidFill>
          <a:ln>
            <a:noFill/>
          </a:ln>
          <a:effectLst/>
        </p:spPr>
        <p:txBody>
          <a:bodyPr rtlCol="0" anchor="ctr"/>
          <a:lstStyle/>
          <a:p>
            <a:pPr algn="ctr"/>
            <a:endParaRPr/>
          </a:p>
        </p:txBody>
      </p:sp>
      <p:sp>
        <p:nvSpPr>
          <p:cNvPr id="47" name="TextBox 46"/>
          <p:cNvSpPr txBox="1"/>
          <p:nvPr/>
        </p:nvSpPr>
        <p:spPr>
          <a:xfrm>
            <a:off x="548640" y="2267712"/>
            <a:ext cx="1572768" cy="640080"/>
          </a:xfrm>
          <a:prstGeom prst="rect">
            <a:avLst/>
          </a:prstGeom>
          <a:noFill/>
        </p:spPr>
        <p:txBody>
          <a:bodyPr wrap="square" lIns="54864" tIns="18288" rIns="54864" bIns="18288" anchor="ctr">
            <a:spAutoFit/>
          </a:bodyPr>
          <a:lstStyle/>
          <a:p>
            <a:pPr algn="l"/>
            <a:r>
              <a:rPr sz="800" b="1">
                <a:solidFill>
                  <a:srgbClr val="141B33"/>
                </a:solidFill>
                <a:latin typeface="Segoe UI"/>
              </a:rPr>
              <a:t>Web app on App Service</a:t>
            </a:r>
          </a:p>
          <a:p>
            <a:pPr algn="l"/>
            <a:r>
              <a:rPr sz="800" b="0">
                <a:solidFill>
                  <a:srgbClr val="141B33"/>
                </a:solidFill>
                <a:latin typeface="Segoe UI"/>
              </a:rPr>
              <a:t>behind Application Gateway and WAF</a:t>
            </a:r>
          </a:p>
        </p:txBody>
      </p:sp>
      <p:sp>
        <p:nvSpPr>
          <p:cNvPr id="48" name="Rectangle 47"/>
          <p:cNvSpPr/>
          <p:nvPr/>
        </p:nvSpPr>
        <p:spPr>
          <a:xfrm>
            <a:off x="548640" y="2980944"/>
            <a:ext cx="1572768" cy="640080"/>
          </a:xfrm>
          <a:prstGeom prst="rect">
            <a:avLst/>
          </a:prstGeom>
          <a:solidFill>
            <a:srgbClr val="EBEFF7"/>
          </a:solidFill>
          <a:ln>
            <a:noFill/>
          </a:ln>
          <a:effectLst/>
        </p:spPr>
        <p:txBody>
          <a:bodyPr rtlCol="0" anchor="ctr"/>
          <a:lstStyle/>
          <a:p>
            <a:pPr algn="ctr"/>
            <a:endParaRPr/>
          </a:p>
        </p:txBody>
      </p:sp>
      <p:sp>
        <p:nvSpPr>
          <p:cNvPr id="49" name="TextBox 48"/>
          <p:cNvSpPr txBox="1"/>
          <p:nvPr/>
        </p:nvSpPr>
        <p:spPr>
          <a:xfrm>
            <a:off x="548640" y="2980944"/>
            <a:ext cx="1572768" cy="640080"/>
          </a:xfrm>
          <a:prstGeom prst="rect">
            <a:avLst/>
          </a:prstGeom>
          <a:noFill/>
        </p:spPr>
        <p:txBody>
          <a:bodyPr wrap="square" lIns="54864" tIns="18288" rIns="54864" bIns="18288" anchor="ctr">
            <a:spAutoFit/>
          </a:bodyPr>
          <a:lstStyle/>
          <a:p>
            <a:pPr algn="l"/>
            <a:r>
              <a:rPr sz="800" b="1">
                <a:solidFill>
                  <a:srgbClr val="141B33"/>
                </a:solidFill>
                <a:latin typeface="Segoe UI"/>
              </a:rPr>
              <a:t>Other apps and agents</a:t>
            </a:r>
          </a:p>
          <a:p>
            <a:pPr algn="l"/>
            <a:r>
              <a:rPr sz="800" b="0">
                <a:solidFill>
                  <a:srgbClr val="141B33"/>
                </a:solidFill>
                <a:latin typeface="Segoe UI"/>
              </a:rPr>
              <a:t>Invocations · A2A*</a:t>
            </a:r>
          </a:p>
        </p:txBody>
      </p:sp>
      <p:sp>
        <p:nvSpPr>
          <p:cNvPr id="50" name="Right Arrow 49"/>
          <p:cNvSpPr/>
          <p:nvPr/>
        </p:nvSpPr>
        <p:spPr>
          <a:xfrm>
            <a:off x="2167127" y="2478024"/>
            <a:ext cx="201168" cy="219456"/>
          </a:xfrm>
          <a:prstGeom prst="rightArrow">
            <a:avLst/>
          </a:prstGeom>
          <a:solidFill>
            <a:srgbClr val="00B39F"/>
          </a:solidFill>
          <a:ln>
            <a:noFill/>
          </a:ln>
          <a:effectLst/>
        </p:spPr>
        <p:txBody>
          <a:bodyPr rtlCol="0" anchor="ctr"/>
          <a:lstStyle/>
          <a:p>
            <a:pPr algn="ctr"/>
            <a:endParaRPr/>
          </a:p>
        </p:txBody>
      </p:sp>
      <p:sp>
        <p:nvSpPr>
          <p:cNvPr id="51" name="TextBox 50"/>
          <p:cNvSpPr txBox="1"/>
          <p:nvPr/>
        </p:nvSpPr>
        <p:spPr>
          <a:xfrm>
            <a:off x="2395728" y="1280160"/>
            <a:ext cx="1737360" cy="219456"/>
          </a:xfrm>
          <a:prstGeom prst="rect">
            <a:avLst/>
          </a:prstGeom>
          <a:noFill/>
        </p:spPr>
        <p:txBody>
          <a:bodyPr wrap="square" lIns="54864" tIns="18288" rIns="54864" bIns="18288" anchor="ctr">
            <a:spAutoFit/>
          </a:bodyPr>
          <a:lstStyle/>
          <a:p>
            <a:pPr algn="l"/>
            <a:r>
              <a:rPr sz="800" b="1" spc="200">
                <a:solidFill>
                  <a:srgbClr val="008173"/>
                </a:solidFill>
                <a:latin typeface="Segoe UI"/>
              </a:rPr>
              <a:t>AI GATEWAY</a:t>
            </a:r>
          </a:p>
        </p:txBody>
      </p:sp>
      <p:sp>
        <p:nvSpPr>
          <p:cNvPr id="52" name="Rectangle 51"/>
          <p:cNvSpPr/>
          <p:nvPr/>
        </p:nvSpPr>
        <p:spPr>
          <a:xfrm>
            <a:off x="2395728" y="1554480"/>
            <a:ext cx="1737360" cy="2560320"/>
          </a:xfrm>
          <a:prstGeom prst="rect">
            <a:avLst/>
          </a:prstGeom>
          <a:solidFill>
            <a:srgbClr val="FFFFFF"/>
          </a:solidFill>
          <a:ln w="12700">
            <a:solidFill>
              <a:srgbClr val="101A3C"/>
            </a:solidFill>
          </a:ln>
          <a:effectLst/>
        </p:spPr>
        <p:txBody>
          <a:bodyPr rtlCol="0" anchor="ctr"/>
          <a:lstStyle/>
          <a:p>
            <a:pPr algn="ctr"/>
            <a:endParaRPr/>
          </a:p>
        </p:txBody>
      </p:sp>
      <p:sp>
        <p:nvSpPr>
          <p:cNvPr id="53" name="TextBox 52"/>
          <p:cNvSpPr txBox="1"/>
          <p:nvPr/>
        </p:nvSpPr>
        <p:spPr>
          <a:xfrm>
            <a:off x="2505456" y="1591056"/>
            <a:ext cx="1609343" cy="2468880"/>
          </a:xfrm>
          <a:prstGeom prst="rect">
            <a:avLst/>
          </a:prstGeom>
          <a:noFill/>
        </p:spPr>
        <p:txBody>
          <a:bodyPr wrap="square" lIns="54864" tIns="18288" rIns="54864" bIns="18288" anchor="t">
            <a:spAutoFit/>
          </a:bodyPr>
          <a:lstStyle/>
          <a:p>
            <a:pPr algn="l"/>
            <a:r>
              <a:rPr sz="800" b="1">
                <a:solidFill>
                  <a:srgbClr val="141B33"/>
                </a:solidFill>
                <a:latin typeface="Segoe UI"/>
              </a:rPr>
              <a:t>Azure API Management — AI gateway in Foundry*</a:t>
            </a:r>
          </a:p>
          <a:p>
            <a:pPr algn="l"/>
            <a:endParaRPr sz="800" b="1">
              <a:solidFill>
                <a:srgbClr val="141B33"/>
              </a:solidFill>
              <a:latin typeface="Segoe UI"/>
            </a:endParaRPr>
          </a:p>
          <a:p>
            <a:pPr algn="l"/>
            <a:r>
              <a:rPr sz="800" b="0">
                <a:solidFill>
                  <a:srgbClr val="141B33"/>
                </a:solidFill>
                <a:latin typeface="Segoe UI"/>
              </a:rPr>
              <a:t>• token quotas and rate limits per consumer</a:t>
            </a:r>
          </a:p>
          <a:p>
            <a:pPr algn="l"/>
            <a:r>
              <a:rPr sz="800" b="0">
                <a:solidFill>
                  <a:srgbClr val="141B33"/>
                </a:solidFill>
                <a:latin typeface="Segoe UI"/>
              </a:rPr>
              <a:t>• load balancing and circuit breaker across model deployments</a:t>
            </a:r>
          </a:p>
          <a:p>
            <a:pPr algn="l"/>
            <a:r>
              <a:rPr sz="800" b="0">
                <a:solidFill>
                  <a:srgbClr val="141B33"/>
                </a:solidFill>
                <a:latin typeface="Segoe UI"/>
              </a:rPr>
              <a:t>• semantic caching</a:t>
            </a:r>
          </a:p>
          <a:p>
            <a:pPr algn="l"/>
            <a:r>
              <a:rPr sz="800" b="0">
                <a:solidFill>
                  <a:srgbClr val="141B33"/>
                </a:solidFill>
                <a:latin typeface="Segoe UI"/>
              </a:rPr>
              <a:t>• Content Safety policy on prompts</a:t>
            </a:r>
          </a:p>
          <a:p>
            <a:pPr algn="l"/>
            <a:r>
              <a:rPr sz="800" b="0">
                <a:solidFill>
                  <a:srgbClr val="141B33"/>
                </a:solidFill>
                <a:latin typeface="Segoe UI"/>
              </a:rPr>
              <a:t>• token metrics and logs to Application Insights</a:t>
            </a:r>
          </a:p>
          <a:p>
            <a:pPr algn="l"/>
            <a:r>
              <a:rPr sz="800" b="0">
                <a:solidFill>
                  <a:srgbClr val="141B33"/>
                </a:solidFill>
                <a:latin typeface="Segoe UI"/>
              </a:rPr>
              <a:t>• MCP servers and A2A agents registered as APIs</a:t>
            </a:r>
          </a:p>
        </p:txBody>
      </p:sp>
      <p:sp>
        <p:nvSpPr>
          <p:cNvPr id="54" name="Oval 53"/>
          <p:cNvSpPr/>
          <p:nvPr/>
        </p:nvSpPr>
        <p:spPr>
          <a:xfrm>
            <a:off x="2286000" y="1463039"/>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2</a:t>
            </a:r>
          </a:p>
        </p:txBody>
      </p:sp>
      <p:sp>
        <p:nvSpPr>
          <p:cNvPr id="55" name="Right Arrow 54"/>
          <p:cNvSpPr/>
          <p:nvPr/>
        </p:nvSpPr>
        <p:spPr>
          <a:xfrm>
            <a:off x="4178807" y="2286000"/>
            <a:ext cx="201168" cy="219456"/>
          </a:xfrm>
          <a:prstGeom prst="rightArrow">
            <a:avLst/>
          </a:prstGeom>
          <a:solidFill>
            <a:srgbClr val="00B39F"/>
          </a:solidFill>
          <a:ln>
            <a:noFill/>
          </a:ln>
          <a:effectLst/>
        </p:spPr>
        <p:txBody>
          <a:bodyPr rtlCol="0" anchor="ctr"/>
          <a:lstStyle/>
          <a:p>
            <a:pPr algn="ctr"/>
            <a:endParaRPr/>
          </a:p>
        </p:txBody>
      </p:sp>
      <p:sp>
        <p:nvSpPr>
          <p:cNvPr id="56" name="Rectangle 55"/>
          <p:cNvSpPr/>
          <p:nvPr/>
        </p:nvSpPr>
        <p:spPr>
          <a:xfrm>
            <a:off x="4379976" y="1280160"/>
            <a:ext cx="3822191" cy="2834640"/>
          </a:xfrm>
          <a:prstGeom prst="rect">
            <a:avLst/>
          </a:prstGeom>
          <a:solidFill>
            <a:srgbClr val="F6F8FD"/>
          </a:solidFill>
          <a:ln w="9525">
            <a:solidFill>
              <a:srgbClr val="44495B"/>
            </a:solidFill>
            <a:prstDash val="dash"/>
          </a:ln>
          <a:effectLst/>
        </p:spPr>
        <p:txBody>
          <a:bodyPr rtlCol="0" anchor="ctr"/>
          <a:lstStyle/>
          <a:p>
            <a:pPr algn="ctr"/>
            <a:endParaRPr/>
          </a:p>
        </p:txBody>
      </p:sp>
      <p:sp>
        <p:nvSpPr>
          <p:cNvPr id="57" name="TextBox 56"/>
          <p:cNvSpPr txBox="1"/>
          <p:nvPr/>
        </p:nvSpPr>
        <p:spPr>
          <a:xfrm>
            <a:off x="4416552" y="1298448"/>
            <a:ext cx="3730752" cy="219456"/>
          </a:xfrm>
          <a:prstGeom prst="rect">
            <a:avLst/>
          </a:prstGeom>
          <a:noFill/>
        </p:spPr>
        <p:txBody>
          <a:bodyPr wrap="square" lIns="54864" tIns="18288" rIns="54864" bIns="18288" anchor="ctr">
            <a:spAutoFit/>
          </a:bodyPr>
          <a:lstStyle/>
          <a:p>
            <a:pPr algn="l"/>
            <a:r>
              <a:rPr sz="800" b="1" spc="200">
                <a:solidFill>
                  <a:srgbClr val="008173"/>
                </a:solidFill>
                <a:latin typeface="Segoe UI"/>
              </a:rPr>
              <a:t>FOUNDRY RESOURCE · PROJECT · BYO VNET</a:t>
            </a:r>
          </a:p>
        </p:txBody>
      </p:sp>
      <p:sp>
        <p:nvSpPr>
          <p:cNvPr id="58" name="Rectangle 57"/>
          <p:cNvSpPr/>
          <p:nvPr/>
        </p:nvSpPr>
        <p:spPr>
          <a:xfrm>
            <a:off x="4471416" y="1554480"/>
            <a:ext cx="3639311" cy="256032"/>
          </a:xfrm>
          <a:prstGeom prst="rect">
            <a:avLst/>
          </a:prstGeom>
          <a:solidFill>
            <a:srgbClr val="101A3C"/>
          </a:solidFill>
          <a:ln>
            <a:noFill/>
          </a:ln>
          <a:effectLst/>
        </p:spPr>
        <p:txBody>
          <a:bodyPr rtlCol="0" anchor="ctr"/>
          <a:lstStyle/>
          <a:p>
            <a:pPr algn="ctr"/>
            <a:endParaRPr/>
          </a:p>
        </p:txBody>
      </p:sp>
      <p:sp>
        <p:nvSpPr>
          <p:cNvPr id="59" name="TextBox 58"/>
          <p:cNvSpPr txBox="1"/>
          <p:nvPr/>
        </p:nvSpPr>
        <p:spPr>
          <a:xfrm>
            <a:off x="4471416" y="1554480"/>
            <a:ext cx="3639311" cy="256032"/>
          </a:xfrm>
          <a:prstGeom prst="rect">
            <a:avLst/>
          </a:prstGeom>
          <a:noFill/>
        </p:spPr>
        <p:txBody>
          <a:bodyPr wrap="square" lIns="54864" tIns="18288" rIns="54864" bIns="18288" anchor="ctr">
            <a:spAutoFit/>
          </a:bodyPr>
          <a:lstStyle/>
          <a:p>
            <a:pPr algn="ctr"/>
            <a:r>
              <a:rPr sz="900" b="1">
                <a:solidFill>
                  <a:srgbClr val="FFFFFF"/>
                </a:solidFill>
                <a:latin typeface="Segoe UI"/>
              </a:rPr>
              <a:t>Foundry Agent Service — Agent Runtime</a:t>
            </a:r>
          </a:p>
        </p:txBody>
      </p:sp>
      <p:sp>
        <p:nvSpPr>
          <p:cNvPr id="60" name="Rectangle 59"/>
          <p:cNvSpPr/>
          <p:nvPr/>
        </p:nvSpPr>
        <p:spPr>
          <a:xfrm>
            <a:off x="4471416" y="1883664"/>
            <a:ext cx="3639311" cy="585216"/>
          </a:xfrm>
          <a:prstGeom prst="rect">
            <a:avLst/>
          </a:prstGeom>
          <a:solidFill>
            <a:srgbClr val="FFFFFF"/>
          </a:solidFill>
          <a:ln w="9525">
            <a:solidFill>
              <a:srgbClr val="E1E7F4"/>
            </a:solidFill>
          </a:ln>
          <a:effectLst/>
        </p:spPr>
        <p:txBody>
          <a:bodyPr rtlCol="0" anchor="ctr"/>
          <a:lstStyle/>
          <a:p>
            <a:pPr algn="ctr"/>
            <a:endParaRPr/>
          </a:p>
        </p:txBody>
      </p:sp>
      <p:sp>
        <p:nvSpPr>
          <p:cNvPr id="61" name="TextBox 60"/>
          <p:cNvSpPr txBox="1"/>
          <p:nvPr/>
        </p:nvSpPr>
        <p:spPr>
          <a:xfrm>
            <a:off x="4617720" y="1883664"/>
            <a:ext cx="3493007" cy="585216"/>
          </a:xfrm>
          <a:prstGeom prst="rect">
            <a:avLst/>
          </a:prstGeom>
          <a:noFill/>
        </p:spPr>
        <p:txBody>
          <a:bodyPr wrap="square" lIns="54864" tIns="18288" rIns="54864" bIns="18288" anchor="ctr">
            <a:spAutoFit/>
          </a:bodyPr>
          <a:lstStyle/>
          <a:p>
            <a:pPr algn="l"/>
            <a:r>
              <a:rPr sz="800" b="1">
                <a:solidFill>
                  <a:srgbClr val="141B33"/>
                </a:solidFill>
                <a:latin typeface="Segoe UI"/>
              </a:rPr>
              <a:t>Hosted agent — your code (Agent Framework, LangGraph, custom)</a:t>
            </a:r>
          </a:p>
          <a:p>
            <a:pPr algn="l"/>
            <a:r>
              <a:rPr sz="800" b="0">
                <a:solidFill>
                  <a:srgbClr val="141B33"/>
                </a:solidFill>
                <a:latin typeface="Segoe UI"/>
              </a:rPr>
              <a:t>Responses protocol endpoint · dedicated Entra agent identity · per-session VM-isolated sandbox</a:t>
            </a:r>
          </a:p>
        </p:txBody>
      </p:sp>
      <p:sp>
        <p:nvSpPr>
          <p:cNvPr id="62" name="Oval 61"/>
          <p:cNvSpPr/>
          <p:nvPr/>
        </p:nvSpPr>
        <p:spPr>
          <a:xfrm>
            <a:off x="4361688" y="1792224"/>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3</a:t>
            </a:r>
          </a:p>
        </p:txBody>
      </p:sp>
      <p:sp>
        <p:nvSpPr>
          <p:cNvPr id="63" name="Rectangle 62"/>
          <p:cNvSpPr/>
          <p:nvPr/>
        </p:nvSpPr>
        <p:spPr>
          <a:xfrm>
            <a:off x="4471416" y="2523744"/>
            <a:ext cx="3639311" cy="274320"/>
          </a:xfrm>
          <a:prstGeom prst="rect">
            <a:avLst/>
          </a:prstGeom>
          <a:solidFill>
            <a:srgbClr val="FFFFFF"/>
          </a:solidFill>
          <a:ln w="9525">
            <a:solidFill>
              <a:srgbClr val="E1E7F4"/>
            </a:solidFill>
          </a:ln>
          <a:effectLst/>
        </p:spPr>
        <p:txBody>
          <a:bodyPr rtlCol="0" anchor="ctr"/>
          <a:lstStyle/>
          <a:p>
            <a:pPr algn="ctr"/>
            <a:endParaRPr/>
          </a:p>
        </p:txBody>
      </p:sp>
      <p:sp>
        <p:nvSpPr>
          <p:cNvPr id="64" name="TextBox 63"/>
          <p:cNvSpPr txBox="1"/>
          <p:nvPr/>
        </p:nvSpPr>
        <p:spPr>
          <a:xfrm>
            <a:off x="4471416" y="2523744"/>
            <a:ext cx="3639311" cy="274320"/>
          </a:xfrm>
          <a:prstGeom prst="rect">
            <a:avLst/>
          </a:prstGeom>
          <a:noFill/>
        </p:spPr>
        <p:txBody>
          <a:bodyPr wrap="square" lIns="54864" tIns="18288" rIns="54864" bIns="18288" anchor="ctr">
            <a:spAutoFit/>
          </a:bodyPr>
          <a:lstStyle/>
          <a:p>
            <a:pPr algn="l"/>
            <a:r>
              <a:rPr sz="800" b="1">
                <a:solidFill>
                  <a:srgbClr val="141B33"/>
                </a:solidFill>
                <a:latin typeface="Segoe UI"/>
              </a:rPr>
              <a:t>Guardrails</a:t>
            </a:r>
          </a:p>
          <a:p>
            <a:pPr algn="l"/>
            <a:r>
              <a:rPr sz="800" b="0">
                <a:solidFill>
                  <a:srgbClr val="141B33"/>
                </a:solidFill>
                <a:latin typeface="Segoe UI"/>
              </a:rPr>
              <a:t>user input · tool call* · tool response* · output</a:t>
            </a:r>
          </a:p>
        </p:txBody>
      </p:sp>
      <p:sp>
        <p:nvSpPr>
          <p:cNvPr id="65" name="Rectangle 64"/>
          <p:cNvSpPr/>
          <p:nvPr/>
        </p:nvSpPr>
        <p:spPr>
          <a:xfrm>
            <a:off x="4471416" y="2871215"/>
            <a:ext cx="1773935" cy="585216"/>
          </a:xfrm>
          <a:prstGeom prst="rect">
            <a:avLst/>
          </a:prstGeom>
          <a:solidFill>
            <a:srgbClr val="FFFFFF"/>
          </a:solidFill>
          <a:ln w="9525">
            <a:solidFill>
              <a:srgbClr val="E1E7F4"/>
            </a:solidFill>
          </a:ln>
          <a:effectLst/>
        </p:spPr>
        <p:txBody>
          <a:bodyPr rtlCol="0" anchor="ctr"/>
          <a:lstStyle/>
          <a:p>
            <a:pPr algn="ctr"/>
            <a:endParaRPr/>
          </a:p>
        </p:txBody>
      </p:sp>
      <p:sp>
        <p:nvSpPr>
          <p:cNvPr id="66" name="TextBox 65"/>
          <p:cNvSpPr txBox="1"/>
          <p:nvPr/>
        </p:nvSpPr>
        <p:spPr>
          <a:xfrm>
            <a:off x="4617720" y="2871215"/>
            <a:ext cx="1627631" cy="585216"/>
          </a:xfrm>
          <a:prstGeom prst="rect">
            <a:avLst/>
          </a:prstGeom>
          <a:noFill/>
        </p:spPr>
        <p:txBody>
          <a:bodyPr wrap="square" lIns="54864" tIns="18288" rIns="54864" bIns="18288" anchor="ctr">
            <a:spAutoFit/>
          </a:bodyPr>
          <a:lstStyle/>
          <a:p>
            <a:pPr algn="l"/>
            <a:r>
              <a:rPr sz="800" b="1">
                <a:solidFill>
                  <a:srgbClr val="141B33"/>
                </a:solidFill>
                <a:latin typeface="Segoe UI"/>
              </a:rPr>
              <a:t>Foundry Models — deployments</a:t>
            </a:r>
          </a:p>
          <a:p>
            <a:pPr algn="l"/>
            <a:r>
              <a:rPr sz="800" b="0">
                <a:solidFill>
                  <a:srgbClr val="141B33"/>
                </a:solidFill>
                <a:latin typeface="Segoe UI"/>
              </a:rPr>
              <a:t>Data Zone Standard + Provisioned · Model Router</a:t>
            </a:r>
          </a:p>
        </p:txBody>
      </p:sp>
      <p:sp>
        <p:nvSpPr>
          <p:cNvPr id="67" name="Oval 66"/>
          <p:cNvSpPr/>
          <p:nvPr/>
        </p:nvSpPr>
        <p:spPr>
          <a:xfrm>
            <a:off x="4361688" y="2779775"/>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4</a:t>
            </a:r>
          </a:p>
        </p:txBody>
      </p:sp>
      <p:sp>
        <p:nvSpPr>
          <p:cNvPr id="68" name="Rectangle 67"/>
          <p:cNvSpPr/>
          <p:nvPr/>
        </p:nvSpPr>
        <p:spPr>
          <a:xfrm>
            <a:off x="6336791" y="2871215"/>
            <a:ext cx="1773935" cy="585216"/>
          </a:xfrm>
          <a:prstGeom prst="rect">
            <a:avLst/>
          </a:prstGeom>
          <a:solidFill>
            <a:srgbClr val="FFFFFF"/>
          </a:solidFill>
          <a:ln w="9525">
            <a:solidFill>
              <a:srgbClr val="E1E7F4"/>
            </a:solidFill>
          </a:ln>
          <a:effectLst/>
        </p:spPr>
        <p:txBody>
          <a:bodyPr rtlCol="0" anchor="ctr"/>
          <a:lstStyle/>
          <a:p>
            <a:pPr algn="ctr"/>
            <a:endParaRPr/>
          </a:p>
        </p:txBody>
      </p:sp>
      <p:sp>
        <p:nvSpPr>
          <p:cNvPr id="69" name="TextBox 68"/>
          <p:cNvSpPr txBox="1"/>
          <p:nvPr/>
        </p:nvSpPr>
        <p:spPr>
          <a:xfrm>
            <a:off x="6483095" y="2871215"/>
            <a:ext cx="1627631" cy="585216"/>
          </a:xfrm>
          <a:prstGeom prst="rect">
            <a:avLst/>
          </a:prstGeom>
          <a:noFill/>
        </p:spPr>
        <p:txBody>
          <a:bodyPr wrap="square" lIns="54864" tIns="18288" rIns="54864" bIns="18288" anchor="ctr">
            <a:spAutoFit/>
          </a:bodyPr>
          <a:lstStyle/>
          <a:p>
            <a:pPr algn="l"/>
            <a:r>
              <a:rPr sz="800" b="1">
                <a:solidFill>
                  <a:srgbClr val="141B33"/>
                </a:solidFill>
                <a:latin typeface="Segoe UI"/>
              </a:rPr>
              <a:t>Toolbox — one MCP endpoint</a:t>
            </a:r>
          </a:p>
          <a:p>
            <a:pPr algn="l"/>
            <a:r>
              <a:rPr sz="800" b="0">
                <a:solidFill>
                  <a:srgbClr val="141B33"/>
                </a:solidFill>
                <a:latin typeface="Segoe UI"/>
              </a:rPr>
              <a:t>Entra and OAuth OBO auth · versioning · tool search*</a:t>
            </a:r>
          </a:p>
        </p:txBody>
      </p:sp>
      <p:sp>
        <p:nvSpPr>
          <p:cNvPr id="70" name="Oval 69"/>
          <p:cNvSpPr/>
          <p:nvPr/>
        </p:nvSpPr>
        <p:spPr>
          <a:xfrm>
            <a:off x="6227063" y="2779775"/>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5</a:t>
            </a:r>
          </a:p>
        </p:txBody>
      </p:sp>
      <p:sp>
        <p:nvSpPr>
          <p:cNvPr id="71" name="Rectangle 70"/>
          <p:cNvSpPr/>
          <p:nvPr/>
        </p:nvSpPr>
        <p:spPr>
          <a:xfrm>
            <a:off x="4471416" y="3529584"/>
            <a:ext cx="3639311" cy="530352"/>
          </a:xfrm>
          <a:prstGeom prst="rect">
            <a:avLst/>
          </a:prstGeom>
          <a:solidFill>
            <a:srgbClr val="FFFFFF"/>
          </a:solidFill>
          <a:ln w="9525">
            <a:solidFill>
              <a:srgbClr val="E1E7F4"/>
            </a:solidFill>
          </a:ln>
          <a:effectLst/>
        </p:spPr>
        <p:txBody>
          <a:bodyPr rtlCol="0" anchor="ctr"/>
          <a:lstStyle/>
          <a:p>
            <a:pPr algn="ctr"/>
            <a:endParaRPr/>
          </a:p>
        </p:txBody>
      </p:sp>
      <p:sp>
        <p:nvSpPr>
          <p:cNvPr id="72" name="TextBox 71"/>
          <p:cNvSpPr txBox="1"/>
          <p:nvPr/>
        </p:nvSpPr>
        <p:spPr>
          <a:xfrm>
            <a:off x="4617720" y="3529584"/>
            <a:ext cx="3493007" cy="530352"/>
          </a:xfrm>
          <a:prstGeom prst="rect">
            <a:avLst/>
          </a:prstGeom>
          <a:noFill/>
        </p:spPr>
        <p:txBody>
          <a:bodyPr wrap="square" lIns="54864" tIns="18288" rIns="54864" bIns="18288" anchor="ctr">
            <a:spAutoFit/>
          </a:bodyPr>
          <a:lstStyle/>
          <a:p>
            <a:pPr algn="l"/>
            <a:r>
              <a:rPr sz="800" b="1">
                <a:solidFill>
                  <a:srgbClr val="141B33"/>
                </a:solidFill>
                <a:latin typeface="Segoe UI"/>
              </a:rPr>
              <a:t>Standard agent setup — state you own, private endpoints</a:t>
            </a:r>
          </a:p>
          <a:p>
            <a:pPr algn="l"/>
            <a:r>
              <a:rPr sz="800" b="0">
                <a:solidFill>
                  <a:srgbClr val="141B33"/>
                </a:solidFill>
                <a:latin typeface="Segoe UI"/>
              </a:rPr>
              <a:t>Cosmos DB (conversations) · Storage (files) · AI Search (file search) · Key Vault (secrets) · Azure Firewall egress</a:t>
            </a:r>
          </a:p>
        </p:txBody>
      </p:sp>
      <p:sp>
        <p:nvSpPr>
          <p:cNvPr id="73" name="Oval 72"/>
          <p:cNvSpPr/>
          <p:nvPr/>
        </p:nvSpPr>
        <p:spPr>
          <a:xfrm>
            <a:off x="4361688" y="3438144"/>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7</a:t>
            </a:r>
          </a:p>
        </p:txBody>
      </p:sp>
      <p:sp>
        <p:nvSpPr>
          <p:cNvPr id="74" name="Right Arrow 73"/>
          <p:cNvSpPr/>
          <p:nvPr/>
        </p:nvSpPr>
        <p:spPr>
          <a:xfrm>
            <a:off x="8247888" y="2048255"/>
            <a:ext cx="201168" cy="219456"/>
          </a:xfrm>
          <a:prstGeom prst="rightArrow">
            <a:avLst/>
          </a:prstGeom>
          <a:solidFill>
            <a:srgbClr val="00B39F"/>
          </a:solidFill>
          <a:ln>
            <a:noFill/>
          </a:ln>
          <a:effectLst/>
        </p:spPr>
        <p:txBody>
          <a:bodyPr rtlCol="0" anchor="ctr"/>
          <a:lstStyle/>
          <a:p>
            <a:pPr algn="ctr"/>
            <a:endParaRPr/>
          </a:p>
        </p:txBody>
      </p:sp>
      <p:sp>
        <p:nvSpPr>
          <p:cNvPr id="75" name="TextBox 74"/>
          <p:cNvSpPr txBox="1"/>
          <p:nvPr/>
        </p:nvSpPr>
        <p:spPr>
          <a:xfrm>
            <a:off x="8449056" y="1280160"/>
            <a:ext cx="3191256" cy="219456"/>
          </a:xfrm>
          <a:prstGeom prst="rect">
            <a:avLst/>
          </a:prstGeom>
          <a:noFill/>
        </p:spPr>
        <p:txBody>
          <a:bodyPr wrap="square" lIns="54864" tIns="18288" rIns="54864" bIns="18288" anchor="ctr">
            <a:spAutoFit/>
          </a:bodyPr>
          <a:lstStyle/>
          <a:p>
            <a:pPr algn="l"/>
            <a:r>
              <a:rPr sz="800" b="1" spc="200">
                <a:solidFill>
                  <a:srgbClr val="008173"/>
                </a:solidFill>
                <a:latin typeface="Segoe UI"/>
              </a:rPr>
              <a:t>TOOLS, KNOWLEDGE, PEER AGENTS</a:t>
            </a:r>
          </a:p>
        </p:txBody>
      </p:sp>
      <p:sp>
        <p:nvSpPr>
          <p:cNvPr id="76" name="Rectangle 75"/>
          <p:cNvSpPr/>
          <p:nvPr/>
        </p:nvSpPr>
        <p:spPr>
          <a:xfrm>
            <a:off x="8449056" y="1554480"/>
            <a:ext cx="3191256" cy="566928"/>
          </a:xfrm>
          <a:prstGeom prst="rect">
            <a:avLst/>
          </a:prstGeom>
          <a:solidFill>
            <a:srgbClr val="FFFFFF"/>
          </a:solidFill>
          <a:ln w="9525">
            <a:solidFill>
              <a:srgbClr val="E1E7F4"/>
            </a:solidFill>
          </a:ln>
          <a:effectLst/>
        </p:spPr>
        <p:txBody>
          <a:bodyPr rtlCol="0" anchor="ctr"/>
          <a:lstStyle/>
          <a:p>
            <a:pPr algn="ctr"/>
            <a:endParaRPr/>
          </a:p>
        </p:txBody>
      </p:sp>
      <p:sp>
        <p:nvSpPr>
          <p:cNvPr id="77" name="TextBox 76"/>
          <p:cNvSpPr txBox="1"/>
          <p:nvPr/>
        </p:nvSpPr>
        <p:spPr>
          <a:xfrm>
            <a:off x="8449056" y="1554480"/>
            <a:ext cx="3191256" cy="566928"/>
          </a:xfrm>
          <a:prstGeom prst="rect">
            <a:avLst/>
          </a:prstGeom>
          <a:noFill/>
        </p:spPr>
        <p:txBody>
          <a:bodyPr wrap="square" lIns="54864" tIns="18288" rIns="54864" bIns="18288" anchor="ctr">
            <a:spAutoFit/>
          </a:bodyPr>
          <a:lstStyle/>
          <a:p>
            <a:pPr algn="l"/>
            <a:r>
              <a:rPr sz="800" b="1">
                <a:solidFill>
                  <a:srgbClr val="141B33"/>
                </a:solidFill>
                <a:latin typeface="Segoe UI"/>
              </a:rPr>
              <a:t>Foundry IQ — knowledge base on Azure AI Search</a:t>
            </a:r>
          </a:p>
          <a:p>
            <a:pPr algn="l"/>
            <a:r>
              <a:rPr sz="800" b="0">
                <a:solidFill>
                  <a:srgbClr val="141B33"/>
                </a:solidFill>
                <a:latin typeface="Segoe UI"/>
              </a:rPr>
              <a:t>agentic retrieval · private endpoint · MCP tool</a:t>
            </a:r>
          </a:p>
        </p:txBody>
      </p:sp>
      <p:sp>
        <p:nvSpPr>
          <p:cNvPr id="78" name="Rectangle 77"/>
          <p:cNvSpPr/>
          <p:nvPr/>
        </p:nvSpPr>
        <p:spPr>
          <a:xfrm>
            <a:off x="8449056" y="2194560"/>
            <a:ext cx="3191256" cy="566928"/>
          </a:xfrm>
          <a:prstGeom prst="rect">
            <a:avLst/>
          </a:prstGeom>
          <a:solidFill>
            <a:srgbClr val="FFFFFF"/>
          </a:solidFill>
          <a:ln w="9525">
            <a:solidFill>
              <a:srgbClr val="E1E7F4"/>
            </a:solidFill>
          </a:ln>
          <a:effectLst/>
        </p:spPr>
        <p:txBody>
          <a:bodyPr rtlCol="0" anchor="ctr"/>
          <a:lstStyle/>
          <a:p>
            <a:pPr algn="ctr"/>
            <a:endParaRPr/>
          </a:p>
        </p:txBody>
      </p:sp>
      <p:sp>
        <p:nvSpPr>
          <p:cNvPr id="79" name="TextBox 78"/>
          <p:cNvSpPr txBox="1"/>
          <p:nvPr/>
        </p:nvSpPr>
        <p:spPr>
          <a:xfrm>
            <a:off x="8449056" y="2194560"/>
            <a:ext cx="3191256" cy="566928"/>
          </a:xfrm>
          <a:prstGeom prst="rect">
            <a:avLst/>
          </a:prstGeom>
          <a:noFill/>
        </p:spPr>
        <p:txBody>
          <a:bodyPr wrap="square" lIns="54864" tIns="18288" rIns="54864" bIns="18288" anchor="ctr">
            <a:spAutoFit/>
          </a:bodyPr>
          <a:lstStyle/>
          <a:p>
            <a:pPr algn="l"/>
            <a:r>
              <a:rPr sz="800" b="1">
                <a:solidFill>
                  <a:srgbClr val="141B33"/>
                </a:solidFill>
                <a:latin typeface="Segoe UI"/>
              </a:rPr>
              <a:t>Work IQ* and Fabric IQ*</a:t>
            </a:r>
          </a:p>
          <a:p>
            <a:pPr algn="l"/>
            <a:r>
              <a:rPr sz="800" b="0">
                <a:solidFill>
                  <a:srgbClr val="141B33"/>
                </a:solidFill>
                <a:latin typeface="Segoe UI"/>
              </a:rPr>
              <a:t>Microsoft 365 context via A2A · Fabric ontology as a server-side tool</a:t>
            </a:r>
          </a:p>
        </p:txBody>
      </p:sp>
      <p:sp>
        <p:nvSpPr>
          <p:cNvPr id="80" name="Rectangle 79"/>
          <p:cNvSpPr/>
          <p:nvPr/>
        </p:nvSpPr>
        <p:spPr>
          <a:xfrm>
            <a:off x="8449056" y="2834639"/>
            <a:ext cx="3191256" cy="566928"/>
          </a:xfrm>
          <a:prstGeom prst="rect">
            <a:avLst/>
          </a:prstGeom>
          <a:solidFill>
            <a:srgbClr val="FFFFFF"/>
          </a:solidFill>
          <a:ln w="9525">
            <a:solidFill>
              <a:srgbClr val="E1E7F4"/>
            </a:solidFill>
          </a:ln>
          <a:effectLst/>
        </p:spPr>
        <p:txBody>
          <a:bodyPr rtlCol="0" anchor="ctr"/>
          <a:lstStyle/>
          <a:p>
            <a:pPr algn="ctr"/>
            <a:endParaRPr/>
          </a:p>
        </p:txBody>
      </p:sp>
      <p:sp>
        <p:nvSpPr>
          <p:cNvPr id="81" name="TextBox 80"/>
          <p:cNvSpPr txBox="1"/>
          <p:nvPr/>
        </p:nvSpPr>
        <p:spPr>
          <a:xfrm>
            <a:off x="8449056" y="2834639"/>
            <a:ext cx="3191256" cy="566928"/>
          </a:xfrm>
          <a:prstGeom prst="rect">
            <a:avLst/>
          </a:prstGeom>
          <a:noFill/>
        </p:spPr>
        <p:txBody>
          <a:bodyPr wrap="square" lIns="54864" tIns="18288" rIns="54864" bIns="18288" anchor="ctr">
            <a:spAutoFit/>
          </a:bodyPr>
          <a:lstStyle/>
          <a:p>
            <a:pPr algn="l"/>
            <a:r>
              <a:rPr sz="800" b="1">
                <a:solidFill>
                  <a:srgbClr val="141B33"/>
                </a:solidFill>
                <a:latin typeface="Segoe UI"/>
              </a:rPr>
              <a:t>MCP servers and business APIs</a:t>
            </a:r>
          </a:p>
          <a:p>
            <a:pPr algn="l"/>
            <a:r>
              <a:rPr sz="800" b="0">
                <a:solidFill>
                  <a:srgbClr val="141B33"/>
                </a:solidFill>
                <a:latin typeface="Segoe UI"/>
              </a:rPr>
              <a:t>private in your VNet or public via Azure Firewall · OpenAPI · Azure Functions</a:t>
            </a:r>
          </a:p>
        </p:txBody>
      </p:sp>
      <p:sp>
        <p:nvSpPr>
          <p:cNvPr id="82" name="Rectangle 81"/>
          <p:cNvSpPr/>
          <p:nvPr/>
        </p:nvSpPr>
        <p:spPr>
          <a:xfrm>
            <a:off x="8449056" y="3474720"/>
            <a:ext cx="3191256" cy="566928"/>
          </a:xfrm>
          <a:prstGeom prst="rect">
            <a:avLst/>
          </a:prstGeom>
          <a:solidFill>
            <a:srgbClr val="FFFFFF"/>
          </a:solidFill>
          <a:ln w="9525">
            <a:solidFill>
              <a:srgbClr val="E1E7F4"/>
            </a:solidFill>
          </a:ln>
          <a:effectLst/>
        </p:spPr>
        <p:txBody>
          <a:bodyPr rtlCol="0" anchor="ctr"/>
          <a:lstStyle/>
          <a:p>
            <a:pPr algn="ctr"/>
            <a:endParaRPr/>
          </a:p>
        </p:txBody>
      </p:sp>
      <p:sp>
        <p:nvSpPr>
          <p:cNvPr id="83" name="TextBox 82"/>
          <p:cNvSpPr txBox="1"/>
          <p:nvPr/>
        </p:nvSpPr>
        <p:spPr>
          <a:xfrm>
            <a:off x="8595360" y="3474720"/>
            <a:ext cx="3044952" cy="566928"/>
          </a:xfrm>
          <a:prstGeom prst="rect">
            <a:avLst/>
          </a:prstGeom>
          <a:noFill/>
        </p:spPr>
        <p:txBody>
          <a:bodyPr wrap="square" lIns="54864" tIns="18288" rIns="54864" bIns="18288" anchor="ctr">
            <a:spAutoFit/>
          </a:bodyPr>
          <a:lstStyle/>
          <a:p>
            <a:pPr algn="l"/>
            <a:r>
              <a:rPr sz="800" b="1">
                <a:solidFill>
                  <a:srgbClr val="141B33"/>
                </a:solidFill>
                <a:latin typeface="Segoe UI"/>
              </a:rPr>
              <a:t>Peer agents via A2A*</a:t>
            </a:r>
          </a:p>
          <a:p>
            <a:pPr algn="l"/>
            <a:r>
              <a:rPr sz="800" b="0">
                <a:solidFill>
                  <a:srgbClr val="141B33"/>
                </a:solidFill>
                <a:latin typeface="Segoe UI"/>
              </a:rPr>
              <a:t>Copilot Studio agents · other Foundry projects · partner agents</a:t>
            </a:r>
          </a:p>
        </p:txBody>
      </p:sp>
      <p:sp>
        <p:nvSpPr>
          <p:cNvPr id="84" name="Oval 83"/>
          <p:cNvSpPr/>
          <p:nvPr/>
        </p:nvSpPr>
        <p:spPr>
          <a:xfrm>
            <a:off x="8339328" y="3383279"/>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6</a:t>
            </a:r>
          </a:p>
        </p:txBody>
      </p:sp>
      <p:sp>
        <p:nvSpPr>
          <p:cNvPr id="85" name="Rectangle 84"/>
          <p:cNvSpPr/>
          <p:nvPr/>
        </p:nvSpPr>
        <p:spPr>
          <a:xfrm>
            <a:off x="548640" y="4224528"/>
            <a:ext cx="11091672" cy="713232"/>
          </a:xfrm>
          <a:prstGeom prst="rect">
            <a:avLst/>
          </a:prstGeom>
          <a:solidFill>
            <a:srgbClr val="0B1229"/>
          </a:solidFill>
          <a:ln>
            <a:noFill/>
          </a:ln>
          <a:effectLst/>
        </p:spPr>
        <p:txBody>
          <a:bodyPr rtlCol="0" anchor="ctr"/>
          <a:lstStyle/>
          <a:p>
            <a:pPr algn="ctr"/>
            <a:endParaRPr/>
          </a:p>
        </p:txBody>
      </p:sp>
      <p:sp>
        <p:nvSpPr>
          <p:cNvPr id="86" name="TextBox 85"/>
          <p:cNvSpPr txBox="1"/>
          <p:nvPr/>
        </p:nvSpPr>
        <p:spPr>
          <a:xfrm>
            <a:off x="658368" y="4224528"/>
            <a:ext cx="1371600" cy="713232"/>
          </a:xfrm>
          <a:prstGeom prst="rect">
            <a:avLst/>
          </a:prstGeom>
          <a:noFill/>
        </p:spPr>
        <p:txBody>
          <a:bodyPr wrap="square" lIns="54864" tIns="18288" rIns="54864" bIns="18288" anchor="ctr">
            <a:spAutoFit/>
          </a:bodyPr>
          <a:lstStyle/>
          <a:p>
            <a:pPr algn="l"/>
            <a:r>
              <a:rPr sz="1100" b="1">
                <a:solidFill>
                  <a:srgbClr val="FFFFFF"/>
                </a:solidFill>
                <a:latin typeface="Segoe UI"/>
              </a:rPr>
              <a:t>Foundry</a:t>
            </a:r>
          </a:p>
          <a:p>
            <a:pPr algn="l"/>
            <a:r>
              <a:rPr sz="1100" b="1">
                <a:solidFill>
                  <a:srgbClr val="FFFFFF"/>
                </a:solidFill>
                <a:latin typeface="Segoe UI"/>
              </a:rPr>
              <a:t>Control Plane</a:t>
            </a:r>
          </a:p>
        </p:txBody>
      </p:sp>
      <p:sp>
        <p:nvSpPr>
          <p:cNvPr id="87" name="Oval 86"/>
          <p:cNvSpPr/>
          <p:nvPr/>
        </p:nvSpPr>
        <p:spPr>
          <a:xfrm>
            <a:off x="438912" y="4133088"/>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8</a:t>
            </a:r>
          </a:p>
        </p:txBody>
      </p:sp>
      <p:sp>
        <p:nvSpPr>
          <p:cNvPr id="88" name="TextBox 87"/>
          <p:cNvSpPr txBox="1"/>
          <p:nvPr/>
        </p:nvSpPr>
        <p:spPr>
          <a:xfrm>
            <a:off x="2103120" y="4251960"/>
            <a:ext cx="3105912" cy="658368"/>
          </a:xfrm>
          <a:prstGeom prst="rect">
            <a:avLst/>
          </a:prstGeom>
          <a:noFill/>
        </p:spPr>
        <p:txBody>
          <a:bodyPr wrap="square" lIns="54864" tIns="18288" rIns="54864" bIns="18288" anchor="ctr">
            <a:spAutoFit/>
          </a:bodyPr>
          <a:lstStyle/>
          <a:p>
            <a:pPr algn="l"/>
            <a:r>
              <a:rPr sz="850" b="1">
                <a:solidFill>
                  <a:srgbClr val="FFFFFF"/>
                </a:solidFill>
                <a:latin typeface="Segoe UI"/>
              </a:rPr>
              <a:t>Observe</a:t>
            </a:r>
          </a:p>
          <a:p>
            <a:pPr algn="l"/>
            <a:r>
              <a:rPr sz="850" b="0">
                <a:solidFill>
                  <a:srgbClr val="FFFFFF"/>
                </a:solidFill>
                <a:latin typeface="Segoe UI"/>
              </a:rPr>
              <a:t>OpenTelemetry traces and metrics in Application Insights · Agent Monitoring Dashboard* · fleet inventory with Entra Agent ID</a:t>
            </a:r>
          </a:p>
        </p:txBody>
      </p:sp>
      <p:sp>
        <p:nvSpPr>
          <p:cNvPr id="89" name="TextBox 88"/>
          <p:cNvSpPr txBox="1"/>
          <p:nvPr/>
        </p:nvSpPr>
        <p:spPr>
          <a:xfrm>
            <a:off x="5282184" y="4251960"/>
            <a:ext cx="3105912" cy="658368"/>
          </a:xfrm>
          <a:prstGeom prst="rect">
            <a:avLst/>
          </a:prstGeom>
          <a:noFill/>
        </p:spPr>
        <p:txBody>
          <a:bodyPr wrap="square" lIns="54864" tIns="18288" rIns="54864" bIns="18288" anchor="ctr">
            <a:spAutoFit/>
          </a:bodyPr>
          <a:lstStyle/>
          <a:p>
            <a:pPr algn="l"/>
            <a:r>
              <a:rPr sz="850" b="1">
                <a:solidFill>
                  <a:srgbClr val="FFFFFF"/>
                </a:solidFill>
                <a:latin typeface="Segoe UI"/>
              </a:rPr>
              <a:t>Evaluate</a:t>
            </a:r>
          </a:p>
          <a:p>
            <a:pPr algn="l"/>
            <a:r>
              <a:rPr sz="850" b="0">
                <a:solidFill>
                  <a:srgbClr val="FFFFFF"/>
                </a:solidFill>
                <a:latin typeface="Segoe UI"/>
              </a:rPr>
              <a:t>continuous evaluation of production traffic · scheduled evaluations · AI red teaming</a:t>
            </a:r>
          </a:p>
        </p:txBody>
      </p:sp>
      <p:sp>
        <p:nvSpPr>
          <p:cNvPr id="90" name="TextBox 89"/>
          <p:cNvSpPr txBox="1"/>
          <p:nvPr/>
        </p:nvSpPr>
        <p:spPr>
          <a:xfrm>
            <a:off x="8461248" y="4251960"/>
            <a:ext cx="3105912" cy="658368"/>
          </a:xfrm>
          <a:prstGeom prst="rect">
            <a:avLst/>
          </a:prstGeom>
          <a:noFill/>
        </p:spPr>
        <p:txBody>
          <a:bodyPr wrap="square" lIns="54864" tIns="18288" rIns="54864" bIns="18288" anchor="ctr">
            <a:spAutoFit/>
          </a:bodyPr>
          <a:lstStyle/>
          <a:p>
            <a:pPr algn="l"/>
            <a:r>
              <a:rPr sz="850" b="1">
                <a:solidFill>
                  <a:srgbClr val="FFFFFF"/>
                </a:solidFill>
                <a:latin typeface="Segoe UI"/>
              </a:rPr>
              <a:t>Govern and control cost</a:t>
            </a:r>
          </a:p>
          <a:p>
            <a:pPr algn="l"/>
            <a:r>
              <a:rPr sz="850" b="0">
                <a:solidFill>
                  <a:srgbClr val="FFFFFF"/>
                </a:solidFill>
                <a:latin typeface="Segoe UI"/>
              </a:rPr>
              <a:t>guardrail policies · token quotas and rate limits through the AI gateway · estimated cost and token usage per agent · Defender and Purview alerts</a:t>
            </a:r>
          </a:p>
        </p:txBody>
      </p:sp>
      <p:sp>
        <p:nvSpPr>
          <p:cNvPr id="91" name="Rectangle 90"/>
          <p:cNvSpPr/>
          <p:nvPr/>
        </p:nvSpPr>
        <p:spPr>
          <a:xfrm>
            <a:off x="548640" y="5001768"/>
            <a:ext cx="11091672" cy="438912"/>
          </a:xfrm>
          <a:prstGeom prst="rect">
            <a:avLst/>
          </a:prstGeom>
          <a:solidFill>
            <a:srgbClr val="EBEFF7"/>
          </a:solidFill>
          <a:ln>
            <a:noFill/>
          </a:ln>
          <a:effectLst/>
        </p:spPr>
        <p:txBody>
          <a:bodyPr rtlCol="0" anchor="ctr"/>
          <a:lstStyle/>
          <a:p>
            <a:pPr algn="ctr"/>
            <a:endParaRPr/>
          </a:p>
        </p:txBody>
      </p:sp>
      <p:sp>
        <p:nvSpPr>
          <p:cNvPr id="92" name="TextBox 91"/>
          <p:cNvSpPr txBox="1"/>
          <p:nvPr/>
        </p:nvSpPr>
        <p:spPr>
          <a:xfrm>
            <a:off x="548640" y="5001768"/>
            <a:ext cx="11091672" cy="438912"/>
          </a:xfrm>
          <a:prstGeom prst="rect">
            <a:avLst/>
          </a:prstGeom>
          <a:noFill/>
        </p:spPr>
        <p:txBody>
          <a:bodyPr wrap="square" lIns="54864" tIns="18288" rIns="54864" bIns="18288" anchor="ctr">
            <a:spAutoFit/>
          </a:bodyPr>
          <a:lstStyle/>
          <a:p>
            <a:pPr algn="l"/>
            <a:r>
              <a:rPr sz="800" b="1">
                <a:solidFill>
                  <a:srgbClr val="141B33"/>
                </a:solidFill>
                <a:latin typeface="Segoe UI"/>
              </a:rPr>
              <a:t>Flow  </a:t>
            </a:r>
            <a:r>
              <a:rPr sz="800" b="0">
                <a:solidFill>
                  <a:srgbClr val="141B33"/>
                </a:solidFill>
                <a:latin typeface="Segoe UI"/>
              </a:rPr>
              <a:t>1 the user signs in with Microsoft Entra ID and asks a question in Teams, Microsoft 365 Copilot or the web app → 2 the AI gateway authenticates, enforces token limits and content safety → 3 the hosted agent runs in Agent Service under its own agent identity → 4 it calls the model deployment → 5 it uses tools and knowledge through the Toolbox → 6 it delegates to peer agents over A2A → 7 conversation state and files land in your Cosmos DB, Storage and AI Search → 8 traces, evaluations and cost flow to the Control Plane.</a:t>
            </a:r>
          </a:p>
        </p:txBody>
      </p:sp>
      <p:sp>
        <p:nvSpPr>
          <p:cNvPr id="93" name="Rectangle 92"/>
          <p:cNvSpPr/>
          <p:nvPr/>
        </p:nvSpPr>
        <p:spPr>
          <a:xfrm>
            <a:off x="548640" y="5532120"/>
            <a:ext cx="201168" cy="109728"/>
          </a:xfrm>
          <a:prstGeom prst="rect">
            <a:avLst/>
          </a:prstGeom>
          <a:solidFill>
            <a:srgbClr val="101A3C"/>
          </a:solidFill>
          <a:ln>
            <a:noFill/>
          </a:ln>
          <a:effectLst/>
        </p:spPr>
        <p:txBody>
          <a:bodyPr rtlCol="0" anchor="ctr"/>
          <a:lstStyle/>
          <a:p>
            <a:pPr algn="ctr"/>
            <a:endParaRPr/>
          </a:p>
        </p:txBody>
      </p:sp>
      <p:sp>
        <p:nvSpPr>
          <p:cNvPr id="94" name="TextBox 93"/>
          <p:cNvSpPr txBox="1"/>
          <p:nvPr/>
        </p:nvSpPr>
        <p:spPr>
          <a:xfrm>
            <a:off x="768096" y="5477256"/>
            <a:ext cx="1188720" cy="219456"/>
          </a:xfrm>
          <a:prstGeom prst="rect">
            <a:avLst/>
          </a:prstGeom>
          <a:noFill/>
        </p:spPr>
        <p:txBody>
          <a:bodyPr wrap="square" lIns="54864" tIns="18288" rIns="54864" bIns="18288" anchor="ctr">
            <a:spAutoFit/>
          </a:bodyPr>
          <a:lstStyle/>
          <a:p>
            <a:pPr algn="l"/>
            <a:r>
              <a:rPr sz="800" b="0">
                <a:solidFill>
                  <a:srgbClr val="44495B"/>
                </a:solidFill>
                <a:latin typeface="Segoe UI"/>
              </a:rPr>
              <a:t>Foundry product</a:t>
            </a:r>
          </a:p>
        </p:txBody>
      </p:sp>
      <p:sp>
        <p:nvSpPr>
          <p:cNvPr id="95" name="Rectangle 94"/>
          <p:cNvSpPr/>
          <p:nvPr/>
        </p:nvSpPr>
        <p:spPr>
          <a:xfrm>
            <a:off x="1965960" y="5532120"/>
            <a:ext cx="201168" cy="109728"/>
          </a:xfrm>
          <a:prstGeom prst="rect">
            <a:avLst/>
          </a:prstGeom>
          <a:solidFill>
            <a:srgbClr val="FFFFFF"/>
          </a:solidFill>
          <a:ln w="9525">
            <a:solidFill>
              <a:srgbClr val="E1E7F4"/>
            </a:solidFill>
          </a:ln>
          <a:effectLst/>
        </p:spPr>
        <p:txBody>
          <a:bodyPr rtlCol="0" anchor="ctr"/>
          <a:lstStyle/>
          <a:p>
            <a:pPr algn="ctr"/>
            <a:endParaRPr/>
          </a:p>
        </p:txBody>
      </p:sp>
      <p:sp>
        <p:nvSpPr>
          <p:cNvPr id="96" name="TextBox 95"/>
          <p:cNvSpPr txBox="1"/>
          <p:nvPr/>
        </p:nvSpPr>
        <p:spPr>
          <a:xfrm>
            <a:off x="2185415" y="5477256"/>
            <a:ext cx="1737360" cy="219456"/>
          </a:xfrm>
          <a:prstGeom prst="rect">
            <a:avLst/>
          </a:prstGeom>
          <a:noFill/>
        </p:spPr>
        <p:txBody>
          <a:bodyPr wrap="square" lIns="54864" tIns="18288" rIns="54864" bIns="18288" anchor="ctr">
            <a:spAutoFit/>
          </a:bodyPr>
          <a:lstStyle/>
          <a:p>
            <a:pPr algn="l"/>
            <a:r>
              <a:rPr sz="800" b="0">
                <a:solidFill>
                  <a:srgbClr val="44495B"/>
                </a:solidFill>
                <a:latin typeface="Segoe UI"/>
              </a:rPr>
              <a:t>Capability / Azure resource</a:t>
            </a:r>
          </a:p>
        </p:txBody>
      </p:sp>
      <p:sp>
        <p:nvSpPr>
          <p:cNvPr id="97" name="Rectangle 96"/>
          <p:cNvSpPr/>
          <p:nvPr/>
        </p:nvSpPr>
        <p:spPr>
          <a:xfrm>
            <a:off x="3931920" y="5532120"/>
            <a:ext cx="201168" cy="109728"/>
          </a:xfrm>
          <a:prstGeom prst="rect">
            <a:avLst/>
          </a:prstGeom>
          <a:solidFill>
            <a:srgbClr val="EBEFF7"/>
          </a:solidFill>
          <a:ln>
            <a:noFill/>
          </a:ln>
          <a:effectLst/>
        </p:spPr>
        <p:txBody>
          <a:bodyPr rtlCol="0" anchor="ctr"/>
          <a:lstStyle/>
          <a:p>
            <a:pPr algn="ctr"/>
            <a:endParaRPr/>
          </a:p>
        </p:txBody>
      </p:sp>
      <p:sp>
        <p:nvSpPr>
          <p:cNvPr id="98" name="TextBox 97"/>
          <p:cNvSpPr txBox="1"/>
          <p:nvPr/>
        </p:nvSpPr>
        <p:spPr>
          <a:xfrm>
            <a:off x="4151376" y="5477256"/>
            <a:ext cx="1645920" cy="219456"/>
          </a:xfrm>
          <a:prstGeom prst="rect">
            <a:avLst/>
          </a:prstGeom>
          <a:noFill/>
        </p:spPr>
        <p:txBody>
          <a:bodyPr wrap="square" lIns="54864" tIns="18288" rIns="54864" bIns="18288" anchor="ctr">
            <a:spAutoFit/>
          </a:bodyPr>
          <a:lstStyle/>
          <a:p>
            <a:pPr algn="l"/>
            <a:r>
              <a:rPr sz="800" b="0">
                <a:solidFill>
                  <a:srgbClr val="44495B"/>
                </a:solidFill>
                <a:latin typeface="Segoe UI"/>
              </a:rPr>
              <a:t>Channel / customer-owned</a:t>
            </a:r>
          </a:p>
        </p:txBody>
      </p:sp>
      <p:sp>
        <p:nvSpPr>
          <p:cNvPr id="99" name="Rectangle 98"/>
          <p:cNvSpPr/>
          <p:nvPr/>
        </p:nvSpPr>
        <p:spPr>
          <a:xfrm>
            <a:off x="5806440" y="5532120"/>
            <a:ext cx="201168" cy="109728"/>
          </a:xfrm>
          <a:prstGeom prst="rect">
            <a:avLst/>
          </a:prstGeom>
          <a:solidFill>
            <a:srgbClr val="0B1229"/>
          </a:solidFill>
          <a:ln>
            <a:noFill/>
          </a:ln>
          <a:effectLst/>
        </p:spPr>
        <p:txBody>
          <a:bodyPr rtlCol="0" anchor="ctr"/>
          <a:lstStyle/>
          <a:p>
            <a:pPr algn="ctr"/>
            <a:endParaRPr/>
          </a:p>
        </p:txBody>
      </p:sp>
      <p:sp>
        <p:nvSpPr>
          <p:cNvPr id="100" name="TextBox 99"/>
          <p:cNvSpPr txBox="1"/>
          <p:nvPr/>
        </p:nvSpPr>
        <p:spPr>
          <a:xfrm>
            <a:off x="6025896" y="5477256"/>
            <a:ext cx="1188720" cy="219456"/>
          </a:xfrm>
          <a:prstGeom prst="rect">
            <a:avLst/>
          </a:prstGeom>
          <a:noFill/>
        </p:spPr>
        <p:txBody>
          <a:bodyPr wrap="square" lIns="54864" tIns="18288" rIns="54864" bIns="18288" anchor="ctr">
            <a:spAutoFit/>
          </a:bodyPr>
          <a:lstStyle/>
          <a:p>
            <a:pPr algn="l"/>
            <a:r>
              <a:rPr sz="800" b="0">
                <a:solidFill>
                  <a:srgbClr val="44495B"/>
                </a:solidFill>
                <a:latin typeface="Segoe UI"/>
              </a:rPr>
              <a:t>Governance layer</a:t>
            </a:r>
          </a:p>
        </p:txBody>
      </p:sp>
      <p:sp>
        <p:nvSpPr>
          <p:cNvPr id="101" name="Rectangle 100"/>
          <p:cNvSpPr/>
          <p:nvPr/>
        </p:nvSpPr>
        <p:spPr>
          <a:xfrm>
            <a:off x="7223759" y="5532120"/>
            <a:ext cx="201168" cy="109728"/>
          </a:xfrm>
          <a:prstGeom prst="rect">
            <a:avLst/>
          </a:prstGeom>
          <a:noFill/>
          <a:ln w="9525">
            <a:solidFill>
              <a:srgbClr val="44495B"/>
            </a:solidFill>
            <a:prstDash val="dash"/>
          </a:ln>
          <a:effectLst/>
        </p:spPr>
        <p:txBody>
          <a:bodyPr rtlCol="0" anchor="ctr"/>
          <a:lstStyle/>
          <a:p>
            <a:pPr algn="ctr"/>
            <a:endParaRPr/>
          </a:p>
        </p:txBody>
      </p:sp>
      <p:sp>
        <p:nvSpPr>
          <p:cNvPr id="102" name="TextBox 101"/>
          <p:cNvSpPr txBox="1"/>
          <p:nvPr/>
        </p:nvSpPr>
        <p:spPr>
          <a:xfrm>
            <a:off x="7443215" y="5477256"/>
            <a:ext cx="1280160" cy="219456"/>
          </a:xfrm>
          <a:prstGeom prst="rect">
            <a:avLst/>
          </a:prstGeom>
          <a:noFill/>
        </p:spPr>
        <p:txBody>
          <a:bodyPr wrap="square" lIns="54864" tIns="18288" rIns="54864" bIns="18288" anchor="ctr">
            <a:spAutoFit/>
          </a:bodyPr>
          <a:lstStyle/>
          <a:p>
            <a:pPr algn="l"/>
            <a:r>
              <a:rPr sz="800" b="0">
                <a:solidFill>
                  <a:srgbClr val="44495B"/>
                </a:solidFill>
                <a:latin typeface="Segoe UI"/>
              </a:rPr>
              <a:t>Foundry boundary</a:t>
            </a:r>
          </a:p>
        </p:txBody>
      </p:sp>
      <p:sp>
        <p:nvSpPr>
          <p:cNvPr id="103" name="TextBox 102"/>
          <p:cNvSpPr txBox="1"/>
          <p:nvPr/>
        </p:nvSpPr>
        <p:spPr>
          <a:xfrm>
            <a:off x="8778240" y="5477256"/>
            <a:ext cx="914400" cy="219456"/>
          </a:xfrm>
          <a:prstGeom prst="rect">
            <a:avLst/>
          </a:prstGeom>
          <a:noFill/>
        </p:spPr>
        <p:txBody>
          <a:bodyPr wrap="square" lIns="54864" tIns="18288" rIns="54864" bIns="18288" anchor="ctr">
            <a:spAutoFit/>
          </a:bodyPr>
          <a:lstStyle/>
          <a:p>
            <a:pPr algn="l"/>
            <a:r>
              <a:rPr sz="800" b="0">
                <a:solidFill>
                  <a:srgbClr val="44495B"/>
                </a:solidFill>
                <a:latin typeface="Segoe UI"/>
              </a:rPr>
              <a:t>*  preview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1   ·   H I G H   L E V E L</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Microsoft Foundry API and SDKs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One project endpoint in front of models, agents, tools and observability — reachable from the SDK you already use.</a:t>
            </a:r>
          </a:p>
          <a:p>
            <a:endParaRPr sz="1200">
              <a:solidFill>
                <a:srgbClr val="44495B"/>
              </a:solidFill>
              <a:latin typeface="Segoe UI"/>
            </a:endParaRPr>
          </a:p>
        </p:txBody>
      </p:sp>
      <p:sp>
        <p:nvSpPr>
          <p:cNvPr id="34" name="Shape"/>
          <p:cNvSpPr/>
          <p:nvPr/>
        </p:nvSpPr>
        <p:spPr>
          <a:xfrm>
            <a:off x="548640" y="5687568"/>
            <a:ext cx="11094720" cy="9525"/>
          </a:xfrm>
          <a:prstGeom prst="rect">
            <a:avLst/>
          </a:prstGeom>
          <a:solidFill>
            <a:srgbClr val="E1E7F4"/>
          </a:solidFill>
        </p:spPr>
        <p:txBody>
          <a:bodyPr/>
          <a:lstStyle/>
          <a:p>
            <a:endParaRPr/>
          </a:p>
        </p:txBody>
      </p:sp>
      <p:sp>
        <p:nvSpPr>
          <p:cNvPr id="35"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learn.microsoft.com/azure/foundry/how-to/develop/sdk-overview</a:t>
            </a:r>
          </a:p>
          <a:p>
            <a:endParaRPr sz="900">
              <a:solidFill>
                <a:srgbClr val="44495B"/>
              </a:solidFill>
              <a:latin typeface="Segoe UI"/>
            </a:endParaRPr>
          </a:p>
        </p:txBody>
      </p:sp>
      <p:sp>
        <p:nvSpPr>
          <p:cNvPr id="36"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5</a:t>
            </a:r>
          </a:p>
        </p:txBody>
      </p:sp>
      <p:sp>
        <p:nvSpPr>
          <p:cNvPr id="37" name="TextBox 36"/>
          <p:cNvSpPr txBox="1"/>
          <p:nvPr/>
        </p:nvSpPr>
        <p:spPr>
          <a:xfrm>
            <a:off x="548640" y="1298448"/>
            <a:ext cx="23317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YOUR CODE — THE CLIENT</a:t>
            </a:r>
          </a:p>
        </p:txBody>
      </p:sp>
      <p:sp>
        <p:nvSpPr>
          <p:cNvPr id="38" name="Rectangle 37"/>
          <p:cNvSpPr/>
          <p:nvPr/>
        </p:nvSpPr>
        <p:spPr>
          <a:xfrm>
            <a:off x="548640" y="1572768"/>
            <a:ext cx="2331720" cy="512064"/>
          </a:xfrm>
          <a:prstGeom prst="rect">
            <a:avLst/>
          </a:prstGeom>
          <a:solidFill>
            <a:srgbClr val="EBEFF7"/>
          </a:solidFill>
          <a:ln>
            <a:noFill/>
          </a:ln>
          <a:effectLst/>
        </p:spPr>
        <p:txBody>
          <a:bodyPr rtlCol="0" anchor="ctr"/>
          <a:lstStyle/>
          <a:p>
            <a:pPr algn="ctr"/>
            <a:endParaRPr/>
          </a:p>
        </p:txBody>
      </p:sp>
      <p:sp>
        <p:nvSpPr>
          <p:cNvPr id="39" name="TextBox 38"/>
          <p:cNvSpPr txBox="1"/>
          <p:nvPr/>
        </p:nvSpPr>
        <p:spPr>
          <a:xfrm>
            <a:off x="548640" y="1572768"/>
            <a:ext cx="2331720" cy="512064"/>
          </a:xfrm>
          <a:prstGeom prst="rect">
            <a:avLst/>
          </a:prstGeom>
          <a:noFill/>
        </p:spPr>
        <p:txBody>
          <a:bodyPr wrap="square" lIns="73152" tIns="27432" rIns="73152" bIns="27432" anchor="ctr">
            <a:spAutoFit/>
          </a:bodyPr>
          <a:lstStyle/>
          <a:p>
            <a:pPr algn="l"/>
            <a:r>
              <a:rPr sz="850" b="1">
                <a:solidFill>
                  <a:srgbClr val="141B33"/>
                </a:solidFill>
                <a:latin typeface="Segoe UI"/>
              </a:rPr>
              <a:t>Microsoft Foundry SDK</a:t>
            </a:r>
          </a:p>
          <a:p>
            <a:pPr algn="l"/>
            <a:r>
              <a:rPr sz="850" b="0">
                <a:solidFill>
                  <a:srgbClr val="141B33"/>
                </a:solidFill>
                <a:latin typeface="Segoe UI"/>
              </a:rPr>
              <a:t>Python · C# · JavaScript · Java — the full project surface</a:t>
            </a:r>
          </a:p>
        </p:txBody>
      </p:sp>
      <p:sp>
        <p:nvSpPr>
          <p:cNvPr id="40" name="Rectangle 39"/>
          <p:cNvSpPr/>
          <p:nvPr/>
        </p:nvSpPr>
        <p:spPr>
          <a:xfrm>
            <a:off x="548640" y="2157984"/>
            <a:ext cx="2331720" cy="512064"/>
          </a:xfrm>
          <a:prstGeom prst="rect">
            <a:avLst/>
          </a:prstGeom>
          <a:solidFill>
            <a:srgbClr val="EBEFF7"/>
          </a:solidFill>
          <a:ln>
            <a:noFill/>
          </a:ln>
          <a:effectLst/>
        </p:spPr>
        <p:txBody>
          <a:bodyPr rtlCol="0" anchor="ctr"/>
          <a:lstStyle/>
          <a:p>
            <a:pPr algn="ctr"/>
            <a:endParaRPr/>
          </a:p>
        </p:txBody>
      </p:sp>
      <p:sp>
        <p:nvSpPr>
          <p:cNvPr id="41" name="TextBox 40"/>
          <p:cNvSpPr txBox="1"/>
          <p:nvPr/>
        </p:nvSpPr>
        <p:spPr>
          <a:xfrm>
            <a:off x="548640" y="2157984"/>
            <a:ext cx="2331720" cy="512064"/>
          </a:xfrm>
          <a:prstGeom prst="rect">
            <a:avLst/>
          </a:prstGeom>
          <a:noFill/>
        </p:spPr>
        <p:txBody>
          <a:bodyPr wrap="square" lIns="73152" tIns="27432" rIns="73152" bIns="27432" anchor="ctr">
            <a:spAutoFit/>
          </a:bodyPr>
          <a:lstStyle/>
          <a:p>
            <a:pPr algn="l"/>
            <a:r>
              <a:rPr sz="850" b="1">
                <a:solidFill>
                  <a:srgbClr val="141B33"/>
                </a:solidFill>
                <a:latin typeface="Segoe UI"/>
              </a:rPr>
              <a:t>OpenAI SDK</a:t>
            </a:r>
          </a:p>
          <a:p>
            <a:pPr algn="l"/>
            <a:r>
              <a:rPr sz="850" b="0">
                <a:solidFill>
                  <a:srgbClr val="141B33"/>
                </a:solidFill>
                <a:latin typeface="Segoe UI"/>
              </a:rPr>
              <a:t>unchanged code, OpenAI-compatible routes</a:t>
            </a:r>
          </a:p>
        </p:txBody>
      </p:sp>
      <p:sp>
        <p:nvSpPr>
          <p:cNvPr id="42" name="Rectangle 41"/>
          <p:cNvSpPr/>
          <p:nvPr/>
        </p:nvSpPr>
        <p:spPr>
          <a:xfrm>
            <a:off x="548640" y="2743200"/>
            <a:ext cx="2331720" cy="512064"/>
          </a:xfrm>
          <a:prstGeom prst="rect">
            <a:avLst/>
          </a:prstGeom>
          <a:solidFill>
            <a:srgbClr val="EBEFF7"/>
          </a:solidFill>
          <a:ln>
            <a:noFill/>
          </a:ln>
          <a:effectLst/>
        </p:spPr>
        <p:txBody>
          <a:bodyPr rtlCol="0" anchor="ctr"/>
          <a:lstStyle/>
          <a:p>
            <a:pPr algn="ctr"/>
            <a:endParaRPr/>
          </a:p>
        </p:txBody>
      </p:sp>
      <p:sp>
        <p:nvSpPr>
          <p:cNvPr id="43" name="TextBox 42"/>
          <p:cNvSpPr txBox="1"/>
          <p:nvPr/>
        </p:nvSpPr>
        <p:spPr>
          <a:xfrm>
            <a:off x="548640" y="2743200"/>
            <a:ext cx="2331720" cy="512064"/>
          </a:xfrm>
          <a:prstGeom prst="rect">
            <a:avLst/>
          </a:prstGeom>
          <a:noFill/>
        </p:spPr>
        <p:txBody>
          <a:bodyPr wrap="square" lIns="73152" tIns="27432" rIns="73152" bIns="27432" anchor="ctr">
            <a:spAutoFit/>
          </a:bodyPr>
          <a:lstStyle/>
          <a:p>
            <a:pPr algn="l"/>
            <a:r>
              <a:rPr sz="850" b="1">
                <a:solidFill>
                  <a:srgbClr val="141B33"/>
                </a:solidFill>
                <a:latin typeface="Segoe UI"/>
              </a:rPr>
              <a:t>Anthropic SDK</a:t>
            </a:r>
          </a:p>
          <a:p>
            <a:pPr algn="l"/>
            <a:r>
              <a:rPr sz="850" b="0">
                <a:solidFill>
                  <a:srgbClr val="141B33"/>
                </a:solidFill>
                <a:latin typeface="Segoe UI"/>
              </a:rPr>
              <a:t>Claude models through the Messages API</a:t>
            </a:r>
          </a:p>
        </p:txBody>
      </p:sp>
      <p:sp>
        <p:nvSpPr>
          <p:cNvPr id="44" name="Rectangle 43"/>
          <p:cNvSpPr/>
          <p:nvPr/>
        </p:nvSpPr>
        <p:spPr>
          <a:xfrm>
            <a:off x="548640" y="3328416"/>
            <a:ext cx="2331720" cy="512064"/>
          </a:xfrm>
          <a:prstGeom prst="rect">
            <a:avLst/>
          </a:prstGeom>
          <a:solidFill>
            <a:srgbClr val="EBEFF7"/>
          </a:solidFill>
          <a:ln>
            <a:noFill/>
          </a:ln>
          <a:effectLst/>
        </p:spPr>
        <p:txBody>
          <a:bodyPr rtlCol="0" anchor="ctr"/>
          <a:lstStyle/>
          <a:p>
            <a:pPr algn="ctr"/>
            <a:endParaRPr/>
          </a:p>
        </p:txBody>
      </p:sp>
      <p:sp>
        <p:nvSpPr>
          <p:cNvPr id="45" name="TextBox 44"/>
          <p:cNvSpPr txBox="1"/>
          <p:nvPr/>
        </p:nvSpPr>
        <p:spPr>
          <a:xfrm>
            <a:off x="548640" y="3328416"/>
            <a:ext cx="2331720" cy="512064"/>
          </a:xfrm>
          <a:prstGeom prst="rect">
            <a:avLst/>
          </a:prstGeom>
          <a:noFill/>
        </p:spPr>
        <p:txBody>
          <a:bodyPr wrap="square" lIns="73152" tIns="27432" rIns="73152" bIns="27432" anchor="ctr">
            <a:spAutoFit/>
          </a:bodyPr>
          <a:lstStyle/>
          <a:p>
            <a:pPr algn="l"/>
            <a:r>
              <a:rPr sz="850" b="1">
                <a:solidFill>
                  <a:srgbClr val="141B33"/>
                </a:solidFill>
                <a:latin typeface="Segoe UI"/>
              </a:rPr>
              <a:t>Microsoft Agent Framework</a:t>
            </a:r>
          </a:p>
          <a:p>
            <a:pPr algn="l"/>
            <a:r>
              <a:rPr sz="850" b="0">
                <a:solidFill>
                  <a:srgbClr val="141B33"/>
                </a:solidFill>
                <a:latin typeface="Segoe UI"/>
              </a:rPr>
              <a:t>agents and workflows, Foundry as the model client</a:t>
            </a:r>
          </a:p>
        </p:txBody>
      </p:sp>
      <p:sp>
        <p:nvSpPr>
          <p:cNvPr id="46" name="Rectangle 45"/>
          <p:cNvSpPr/>
          <p:nvPr/>
        </p:nvSpPr>
        <p:spPr>
          <a:xfrm>
            <a:off x="548640" y="3913632"/>
            <a:ext cx="2331720" cy="512064"/>
          </a:xfrm>
          <a:prstGeom prst="rect">
            <a:avLst/>
          </a:prstGeom>
          <a:solidFill>
            <a:srgbClr val="EBEFF7"/>
          </a:solidFill>
          <a:ln>
            <a:noFill/>
          </a:ln>
          <a:effectLst/>
        </p:spPr>
        <p:txBody>
          <a:bodyPr rtlCol="0" anchor="ctr"/>
          <a:lstStyle/>
          <a:p>
            <a:pPr algn="ctr"/>
            <a:endParaRPr/>
          </a:p>
        </p:txBody>
      </p:sp>
      <p:sp>
        <p:nvSpPr>
          <p:cNvPr id="47" name="TextBox 46"/>
          <p:cNvSpPr txBox="1"/>
          <p:nvPr/>
        </p:nvSpPr>
        <p:spPr>
          <a:xfrm>
            <a:off x="548640" y="3913632"/>
            <a:ext cx="2331720" cy="512064"/>
          </a:xfrm>
          <a:prstGeom prst="rect">
            <a:avLst/>
          </a:prstGeom>
          <a:noFill/>
        </p:spPr>
        <p:txBody>
          <a:bodyPr wrap="square" lIns="73152" tIns="27432" rIns="73152" bIns="27432" anchor="ctr">
            <a:spAutoFit/>
          </a:bodyPr>
          <a:lstStyle/>
          <a:p>
            <a:pPr algn="l"/>
            <a:r>
              <a:rPr sz="850" b="1">
                <a:solidFill>
                  <a:srgbClr val="141B33"/>
                </a:solidFill>
                <a:latin typeface="Segoe UI"/>
              </a:rPr>
              <a:t>LangChain · LangGraph · OpenAI Agents SDK</a:t>
            </a:r>
          </a:p>
          <a:p>
            <a:pPr algn="l"/>
            <a:r>
              <a:rPr sz="850" b="0">
                <a:solidFill>
                  <a:srgbClr val="141B33"/>
                </a:solidFill>
                <a:latin typeface="Segoe UI"/>
              </a:rPr>
              <a:t>community frameworks, same endpoint</a:t>
            </a:r>
          </a:p>
        </p:txBody>
      </p:sp>
      <p:sp>
        <p:nvSpPr>
          <p:cNvPr id="48" name="Right Arrow 47"/>
          <p:cNvSpPr/>
          <p:nvPr/>
        </p:nvSpPr>
        <p:spPr>
          <a:xfrm>
            <a:off x="2953512" y="2889504"/>
            <a:ext cx="201168" cy="219456"/>
          </a:xfrm>
          <a:prstGeom prst="rightArrow">
            <a:avLst/>
          </a:prstGeom>
          <a:solidFill>
            <a:srgbClr val="00B39F"/>
          </a:solidFill>
          <a:ln>
            <a:noFill/>
          </a:ln>
          <a:effectLst/>
        </p:spPr>
        <p:txBody>
          <a:bodyPr rtlCol="0" anchor="ctr"/>
          <a:lstStyle/>
          <a:p>
            <a:pPr algn="ctr"/>
            <a:endParaRPr/>
          </a:p>
        </p:txBody>
      </p:sp>
      <p:sp>
        <p:nvSpPr>
          <p:cNvPr id="49" name="TextBox 48"/>
          <p:cNvSpPr txBox="1"/>
          <p:nvPr/>
        </p:nvSpPr>
        <p:spPr>
          <a:xfrm>
            <a:off x="3200400" y="1298448"/>
            <a:ext cx="3749039"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THE FOUNDRY API — ONE PROJECT ENDPOINT</a:t>
            </a:r>
          </a:p>
        </p:txBody>
      </p:sp>
      <p:sp>
        <p:nvSpPr>
          <p:cNvPr id="50" name="Rectangle 49"/>
          <p:cNvSpPr/>
          <p:nvPr/>
        </p:nvSpPr>
        <p:spPr>
          <a:xfrm>
            <a:off x="3200400" y="1572768"/>
            <a:ext cx="3749039" cy="2852928"/>
          </a:xfrm>
          <a:prstGeom prst="rect">
            <a:avLst/>
          </a:prstGeom>
          <a:solidFill>
            <a:srgbClr val="F6F8FD"/>
          </a:solidFill>
          <a:ln w="12700">
            <a:solidFill>
              <a:srgbClr val="101A3C"/>
            </a:solidFill>
          </a:ln>
          <a:effectLst/>
        </p:spPr>
        <p:txBody>
          <a:bodyPr rtlCol="0" anchor="ctr"/>
          <a:lstStyle/>
          <a:p>
            <a:pPr algn="ctr"/>
            <a:endParaRPr/>
          </a:p>
        </p:txBody>
      </p:sp>
      <p:sp>
        <p:nvSpPr>
          <p:cNvPr id="51" name="Rectangle 50"/>
          <p:cNvSpPr/>
          <p:nvPr/>
        </p:nvSpPr>
        <p:spPr>
          <a:xfrm>
            <a:off x="3200400" y="1572768"/>
            <a:ext cx="3749039" cy="420624"/>
          </a:xfrm>
          <a:prstGeom prst="rect">
            <a:avLst/>
          </a:prstGeom>
          <a:solidFill>
            <a:srgbClr val="101A3C"/>
          </a:solidFill>
          <a:ln>
            <a:noFill/>
          </a:ln>
          <a:effectLst/>
        </p:spPr>
        <p:txBody>
          <a:bodyPr rtlCol="0" anchor="ctr"/>
          <a:lstStyle/>
          <a:p>
            <a:pPr algn="ctr"/>
            <a:endParaRPr/>
          </a:p>
        </p:txBody>
      </p:sp>
      <p:sp>
        <p:nvSpPr>
          <p:cNvPr id="52" name="TextBox 51"/>
          <p:cNvSpPr txBox="1"/>
          <p:nvPr/>
        </p:nvSpPr>
        <p:spPr>
          <a:xfrm>
            <a:off x="3200400" y="1572768"/>
            <a:ext cx="3749039" cy="420624"/>
          </a:xfrm>
          <a:prstGeom prst="rect">
            <a:avLst/>
          </a:prstGeom>
          <a:noFill/>
        </p:spPr>
        <p:txBody>
          <a:bodyPr wrap="square" lIns="73152" tIns="27432" rIns="73152" bIns="27432" anchor="ctr">
            <a:spAutoFit/>
          </a:bodyPr>
          <a:lstStyle/>
          <a:p>
            <a:pPr algn="ctr"/>
            <a:r>
              <a:rPr sz="900" b="1">
                <a:solidFill>
                  <a:srgbClr val="FFFFFF"/>
                </a:solidFill>
                <a:latin typeface="Segoe UI"/>
              </a:rPr>
              <a:t>Foundry project endpoint</a:t>
            </a:r>
          </a:p>
          <a:p>
            <a:pPr algn="ctr"/>
            <a:r>
              <a:rPr sz="900" b="0">
                <a:solidFill>
                  <a:srgbClr val="FFFFFF"/>
                </a:solidFill>
                <a:latin typeface="Segoe UI"/>
              </a:rPr>
              <a:t>Microsoft Entra ID · managed identity · no keys required</a:t>
            </a:r>
          </a:p>
        </p:txBody>
      </p:sp>
      <p:sp>
        <p:nvSpPr>
          <p:cNvPr id="53" name="Rectangle 52"/>
          <p:cNvSpPr/>
          <p:nvPr/>
        </p:nvSpPr>
        <p:spPr>
          <a:xfrm>
            <a:off x="3310128" y="2084831"/>
            <a:ext cx="3529583" cy="566928"/>
          </a:xfrm>
          <a:prstGeom prst="rect">
            <a:avLst/>
          </a:prstGeom>
          <a:solidFill>
            <a:srgbClr val="FFFFFF"/>
          </a:solidFill>
          <a:ln w="9525">
            <a:solidFill>
              <a:srgbClr val="E1E7F4"/>
            </a:solidFill>
          </a:ln>
          <a:effectLst/>
        </p:spPr>
        <p:txBody>
          <a:bodyPr rtlCol="0" anchor="ctr"/>
          <a:lstStyle/>
          <a:p>
            <a:pPr algn="ctr"/>
            <a:endParaRPr/>
          </a:p>
        </p:txBody>
      </p:sp>
      <p:sp>
        <p:nvSpPr>
          <p:cNvPr id="54" name="TextBox 53"/>
          <p:cNvSpPr txBox="1"/>
          <p:nvPr/>
        </p:nvSpPr>
        <p:spPr>
          <a:xfrm>
            <a:off x="3310128" y="2084831"/>
            <a:ext cx="3529583" cy="566928"/>
          </a:xfrm>
          <a:prstGeom prst="rect">
            <a:avLst/>
          </a:prstGeom>
          <a:noFill/>
        </p:spPr>
        <p:txBody>
          <a:bodyPr wrap="square" lIns="73152" tIns="27432" rIns="73152" bIns="27432" anchor="ctr">
            <a:spAutoFit/>
          </a:bodyPr>
          <a:lstStyle/>
          <a:p>
            <a:pPr algn="l"/>
            <a:r>
              <a:rPr sz="850" b="1">
                <a:solidFill>
                  <a:srgbClr val="141B33"/>
                </a:solidFill>
                <a:latin typeface="Segoe UI"/>
              </a:rPr>
              <a:t>OpenAI-compatible surface</a:t>
            </a:r>
          </a:p>
          <a:p>
            <a:pPr algn="l"/>
            <a:r>
              <a:rPr sz="850" b="0">
                <a:solidFill>
                  <a:srgbClr val="141B33"/>
                </a:solidFill>
                <a:latin typeface="Segoe UI"/>
              </a:rPr>
              <a:t>chat, Responses, conversations, embeddings, files, fine-tuning — versionless v1 routes</a:t>
            </a:r>
          </a:p>
        </p:txBody>
      </p:sp>
      <p:sp>
        <p:nvSpPr>
          <p:cNvPr id="55" name="Rectangle 54"/>
          <p:cNvSpPr/>
          <p:nvPr/>
        </p:nvSpPr>
        <p:spPr>
          <a:xfrm>
            <a:off x="3310128" y="2724911"/>
            <a:ext cx="3529583" cy="566928"/>
          </a:xfrm>
          <a:prstGeom prst="rect">
            <a:avLst/>
          </a:prstGeom>
          <a:solidFill>
            <a:srgbClr val="FFFFFF"/>
          </a:solidFill>
          <a:ln w="9525">
            <a:solidFill>
              <a:srgbClr val="E1E7F4"/>
            </a:solidFill>
          </a:ln>
          <a:effectLst/>
        </p:spPr>
        <p:txBody>
          <a:bodyPr rtlCol="0" anchor="ctr"/>
          <a:lstStyle/>
          <a:p>
            <a:pPr algn="ctr"/>
            <a:endParaRPr/>
          </a:p>
        </p:txBody>
      </p:sp>
      <p:sp>
        <p:nvSpPr>
          <p:cNvPr id="56" name="TextBox 55"/>
          <p:cNvSpPr txBox="1"/>
          <p:nvPr/>
        </p:nvSpPr>
        <p:spPr>
          <a:xfrm>
            <a:off x="3310128" y="2724911"/>
            <a:ext cx="3529583" cy="566928"/>
          </a:xfrm>
          <a:prstGeom prst="rect">
            <a:avLst/>
          </a:prstGeom>
          <a:noFill/>
        </p:spPr>
        <p:txBody>
          <a:bodyPr wrap="square" lIns="73152" tIns="27432" rIns="73152" bIns="27432" anchor="ctr">
            <a:spAutoFit/>
          </a:bodyPr>
          <a:lstStyle/>
          <a:p>
            <a:pPr algn="l"/>
            <a:r>
              <a:rPr sz="850" b="1">
                <a:solidFill>
                  <a:srgbClr val="141B33"/>
                </a:solidFill>
                <a:latin typeface="Segoe UI"/>
              </a:rPr>
              <a:t>Anthropic Messages surface</a:t>
            </a:r>
          </a:p>
          <a:p>
            <a:pPr algn="l"/>
            <a:r>
              <a:rPr sz="850" b="0">
                <a:solidFill>
                  <a:srgbClr val="141B33"/>
                </a:solidFill>
                <a:latin typeface="Segoe UI"/>
              </a:rPr>
              <a:t>Claude, hosted on Azure or on Anthropic</a:t>
            </a:r>
          </a:p>
        </p:txBody>
      </p:sp>
      <p:sp>
        <p:nvSpPr>
          <p:cNvPr id="57" name="Rectangle 56"/>
          <p:cNvSpPr/>
          <p:nvPr/>
        </p:nvSpPr>
        <p:spPr>
          <a:xfrm>
            <a:off x="3310128" y="3364991"/>
            <a:ext cx="3529583" cy="566928"/>
          </a:xfrm>
          <a:prstGeom prst="rect">
            <a:avLst/>
          </a:prstGeom>
          <a:solidFill>
            <a:srgbClr val="FFFFFF"/>
          </a:solidFill>
          <a:ln w="9525">
            <a:solidFill>
              <a:srgbClr val="E1E7F4"/>
            </a:solidFill>
          </a:ln>
          <a:effectLst/>
        </p:spPr>
        <p:txBody>
          <a:bodyPr rtlCol="0" anchor="ctr"/>
          <a:lstStyle/>
          <a:p>
            <a:pPr algn="ctr"/>
            <a:endParaRPr/>
          </a:p>
        </p:txBody>
      </p:sp>
      <p:sp>
        <p:nvSpPr>
          <p:cNvPr id="58" name="TextBox 57"/>
          <p:cNvSpPr txBox="1"/>
          <p:nvPr/>
        </p:nvSpPr>
        <p:spPr>
          <a:xfrm>
            <a:off x="3310128" y="3364991"/>
            <a:ext cx="3529583" cy="566928"/>
          </a:xfrm>
          <a:prstGeom prst="rect">
            <a:avLst/>
          </a:prstGeom>
          <a:noFill/>
        </p:spPr>
        <p:txBody>
          <a:bodyPr wrap="square" lIns="73152" tIns="27432" rIns="73152" bIns="27432" anchor="ctr">
            <a:spAutoFit/>
          </a:bodyPr>
          <a:lstStyle/>
          <a:p>
            <a:pPr algn="l"/>
            <a:r>
              <a:rPr sz="850" b="1">
                <a:solidFill>
                  <a:srgbClr val="141B33"/>
                </a:solidFill>
                <a:latin typeface="Segoe UI"/>
              </a:rPr>
              <a:t>Foundry-native surface</a:t>
            </a:r>
          </a:p>
          <a:p>
            <a:pPr algn="l"/>
            <a:r>
              <a:rPr sz="850" b="0">
                <a:solidFill>
                  <a:srgbClr val="141B33"/>
                </a:solidFill>
                <a:latin typeface="Segoe UI"/>
              </a:rPr>
              <a:t>agents, hosted agents, toolboxes, evaluations, tracing, datasets, indexes, connections — one stable version, v1</a:t>
            </a:r>
          </a:p>
        </p:txBody>
      </p:sp>
      <p:sp>
        <p:nvSpPr>
          <p:cNvPr id="59" name="TextBox 58"/>
          <p:cNvSpPr txBox="1"/>
          <p:nvPr/>
        </p:nvSpPr>
        <p:spPr>
          <a:xfrm>
            <a:off x="3310128" y="3986784"/>
            <a:ext cx="3529583" cy="365760"/>
          </a:xfrm>
          <a:prstGeom prst="rect">
            <a:avLst/>
          </a:prstGeom>
          <a:noFill/>
        </p:spPr>
        <p:txBody>
          <a:bodyPr wrap="square" lIns="73152" tIns="27432" rIns="73152" bIns="27432" anchor="ctr">
            <a:spAutoFit/>
          </a:bodyPr>
          <a:lstStyle/>
          <a:p>
            <a:pPr algn="ctr"/>
            <a:r>
              <a:rPr sz="800" b="1">
                <a:solidFill>
                  <a:srgbClr val="44495B"/>
                </a:solidFill>
                <a:latin typeface="Segoe UI"/>
              </a:rPr>
              <a:t>Behind it: </a:t>
            </a:r>
            <a:r>
              <a:rPr sz="800" b="0">
                <a:solidFill>
                  <a:srgbClr val="44495B"/>
                </a:solidFill>
                <a:latin typeface="Segoe UI"/>
              </a:rPr>
              <a:t>Foundry Models · Foundry Agent Service · Toolboxes · Foundry IQ · Observability · Guardrails</a:t>
            </a:r>
          </a:p>
        </p:txBody>
      </p:sp>
      <p:sp>
        <p:nvSpPr>
          <p:cNvPr id="60" name="Right Arrow 59"/>
          <p:cNvSpPr/>
          <p:nvPr/>
        </p:nvSpPr>
        <p:spPr>
          <a:xfrm>
            <a:off x="7022592" y="2852928"/>
            <a:ext cx="201168" cy="219456"/>
          </a:xfrm>
          <a:prstGeom prst="rightArrow">
            <a:avLst/>
          </a:prstGeom>
          <a:solidFill>
            <a:srgbClr val="00B39F"/>
          </a:solidFill>
          <a:ln>
            <a:noFill/>
          </a:ln>
          <a:effectLst/>
        </p:spPr>
        <p:txBody>
          <a:bodyPr rtlCol="0" anchor="ctr"/>
          <a:lstStyle/>
          <a:p>
            <a:pPr algn="ctr"/>
            <a:endParaRPr/>
          </a:p>
        </p:txBody>
      </p:sp>
      <p:sp>
        <p:nvSpPr>
          <p:cNvPr id="61" name="TextBox 60"/>
          <p:cNvSpPr txBox="1"/>
          <p:nvPr/>
        </p:nvSpPr>
        <p:spPr>
          <a:xfrm>
            <a:off x="7296912" y="1298448"/>
            <a:ext cx="43434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WHY IT MATTERS</a:t>
            </a:r>
          </a:p>
        </p:txBody>
      </p:sp>
      <p:sp>
        <p:nvSpPr>
          <p:cNvPr id="62" name="Rectangle 61"/>
          <p:cNvSpPr/>
          <p:nvPr/>
        </p:nvSpPr>
        <p:spPr>
          <a:xfrm>
            <a:off x="7296912" y="1572768"/>
            <a:ext cx="4343400" cy="640080"/>
          </a:xfrm>
          <a:prstGeom prst="rect">
            <a:avLst/>
          </a:prstGeom>
          <a:solidFill>
            <a:srgbClr val="FFFFFF"/>
          </a:solidFill>
          <a:ln w="9525">
            <a:solidFill>
              <a:srgbClr val="E1E7F4"/>
            </a:solidFill>
          </a:ln>
          <a:effectLst/>
        </p:spPr>
        <p:txBody>
          <a:bodyPr rtlCol="0" anchor="ctr"/>
          <a:lstStyle/>
          <a:p>
            <a:pPr algn="ctr"/>
            <a:endParaRPr/>
          </a:p>
        </p:txBody>
      </p:sp>
      <p:sp>
        <p:nvSpPr>
          <p:cNvPr id="63" name="Rectangle 62"/>
          <p:cNvSpPr/>
          <p:nvPr/>
        </p:nvSpPr>
        <p:spPr>
          <a:xfrm>
            <a:off x="7296912" y="1572768"/>
            <a:ext cx="45720" cy="640080"/>
          </a:xfrm>
          <a:prstGeom prst="rect">
            <a:avLst/>
          </a:prstGeom>
          <a:solidFill>
            <a:srgbClr val="00B39F"/>
          </a:solidFill>
          <a:ln>
            <a:noFill/>
          </a:ln>
          <a:effectLst/>
        </p:spPr>
        <p:txBody>
          <a:bodyPr rtlCol="0" anchor="ctr"/>
          <a:lstStyle/>
          <a:p>
            <a:pPr algn="ctr"/>
            <a:endParaRPr/>
          </a:p>
        </p:txBody>
      </p:sp>
      <p:sp>
        <p:nvSpPr>
          <p:cNvPr id="64" name="TextBox 63"/>
          <p:cNvSpPr txBox="1"/>
          <p:nvPr/>
        </p:nvSpPr>
        <p:spPr>
          <a:xfrm>
            <a:off x="7370064" y="1572768"/>
            <a:ext cx="4251960" cy="640080"/>
          </a:xfrm>
          <a:prstGeom prst="rect">
            <a:avLst/>
          </a:prstGeom>
          <a:noFill/>
        </p:spPr>
        <p:txBody>
          <a:bodyPr wrap="square" lIns="73152" tIns="27432" rIns="73152" bIns="27432" anchor="ctr">
            <a:spAutoFit/>
          </a:bodyPr>
          <a:lstStyle/>
          <a:p>
            <a:pPr algn="l"/>
            <a:r>
              <a:rPr sz="850" b="1">
                <a:solidFill>
                  <a:srgbClr val="141B33"/>
                </a:solidFill>
                <a:latin typeface="Segoe UI"/>
              </a:rPr>
              <a:t>One endpoint, every capability</a:t>
            </a:r>
          </a:p>
          <a:p>
            <a:pPr algn="l"/>
            <a:r>
              <a:rPr sz="850" b="0">
                <a:solidFill>
                  <a:srgbClr val="141B33"/>
                </a:solidFill>
                <a:latin typeface="Segoe UI"/>
              </a:rPr>
              <a:t>Models, agents, tools, knowledge and evaluations share a single project endpoint, identity model and set of permissions.</a:t>
            </a:r>
          </a:p>
        </p:txBody>
      </p:sp>
      <p:sp>
        <p:nvSpPr>
          <p:cNvPr id="65" name="Rectangle 64"/>
          <p:cNvSpPr/>
          <p:nvPr/>
        </p:nvSpPr>
        <p:spPr>
          <a:xfrm>
            <a:off x="7296912" y="2286000"/>
            <a:ext cx="4343400" cy="640080"/>
          </a:xfrm>
          <a:prstGeom prst="rect">
            <a:avLst/>
          </a:prstGeom>
          <a:solidFill>
            <a:srgbClr val="FFFFFF"/>
          </a:solidFill>
          <a:ln w="9525">
            <a:solidFill>
              <a:srgbClr val="E1E7F4"/>
            </a:solidFill>
          </a:ln>
          <a:effectLst/>
        </p:spPr>
        <p:txBody>
          <a:bodyPr rtlCol="0" anchor="ctr"/>
          <a:lstStyle/>
          <a:p>
            <a:pPr algn="ctr"/>
            <a:endParaRPr/>
          </a:p>
        </p:txBody>
      </p:sp>
      <p:sp>
        <p:nvSpPr>
          <p:cNvPr id="66" name="Rectangle 65"/>
          <p:cNvSpPr/>
          <p:nvPr/>
        </p:nvSpPr>
        <p:spPr>
          <a:xfrm>
            <a:off x="7296912" y="2286000"/>
            <a:ext cx="45720" cy="640080"/>
          </a:xfrm>
          <a:prstGeom prst="rect">
            <a:avLst/>
          </a:prstGeom>
          <a:solidFill>
            <a:srgbClr val="00B39F"/>
          </a:solidFill>
          <a:ln>
            <a:noFill/>
          </a:ln>
          <a:effectLst/>
        </p:spPr>
        <p:txBody>
          <a:bodyPr rtlCol="0" anchor="ctr"/>
          <a:lstStyle/>
          <a:p>
            <a:pPr algn="ctr"/>
            <a:endParaRPr/>
          </a:p>
        </p:txBody>
      </p:sp>
      <p:sp>
        <p:nvSpPr>
          <p:cNvPr id="67" name="TextBox 66"/>
          <p:cNvSpPr txBox="1"/>
          <p:nvPr/>
        </p:nvSpPr>
        <p:spPr>
          <a:xfrm>
            <a:off x="7370064" y="2286000"/>
            <a:ext cx="4251960" cy="640080"/>
          </a:xfrm>
          <a:prstGeom prst="rect">
            <a:avLst/>
          </a:prstGeom>
          <a:noFill/>
        </p:spPr>
        <p:txBody>
          <a:bodyPr wrap="square" lIns="73152" tIns="27432" rIns="73152" bIns="27432" anchor="ctr">
            <a:spAutoFit/>
          </a:bodyPr>
          <a:lstStyle/>
          <a:p>
            <a:pPr algn="l"/>
            <a:r>
              <a:rPr sz="850" b="1">
                <a:solidFill>
                  <a:srgbClr val="141B33"/>
                </a:solidFill>
                <a:latin typeface="Segoe UI"/>
              </a:rPr>
              <a:t>Swap models without changing code</a:t>
            </a:r>
          </a:p>
          <a:p>
            <a:pPr algn="l"/>
            <a:r>
              <a:rPr sz="850" b="0">
                <a:solidFill>
                  <a:srgbClr val="141B33"/>
                </a:solidFill>
                <a:latin typeface="Segoe UI"/>
              </a:rPr>
              <a:t>A prompt agent or an OpenAI-compatible call can move between GPT, Claude, Llama or Model Router behind the same surface.</a:t>
            </a:r>
          </a:p>
        </p:txBody>
      </p:sp>
      <p:sp>
        <p:nvSpPr>
          <p:cNvPr id="68" name="Rectangle 67"/>
          <p:cNvSpPr/>
          <p:nvPr/>
        </p:nvSpPr>
        <p:spPr>
          <a:xfrm>
            <a:off x="7296912" y="2999232"/>
            <a:ext cx="4343400" cy="640080"/>
          </a:xfrm>
          <a:prstGeom prst="rect">
            <a:avLst/>
          </a:prstGeom>
          <a:solidFill>
            <a:srgbClr val="FFFFFF"/>
          </a:solidFill>
          <a:ln w="9525">
            <a:solidFill>
              <a:srgbClr val="E1E7F4"/>
            </a:solidFill>
          </a:ln>
          <a:effectLst/>
        </p:spPr>
        <p:txBody>
          <a:bodyPr rtlCol="0" anchor="ctr"/>
          <a:lstStyle/>
          <a:p>
            <a:pPr algn="ctr"/>
            <a:endParaRPr/>
          </a:p>
        </p:txBody>
      </p:sp>
      <p:sp>
        <p:nvSpPr>
          <p:cNvPr id="69" name="Rectangle 68"/>
          <p:cNvSpPr/>
          <p:nvPr/>
        </p:nvSpPr>
        <p:spPr>
          <a:xfrm>
            <a:off x="7296912" y="2999232"/>
            <a:ext cx="45720" cy="640080"/>
          </a:xfrm>
          <a:prstGeom prst="rect">
            <a:avLst/>
          </a:prstGeom>
          <a:solidFill>
            <a:srgbClr val="00B39F"/>
          </a:solidFill>
          <a:ln>
            <a:noFill/>
          </a:ln>
          <a:effectLst/>
        </p:spPr>
        <p:txBody>
          <a:bodyPr rtlCol="0" anchor="ctr"/>
          <a:lstStyle/>
          <a:p>
            <a:pPr algn="ctr"/>
            <a:endParaRPr/>
          </a:p>
        </p:txBody>
      </p:sp>
      <p:sp>
        <p:nvSpPr>
          <p:cNvPr id="70" name="TextBox 69"/>
          <p:cNvSpPr txBox="1"/>
          <p:nvPr/>
        </p:nvSpPr>
        <p:spPr>
          <a:xfrm>
            <a:off x="7370064" y="2999232"/>
            <a:ext cx="4251960" cy="640080"/>
          </a:xfrm>
          <a:prstGeom prst="rect">
            <a:avLst/>
          </a:prstGeom>
          <a:noFill/>
        </p:spPr>
        <p:txBody>
          <a:bodyPr wrap="square" lIns="73152" tIns="27432" rIns="73152" bIns="27432" anchor="ctr">
            <a:spAutoFit/>
          </a:bodyPr>
          <a:lstStyle/>
          <a:p>
            <a:pPr algn="l"/>
            <a:r>
              <a:rPr sz="850" b="1">
                <a:solidFill>
                  <a:srgbClr val="141B33"/>
                </a:solidFill>
                <a:latin typeface="Segoe UI"/>
              </a:rPr>
              <a:t>Stable, versionless contracts</a:t>
            </a:r>
          </a:p>
          <a:p>
            <a:pPr algn="l"/>
            <a:r>
              <a:rPr sz="850" b="0">
                <a:solidFill>
                  <a:srgbClr val="141B33"/>
                </a:solidFill>
                <a:latin typeface="Segoe UI"/>
              </a:rPr>
              <a:t>v1 routes replace monthly API versions; previews are opted into explicitly, so production code does not break on release day.</a:t>
            </a:r>
          </a:p>
        </p:txBody>
      </p:sp>
      <p:sp>
        <p:nvSpPr>
          <p:cNvPr id="71" name="Rectangle 70"/>
          <p:cNvSpPr/>
          <p:nvPr/>
        </p:nvSpPr>
        <p:spPr>
          <a:xfrm>
            <a:off x="7296912" y="3712463"/>
            <a:ext cx="4343400" cy="640080"/>
          </a:xfrm>
          <a:prstGeom prst="rect">
            <a:avLst/>
          </a:prstGeom>
          <a:solidFill>
            <a:srgbClr val="FFFFFF"/>
          </a:solidFill>
          <a:ln w="9525">
            <a:solidFill>
              <a:srgbClr val="E1E7F4"/>
            </a:solidFill>
          </a:ln>
          <a:effectLst/>
        </p:spPr>
        <p:txBody>
          <a:bodyPr rtlCol="0" anchor="ctr"/>
          <a:lstStyle/>
          <a:p>
            <a:pPr algn="ctr"/>
            <a:endParaRPr/>
          </a:p>
        </p:txBody>
      </p:sp>
      <p:sp>
        <p:nvSpPr>
          <p:cNvPr id="72" name="Rectangle 71"/>
          <p:cNvSpPr/>
          <p:nvPr/>
        </p:nvSpPr>
        <p:spPr>
          <a:xfrm>
            <a:off x="7296912" y="3712463"/>
            <a:ext cx="45720" cy="640080"/>
          </a:xfrm>
          <a:prstGeom prst="rect">
            <a:avLst/>
          </a:prstGeom>
          <a:solidFill>
            <a:srgbClr val="00B39F"/>
          </a:solidFill>
          <a:ln>
            <a:noFill/>
          </a:ln>
          <a:effectLst/>
        </p:spPr>
        <p:txBody>
          <a:bodyPr rtlCol="0" anchor="ctr"/>
          <a:lstStyle/>
          <a:p>
            <a:pPr algn="ctr"/>
            <a:endParaRPr/>
          </a:p>
        </p:txBody>
      </p:sp>
      <p:sp>
        <p:nvSpPr>
          <p:cNvPr id="73" name="TextBox 72"/>
          <p:cNvSpPr txBox="1"/>
          <p:nvPr/>
        </p:nvSpPr>
        <p:spPr>
          <a:xfrm>
            <a:off x="7370064" y="3712463"/>
            <a:ext cx="4251960" cy="640080"/>
          </a:xfrm>
          <a:prstGeom prst="rect">
            <a:avLst/>
          </a:prstGeom>
          <a:noFill/>
        </p:spPr>
        <p:txBody>
          <a:bodyPr wrap="square" lIns="73152" tIns="27432" rIns="73152" bIns="27432" anchor="ctr">
            <a:spAutoFit/>
          </a:bodyPr>
          <a:lstStyle/>
          <a:p>
            <a:pPr algn="l"/>
            <a:r>
              <a:rPr sz="850" b="1">
                <a:solidFill>
                  <a:srgbClr val="141B33"/>
                </a:solidFill>
                <a:latin typeface="Segoe UI"/>
              </a:rPr>
              <a:t>Keep the SDK you already use</a:t>
            </a:r>
          </a:p>
          <a:p>
            <a:pPr algn="l"/>
            <a:r>
              <a:rPr sz="850" b="0">
                <a:solidFill>
                  <a:srgbClr val="141B33"/>
                </a:solidFill>
                <a:latin typeface="Segoe UI"/>
              </a:rPr>
              <a:t>OpenAI, Anthropic and open-source frameworks work as they are; the Foundry SDK adds the platform operations around them.</a:t>
            </a:r>
          </a:p>
        </p:txBody>
      </p:sp>
      <p:sp>
        <p:nvSpPr>
          <p:cNvPr id="74" name="Rectangle 73"/>
          <p:cNvSpPr/>
          <p:nvPr/>
        </p:nvSpPr>
        <p:spPr>
          <a:xfrm>
            <a:off x="548640" y="4544568"/>
            <a:ext cx="6382512" cy="896112"/>
          </a:xfrm>
          <a:prstGeom prst="rect">
            <a:avLst/>
          </a:prstGeom>
          <a:solidFill>
            <a:srgbClr val="EBEFF7"/>
          </a:solidFill>
          <a:ln>
            <a:noFill/>
          </a:ln>
          <a:effectLst/>
        </p:spPr>
        <p:txBody>
          <a:bodyPr rtlCol="0" anchor="ctr"/>
          <a:lstStyle/>
          <a:p>
            <a:pPr algn="ctr"/>
            <a:endParaRPr/>
          </a:p>
        </p:txBody>
      </p:sp>
      <p:sp>
        <p:nvSpPr>
          <p:cNvPr id="75" name="TextBox 74"/>
          <p:cNvSpPr txBox="1"/>
          <p:nvPr/>
        </p:nvSpPr>
        <p:spPr>
          <a:xfrm>
            <a:off x="548640" y="4544568"/>
            <a:ext cx="6382512" cy="896112"/>
          </a:xfrm>
          <a:prstGeom prst="rect">
            <a:avLst/>
          </a:prstGeom>
          <a:noFill/>
        </p:spPr>
        <p:txBody>
          <a:bodyPr wrap="square" lIns="73152" tIns="27432" rIns="73152" bIns="27432" anchor="ctr">
            <a:spAutoFit/>
          </a:bodyPr>
          <a:lstStyle/>
          <a:p>
            <a:pPr algn="l"/>
            <a:r>
              <a:rPr sz="850" b="1">
                <a:solidFill>
                  <a:srgbClr val="141B33"/>
                </a:solidFill>
                <a:latin typeface="Segoe UI"/>
              </a:rPr>
              <a:t>When to use which</a:t>
            </a:r>
          </a:p>
          <a:p>
            <a:pPr algn="l">
              <a:spcBef>
                <a:spcPts val="200"/>
              </a:spcBef>
            </a:pPr>
            <a:r>
              <a:rPr sz="850" b="1">
                <a:solidFill>
                  <a:srgbClr val="141B33"/>
                </a:solidFill>
                <a:latin typeface="Segoe UI"/>
              </a:rPr>
              <a:t>Just calling a model → </a:t>
            </a:r>
            <a:r>
              <a:rPr sz="850" b="0">
                <a:solidFill>
                  <a:srgbClr val="141B33"/>
                </a:solidFill>
                <a:latin typeface="Segoe UI"/>
              </a:rPr>
              <a:t>OpenAI or Anthropic SDK against the OpenAI-compatible or Messages surface.</a:t>
            </a:r>
          </a:p>
          <a:p>
            <a:pPr algn="l">
              <a:spcBef>
                <a:spcPts val="200"/>
              </a:spcBef>
            </a:pPr>
            <a:r>
              <a:rPr sz="850" b="1">
                <a:solidFill>
                  <a:srgbClr val="141B33"/>
                </a:solidFill>
                <a:latin typeface="Segoe UI"/>
              </a:rPr>
              <a:t>Building or operating agents → </a:t>
            </a:r>
            <a:r>
              <a:rPr sz="850" b="0">
                <a:solidFill>
                  <a:srgbClr val="141B33"/>
                </a:solidFill>
                <a:latin typeface="Segoe UI"/>
              </a:rPr>
              <a:t>Foundry SDK for agents, toolboxes, evaluations and tracing; Agent Framework or LangGraph for the agent logic.</a:t>
            </a:r>
          </a:p>
          <a:p>
            <a:pPr algn="l">
              <a:spcBef>
                <a:spcPts val="200"/>
              </a:spcBef>
            </a:pPr>
            <a:r>
              <a:rPr sz="850" b="1">
                <a:solidFill>
                  <a:srgbClr val="141B33"/>
                </a:solidFill>
                <a:latin typeface="Segoe UI"/>
              </a:rPr>
              <a:t>Embeddings → </a:t>
            </a:r>
            <a:r>
              <a:rPr sz="850" b="0">
                <a:solidFill>
                  <a:srgbClr val="141B33"/>
                </a:solidFill>
                <a:latin typeface="Segoe UI"/>
              </a:rPr>
              <a:t>call the OpenAI-compatible surface directly; the project endpoint does not route them.</a:t>
            </a:r>
          </a:p>
        </p:txBody>
      </p:sp>
      <p:sp>
        <p:nvSpPr>
          <p:cNvPr id="76" name="Rectangle 75"/>
          <p:cNvSpPr/>
          <p:nvPr/>
        </p:nvSpPr>
        <p:spPr>
          <a:xfrm>
            <a:off x="7068312" y="4544568"/>
            <a:ext cx="4572000" cy="896112"/>
          </a:xfrm>
          <a:prstGeom prst="rect">
            <a:avLst/>
          </a:prstGeom>
          <a:solidFill>
            <a:srgbClr val="0B1229"/>
          </a:solidFill>
          <a:ln>
            <a:noFill/>
          </a:ln>
          <a:effectLst/>
        </p:spPr>
        <p:txBody>
          <a:bodyPr rtlCol="0" anchor="ctr"/>
          <a:lstStyle/>
          <a:p>
            <a:pPr algn="ctr"/>
            <a:endParaRPr/>
          </a:p>
        </p:txBody>
      </p:sp>
      <p:sp>
        <p:nvSpPr>
          <p:cNvPr id="77" name="TextBox 76"/>
          <p:cNvSpPr txBox="1"/>
          <p:nvPr/>
        </p:nvSpPr>
        <p:spPr>
          <a:xfrm>
            <a:off x="7068312" y="4544568"/>
            <a:ext cx="4572000" cy="896112"/>
          </a:xfrm>
          <a:prstGeom prst="rect">
            <a:avLst/>
          </a:prstGeom>
          <a:noFill/>
        </p:spPr>
        <p:txBody>
          <a:bodyPr wrap="square" lIns="73152" tIns="27432" rIns="73152" bIns="27432" anchor="ctr">
            <a:spAutoFit/>
          </a:bodyPr>
          <a:lstStyle/>
          <a:p>
            <a:pPr algn="l"/>
            <a:r>
              <a:rPr sz="850" b="1">
                <a:solidFill>
                  <a:srgbClr val="FFFFFF"/>
                </a:solidFill>
                <a:latin typeface="Segoe UI"/>
              </a:rPr>
              <a:t>New in 2026</a:t>
            </a:r>
          </a:p>
          <a:p>
            <a:pPr algn="l">
              <a:spcBef>
                <a:spcPts val="100"/>
              </a:spcBef>
            </a:pPr>
            <a:r>
              <a:rPr sz="850" b="0">
                <a:solidFill>
                  <a:srgbClr val="FFFFFF"/>
                </a:solidFill>
                <a:latin typeface="Segoe UI"/>
              </a:rPr>
              <a:t>• Single v1 version for Foundry-native routes; previews enabled per request</a:t>
            </a:r>
          </a:p>
          <a:p>
            <a:pPr algn="l">
              <a:spcBef>
                <a:spcPts val="100"/>
              </a:spcBef>
            </a:pPr>
            <a:r>
              <a:rPr sz="850" b="0">
                <a:solidFill>
                  <a:srgbClr val="FFFFFF"/>
                </a:solidFill>
                <a:latin typeface="Segoe UI"/>
              </a:rPr>
              <a:t>• Foundry SDK 2.x: hosted agents and toolboxes are stable operations</a:t>
            </a:r>
          </a:p>
          <a:p>
            <a:pPr algn="l">
              <a:spcBef>
                <a:spcPts val="100"/>
              </a:spcBef>
            </a:pPr>
            <a:r>
              <a:rPr sz="850" b="0">
                <a:solidFill>
                  <a:srgbClr val="FFFFFF"/>
                </a:solidFill>
                <a:latin typeface="Segoe UI"/>
              </a:rPr>
              <a:t>• Anthropic Messages surface added alongside the OpenAI-compatible one</a:t>
            </a:r>
          </a:p>
          <a:p>
            <a:pPr algn="l">
              <a:spcBef>
                <a:spcPts val="100"/>
              </a:spcBef>
            </a:pPr>
            <a:r>
              <a:rPr sz="850" b="0">
                <a:solidFill>
                  <a:srgbClr val="FFFFFF"/>
                </a:solidFill>
                <a:latin typeface="Segoe UI"/>
              </a:rPr>
              <a:t>• Evaluation and data-generation jobs run as long-running operations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1   ·   H I G H   L E V E L</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Developer tooling in 2026</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The SDK is now surrounded by an IDE extension, a CLI workflow, an installer and an MCP server.</a:t>
            </a:r>
          </a:p>
          <a:p>
            <a:endParaRPr sz="1200">
              <a:solidFill>
                <a:srgbClr val="44495B"/>
              </a:solidFill>
              <a:latin typeface="Segoe UI"/>
            </a:endParaRPr>
          </a:p>
        </p:txBody>
      </p:sp>
      <p:sp>
        <p:nvSpPr>
          <p:cNvPr id="5" name="Shape"/>
          <p:cNvSpPr/>
          <p:nvPr/>
        </p:nvSpPr>
        <p:spPr>
          <a:xfrm>
            <a:off x="548640" y="1417320"/>
            <a:ext cx="2072640" cy="2670048"/>
          </a:xfrm>
          <a:prstGeom prst="rect">
            <a:avLst/>
          </a:prstGeom>
          <a:solidFill>
            <a:srgbClr val="F6F8FD"/>
          </a:solidFill>
          <a:ln w="9525">
            <a:solidFill>
              <a:srgbClr val="E1E7F4"/>
            </a:solidFill>
          </a:ln>
        </p:spPr>
        <p:txBody>
          <a:bodyPr/>
          <a:lstStyle/>
          <a:p>
            <a:endParaRPr/>
          </a:p>
        </p:txBody>
      </p:sp>
      <p:sp>
        <p:nvSpPr>
          <p:cNvPr id="6" name="Shape"/>
          <p:cNvSpPr/>
          <p:nvPr/>
        </p:nvSpPr>
        <p:spPr>
          <a:xfrm>
            <a:off x="548640" y="1417320"/>
            <a:ext cx="2072640" cy="38405"/>
          </a:xfrm>
          <a:prstGeom prst="rect">
            <a:avLst/>
          </a:prstGeom>
          <a:solidFill>
            <a:srgbClr val="00B39F"/>
          </a:solidFill>
        </p:spPr>
        <p:txBody>
          <a:bodyPr/>
          <a:lstStyle/>
          <a:p>
            <a:endParaRPr/>
          </a:p>
        </p:txBody>
      </p:sp>
      <p:sp>
        <p:nvSpPr>
          <p:cNvPr id="7" name="TextBox"/>
          <p:cNvSpPr txBox="1"/>
          <p:nvPr/>
        </p:nvSpPr>
        <p:spPr>
          <a:xfrm>
            <a:off x="603504" y="1540764"/>
            <a:ext cx="1962912" cy="457200"/>
          </a:xfrm>
          <a:prstGeom prst="rect">
            <a:avLst/>
          </a:prstGeom>
        </p:spPr>
        <p:txBody>
          <a:bodyPr anchor="ctr"/>
          <a:lstStyle/>
          <a:p>
            <a:r>
              <a:rPr sz="1050" b="1">
                <a:solidFill>
                  <a:srgbClr val="101A3C"/>
                </a:solidFill>
                <a:latin typeface="Segoe UI"/>
              </a:rPr>
              <a:t>Foundry Toolkit</a:t>
            </a:r>
          </a:p>
          <a:p>
            <a:r>
              <a:rPr sz="1050" b="1">
                <a:solidFill>
                  <a:srgbClr val="101A3C"/>
                </a:solidFill>
                <a:latin typeface="Segoe UI"/>
              </a:rPr>
              <a:t>for VS Code</a:t>
            </a:r>
          </a:p>
        </p:txBody>
      </p:sp>
      <p:sp>
        <p:nvSpPr>
          <p:cNvPr id="8" name="Shape"/>
          <p:cNvSpPr/>
          <p:nvPr/>
        </p:nvSpPr>
        <p:spPr>
          <a:xfrm>
            <a:off x="694944" y="1975104"/>
            <a:ext cx="379476" cy="246888"/>
          </a:xfrm>
          <a:prstGeom prst="roundRect">
            <a:avLst/>
          </a:prstGeom>
          <a:solidFill>
            <a:srgbClr val="E6F4EA"/>
          </a:solidFill>
        </p:spPr>
        <p:txBody>
          <a:bodyPr anchor="ctr"/>
          <a:lstStyle/>
          <a:p>
            <a:pPr algn="ctr"/>
            <a:r>
              <a:rPr sz="900" b="1">
                <a:solidFill>
                  <a:srgbClr val="107C10"/>
                </a:solidFill>
                <a:latin typeface="Segoe UI"/>
              </a:rPr>
              <a:t>GA</a:t>
            </a:r>
          </a:p>
        </p:txBody>
      </p:sp>
      <p:sp>
        <p:nvSpPr>
          <p:cNvPr id="9" name="TextBox"/>
          <p:cNvSpPr txBox="1"/>
          <p:nvPr/>
        </p:nvSpPr>
        <p:spPr>
          <a:xfrm>
            <a:off x="603504" y="2327148"/>
            <a:ext cx="1962912" cy="1097280"/>
          </a:xfrm>
          <a:prstGeom prst="rect">
            <a:avLst/>
          </a:prstGeom>
        </p:spPr>
        <p:txBody>
          <a:bodyPr anchor="ctr"/>
          <a:lstStyle/>
          <a:p>
            <a:r>
              <a:rPr sz="900">
                <a:solidFill>
                  <a:srgbClr val="141B33"/>
                </a:solidFill>
                <a:latin typeface="Segoe UI"/>
              </a:rPr>
              <a:t>Create agents from</a:t>
            </a:r>
          </a:p>
          <a:p>
            <a:r>
              <a:rPr sz="900">
                <a:solidFill>
                  <a:srgbClr val="141B33"/>
                </a:solidFill>
                <a:latin typeface="Segoe UI"/>
              </a:rPr>
              <a:t>templates or with GitHub</a:t>
            </a:r>
          </a:p>
          <a:p>
            <a:r>
              <a:rPr sz="900">
                <a:solidFill>
                  <a:srgbClr val="141B33"/>
                </a:solidFill>
                <a:latin typeface="Segoe UI"/>
              </a:rPr>
              <a:t>Copilot. Debug runs</a:t>
            </a:r>
          </a:p>
          <a:p>
            <a:r>
              <a:rPr sz="900">
                <a:solidFill>
                  <a:srgbClr val="141B33"/>
                </a:solidFill>
                <a:latin typeface="Segoe UI"/>
              </a:rPr>
              <a:t>locally with trace</a:t>
            </a:r>
          </a:p>
          <a:p>
            <a:r>
              <a:rPr sz="900">
                <a:solidFill>
                  <a:srgbClr val="141B33"/>
                </a:solidFill>
                <a:latin typeface="Segoe UI"/>
              </a:rPr>
              <a:t>visualisation. Connect a</a:t>
            </a:r>
          </a:p>
          <a:p>
            <a:r>
              <a:rPr sz="900">
                <a:solidFill>
                  <a:srgbClr val="141B33"/>
                </a:solidFill>
                <a:latin typeface="Segoe UI"/>
              </a:rPr>
              <a:t>Toolbox; deploy to the</a:t>
            </a:r>
          </a:p>
          <a:p>
            <a:r>
              <a:rPr sz="900">
                <a:solidFill>
                  <a:srgbClr val="141B33"/>
                </a:solidFill>
                <a:latin typeface="Segoe UI"/>
              </a:rPr>
              <a:t>Agent Service.</a:t>
            </a:r>
          </a:p>
        </p:txBody>
      </p:sp>
      <p:sp>
        <p:nvSpPr>
          <p:cNvPr id="10" name="Shape"/>
          <p:cNvSpPr/>
          <p:nvPr/>
        </p:nvSpPr>
        <p:spPr>
          <a:xfrm>
            <a:off x="2804160" y="1417320"/>
            <a:ext cx="2072640" cy="2670048"/>
          </a:xfrm>
          <a:prstGeom prst="rect">
            <a:avLst/>
          </a:prstGeom>
          <a:solidFill>
            <a:srgbClr val="F6F8FD"/>
          </a:solidFill>
          <a:ln w="9525">
            <a:solidFill>
              <a:srgbClr val="E1E7F4"/>
            </a:solidFill>
          </a:ln>
        </p:spPr>
        <p:txBody>
          <a:bodyPr/>
          <a:lstStyle/>
          <a:p>
            <a:endParaRPr/>
          </a:p>
        </p:txBody>
      </p:sp>
      <p:sp>
        <p:nvSpPr>
          <p:cNvPr id="11" name="Shape"/>
          <p:cNvSpPr/>
          <p:nvPr/>
        </p:nvSpPr>
        <p:spPr>
          <a:xfrm>
            <a:off x="2804160" y="1417320"/>
            <a:ext cx="2072640" cy="38405"/>
          </a:xfrm>
          <a:prstGeom prst="rect">
            <a:avLst/>
          </a:prstGeom>
          <a:solidFill>
            <a:srgbClr val="101A3C"/>
          </a:solidFill>
        </p:spPr>
        <p:txBody>
          <a:bodyPr/>
          <a:lstStyle/>
          <a:p>
            <a:endParaRPr/>
          </a:p>
        </p:txBody>
      </p:sp>
      <p:sp>
        <p:nvSpPr>
          <p:cNvPr id="12" name="TextBox"/>
          <p:cNvSpPr txBox="1"/>
          <p:nvPr/>
        </p:nvSpPr>
        <p:spPr>
          <a:xfrm>
            <a:off x="2859024" y="1540764"/>
            <a:ext cx="1962912" cy="457200"/>
          </a:xfrm>
          <a:prstGeom prst="rect">
            <a:avLst/>
          </a:prstGeom>
        </p:spPr>
        <p:txBody>
          <a:bodyPr anchor="ctr"/>
          <a:lstStyle/>
          <a:p>
            <a:r>
              <a:rPr sz="1050" b="1">
                <a:solidFill>
                  <a:srgbClr val="101A3C"/>
                </a:solidFill>
                <a:latin typeface="Segoe UI"/>
              </a:rPr>
              <a:t>azd ai agent</a:t>
            </a:r>
          </a:p>
          <a:p>
            <a:endParaRPr sz="1050" b="1">
              <a:solidFill>
                <a:srgbClr val="101A3C"/>
              </a:solidFill>
              <a:latin typeface="Segoe UI"/>
            </a:endParaRPr>
          </a:p>
        </p:txBody>
      </p:sp>
      <p:sp>
        <p:nvSpPr>
          <p:cNvPr id="13" name="Shape"/>
          <p:cNvSpPr/>
          <p:nvPr/>
        </p:nvSpPr>
        <p:spPr>
          <a:xfrm>
            <a:off x="2950464" y="1975104"/>
            <a:ext cx="733806" cy="246888"/>
          </a:xfrm>
          <a:prstGeom prst="roundRect">
            <a:avLst/>
          </a:prstGeom>
          <a:solidFill>
            <a:srgbClr val="FFF4E5"/>
          </a:solidFill>
        </p:spPr>
        <p:txBody>
          <a:bodyPr anchor="ctr"/>
          <a:lstStyle/>
          <a:p>
            <a:pPr algn="ctr"/>
            <a:r>
              <a:rPr sz="900" b="1">
                <a:solidFill>
                  <a:srgbClr val="B26B00"/>
                </a:solidFill>
                <a:latin typeface="Segoe UI"/>
              </a:rPr>
              <a:t>Preview</a:t>
            </a:r>
          </a:p>
        </p:txBody>
      </p:sp>
      <p:sp>
        <p:nvSpPr>
          <p:cNvPr id="14" name="TextBox"/>
          <p:cNvSpPr txBox="1"/>
          <p:nvPr/>
        </p:nvSpPr>
        <p:spPr>
          <a:xfrm>
            <a:off x="2859024" y="2327148"/>
            <a:ext cx="1962912" cy="822960"/>
          </a:xfrm>
          <a:prstGeom prst="rect">
            <a:avLst/>
          </a:prstGeom>
        </p:spPr>
        <p:txBody>
          <a:bodyPr anchor="ctr"/>
          <a:lstStyle/>
          <a:p>
            <a:r>
              <a:rPr sz="900">
                <a:solidFill>
                  <a:srgbClr val="141B33"/>
                </a:solidFill>
                <a:latin typeface="Segoe UI"/>
              </a:rPr>
              <a:t>azd ai agent init / run /</a:t>
            </a:r>
          </a:p>
          <a:p>
            <a:r>
              <a:rPr sz="900">
                <a:solidFill>
                  <a:srgbClr val="141B33"/>
                </a:solidFill>
                <a:latin typeface="Segoe UI"/>
              </a:rPr>
              <a:t>invoke / delete.</a:t>
            </a:r>
          </a:p>
          <a:p>
            <a:r>
              <a:rPr sz="900">
                <a:solidFill>
                  <a:srgbClr val="141B33"/>
                </a:solidFill>
                <a:latin typeface="Segoe UI"/>
              </a:rPr>
              <a:t>Extension azure.ai.agents</a:t>
            </a:r>
          </a:p>
          <a:p>
            <a:r>
              <a:rPr sz="900">
                <a:solidFill>
                  <a:srgbClr val="141B33"/>
                </a:solidFill>
                <a:latin typeface="Segoe UI"/>
              </a:rPr>
              <a:t>1.0.0-beta.13, with azd</a:t>
            </a:r>
          </a:p>
          <a:p>
            <a:r>
              <a:rPr sz="900">
                <a:solidFill>
                  <a:srgbClr val="141B33"/>
                </a:solidFill>
                <a:latin typeface="Segoe UI"/>
              </a:rPr>
              <a:t>1.32.0 or later.</a:t>
            </a:r>
          </a:p>
        </p:txBody>
      </p:sp>
      <p:sp>
        <p:nvSpPr>
          <p:cNvPr id="15" name="Shape"/>
          <p:cNvSpPr/>
          <p:nvPr/>
        </p:nvSpPr>
        <p:spPr>
          <a:xfrm>
            <a:off x="5059680" y="1417320"/>
            <a:ext cx="2072640" cy="2670048"/>
          </a:xfrm>
          <a:prstGeom prst="rect">
            <a:avLst/>
          </a:prstGeom>
          <a:solidFill>
            <a:srgbClr val="F6F8FD"/>
          </a:solidFill>
          <a:ln w="9525">
            <a:solidFill>
              <a:srgbClr val="E1E7F4"/>
            </a:solidFill>
          </a:ln>
        </p:spPr>
        <p:txBody>
          <a:bodyPr/>
          <a:lstStyle/>
          <a:p>
            <a:endParaRPr/>
          </a:p>
        </p:txBody>
      </p:sp>
      <p:sp>
        <p:nvSpPr>
          <p:cNvPr id="16" name="Shape"/>
          <p:cNvSpPr/>
          <p:nvPr/>
        </p:nvSpPr>
        <p:spPr>
          <a:xfrm>
            <a:off x="5059680" y="1417320"/>
            <a:ext cx="2072640" cy="38405"/>
          </a:xfrm>
          <a:prstGeom prst="rect">
            <a:avLst/>
          </a:prstGeom>
          <a:solidFill>
            <a:srgbClr val="101A3C"/>
          </a:solidFill>
        </p:spPr>
        <p:txBody>
          <a:bodyPr/>
          <a:lstStyle/>
          <a:p>
            <a:endParaRPr/>
          </a:p>
        </p:txBody>
      </p:sp>
      <p:sp>
        <p:nvSpPr>
          <p:cNvPr id="17" name="TextBox"/>
          <p:cNvSpPr txBox="1"/>
          <p:nvPr/>
        </p:nvSpPr>
        <p:spPr>
          <a:xfrm>
            <a:off x="5114544" y="1540764"/>
            <a:ext cx="1962912" cy="457200"/>
          </a:xfrm>
          <a:prstGeom prst="rect">
            <a:avLst/>
          </a:prstGeom>
        </p:spPr>
        <p:txBody>
          <a:bodyPr anchor="ctr"/>
          <a:lstStyle/>
          <a:p>
            <a:r>
              <a:rPr sz="1050" b="1">
                <a:solidFill>
                  <a:srgbClr val="101A3C"/>
                </a:solidFill>
                <a:latin typeface="Segoe UI"/>
              </a:rPr>
              <a:t>Foundry DevPack</a:t>
            </a:r>
          </a:p>
          <a:p>
            <a:endParaRPr sz="1050" b="1">
              <a:solidFill>
                <a:srgbClr val="101A3C"/>
              </a:solidFill>
              <a:latin typeface="Segoe UI"/>
            </a:endParaRPr>
          </a:p>
        </p:txBody>
      </p:sp>
      <p:sp>
        <p:nvSpPr>
          <p:cNvPr id="18" name="Shape"/>
          <p:cNvSpPr/>
          <p:nvPr/>
        </p:nvSpPr>
        <p:spPr>
          <a:xfrm>
            <a:off x="5205984" y="1975104"/>
            <a:ext cx="733806" cy="246888"/>
          </a:xfrm>
          <a:prstGeom prst="roundRect">
            <a:avLst/>
          </a:prstGeom>
          <a:solidFill>
            <a:srgbClr val="FFF4E5"/>
          </a:solidFill>
        </p:spPr>
        <p:txBody>
          <a:bodyPr anchor="ctr"/>
          <a:lstStyle/>
          <a:p>
            <a:pPr algn="ctr"/>
            <a:r>
              <a:rPr sz="900" b="1">
                <a:solidFill>
                  <a:srgbClr val="B26B00"/>
                </a:solidFill>
                <a:latin typeface="Segoe UI"/>
              </a:rPr>
              <a:t>Preview</a:t>
            </a:r>
          </a:p>
        </p:txBody>
      </p:sp>
      <p:sp>
        <p:nvSpPr>
          <p:cNvPr id="19" name="TextBox"/>
          <p:cNvSpPr txBox="1"/>
          <p:nvPr/>
        </p:nvSpPr>
        <p:spPr>
          <a:xfrm>
            <a:off x="5114544" y="2327148"/>
            <a:ext cx="1962912" cy="1097280"/>
          </a:xfrm>
          <a:prstGeom prst="rect">
            <a:avLst/>
          </a:prstGeom>
        </p:spPr>
        <p:txBody>
          <a:bodyPr anchor="ctr"/>
          <a:lstStyle/>
          <a:p>
            <a:r>
              <a:rPr sz="900">
                <a:solidFill>
                  <a:srgbClr val="141B33"/>
                </a:solidFill>
                <a:latin typeface="Segoe UI"/>
              </a:rPr>
              <a:t>Version 0.1.3. Installs</a:t>
            </a:r>
          </a:p>
          <a:p>
            <a:r>
              <a:rPr sz="900">
                <a:solidFill>
                  <a:srgbClr val="141B33"/>
                </a:solidFill>
                <a:latin typeface="Segoe UI"/>
              </a:rPr>
              <a:t>Azure CLI, azd, the</a:t>
            </a:r>
          </a:p>
          <a:p>
            <a:r>
              <a:rPr sz="900">
                <a:solidFill>
                  <a:srgbClr val="141B33"/>
                </a:solidFill>
                <a:latin typeface="Segoe UI"/>
              </a:rPr>
              <a:t>extensions and the</a:t>
            </a:r>
          </a:p>
          <a:p>
            <a:r>
              <a:rPr sz="900">
                <a:solidFill>
                  <a:srgbClr val="141B33"/>
                </a:solidFill>
                <a:latin typeface="Segoe UI"/>
              </a:rPr>
              <a:t>Foundry agent-dev skill;</a:t>
            </a:r>
          </a:p>
          <a:p>
            <a:r>
              <a:rPr sz="900">
                <a:solidFill>
                  <a:srgbClr val="141B33"/>
                </a:solidFill>
                <a:latin typeface="Segoe UI"/>
              </a:rPr>
              <a:t>wires up VS Code, GitHub</a:t>
            </a:r>
          </a:p>
          <a:p>
            <a:r>
              <a:rPr sz="900">
                <a:solidFill>
                  <a:srgbClr val="141B33"/>
                </a:solidFill>
                <a:latin typeface="Segoe UI"/>
              </a:rPr>
              <a:t>Copilot CLI and Claude</a:t>
            </a:r>
          </a:p>
          <a:p>
            <a:r>
              <a:rPr sz="900">
                <a:solidFill>
                  <a:srgbClr val="141B33"/>
                </a:solidFill>
                <a:latin typeface="Segoe UI"/>
              </a:rPr>
              <a:t>Code.</a:t>
            </a:r>
          </a:p>
        </p:txBody>
      </p:sp>
      <p:sp>
        <p:nvSpPr>
          <p:cNvPr id="20" name="Shape"/>
          <p:cNvSpPr/>
          <p:nvPr/>
        </p:nvSpPr>
        <p:spPr>
          <a:xfrm>
            <a:off x="7315200" y="1417320"/>
            <a:ext cx="2072640" cy="2670048"/>
          </a:xfrm>
          <a:prstGeom prst="rect">
            <a:avLst/>
          </a:prstGeom>
          <a:solidFill>
            <a:srgbClr val="F6F8FD"/>
          </a:solidFill>
          <a:ln w="9525">
            <a:solidFill>
              <a:srgbClr val="E1E7F4"/>
            </a:solidFill>
          </a:ln>
        </p:spPr>
        <p:txBody>
          <a:bodyPr/>
          <a:lstStyle/>
          <a:p>
            <a:endParaRPr/>
          </a:p>
        </p:txBody>
      </p:sp>
      <p:sp>
        <p:nvSpPr>
          <p:cNvPr id="21" name="Shape"/>
          <p:cNvSpPr/>
          <p:nvPr/>
        </p:nvSpPr>
        <p:spPr>
          <a:xfrm>
            <a:off x="7315200" y="1417320"/>
            <a:ext cx="2072640" cy="38405"/>
          </a:xfrm>
          <a:prstGeom prst="rect">
            <a:avLst/>
          </a:prstGeom>
          <a:solidFill>
            <a:srgbClr val="101A3C"/>
          </a:solidFill>
        </p:spPr>
        <p:txBody>
          <a:bodyPr/>
          <a:lstStyle/>
          <a:p>
            <a:endParaRPr/>
          </a:p>
        </p:txBody>
      </p:sp>
      <p:sp>
        <p:nvSpPr>
          <p:cNvPr id="22" name="TextBox"/>
          <p:cNvSpPr txBox="1"/>
          <p:nvPr/>
        </p:nvSpPr>
        <p:spPr>
          <a:xfrm>
            <a:off x="7370064" y="1540764"/>
            <a:ext cx="1962912" cy="457200"/>
          </a:xfrm>
          <a:prstGeom prst="rect">
            <a:avLst/>
          </a:prstGeom>
        </p:spPr>
        <p:txBody>
          <a:bodyPr anchor="ctr"/>
          <a:lstStyle/>
          <a:p>
            <a:r>
              <a:rPr sz="1050" b="1">
                <a:solidFill>
                  <a:srgbClr val="101A3C"/>
                </a:solidFill>
                <a:latin typeface="Segoe UI"/>
              </a:rPr>
              <a:t>Foundry MCP</a:t>
            </a:r>
          </a:p>
          <a:p>
            <a:r>
              <a:rPr sz="1050" b="1">
                <a:solidFill>
                  <a:srgbClr val="101A3C"/>
                </a:solidFill>
                <a:latin typeface="Segoe UI"/>
              </a:rPr>
              <a:t>Server</a:t>
            </a:r>
          </a:p>
        </p:txBody>
      </p:sp>
      <p:sp>
        <p:nvSpPr>
          <p:cNvPr id="23" name="Shape"/>
          <p:cNvSpPr/>
          <p:nvPr/>
        </p:nvSpPr>
        <p:spPr>
          <a:xfrm>
            <a:off x="7461504" y="1975104"/>
            <a:ext cx="733806" cy="246888"/>
          </a:xfrm>
          <a:prstGeom prst="roundRect">
            <a:avLst/>
          </a:prstGeom>
          <a:solidFill>
            <a:srgbClr val="FFF4E5"/>
          </a:solidFill>
        </p:spPr>
        <p:txBody>
          <a:bodyPr anchor="ctr"/>
          <a:lstStyle/>
          <a:p>
            <a:pPr algn="ctr"/>
            <a:r>
              <a:rPr sz="900" b="1">
                <a:solidFill>
                  <a:srgbClr val="B26B00"/>
                </a:solidFill>
                <a:latin typeface="Segoe UI"/>
              </a:rPr>
              <a:t>Preview</a:t>
            </a:r>
          </a:p>
        </p:txBody>
      </p:sp>
      <p:sp>
        <p:nvSpPr>
          <p:cNvPr id="24" name="TextBox"/>
          <p:cNvSpPr txBox="1"/>
          <p:nvPr/>
        </p:nvSpPr>
        <p:spPr>
          <a:xfrm>
            <a:off x="7370064" y="2327148"/>
            <a:ext cx="1962912" cy="822960"/>
          </a:xfrm>
          <a:prstGeom prst="rect">
            <a:avLst/>
          </a:prstGeom>
        </p:spPr>
        <p:txBody>
          <a:bodyPr anchor="ctr"/>
          <a:lstStyle/>
          <a:p>
            <a:r>
              <a:rPr sz="900">
                <a:solidFill>
                  <a:srgbClr val="141B33"/>
                </a:solidFill>
                <a:latin typeface="Segoe UI"/>
              </a:rPr>
              <a:t>Lets coding agents work</a:t>
            </a:r>
          </a:p>
          <a:p>
            <a:r>
              <a:rPr sz="900">
                <a:solidFill>
                  <a:srgbClr val="141B33"/>
                </a:solidFill>
                <a:latin typeface="Segoe UI"/>
              </a:rPr>
              <a:t>against Foundry directly.</a:t>
            </a:r>
          </a:p>
          <a:p>
            <a:r>
              <a:rPr sz="900">
                <a:solidFill>
                  <a:srgbClr val="141B33"/>
                </a:solidFill>
                <a:latin typeface="Segoe UI"/>
              </a:rPr>
              <a:t>Foundry Canvas (preview)</a:t>
            </a:r>
          </a:p>
          <a:p>
            <a:r>
              <a:rPr sz="900">
                <a:solidFill>
                  <a:srgbClr val="141B33"/>
                </a:solidFill>
                <a:latin typeface="Segoe UI"/>
              </a:rPr>
              <a:t>does the same inside the</a:t>
            </a:r>
          </a:p>
          <a:p>
            <a:r>
              <a:rPr sz="900">
                <a:solidFill>
                  <a:srgbClr val="141B33"/>
                </a:solidFill>
                <a:latin typeface="Segoe UI"/>
              </a:rPr>
              <a:t>GitHub Copilot App.</a:t>
            </a:r>
          </a:p>
        </p:txBody>
      </p:sp>
      <p:sp>
        <p:nvSpPr>
          <p:cNvPr id="25" name="Shape"/>
          <p:cNvSpPr/>
          <p:nvPr/>
        </p:nvSpPr>
        <p:spPr>
          <a:xfrm>
            <a:off x="9570720" y="1417320"/>
            <a:ext cx="2072640" cy="2670048"/>
          </a:xfrm>
          <a:prstGeom prst="rect">
            <a:avLst/>
          </a:prstGeom>
          <a:solidFill>
            <a:srgbClr val="F6F8FD"/>
          </a:solidFill>
          <a:ln w="9525">
            <a:solidFill>
              <a:srgbClr val="E1E7F4"/>
            </a:solidFill>
          </a:ln>
        </p:spPr>
        <p:txBody>
          <a:bodyPr/>
          <a:lstStyle/>
          <a:p>
            <a:endParaRPr/>
          </a:p>
        </p:txBody>
      </p:sp>
      <p:sp>
        <p:nvSpPr>
          <p:cNvPr id="26" name="Shape"/>
          <p:cNvSpPr/>
          <p:nvPr/>
        </p:nvSpPr>
        <p:spPr>
          <a:xfrm>
            <a:off x="9570720" y="1417320"/>
            <a:ext cx="2072640" cy="38405"/>
          </a:xfrm>
          <a:prstGeom prst="rect">
            <a:avLst/>
          </a:prstGeom>
          <a:solidFill>
            <a:srgbClr val="00B39F"/>
          </a:solidFill>
        </p:spPr>
        <p:txBody>
          <a:bodyPr/>
          <a:lstStyle/>
          <a:p>
            <a:endParaRPr/>
          </a:p>
        </p:txBody>
      </p:sp>
      <p:sp>
        <p:nvSpPr>
          <p:cNvPr id="27" name="TextBox"/>
          <p:cNvSpPr txBox="1"/>
          <p:nvPr/>
        </p:nvSpPr>
        <p:spPr>
          <a:xfrm>
            <a:off x="9625584" y="1540764"/>
            <a:ext cx="1962912" cy="457200"/>
          </a:xfrm>
          <a:prstGeom prst="rect">
            <a:avLst/>
          </a:prstGeom>
        </p:spPr>
        <p:txBody>
          <a:bodyPr anchor="ctr"/>
          <a:lstStyle/>
          <a:p>
            <a:r>
              <a:rPr sz="1050" b="1">
                <a:solidFill>
                  <a:srgbClr val="101A3C"/>
                </a:solidFill>
                <a:latin typeface="Segoe UI"/>
              </a:rPr>
              <a:t>Foundry Local</a:t>
            </a:r>
          </a:p>
          <a:p>
            <a:endParaRPr sz="1050" b="1">
              <a:solidFill>
                <a:srgbClr val="101A3C"/>
              </a:solidFill>
              <a:latin typeface="Segoe UI"/>
            </a:endParaRPr>
          </a:p>
        </p:txBody>
      </p:sp>
      <p:sp>
        <p:nvSpPr>
          <p:cNvPr id="28" name="Shape"/>
          <p:cNvSpPr/>
          <p:nvPr/>
        </p:nvSpPr>
        <p:spPr>
          <a:xfrm>
            <a:off x="9717024" y="1975104"/>
            <a:ext cx="379476" cy="246888"/>
          </a:xfrm>
          <a:prstGeom prst="roundRect">
            <a:avLst/>
          </a:prstGeom>
          <a:solidFill>
            <a:srgbClr val="E6F4EA"/>
          </a:solidFill>
        </p:spPr>
        <p:txBody>
          <a:bodyPr anchor="ctr"/>
          <a:lstStyle/>
          <a:p>
            <a:pPr algn="ctr"/>
            <a:r>
              <a:rPr sz="900" b="1">
                <a:solidFill>
                  <a:srgbClr val="107C10"/>
                </a:solidFill>
                <a:latin typeface="Segoe UI"/>
              </a:rPr>
              <a:t>GA</a:t>
            </a:r>
          </a:p>
        </p:txBody>
      </p:sp>
      <p:sp>
        <p:nvSpPr>
          <p:cNvPr id="29" name="TextBox"/>
          <p:cNvSpPr txBox="1"/>
          <p:nvPr/>
        </p:nvSpPr>
        <p:spPr>
          <a:xfrm>
            <a:off x="9625584" y="2327148"/>
            <a:ext cx="1962912" cy="960120"/>
          </a:xfrm>
          <a:prstGeom prst="rect">
            <a:avLst/>
          </a:prstGeom>
        </p:spPr>
        <p:txBody>
          <a:bodyPr anchor="ctr"/>
          <a:lstStyle/>
          <a:p>
            <a:r>
              <a:rPr sz="900">
                <a:solidFill>
                  <a:srgbClr val="141B33"/>
                </a:solidFill>
                <a:latin typeface="Segoe UI"/>
              </a:rPr>
              <a:t>On-device; C#, JS, Rust</a:t>
            </a:r>
          </a:p>
          <a:p>
            <a:r>
              <a:rPr sz="900">
                <a:solidFill>
                  <a:srgbClr val="141B33"/>
                </a:solidFill>
                <a:latin typeface="Segoe UI"/>
              </a:rPr>
              <a:t>and Python SDKs; ONNX</a:t>
            </a:r>
          </a:p>
          <a:p>
            <a:r>
              <a:rPr sz="900">
                <a:solidFill>
                  <a:srgbClr val="141B33"/>
                </a:solidFill>
                <a:latin typeface="Segoe UI"/>
              </a:rPr>
              <a:t>Runtime; about 20 MB;</a:t>
            </a:r>
          </a:p>
          <a:p>
            <a:r>
              <a:rPr sz="900">
                <a:solidFill>
                  <a:srgbClr val="141B33"/>
                </a:solidFill>
                <a:latin typeface="Segoe UI"/>
              </a:rPr>
              <a:t>OpenAI-compatible API</a:t>
            </a:r>
          </a:p>
          <a:p>
            <a:r>
              <a:rPr sz="900">
                <a:solidFill>
                  <a:srgbClr val="141B33"/>
                </a:solidFill>
                <a:latin typeface="Segoe UI"/>
              </a:rPr>
              <a:t>including Responses. No</a:t>
            </a:r>
          </a:p>
          <a:p>
            <a:r>
              <a:rPr sz="900">
                <a:solidFill>
                  <a:srgbClr val="141B33"/>
                </a:solidFill>
                <a:latin typeface="Segoe UI"/>
              </a:rPr>
              <a:t>Azure subscription.</a:t>
            </a:r>
          </a:p>
        </p:txBody>
      </p:sp>
      <p:sp>
        <p:nvSpPr>
          <p:cNvPr id="30" name="Shape"/>
          <p:cNvSpPr/>
          <p:nvPr/>
        </p:nvSpPr>
        <p:spPr>
          <a:xfrm>
            <a:off x="548640" y="4343400"/>
            <a:ext cx="11094720" cy="859536"/>
          </a:xfrm>
          <a:prstGeom prst="rect">
            <a:avLst/>
          </a:prstGeom>
          <a:solidFill>
            <a:srgbClr val="101A3C"/>
          </a:solidFill>
        </p:spPr>
        <p:txBody>
          <a:bodyPr/>
          <a:lstStyle/>
          <a:p>
            <a:endParaRPr/>
          </a:p>
        </p:txBody>
      </p:sp>
      <p:sp>
        <p:nvSpPr>
          <p:cNvPr id="31" name="TextBox"/>
          <p:cNvSpPr txBox="1"/>
          <p:nvPr/>
        </p:nvSpPr>
        <p:spPr>
          <a:xfrm>
            <a:off x="676656" y="4411980"/>
            <a:ext cx="10838688" cy="594360"/>
          </a:xfrm>
          <a:prstGeom prst="rect">
            <a:avLst/>
          </a:prstGeom>
        </p:spPr>
        <p:txBody>
          <a:bodyPr anchor="ctr"/>
          <a:lstStyle/>
          <a:p>
            <a:r>
              <a:rPr sz="1000">
                <a:solidFill>
                  <a:srgbClr val="FFFFFF"/>
                </a:solidFill>
                <a:latin typeface="Segoe UI"/>
              </a:rPr>
              <a:t>Samples: github.com/microsoft-foundry/foundry-samples — MIT licence, with Bicep, Python and Terraform assets.</a:t>
            </a:r>
          </a:p>
          <a:p>
            <a:r>
              <a:rPr sz="1000">
                <a:solidFill>
                  <a:srgbClr val="FFFFFF"/>
                </a:solidFill>
                <a:latin typeface="Segoe UI"/>
              </a:rPr>
              <a:t>The inner loop is the Toolkit and Foundry Local; the outer loop is azd and deployment to Agent Service.</a:t>
            </a:r>
          </a:p>
          <a:p>
            <a:r>
              <a:rPr sz="1000">
                <a:solidFill>
                  <a:srgbClr val="FFFFFF"/>
                </a:solidFill>
                <a:latin typeface="Segoe UI"/>
              </a:rPr>
              <a:t>DevPack is an installer rather than a runtime: it lays down the CLI tools and wires up the coding agents you already use.</a:t>
            </a:r>
          </a:p>
        </p:txBody>
      </p:sp>
      <p:sp>
        <p:nvSpPr>
          <p:cNvPr id="32" name="Shape"/>
          <p:cNvSpPr/>
          <p:nvPr/>
        </p:nvSpPr>
        <p:spPr>
          <a:xfrm>
            <a:off x="548640" y="5687568"/>
            <a:ext cx="11094720" cy="9525"/>
          </a:xfrm>
          <a:prstGeom prst="rect">
            <a:avLst/>
          </a:prstGeom>
          <a:solidFill>
            <a:srgbClr val="E1E7F4"/>
          </a:solidFill>
        </p:spPr>
        <p:txBody>
          <a:bodyPr/>
          <a:lstStyle/>
          <a:p>
            <a:endParaRPr/>
          </a:p>
        </p:txBody>
      </p:sp>
      <p:sp>
        <p:nvSpPr>
          <p:cNvPr id="33"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learn.microsoft.com/azure/foundry/how-to/develop/sdk-overview</a:t>
            </a:r>
          </a:p>
          <a:p>
            <a:endParaRPr sz="900">
              <a:solidFill>
                <a:srgbClr val="44495B"/>
              </a:solidFill>
              <a:latin typeface="Segoe UI"/>
            </a:endParaRPr>
          </a:p>
        </p:txBody>
      </p:sp>
      <p:sp>
        <p:nvSpPr>
          <p:cNvPr id="34"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2   ·   M O D E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Foundry Models: catalog and offerings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One catalog of 10,000+ models in two commercial categories: who operates the model, who bills you, which SLA applies.</a:t>
            </a:r>
          </a:p>
          <a:p>
            <a:endParaRPr sz="1200">
              <a:solidFill>
                <a:srgbClr val="44495B"/>
              </a:solidFill>
              <a:latin typeface="Segoe UI"/>
            </a:endParaRPr>
          </a:p>
        </p:txBody>
      </p:sp>
      <p:sp>
        <p:nvSpPr>
          <p:cNvPr id="14" name="Shape"/>
          <p:cNvSpPr/>
          <p:nvPr/>
        </p:nvSpPr>
        <p:spPr>
          <a:xfrm>
            <a:off x="548640" y="2926080"/>
            <a:ext cx="11094720" cy="38405"/>
          </a:xfrm>
          <a:prstGeom prst="rect">
            <a:avLst/>
          </a:prstGeom>
          <a:solidFill>
            <a:srgbClr val="101A3C"/>
          </a:solidFill>
        </p:spPr>
        <p:txBody>
          <a:bodyPr/>
          <a:lstStyle/>
          <a:p>
            <a:endParaRPr/>
          </a:p>
        </p:txBody>
      </p:sp>
      <p:sp>
        <p:nvSpPr>
          <p:cNvPr id="19" name="Shape"/>
          <p:cNvSpPr/>
          <p:nvPr/>
        </p:nvSpPr>
        <p:spPr>
          <a:xfrm>
            <a:off x="548640" y="5321808"/>
            <a:ext cx="11094720" cy="9525"/>
          </a:xfrm>
          <a:prstGeom prst="rect">
            <a:avLst/>
          </a:prstGeom>
          <a:solidFill>
            <a:srgbClr val="E1E7F4"/>
          </a:solidFill>
        </p:spPr>
        <p:txBody>
          <a:bodyPr/>
          <a:lstStyle/>
          <a:p>
            <a:endParaRPr/>
          </a:p>
        </p:txBody>
      </p:sp>
      <p:sp>
        <p:nvSpPr>
          <p:cNvPr id="20"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learn.microsoft.com/azure/foundry/foundry-models/concepts · Foundry blog, July–August 2026</a:t>
            </a:r>
          </a:p>
          <a:p>
            <a:endParaRPr sz="900">
              <a:solidFill>
                <a:srgbClr val="44495B"/>
              </a:solidFill>
              <a:latin typeface="Segoe UI"/>
            </a:endParaRPr>
          </a:p>
        </p:txBody>
      </p:sp>
      <p:sp>
        <p:nvSpPr>
          <p:cNvPr id="21"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7</a:t>
            </a:r>
          </a:p>
        </p:txBody>
      </p:sp>
      <p:sp>
        <p:nvSpPr>
          <p:cNvPr id="22" name="Rectangle 21"/>
          <p:cNvSpPr/>
          <p:nvPr/>
        </p:nvSpPr>
        <p:spPr>
          <a:xfrm>
            <a:off x="548640" y="1298448"/>
            <a:ext cx="5440680" cy="1700784"/>
          </a:xfrm>
          <a:prstGeom prst="rect">
            <a:avLst/>
          </a:prstGeom>
          <a:solidFill>
            <a:srgbClr val="F6F8FD"/>
          </a:solidFill>
          <a:ln w="9525">
            <a:solidFill>
              <a:srgbClr val="E1E7F4"/>
            </a:solidFill>
          </a:ln>
          <a:effectLst/>
        </p:spPr>
        <p:txBody>
          <a:bodyPr rtlCol="0" anchor="ctr"/>
          <a:lstStyle/>
          <a:p>
            <a:pPr algn="ctr"/>
            <a:endParaRPr/>
          </a:p>
        </p:txBody>
      </p:sp>
      <p:sp>
        <p:nvSpPr>
          <p:cNvPr id="23" name="Rectangle 22"/>
          <p:cNvSpPr/>
          <p:nvPr/>
        </p:nvSpPr>
        <p:spPr>
          <a:xfrm>
            <a:off x="548640" y="1298448"/>
            <a:ext cx="5440680" cy="45720"/>
          </a:xfrm>
          <a:prstGeom prst="rect">
            <a:avLst/>
          </a:prstGeom>
          <a:solidFill>
            <a:srgbClr val="101A3C"/>
          </a:solidFill>
          <a:ln>
            <a:noFill/>
          </a:ln>
          <a:effectLst/>
        </p:spPr>
        <p:txBody>
          <a:bodyPr rtlCol="0" anchor="ctr"/>
          <a:lstStyle/>
          <a:p>
            <a:pPr algn="ctr"/>
            <a:endParaRPr/>
          </a:p>
        </p:txBody>
      </p:sp>
      <p:sp>
        <p:nvSpPr>
          <p:cNvPr id="24" name="TextBox 23"/>
          <p:cNvSpPr txBox="1"/>
          <p:nvPr/>
        </p:nvSpPr>
        <p:spPr>
          <a:xfrm>
            <a:off x="548640" y="1371600"/>
            <a:ext cx="5440680" cy="310896"/>
          </a:xfrm>
          <a:prstGeom prst="rect">
            <a:avLst/>
          </a:prstGeom>
          <a:noFill/>
        </p:spPr>
        <p:txBody>
          <a:bodyPr wrap="square" lIns="73152" tIns="27432" rIns="73152" bIns="27432" anchor="ctr">
            <a:spAutoFit/>
          </a:bodyPr>
          <a:lstStyle/>
          <a:p>
            <a:pPr algn="l"/>
            <a:r>
              <a:rPr sz="1100" b="1">
                <a:solidFill>
                  <a:srgbClr val="101A3C"/>
                </a:solidFill>
                <a:latin typeface="Segoe UI"/>
              </a:rPr>
              <a:t>Foundry Models sold by Azure</a:t>
            </a:r>
          </a:p>
        </p:txBody>
      </p:sp>
      <p:sp>
        <p:nvSpPr>
          <p:cNvPr id="25" name="TextBox 24"/>
          <p:cNvSpPr txBox="1"/>
          <p:nvPr/>
        </p:nvSpPr>
        <p:spPr>
          <a:xfrm>
            <a:off x="594360" y="1682496"/>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Who operates</a:t>
            </a:r>
          </a:p>
        </p:txBody>
      </p:sp>
      <p:sp>
        <p:nvSpPr>
          <p:cNvPr id="26" name="TextBox 25"/>
          <p:cNvSpPr txBox="1"/>
          <p:nvPr/>
        </p:nvSpPr>
        <p:spPr>
          <a:xfrm>
            <a:off x="1828800" y="1682496"/>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Azure hosts and operates the model</a:t>
            </a:r>
          </a:p>
        </p:txBody>
      </p:sp>
      <p:sp>
        <p:nvSpPr>
          <p:cNvPr id="27" name="TextBox 26"/>
          <p:cNvSpPr txBox="1"/>
          <p:nvPr/>
        </p:nvSpPr>
        <p:spPr>
          <a:xfrm>
            <a:off x="594360" y="1993392"/>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Who bills you</a:t>
            </a:r>
          </a:p>
        </p:txBody>
      </p:sp>
      <p:sp>
        <p:nvSpPr>
          <p:cNvPr id="28" name="TextBox 27"/>
          <p:cNvSpPr txBox="1"/>
          <p:nvPr/>
        </p:nvSpPr>
        <p:spPr>
          <a:xfrm>
            <a:off x="1828800" y="1993392"/>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your Azure subscription</a:t>
            </a:r>
          </a:p>
        </p:txBody>
      </p:sp>
      <p:sp>
        <p:nvSpPr>
          <p:cNvPr id="29" name="TextBox 28"/>
          <p:cNvSpPr txBox="1"/>
          <p:nvPr/>
        </p:nvSpPr>
        <p:spPr>
          <a:xfrm>
            <a:off x="594360" y="2304288"/>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SLA and support</a:t>
            </a:r>
          </a:p>
        </p:txBody>
      </p:sp>
      <p:sp>
        <p:nvSpPr>
          <p:cNvPr id="30" name="TextBox 29"/>
          <p:cNvSpPr txBox="1"/>
          <p:nvPr/>
        </p:nvSpPr>
        <p:spPr>
          <a:xfrm>
            <a:off x="1828800" y="2304288"/>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Azure SLA · Microsoft support</a:t>
            </a:r>
          </a:p>
        </p:txBody>
      </p:sp>
      <p:sp>
        <p:nvSpPr>
          <p:cNvPr id="31" name="TextBox 30"/>
          <p:cNvSpPr txBox="1"/>
          <p:nvPr/>
        </p:nvSpPr>
        <p:spPr>
          <a:xfrm>
            <a:off x="594360" y="2615184"/>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Examples</a:t>
            </a:r>
          </a:p>
        </p:txBody>
      </p:sp>
      <p:sp>
        <p:nvSpPr>
          <p:cNvPr id="32" name="TextBox 31"/>
          <p:cNvSpPr txBox="1"/>
          <p:nvPr/>
        </p:nvSpPr>
        <p:spPr>
          <a:xfrm>
            <a:off x="1828800" y="2615184"/>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all Azure OpenAI models · selected Cohere, DeepSeek, Meta, Mistral AI and xAI models · Microsoft MAI models</a:t>
            </a:r>
          </a:p>
        </p:txBody>
      </p:sp>
      <p:sp>
        <p:nvSpPr>
          <p:cNvPr id="33" name="Rectangle 32"/>
          <p:cNvSpPr/>
          <p:nvPr/>
        </p:nvSpPr>
        <p:spPr>
          <a:xfrm>
            <a:off x="6199632" y="1298448"/>
            <a:ext cx="5440680" cy="1700784"/>
          </a:xfrm>
          <a:prstGeom prst="rect">
            <a:avLst/>
          </a:prstGeom>
          <a:solidFill>
            <a:srgbClr val="F6F8FD"/>
          </a:solidFill>
          <a:ln w="9525">
            <a:solidFill>
              <a:srgbClr val="E1E7F4"/>
            </a:solidFill>
          </a:ln>
          <a:effectLst/>
        </p:spPr>
        <p:txBody>
          <a:bodyPr rtlCol="0" anchor="ctr"/>
          <a:lstStyle/>
          <a:p>
            <a:pPr algn="ctr"/>
            <a:endParaRPr/>
          </a:p>
        </p:txBody>
      </p:sp>
      <p:sp>
        <p:nvSpPr>
          <p:cNvPr id="34" name="Rectangle 33"/>
          <p:cNvSpPr/>
          <p:nvPr/>
        </p:nvSpPr>
        <p:spPr>
          <a:xfrm>
            <a:off x="6199632" y="1298448"/>
            <a:ext cx="5440680" cy="45720"/>
          </a:xfrm>
          <a:prstGeom prst="rect">
            <a:avLst/>
          </a:prstGeom>
          <a:solidFill>
            <a:srgbClr val="00B39F"/>
          </a:solidFill>
          <a:ln>
            <a:noFill/>
          </a:ln>
          <a:effectLst/>
        </p:spPr>
        <p:txBody>
          <a:bodyPr rtlCol="0" anchor="ctr"/>
          <a:lstStyle/>
          <a:p>
            <a:pPr algn="ctr"/>
            <a:endParaRPr/>
          </a:p>
        </p:txBody>
      </p:sp>
      <p:sp>
        <p:nvSpPr>
          <p:cNvPr id="35" name="TextBox 34"/>
          <p:cNvSpPr txBox="1"/>
          <p:nvPr/>
        </p:nvSpPr>
        <p:spPr>
          <a:xfrm>
            <a:off x="6199632" y="1371600"/>
            <a:ext cx="5440680" cy="310896"/>
          </a:xfrm>
          <a:prstGeom prst="rect">
            <a:avLst/>
          </a:prstGeom>
          <a:noFill/>
        </p:spPr>
        <p:txBody>
          <a:bodyPr wrap="square" lIns="73152" tIns="27432" rIns="73152" bIns="27432" anchor="ctr">
            <a:spAutoFit/>
          </a:bodyPr>
          <a:lstStyle/>
          <a:p>
            <a:pPr algn="l"/>
            <a:r>
              <a:rPr sz="1100" b="1">
                <a:solidFill>
                  <a:srgbClr val="101A3C"/>
                </a:solidFill>
                <a:latin typeface="Segoe UI"/>
              </a:rPr>
              <a:t>Foundry Models from partners and community</a:t>
            </a:r>
          </a:p>
        </p:txBody>
      </p:sp>
      <p:sp>
        <p:nvSpPr>
          <p:cNvPr id="36" name="TextBox 35"/>
          <p:cNvSpPr txBox="1"/>
          <p:nvPr/>
        </p:nvSpPr>
        <p:spPr>
          <a:xfrm>
            <a:off x="6245352" y="1682496"/>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Who operates</a:t>
            </a:r>
          </a:p>
        </p:txBody>
      </p:sp>
      <p:sp>
        <p:nvSpPr>
          <p:cNvPr id="37" name="TextBox 36"/>
          <p:cNvSpPr txBox="1"/>
          <p:nvPr/>
        </p:nvSpPr>
        <p:spPr>
          <a:xfrm>
            <a:off x="7479792" y="1682496"/>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the model provider, on Azure infrastructure or its own</a:t>
            </a:r>
          </a:p>
        </p:txBody>
      </p:sp>
      <p:sp>
        <p:nvSpPr>
          <p:cNvPr id="38" name="TextBox 37"/>
          <p:cNvSpPr txBox="1"/>
          <p:nvPr/>
        </p:nvSpPr>
        <p:spPr>
          <a:xfrm>
            <a:off x="6245352" y="1993392"/>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Who bills you</a:t>
            </a:r>
          </a:p>
        </p:txBody>
      </p:sp>
      <p:sp>
        <p:nvSpPr>
          <p:cNvPr id="39" name="TextBox 38"/>
          <p:cNvSpPr txBox="1"/>
          <p:nvPr/>
        </p:nvSpPr>
        <p:spPr>
          <a:xfrm>
            <a:off x="7479792" y="1993392"/>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Azure Marketplace — Non-Microsoft Products under the Product Terms</a:t>
            </a:r>
          </a:p>
        </p:txBody>
      </p:sp>
      <p:sp>
        <p:nvSpPr>
          <p:cNvPr id="40" name="TextBox 39"/>
          <p:cNvSpPr txBox="1"/>
          <p:nvPr/>
        </p:nvSpPr>
        <p:spPr>
          <a:xfrm>
            <a:off x="6245352" y="2304288"/>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SLA and support</a:t>
            </a:r>
          </a:p>
        </p:txBody>
      </p:sp>
      <p:sp>
        <p:nvSpPr>
          <p:cNvPr id="41" name="TextBox 40"/>
          <p:cNvSpPr txBox="1"/>
          <p:nvPr/>
        </p:nvSpPr>
        <p:spPr>
          <a:xfrm>
            <a:off x="7479792" y="2304288"/>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the provider’s terms · Marketplace purchase permissions required</a:t>
            </a:r>
          </a:p>
        </p:txBody>
      </p:sp>
      <p:sp>
        <p:nvSpPr>
          <p:cNvPr id="42" name="TextBox 41"/>
          <p:cNvSpPr txBox="1"/>
          <p:nvPr/>
        </p:nvSpPr>
        <p:spPr>
          <a:xfrm>
            <a:off x="6245352" y="2615184"/>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Examples</a:t>
            </a:r>
          </a:p>
        </p:txBody>
      </p:sp>
      <p:sp>
        <p:nvSpPr>
          <p:cNvPr id="43" name="TextBox 42"/>
          <p:cNvSpPr txBox="1"/>
          <p:nvPr/>
        </p:nvSpPr>
        <p:spPr>
          <a:xfrm>
            <a:off x="7479792" y="2615184"/>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Anthropic Claude · Hugging Face hub · Fireworks AI · most of the catalog</a:t>
            </a:r>
          </a:p>
        </p:txBody>
      </p:sp>
      <p:sp>
        <p:nvSpPr>
          <p:cNvPr id="44" name="TextBox 43"/>
          <p:cNvSpPr txBox="1"/>
          <p:nvPr/>
        </p:nvSpPr>
        <p:spPr>
          <a:xfrm>
            <a:off x="548640" y="3072384"/>
            <a:ext cx="73152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WHAT ARRIVED IN THE CATALOG IN 2026</a:t>
            </a:r>
          </a:p>
        </p:txBody>
      </p:sp>
      <p:sp>
        <p:nvSpPr>
          <p:cNvPr id="45" name="Rectangle 44"/>
          <p:cNvSpPr/>
          <p:nvPr/>
        </p:nvSpPr>
        <p:spPr>
          <a:xfrm>
            <a:off x="548640" y="3328416"/>
            <a:ext cx="11091672" cy="246888"/>
          </a:xfrm>
          <a:prstGeom prst="rect">
            <a:avLst/>
          </a:prstGeom>
          <a:solidFill>
            <a:srgbClr val="101A3C"/>
          </a:solidFill>
          <a:ln>
            <a:noFill/>
          </a:ln>
          <a:effectLst/>
        </p:spPr>
        <p:txBody>
          <a:bodyPr rtlCol="0" anchor="ctr"/>
          <a:lstStyle/>
          <a:p>
            <a:pPr algn="ctr"/>
            <a:endParaRPr/>
          </a:p>
        </p:txBody>
      </p:sp>
      <p:sp>
        <p:nvSpPr>
          <p:cNvPr id="46" name="TextBox 45"/>
          <p:cNvSpPr txBox="1"/>
          <p:nvPr/>
        </p:nvSpPr>
        <p:spPr>
          <a:xfrm>
            <a:off x="548640" y="3328416"/>
            <a:ext cx="1783080" cy="246888"/>
          </a:xfrm>
          <a:prstGeom prst="rect">
            <a:avLst/>
          </a:prstGeom>
          <a:noFill/>
        </p:spPr>
        <p:txBody>
          <a:bodyPr wrap="square" lIns="73152" tIns="27432" rIns="73152" bIns="27432" anchor="ctr">
            <a:spAutoFit/>
          </a:bodyPr>
          <a:lstStyle/>
          <a:p>
            <a:pPr algn="l"/>
            <a:r>
              <a:rPr sz="800" b="1">
                <a:solidFill>
                  <a:srgbClr val="FFFFFF"/>
                </a:solidFill>
                <a:latin typeface="Segoe UI"/>
              </a:rPr>
              <a:t>Model</a:t>
            </a:r>
          </a:p>
        </p:txBody>
      </p:sp>
      <p:sp>
        <p:nvSpPr>
          <p:cNvPr id="47" name="TextBox 46"/>
          <p:cNvSpPr txBox="1"/>
          <p:nvPr/>
        </p:nvSpPr>
        <p:spPr>
          <a:xfrm>
            <a:off x="2331720" y="3328416"/>
            <a:ext cx="960120" cy="246888"/>
          </a:xfrm>
          <a:prstGeom prst="rect">
            <a:avLst/>
          </a:prstGeom>
          <a:noFill/>
        </p:spPr>
        <p:txBody>
          <a:bodyPr wrap="square" lIns="73152" tIns="27432" rIns="73152" bIns="27432" anchor="ctr">
            <a:spAutoFit/>
          </a:bodyPr>
          <a:lstStyle/>
          <a:p>
            <a:pPr algn="l"/>
            <a:r>
              <a:rPr sz="800" b="1">
                <a:solidFill>
                  <a:srgbClr val="FFFFFF"/>
                </a:solidFill>
                <a:latin typeface="Segoe UI"/>
              </a:rPr>
              <a:t>Provider</a:t>
            </a:r>
          </a:p>
        </p:txBody>
      </p:sp>
      <p:sp>
        <p:nvSpPr>
          <p:cNvPr id="48" name="TextBox 47"/>
          <p:cNvSpPr txBox="1"/>
          <p:nvPr/>
        </p:nvSpPr>
        <p:spPr>
          <a:xfrm>
            <a:off x="3291839" y="3328416"/>
            <a:ext cx="1691640" cy="246888"/>
          </a:xfrm>
          <a:prstGeom prst="rect">
            <a:avLst/>
          </a:prstGeom>
          <a:noFill/>
        </p:spPr>
        <p:txBody>
          <a:bodyPr wrap="square" lIns="73152" tIns="27432" rIns="73152" bIns="27432" anchor="ctr">
            <a:spAutoFit/>
          </a:bodyPr>
          <a:lstStyle/>
          <a:p>
            <a:pPr algn="l"/>
            <a:r>
              <a:rPr sz="800" b="1">
                <a:solidFill>
                  <a:srgbClr val="FFFFFF"/>
                </a:solidFill>
                <a:latin typeface="Segoe UI"/>
              </a:rPr>
              <a:t>Category</a:t>
            </a:r>
          </a:p>
        </p:txBody>
      </p:sp>
      <p:sp>
        <p:nvSpPr>
          <p:cNvPr id="49" name="TextBox 48"/>
          <p:cNvSpPr txBox="1"/>
          <p:nvPr/>
        </p:nvSpPr>
        <p:spPr>
          <a:xfrm>
            <a:off x="4983479" y="3328416"/>
            <a:ext cx="1417320" cy="246888"/>
          </a:xfrm>
          <a:prstGeom prst="rect">
            <a:avLst/>
          </a:prstGeom>
          <a:noFill/>
        </p:spPr>
        <p:txBody>
          <a:bodyPr wrap="square" lIns="73152" tIns="27432" rIns="73152" bIns="27432" anchor="ctr">
            <a:spAutoFit/>
          </a:bodyPr>
          <a:lstStyle/>
          <a:p>
            <a:pPr algn="l"/>
            <a:r>
              <a:rPr sz="800" b="1">
                <a:solidFill>
                  <a:srgbClr val="FFFFFF"/>
                </a:solidFill>
                <a:latin typeface="Segoe UI"/>
              </a:rPr>
              <a:t>Status · date</a:t>
            </a:r>
          </a:p>
        </p:txBody>
      </p:sp>
      <p:sp>
        <p:nvSpPr>
          <p:cNvPr id="50" name="TextBox 49"/>
          <p:cNvSpPr txBox="1"/>
          <p:nvPr/>
        </p:nvSpPr>
        <p:spPr>
          <a:xfrm>
            <a:off x="6400799" y="3328416"/>
            <a:ext cx="2331720" cy="246888"/>
          </a:xfrm>
          <a:prstGeom prst="rect">
            <a:avLst/>
          </a:prstGeom>
          <a:noFill/>
        </p:spPr>
        <p:txBody>
          <a:bodyPr wrap="square" lIns="73152" tIns="27432" rIns="73152" bIns="27432" anchor="ctr">
            <a:spAutoFit/>
          </a:bodyPr>
          <a:lstStyle/>
          <a:p>
            <a:pPr algn="l"/>
            <a:r>
              <a:rPr sz="800" b="1">
                <a:solidFill>
                  <a:srgbClr val="FFFFFF"/>
                </a:solidFill>
                <a:latin typeface="Segoe UI"/>
              </a:rPr>
              <a:t>Context window</a:t>
            </a:r>
          </a:p>
        </p:txBody>
      </p:sp>
      <p:sp>
        <p:nvSpPr>
          <p:cNvPr id="51" name="TextBox 50"/>
          <p:cNvSpPr txBox="1"/>
          <p:nvPr/>
        </p:nvSpPr>
        <p:spPr>
          <a:xfrm>
            <a:off x="8732519" y="3328416"/>
            <a:ext cx="2907792" cy="246888"/>
          </a:xfrm>
          <a:prstGeom prst="rect">
            <a:avLst/>
          </a:prstGeom>
          <a:noFill/>
        </p:spPr>
        <p:txBody>
          <a:bodyPr wrap="square" lIns="73152" tIns="27432" rIns="73152" bIns="27432" anchor="ctr">
            <a:spAutoFit/>
          </a:bodyPr>
          <a:lstStyle/>
          <a:p>
            <a:pPr algn="l"/>
            <a:r>
              <a:rPr sz="800" b="1">
                <a:solidFill>
                  <a:srgbClr val="FFFFFF"/>
                </a:solidFill>
                <a:latin typeface="Segoe UI"/>
              </a:rPr>
              <a:t>Notable</a:t>
            </a:r>
          </a:p>
        </p:txBody>
      </p:sp>
      <p:sp>
        <p:nvSpPr>
          <p:cNvPr id="52" name="Rectangle 51"/>
          <p:cNvSpPr/>
          <p:nvPr/>
        </p:nvSpPr>
        <p:spPr>
          <a:xfrm>
            <a:off x="548640" y="3575304"/>
            <a:ext cx="11091672" cy="246888"/>
          </a:xfrm>
          <a:prstGeom prst="rect">
            <a:avLst/>
          </a:prstGeom>
          <a:solidFill>
            <a:srgbClr val="FFFFFF"/>
          </a:solidFill>
          <a:ln w="6350">
            <a:solidFill>
              <a:srgbClr val="E1E7F4"/>
            </a:solidFill>
          </a:ln>
          <a:effectLst/>
        </p:spPr>
        <p:txBody>
          <a:bodyPr rtlCol="0" anchor="ctr"/>
          <a:lstStyle/>
          <a:p>
            <a:pPr algn="ctr"/>
            <a:endParaRPr/>
          </a:p>
        </p:txBody>
      </p:sp>
      <p:sp>
        <p:nvSpPr>
          <p:cNvPr id="53" name="TextBox 52"/>
          <p:cNvSpPr txBox="1"/>
          <p:nvPr/>
        </p:nvSpPr>
        <p:spPr>
          <a:xfrm>
            <a:off x="548640" y="3575304"/>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gpt-6 astra · luna · sol</a:t>
            </a:r>
          </a:p>
        </p:txBody>
      </p:sp>
      <p:sp>
        <p:nvSpPr>
          <p:cNvPr id="54" name="TextBox 53"/>
          <p:cNvSpPr txBox="1"/>
          <p:nvPr/>
        </p:nvSpPr>
        <p:spPr>
          <a:xfrm>
            <a:off x="2331720" y="3575304"/>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OpenAI</a:t>
            </a:r>
          </a:p>
        </p:txBody>
      </p:sp>
      <p:sp>
        <p:nvSpPr>
          <p:cNvPr id="55" name="TextBox 54"/>
          <p:cNvSpPr txBox="1"/>
          <p:nvPr/>
        </p:nvSpPr>
        <p:spPr>
          <a:xfrm>
            <a:off x="3291839" y="3575304"/>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Sold by Azure</a:t>
            </a:r>
          </a:p>
        </p:txBody>
      </p:sp>
      <p:sp>
        <p:nvSpPr>
          <p:cNvPr id="56" name="TextBox 55"/>
          <p:cNvSpPr txBox="1"/>
          <p:nvPr/>
        </p:nvSpPr>
        <p:spPr>
          <a:xfrm>
            <a:off x="4983479" y="3575304"/>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3–22 Sep 2026</a:t>
            </a:r>
          </a:p>
        </p:txBody>
      </p:sp>
      <p:sp>
        <p:nvSpPr>
          <p:cNvPr id="57" name="TextBox 56"/>
          <p:cNvSpPr txBox="1"/>
          <p:nvPr/>
        </p:nvSpPr>
        <p:spPr>
          <a:xfrm>
            <a:off x="6400799" y="3575304"/>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1,050,000 tokens (922k in · 128k out)</a:t>
            </a:r>
          </a:p>
        </p:txBody>
      </p:sp>
      <p:sp>
        <p:nvSpPr>
          <p:cNvPr id="58" name="TextBox 57"/>
          <p:cNvSpPr txBox="1"/>
          <p:nvPr/>
        </p:nvSpPr>
        <p:spPr>
          <a:xfrm>
            <a:off x="8732519" y="3575304"/>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reasoning · Responses API · computer use</a:t>
            </a:r>
          </a:p>
        </p:txBody>
      </p:sp>
      <p:sp>
        <p:nvSpPr>
          <p:cNvPr id="59" name="Rectangle 58"/>
          <p:cNvSpPr/>
          <p:nvPr/>
        </p:nvSpPr>
        <p:spPr>
          <a:xfrm>
            <a:off x="548640" y="3822191"/>
            <a:ext cx="11091672" cy="246888"/>
          </a:xfrm>
          <a:prstGeom prst="rect">
            <a:avLst/>
          </a:prstGeom>
          <a:solidFill>
            <a:srgbClr val="F6F8FD"/>
          </a:solidFill>
          <a:ln w="6350">
            <a:solidFill>
              <a:srgbClr val="E1E7F4"/>
            </a:solidFill>
          </a:ln>
          <a:effectLst/>
        </p:spPr>
        <p:txBody>
          <a:bodyPr rtlCol="0" anchor="ctr"/>
          <a:lstStyle/>
          <a:p>
            <a:pPr algn="ctr"/>
            <a:endParaRPr/>
          </a:p>
        </p:txBody>
      </p:sp>
      <p:sp>
        <p:nvSpPr>
          <p:cNvPr id="60" name="TextBox 59"/>
          <p:cNvSpPr txBox="1"/>
          <p:nvPr/>
        </p:nvSpPr>
        <p:spPr>
          <a:xfrm>
            <a:off x="548640" y="3822191"/>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gpt-5.6 sol · terra · luna</a:t>
            </a:r>
          </a:p>
        </p:txBody>
      </p:sp>
      <p:sp>
        <p:nvSpPr>
          <p:cNvPr id="61" name="TextBox 60"/>
          <p:cNvSpPr txBox="1"/>
          <p:nvPr/>
        </p:nvSpPr>
        <p:spPr>
          <a:xfrm>
            <a:off x="2331720" y="3822191"/>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OpenAI</a:t>
            </a:r>
          </a:p>
        </p:txBody>
      </p:sp>
      <p:sp>
        <p:nvSpPr>
          <p:cNvPr id="62" name="TextBox 61"/>
          <p:cNvSpPr txBox="1"/>
          <p:nvPr/>
        </p:nvSpPr>
        <p:spPr>
          <a:xfrm>
            <a:off x="3291839" y="3822191"/>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Sold by Azure</a:t>
            </a:r>
          </a:p>
        </p:txBody>
      </p:sp>
      <p:sp>
        <p:nvSpPr>
          <p:cNvPr id="63" name="TextBox 62"/>
          <p:cNvSpPr txBox="1"/>
          <p:nvPr/>
        </p:nvSpPr>
        <p:spPr>
          <a:xfrm>
            <a:off x="4983479" y="3822191"/>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GA · 9 Jul 2026</a:t>
            </a:r>
          </a:p>
        </p:txBody>
      </p:sp>
      <p:sp>
        <p:nvSpPr>
          <p:cNvPr id="64" name="TextBox 63"/>
          <p:cNvSpPr txBox="1"/>
          <p:nvPr/>
        </p:nvSpPr>
        <p:spPr>
          <a:xfrm>
            <a:off x="6400799" y="3822191"/>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a:t>
            </a:r>
          </a:p>
        </p:txBody>
      </p:sp>
      <p:sp>
        <p:nvSpPr>
          <p:cNvPr id="65" name="TextBox 64"/>
          <p:cNvSpPr txBox="1"/>
          <p:nvPr/>
        </p:nvSpPr>
        <p:spPr>
          <a:xfrm>
            <a:off x="8732519" y="3822191"/>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three capability and cost tiers · text and image input</a:t>
            </a:r>
          </a:p>
        </p:txBody>
      </p:sp>
      <p:sp>
        <p:nvSpPr>
          <p:cNvPr id="66" name="Rectangle 65"/>
          <p:cNvSpPr/>
          <p:nvPr/>
        </p:nvSpPr>
        <p:spPr>
          <a:xfrm>
            <a:off x="548640" y="4069080"/>
            <a:ext cx="11091672" cy="246888"/>
          </a:xfrm>
          <a:prstGeom prst="rect">
            <a:avLst/>
          </a:prstGeom>
          <a:solidFill>
            <a:srgbClr val="FFFFFF"/>
          </a:solidFill>
          <a:ln w="6350">
            <a:solidFill>
              <a:srgbClr val="E1E7F4"/>
            </a:solidFill>
          </a:ln>
          <a:effectLst/>
        </p:spPr>
        <p:txBody>
          <a:bodyPr rtlCol="0" anchor="ctr"/>
          <a:lstStyle/>
          <a:p>
            <a:pPr algn="ctr"/>
            <a:endParaRPr/>
          </a:p>
        </p:txBody>
      </p:sp>
      <p:sp>
        <p:nvSpPr>
          <p:cNvPr id="67" name="TextBox 66"/>
          <p:cNvSpPr txBox="1"/>
          <p:nvPr/>
        </p:nvSpPr>
        <p:spPr>
          <a:xfrm>
            <a:off x="548640" y="4069080"/>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Claude Opus 5</a:t>
            </a:r>
          </a:p>
        </p:txBody>
      </p:sp>
      <p:sp>
        <p:nvSpPr>
          <p:cNvPr id="68" name="TextBox 67"/>
          <p:cNvSpPr txBox="1"/>
          <p:nvPr/>
        </p:nvSpPr>
        <p:spPr>
          <a:xfrm>
            <a:off x="2331720" y="4069080"/>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Anthropic</a:t>
            </a:r>
          </a:p>
        </p:txBody>
      </p:sp>
      <p:sp>
        <p:nvSpPr>
          <p:cNvPr id="69" name="TextBox 68"/>
          <p:cNvSpPr txBox="1"/>
          <p:nvPr/>
        </p:nvSpPr>
        <p:spPr>
          <a:xfrm>
            <a:off x="3291839" y="4069080"/>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Partners and community</a:t>
            </a:r>
          </a:p>
        </p:txBody>
      </p:sp>
      <p:sp>
        <p:nvSpPr>
          <p:cNvPr id="70" name="TextBox 69"/>
          <p:cNvSpPr txBox="1"/>
          <p:nvPr/>
        </p:nvSpPr>
        <p:spPr>
          <a:xfrm>
            <a:off x="4983479" y="4069080"/>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GA · 24 Jul 2026</a:t>
            </a:r>
          </a:p>
        </p:txBody>
      </p:sp>
      <p:sp>
        <p:nvSpPr>
          <p:cNvPr id="71" name="TextBox 70"/>
          <p:cNvSpPr txBox="1"/>
          <p:nvPr/>
        </p:nvSpPr>
        <p:spPr>
          <a:xfrm>
            <a:off x="6400799" y="4069080"/>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a:t>
            </a:r>
          </a:p>
        </p:txBody>
      </p:sp>
      <p:sp>
        <p:nvSpPr>
          <p:cNvPr id="72" name="TextBox 71"/>
          <p:cNvSpPr txBox="1"/>
          <p:nvPr/>
        </p:nvSpPr>
        <p:spPr>
          <a:xfrm>
            <a:off x="8732519" y="4069080"/>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most capable Claude for reasoning and coding</a:t>
            </a:r>
          </a:p>
        </p:txBody>
      </p:sp>
      <p:sp>
        <p:nvSpPr>
          <p:cNvPr id="73" name="Rectangle 72"/>
          <p:cNvSpPr/>
          <p:nvPr/>
        </p:nvSpPr>
        <p:spPr>
          <a:xfrm>
            <a:off x="548640" y="4315968"/>
            <a:ext cx="11091672" cy="246888"/>
          </a:xfrm>
          <a:prstGeom prst="rect">
            <a:avLst/>
          </a:prstGeom>
          <a:solidFill>
            <a:srgbClr val="F6F8FD"/>
          </a:solidFill>
          <a:ln w="6350">
            <a:solidFill>
              <a:srgbClr val="E1E7F4"/>
            </a:solidFill>
          </a:ln>
          <a:effectLst/>
        </p:spPr>
        <p:txBody>
          <a:bodyPr rtlCol="0" anchor="ctr"/>
          <a:lstStyle/>
          <a:p>
            <a:pPr algn="ctr"/>
            <a:endParaRPr/>
          </a:p>
        </p:txBody>
      </p:sp>
      <p:sp>
        <p:nvSpPr>
          <p:cNvPr id="74" name="TextBox 73"/>
          <p:cNvSpPr txBox="1"/>
          <p:nvPr/>
        </p:nvSpPr>
        <p:spPr>
          <a:xfrm>
            <a:off x="548640" y="4315968"/>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claude-fable-5-1</a:t>
            </a:r>
          </a:p>
        </p:txBody>
      </p:sp>
      <p:sp>
        <p:nvSpPr>
          <p:cNvPr id="75" name="TextBox 74"/>
          <p:cNvSpPr txBox="1"/>
          <p:nvPr/>
        </p:nvSpPr>
        <p:spPr>
          <a:xfrm>
            <a:off x="2331720" y="4315968"/>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Anthropic</a:t>
            </a:r>
          </a:p>
        </p:txBody>
      </p:sp>
      <p:sp>
        <p:nvSpPr>
          <p:cNvPr id="76" name="TextBox 75"/>
          <p:cNvSpPr txBox="1"/>
          <p:nvPr/>
        </p:nvSpPr>
        <p:spPr>
          <a:xfrm>
            <a:off x="3291839" y="4315968"/>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Partners and community</a:t>
            </a:r>
          </a:p>
        </p:txBody>
      </p:sp>
      <p:sp>
        <p:nvSpPr>
          <p:cNvPr id="77" name="TextBox 76"/>
          <p:cNvSpPr txBox="1"/>
          <p:nvPr/>
        </p:nvSpPr>
        <p:spPr>
          <a:xfrm>
            <a:off x="4983479" y="4315968"/>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available</a:t>
            </a:r>
          </a:p>
        </p:txBody>
      </p:sp>
      <p:sp>
        <p:nvSpPr>
          <p:cNvPr id="78" name="TextBox 77"/>
          <p:cNvSpPr txBox="1"/>
          <p:nvPr/>
        </p:nvSpPr>
        <p:spPr>
          <a:xfrm>
            <a:off x="6400799" y="4315968"/>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1,000,000 tokens · 128k out</a:t>
            </a:r>
          </a:p>
        </p:txBody>
      </p:sp>
      <p:sp>
        <p:nvSpPr>
          <p:cNvPr id="79" name="TextBox 78"/>
          <p:cNvSpPr txBox="1"/>
          <p:nvPr/>
        </p:nvSpPr>
        <p:spPr>
          <a:xfrm>
            <a:off x="8732519" y="4315968"/>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text, image and code · Messages API</a:t>
            </a:r>
          </a:p>
        </p:txBody>
      </p:sp>
      <p:sp>
        <p:nvSpPr>
          <p:cNvPr id="80" name="Rectangle 79"/>
          <p:cNvSpPr/>
          <p:nvPr/>
        </p:nvSpPr>
        <p:spPr>
          <a:xfrm>
            <a:off x="548640" y="4562856"/>
            <a:ext cx="11091672" cy="246888"/>
          </a:xfrm>
          <a:prstGeom prst="rect">
            <a:avLst/>
          </a:prstGeom>
          <a:solidFill>
            <a:srgbClr val="FFFFFF"/>
          </a:solidFill>
          <a:ln w="6350">
            <a:solidFill>
              <a:srgbClr val="E1E7F4"/>
            </a:solidFill>
          </a:ln>
          <a:effectLst/>
        </p:spPr>
        <p:txBody>
          <a:bodyPr rtlCol="0" anchor="ctr"/>
          <a:lstStyle/>
          <a:p>
            <a:pPr algn="ctr"/>
            <a:endParaRPr/>
          </a:p>
        </p:txBody>
      </p:sp>
      <p:sp>
        <p:nvSpPr>
          <p:cNvPr id="81" name="TextBox 80"/>
          <p:cNvSpPr txBox="1"/>
          <p:nvPr/>
        </p:nvSpPr>
        <p:spPr>
          <a:xfrm>
            <a:off x="548640" y="4562856"/>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MAI family</a:t>
            </a:r>
          </a:p>
        </p:txBody>
      </p:sp>
      <p:sp>
        <p:nvSpPr>
          <p:cNvPr id="82" name="TextBox 81"/>
          <p:cNvSpPr txBox="1"/>
          <p:nvPr/>
        </p:nvSpPr>
        <p:spPr>
          <a:xfrm>
            <a:off x="2331720" y="4562856"/>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Microsoft</a:t>
            </a:r>
          </a:p>
        </p:txBody>
      </p:sp>
      <p:sp>
        <p:nvSpPr>
          <p:cNvPr id="83" name="TextBox 82"/>
          <p:cNvSpPr txBox="1"/>
          <p:nvPr/>
        </p:nvSpPr>
        <p:spPr>
          <a:xfrm>
            <a:off x="3291839" y="4562856"/>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Sold by Azure</a:t>
            </a:r>
          </a:p>
        </p:txBody>
      </p:sp>
      <p:sp>
        <p:nvSpPr>
          <p:cNvPr id="84" name="TextBox 83"/>
          <p:cNvSpPr txBox="1"/>
          <p:nvPr/>
        </p:nvSpPr>
        <p:spPr>
          <a:xfrm>
            <a:off x="4983479" y="4562856"/>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Preview* · Build 2026</a:t>
            </a:r>
          </a:p>
        </p:txBody>
      </p:sp>
      <p:sp>
        <p:nvSpPr>
          <p:cNvPr id="85" name="TextBox 84"/>
          <p:cNvSpPr txBox="1"/>
          <p:nvPr/>
        </p:nvSpPr>
        <p:spPr>
          <a:xfrm>
            <a:off x="6400799" y="4562856"/>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a:t>
            </a:r>
          </a:p>
        </p:txBody>
      </p:sp>
      <p:sp>
        <p:nvSpPr>
          <p:cNvPr id="86" name="TextBox 85"/>
          <p:cNvSpPr txBox="1"/>
          <p:nvPr/>
        </p:nvSpPr>
        <p:spPr>
          <a:xfrm>
            <a:off x="8732519" y="4562856"/>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Thinking-1 · Image-2.6 · Transcribe-2 · Voice-2</a:t>
            </a:r>
          </a:p>
        </p:txBody>
      </p:sp>
      <p:sp>
        <p:nvSpPr>
          <p:cNvPr id="87" name="Rectangle 86"/>
          <p:cNvSpPr/>
          <p:nvPr/>
        </p:nvSpPr>
        <p:spPr>
          <a:xfrm>
            <a:off x="548640" y="4809744"/>
            <a:ext cx="11091672" cy="246888"/>
          </a:xfrm>
          <a:prstGeom prst="rect">
            <a:avLst/>
          </a:prstGeom>
          <a:solidFill>
            <a:srgbClr val="F6F8FD"/>
          </a:solidFill>
          <a:ln w="6350">
            <a:solidFill>
              <a:srgbClr val="E1E7F4"/>
            </a:solidFill>
          </a:ln>
          <a:effectLst/>
        </p:spPr>
        <p:txBody>
          <a:bodyPr rtlCol="0" anchor="ctr"/>
          <a:lstStyle/>
          <a:p>
            <a:pPr algn="ctr"/>
            <a:endParaRPr/>
          </a:p>
        </p:txBody>
      </p:sp>
      <p:sp>
        <p:nvSpPr>
          <p:cNvPr id="88" name="TextBox 87"/>
          <p:cNvSpPr txBox="1"/>
          <p:nvPr/>
        </p:nvSpPr>
        <p:spPr>
          <a:xfrm>
            <a:off x="548640" y="4809744"/>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grok-4.6</a:t>
            </a:r>
          </a:p>
        </p:txBody>
      </p:sp>
      <p:sp>
        <p:nvSpPr>
          <p:cNvPr id="89" name="TextBox 88"/>
          <p:cNvSpPr txBox="1"/>
          <p:nvPr/>
        </p:nvSpPr>
        <p:spPr>
          <a:xfrm>
            <a:off x="2331720" y="4809744"/>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xAI</a:t>
            </a:r>
          </a:p>
        </p:txBody>
      </p:sp>
      <p:sp>
        <p:nvSpPr>
          <p:cNvPr id="90" name="TextBox 89"/>
          <p:cNvSpPr txBox="1"/>
          <p:nvPr/>
        </p:nvSpPr>
        <p:spPr>
          <a:xfrm>
            <a:off x="3291839" y="4809744"/>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Sold by Azure</a:t>
            </a:r>
          </a:p>
        </p:txBody>
      </p:sp>
      <p:sp>
        <p:nvSpPr>
          <p:cNvPr id="91" name="TextBox 90"/>
          <p:cNvSpPr txBox="1"/>
          <p:nvPr/>
        </p:nvSpPr>
        <p:spPr>
          <a:xfrm>
            <a:off x="4983479" y="4809744"/>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Preview* · 26 Aug 2026</a:t>
            </a:r>
          </a:p>
        </p:txBody>
      </p:sp>
      <p:sp>
        <p:nvSpPr>
          <p:cNvPr id="92" name="TextBox 91"/>
          <p:cNvSpPr txBox="1"/>
          <p:nvPr/>
        </p:nvSpPr>
        <p:spPr>
          <a:xfrm>
            <a:off x="6400799" y="4809744"/>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a:t>
            </a:r>
          </a:p>
        </p:txBody>
      </p:sp>
      <p:sp>
        <p:nvSpPr>
          <p:cNvPr id="93" name="TextBox 92"/>
          <p:cNvSpPr txBox="1"/>
          <p:nvPr/>
        </p:nvSpPr>
        <p:spPr>
          <a:xfrm>
            <a:off x="8732519" y="4809744"/>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latest Grok model in Foundry</a:t>
            </a:r>
          </a:p>
        </p:txBody>
      </p:sp>
      <p:sp>
        <p:nvSpPr>
          <p:cNvPr id="94" name="Rectangle 93"/>
          <p:cNvSpPr/>
          <p:nvPr/>
        </p:nvSpPr>
        <p:spPr>
          <a:xfrm>
            <a:off x="548640" y="5056632"/>
            <a:ext cx="11091672" cy="246888"/>
          </a:xfrm>
          <a:prstGeom prst="rect">
            <a:avLst/>
          </a:prstGeom>
          <a:solidFill>
            <a:srgbClr val="FFFFFF"/>
          </a:solidFill>
          <a:ln w="6350">
            <a:solidFill>
              <a:srgbClr val="E1E7F4"/>
            </a:solidFill>
          </a:ln>
          <a:effectLst/>
        </p:spPr>
        <p:txBody>
          <a:bodyPr rtlCol="0" anchor="ctr"/>
          <a:lstStyle/>
          <a:p>
            <a:pPr algn="ctr"/>
            <a:endParaRPr/>
          </a:p>
        </p:txBody>
      </p:sp>
      <p:sp>
        <p:nvSpPr>
          <p:cNvPr id="95" name="TextBox 94"/>
          <p:cNvSpPr txBox="1"/>
          <p:nvPr/>
        </p:nvSpPr>
        <p:spPr>
          <a:xfrm>
            <a:off x="548640" y="5056632"/>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FW-Kimi-K3</a:t>
            </a:r>
          </a:p>
        </p:txBody>
      </p:sp>
      <p:sp>
        <p:nvSpPr>
          <p:cNvPr id="96" name="TextBox 95"/>
          <p:cNvSpPr txBox="1"/>
          <p:nvPr/>
        </p:nvSpPr>
        <p:spPr>
          <a:xfrm>
            <a:off x="2331720" y="5056632"/>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Fireworks AI</a:t>
            </a:r>
          </a:p>
        </p:txBody>
      </p:sp>
      <p:sp>
        <p:nvSpPr>
          <p:cNvPr id="97" name="TextBox 96"/>
          <p:cNvSpPr txBox="1"/>
          <p:nvPr/>
        </p:nvSpPr>
        <p:spPr>
          <a:xfrm>
            <a:off x="3291839" y="5056632"/>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Partners and community</a:t>
            </a:r>
          </a:p>
        </p:txBody>
      </p:sp>
      <p:sp>
        <p:nvSpPr>
          <p:cNvPr id="98" name="TextBox 97"/>
          <p:cNvSpPr txBox="1"/>
          <p:nvPr/>
        </p:nvSpPr>
        <p:spPr>
          <a:xfrm>
            <a:off x="4983479" y="5056632"/>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GA · 28 Jul 2026</a:t>
            </a:r>
          </a:p>
        </p:txBody>
      </p:sp>
      <p:sp>
        <p:nvSpPr>
          <p:cNvPr id="99" name="TextBox 98"/>
          <p:cNvSpPr txBox="1"/>
          <p:nvPr/>
        </p:nvSpPr>
        <p:spPr>
          <a:xfrm>
            <a:off x="6400799" y="5056632"/>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1,000,000 tokens</a:t>
            </a:r>
          </a:p>
        </p:txBody>
      </p:sp>
      <p:sp>
        <p:nvSpPr>
          <p:cNvPr id="100" name="TextBox 99"/>
          <p:cNvSpPr txBox="1"/>
          <p:nvPr/>
        </p:nvSpPr>
        <p:spPr>
          <a:xfrm>
            <a:off x="8732519" y="5056632"/>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native vision</a:t>
            </a:r>
          </a:p>
        </p:txBody>
      </p:sp>
      <p:sp>
        <p:nvSpPr>
          <p:cNvPr id="101" name="TextBox 100"/>
          <p:cNvSpPr txBox="1"/>
          <p:nvPr/>
        </p:nvSpPr>
        <p:spPr>
          <a:xfrm>
            <a:off x="548640" y="5358384"/>
            <a:ext cx="11091672" cy="201168"/>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 Context windows and dates as published on Microsoft Learn; “—” means not stated on the model page.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2   ·   M O D E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Deployment types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A deployment type combines a billing model (rows) with a processing scope (columns); the cell is what you deploy.</a:t>
            </a:r>
          </a:p>
          <a:p>
            <a:endParaRPr sz="1200">
              <a:solidFill>
                <a:srgbClr val="44495B"/>
              </a:solidFill>
              <a:latin typeface="Segoe UI"/>
            </a:endParaRPr>
          </a:p>
        </p:txBody>
      </p:sp>
      <p:sp>
        <p:nvSpPr>
          <p:cNvPr id="49" name="Shape"/>
          <p:cNvSpPr/>
          <p:nvPr/>
        </p:nvSpPr>
        <p:spPr>
          <a:xfrm>
            <a:off x="548640" y="5687568"/>
            <a:ext cx="11094720" cy="9525"/>
          </a:xfrm>
          <a:prstGeom prst="rect">
            <a:avLst/>
          </a:prstGeom>
          <a:solidFill>
            <a:srgbClr val="E1E7F4"/>
          </a:solidFill>
        </p:spPr>
        <p:txBody>
          <a:bodyPr/>
          <a:lstStyle/>
          <a:p>
            <a:endParaRPr/>
          </a:p>
        </p:txBody>
      </p:sp>
      <p:sp>
        <p:nvSpPr>
          <p:cNvPr id="50"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learn.microsoft.com/azure/foundry/foundry-models/concepts/deployment-types</a:t>
            </a:r>
          </a:p>
          <a:p>
            <a:endParaRPr sz="900">
              <a:solidFill>
                <a:srgbClr val="44495B"/>
              </a:solidFill>
              <a:latin typeface="Segoe UI"/>
            </a:endParaRPr>
          </a:p>
        </p:txBody>
      </p:sp>
      <p:sp>
        <p:nvSpPr>
          <p:cNvPr id="51"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8</a:t>
            </a:r>
          </a:p>
        </p:txBody>
      </p:sp>
      <p:sp>
        <p:nvSpPr>
          <p:cNvPr id="52" name="TextBox 51"/>
          <p:cNvSpPr txBox="1"/>
          <p:nvPr/>
        </p:nvSpPr>
        <p:spPr>
          <a:xfrm>
            <a:off x="548640" y="1298448"/>
            <a:ext cx="69037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DEPLOYMENT TYPES — SERVERLESS API</a:t>
            </a:r>
          </a:p>
        </p:txBody>
      </p:sp>
      <p:sp>
        <p:nvSpPr>
          <p:cNvPr id="53" name="Rectangle 52"/>
          <p:cNvSpPr/>
          <p:nvPr/>
        </p:nvSpPr>
        <p:spPr>
          <a:xfrm>
            <a:off x="548640" y="1554480"/>
            <a:ext cx="6903720" cy="420624"/>
          </a:xfrm>
          <a:prstGeom prst="rect">
            <a:avLst/>
          </a:prstGeom>
          <a:solidFill>
            <a:srgbClr val="101A3C"/>
          </a:solidFill>
          <a:ln>
            <a:noFill/>
          </a:ln>
          <a:effectLst/>
        </p:spPr>
        <p:txBody>
          <a:bodyPr rtlCol="0" anchor="ctr"/>
          <a:lstStyle/>
          <a:p>
            <a:pPr algn="ctr"/>
            <a:endParaRPr/>
          </a:p>
        </p:txBody>
      </p:sp>
      <p:sp>
        <p:nvSpPr>
          <p:cNvPr id="54" name="TextBox 53"/>
          <p:cNvSpPr txBox="1"/>
          <p:nvPr/>
        </p:nvSpPr>
        <p:spPr>
          <a:xfrm>
            <a:off x="548640" y="1554480"/>
            <a:ext cx="1874519" cy="420624"/>
          </a:xfrm>
          <a:prstGeom prst="rect">
            <a:avLst/>
          </a:prstGeom>
          <a:noFill/>
        </p:spPr>
        <p:txBody>
          <a:bodyPr wrap="square" lIns="73152" tIns="27432" rIns="73152" bIns="27432" anchor="ctr">
            <a:spAutoFit/>
          </a:bodyPr>
          <a:lstStyle/>
          <a:p>
            <a:pPr algn="l"/>
            <a:r>
              <a:rPr sz="900" b="1">
                <a:solidFill>
                  <a:srgbClr val="FFFFFF"/>
                </a:solidFill>
                <a:latin typeface="Segoe UI"/>
              </a:rPr>
              <a:t>Billing model</a:t>
            </a:r>
          </a:p>
        </p:txBody>
      </p:sp>
      <p:sp>
        <p:nvSpPr>
          <p:cNvPr id="55" name="TextBox 54"/>
          <p:cNvSpPr txBox="1"/>
          <p:nvPr/>
        </p:nvSpPr>
        <p:spPr>
          <a:xfrm>
            <a:off x="2423160" y="1554480"/>
            <a:ext cx="1691640" cy="420624"/>
          </a:xfrm>
          <a:prstGeom prst="rect">
            <a:avLst/>
          </a:prstGeom>
          <a:noFill/>
        </p:spPr>
        <p:txBody>
          <a:bodyPr wrap="square" lIns="73152" tIns="27432" rIns="73152" bIns="27432" anchor="ctr">
            <a:spAutoFit/>
          </a:bodyPr>
          <a:lstStyle/>
          <a:p>
            <a:pPr algn="l"/>
            <a:r>
              <a:rPr sz="900" b="1">
                <a:solidFill>
                  <a:srgbClr val="FFFFFF"/>
                </a:solidFill>
                <a:latin typeface="Segoe UI"/>
              </a:rPr>
              <a:t>Global</a:t>
            </a:r>
          </a:p>
          <a:p>
            <a:pPr algn="l"/>
            <a:r>
              <a:rPr sz="900" b="0">
                <a:solidFill>
                  <a:srgbClr val="FFFFFF"/>
                </a:solidFill>
                <a:latin typeface="Segoe UI"/>
              </a:rPr>
              <a:t>any Azure region</a:t>
            </a:r>
          </a:p>
        </p:txBody>
      </p:sp>
      <p:sp>
        <p:nvSpPr>
          <p:cNvPr id="56" name="TextBox 55"/>
          <p:cNvSpPr txBox="1"/>
          <p:nvPr/>
        </p:nvSpPr>
        <p:spPr>
          <a:xfrm>
            <a:off x="4114800" y="1554480"/>
            <a:ext cx="1828800" cy="420624"/>
          </a:xfrm>
          <a:prstGeom prst="rect">
            <a:avLst/>
          </a:prstGeom>
          <a:noFill/>
        </p:spPr>
        <p:txBody>
          <a:bodyPr wrap="square" lIns="73152" tIns="27432" rIns="73152" bIns="27432" anchor="ctr">
            <a:spAutoFit/>
          </a:bodyPr>
          <a:lstStyle/>
          <a:p>
            <a:pPr algn="l"/>
            <a:r>
              <a:rPr sz="900" b="1">
                <a:solidFill>
                  <a:srgbClr val="FFFFFF"/>
                </a:solidFill>
                <a:latin typeface="Segoe UI"/>
              </a:rPr>
              <a:t>Data Zone</a:t>
            </a:r>
          </a:p>
          <a:p>
            <a:pPr algn="l"/>
            <a:r>
              <a:rPr sz="900" b="0">
                <a:solidFill>
                  <a:srgbClr val="FFFFFF"/>
                </a:solidFill>
                <a:latin typeface="Segoe UI"/>
              </a:rPr>
              <a:t>US · EU · APAC</a:t>
            </a:r>
          </a:p>
        </p:txBody>
      </p:sp>
      <p:sp>
        <p:nvSpPr>
          <p:cNvPr id="57" name="TextBox 56"/>
          <p:cNvSpPr txBox="1"/>
          <p:nvPr/>
        </p:nvSpPr>
        <p:spPr>
          <a:xfrm>
            <a:off x="5943600" y="1554480"/>
            <a:ext cx="1508760" cy="420624"/>
          </a:xfrm>
          <a:prstGeom prst="rect">
            <a:avLst/>
          </a:prstGeom>
          <a:noFill/>
        </p:spPr>
        <p:txBody>
          <a:bodyPr wrap="square" lIns="73152" tIns="27432" rIns="73152" bIns="27432" anchor="ctr">
            <a:spAutoFit/>
          </a:bodyPr>
          <a:lstStyle/>
          <a:p>
            <a:pPr algn="l"/>
            <a:r>
              <a:rPr sz="900" b="1">
                <a:solidFill>
                  <a:srgbClr val="FFFFFF"/>
                </a:solidFill>
                <a:latin typeface="Segoe UI"/>
              </a:rPr>
              <a:t>Regional</a:t>
            </a:r>
          </a:p>
          <a:p>
            <a:pPr algn="l"/>
            <a:r>
              <a:rPr sz="900" b="0">
                <a:solidFill>
                  <a:srgbClr val="FFFFFF"/>
                </a:solidFill>
                <a:latin typeface="Segoe UI"/>
              </a:rPr>
              <a:t>one Azure geography</a:t>
            </a:r>
          </a:p>
        </p:txBody>
      </p:sp>
      <p:sp>
        <p:nvSpPr>
          <p:cNvPr id="58" name="Rectangle 57"/>
          <p:cNvSpPr/>
          <p:nvPr/>
        </p:nvSpPr>
        <p:spPr>
          <a:xfrm>
            <a:off x="548640" y="1975104"/>
            <a:ext cx="6903720" cy="457200"/>
          </a:xfrm>
          <a:prstGeom prst="rect">
            <a:avLst/>
          </a:prstGeom>
          <a:solidFill>
            <a:srgbClr val="FFFFFF"/>
          </a:solidFill>
          <a:ln w="6350">
            <a:solidFill>
              <a:srgbClr val="E1E7F4"/>
            </a:solidFill>
          </a:ln>
          <a:effectLst/>
        </p:spPr>
        <p:txBody>
          <a:bodyPr rtlCol="0" anchor="ctr"/>
          <a:lstStyle/>
          <a:p>
            <a:pPr algn="ctr"/>
            <a:endParaRPr/>
          </a:p>
        </p:txBody>
      </p:sp>
      <p:sp>
        <p:nvSpPr>
          <p:cNvPr id="59" name="TextBox 58"/>
          <p:cNvSpPr txBox="1"/>
          <p:nvPr/>
        </p:nvSpPr>
        <p:spPr>
          <a:xfrm>
            <a:off x="548640" y="1975104"/>
            <a:ext cx="1874519" cy="457200"/>
          </a:xfrm>
          <a:prstGeom prst="rect">
            <a:avLst/>
          </a:prstGeom>
          <a:noFill/>
        </p:spPr>
        <p:txBody>
          <a:bodyPr wrap="square" lIns="73152" tIns="27432" rIns="73152" bIns="27432" anchor="ctr">
            <a:spAutoFit/>
          </a:bodyPr>
          <a:lstStyle/>
          <a:p>
            <a:pPr algn="l"/>
            <a:r>
              <a:rPr sz="850" b="1">
                <a:solidFill>
                  <a:srgbClr val="141B33"/>
                </a:solidFill>
                <a:latin typeface="Segoe UI"/>
              </a:rPr>
              <a:t>Standard</a:t>
            </a:r>
          </a:p>
          <a:p>
            <a:pPr algn="l"/>
            <a:r>
              <a:rPr sz="850" b="0">
                <a:solidFill>
                  <a:srgbClr val="141B33"/>
                </a:solidFill>
                <a:latin typeface="Segoe UI"/>
              </a:rPr>
              <a:t>pay per token · best effort</a:t>
            </a:r>
          </a:p>
        </p:txBody>
      </p:sp>
      <p:sp>
        <p:nvSpPr>
          <p:cNvPr id="60" name="TextBox 59"/>
          <p:cNvSpPr txBox="1"/>
          <p:nvPr/>
        </p:nvSpPr>
        <p:spPr>
          <a:xfrm>
            <a:off x="2423160" y="1975104"/>
            <a:ext cx="1691640" cy="457200"/>
          </a:xfrm>
          <a:prstGeom prst="rect">
            <a:avLst/>
          </a:prstGeom>
          <a:noFill/>
        </p:spPr>
        <p:txBody>
          <a:bodyPr wrap="square" lIns="73152" tIns="27432" rIns="73152" bIns="27432" anchor="ctr">
            <a:spAutoFit/>
          </a:bodyPr>
          <a:lstStyle/>
          <a:p>
            <a:pPr algn="l"/>
            <a:r>
              <a:rPr sz="800" b="0">
                <a:solidFill>
                  <a:srgbClr val="141B33"/>
                </a:solidFill>
                <a:latin typeface="Segoe UI"/>
              </a:rPr>
              <a:t>GlobalStandard</a:t>
            </a:r>
          </a:p>
        </p:txBody>
      </p:sp>
      <p:sp>
        <p:nvSpPr>
          <p:cNvPr id="61" name="TextBox 60"/>
          <p:cNvSpPr txBox="1"/>
          <p:nvPr/>
        </p:nvSpPr>
        <p:spPr>
          <a:xfrm>
            <a:off x="4114800" y="1975104"/>
            <a:ext cx="1828800" cy="457200"/>
          </a:xfrm>
          <a:prstGeom prst="rect">
            <a:avLst/>
          </a:prstGeom>
          <a:noFill/>
        </p:spPr>
        <p:txBody>
          <a:bodyPr wrap="square" lIns="73152" tIns="27432" rIns="73152" bIns="27432" anchor="ctr">
            <a:spAutoFit/>
          </a:bodyPr>
          <a:lstStyle/>
          <a:p>
            <a:pPr algn="l"/>
            <a:r>
              <a:rPr sz="800" b="0">
                <a:solidFill>
                  <a:srgbClr val="141B33"/>
                </a:solidFill>
                <a:latin typeface="Segoe UI"/>
              </a:rPr>
              <a:t>DataZoneStandard</a:t>
            </a:r>
          </a:p>
        </p:txBody>
      </p:sp>
      <p:sp>
        <p:nvSpPr>
          <p:cNvPr id="62" name="TextBox 61"/>
          <p:cNvSpPr txBox="1"/>
          <p:nvPr/>
        </p:nvSpPr>
        <p:spPr>
          <a:xfrm>
            <a:off x="5943600" y="1975104"/>
            <a:ext cx="1508760" cy="457200"/>
          </a:xfrm>
          <a:prstGeom prst="rect">
            <a:avLst/>
          </a:prstGeom>
          <a:noFill/>
        </p:spPr>
        <p:txBody>
          <a:bodyPr wrap="square" lIns="73152" tIns="27432" rIns="73152" bIns="27432" anchor="ctr">
            <a:spAutoFit/>
          </a:bodyPr>
          <a:lstStyle/>
          <a:p>
            <a:pPr algn="l"/>
            <a:r>
              <a:rPr sz="800" b="0">
                <a:solidFill>
                  <a:srgbClr val="141B33"/>
                </a:solidFill>
                <a:latin typeface="Segoe UI"/>
              </a:rPr>
              <a:t>Standard</a:t>
            </a:r>
          </a:p>
        </p:txBody>
      </p:sp>
      <p:sp>
        <p:nvSpPr>
          <p:cNvPr id="63" name="Rectangle 62"/>
          <p:cNvSpPr/>
          <p:nvPr/>
        </p:nvSpPr>
        <p:spPr>
          <a:xfrm>
            <a:off x="548640" y="2432304"/>
            <a:ext cx="6903720" cy="457200"/>
          </a:xfrm>
          <a:prstGeom prst="rect">
            <a:avLst/>
          </a:prstGeom>
          <a:solidFill>
            <a:srgbClr val="F6F8FD"/>
          </a:solidFill>
          <a:ln w="6350">
            <a:solidFill>
              <a:srgbClr val="E1E7F4"/>
            </a:solidFill>
          </a:ln>
          <a:effectLst/>
        </p:spPr>
        <p:txBody>
          <a:bodyPr rtlCol="0" anchor="ctr"/>
          <a:lstStyle/>
          <a:p>
            <a:pPr algn="ctr"/>
            <a:endParaRPr/>
          </a:p>
        </p:txBody>
      </p:sp>
      <p:sp>
        <p:nvSpPr>
          <p:cNvPr id="64" name="TextBox 63"/>
          <p:cNvSpPr txBox="1"/>
          <p:nvPr/>
        </p:nvSpPr>
        <p:spPr>
          <a:xfrm>
            <a:off x="548640" y="2432304"/>
            <a:ext cx="1874519" cy="457200"/>
          </a:xfrm>
          <a:prstGeom prst="rect">
            <a:avLst/>
          </a:prstGeom>
          <a:noFill/>
        </p:spPr>
        <p:txBody>
          <a:bodyPr wrap="square" lIns="73152" tIns="27432" rIns="73152" bIns="27432" anchor="ctr">
            <a:spAutoFit/>
          </a:bodyPr>
          <a:lstStyle/>
          <a:p>
            <a:pPr algn="l"/>
            <a:r>
              <a:rPr sz="850" b="1">
                <a:solidFill>
                  <a:srgbClr val="141B33"/>
                </a:solidFill>
                <a:latin typeface="Segoe UI"/>
              </a:rPr>
              <a:t>Provisioned</a:t>
            </a:r>
          </a:p>
          <a:p>
            <a:pPr algn="l"/>
            <a:r>
              <a:rPr sz="850" b="0">
                <a:solidFill>
                  <a:srgbClr val="141B33"/>
                </a:solidFill>
                <a:latin typeface="Segoe UI"/>
              </a:rPr>
              <a:t>reserved throughput (PTU) · guaranteed</a:t>
            </a:r>
          </a:p>
        </p:txBody>
      </p:sp>
      <p:sp>
        <p:nvSpPr>
          <p:cNvPr id="65" name="TextBox 64"/>
          <p:cNvSpPr txBox="1"/>
          <p:nvPr/>
        </p:nvSpPr>
        <p:spPr>
          <a:xfrm>
            <a:off x="2423160" y="2432304"/>
            <a:ext cx="1691640" cy="457200"/>
          </a:xfrm>
          <a:prstGeom prst="rect">
            <a:avLst/>
          </a:prstGeom>
          <a:noFill/>
        </p:spPr>
        <p:txBody>
          <a:bodyPr wrap="square" lIns="73152" tIns="27432" rIns="73152" bIns="27432" anchor="ctr">
            <a:spAutoFit/>
          </a:bodyPr>
          <a:lstStyle/>
          <a:p>
            <a:pPr algn="l"/>
            <a:r>
              <a:rPr sz="800" b="0">
                <a:solidFill>
                  <a:srgbClr val="141B33"/>
                </a:solidFill>
                <a:latin typeface="Segoe UI"/>
              </a:rPr>
              <a:t>GlobalProvisionedManaged</a:t>
            </a:r>
          </a:p>
        </p:txBody>
      </p:sp>
      <p:sp>
        <p:nvSpPr>
          <p:cNvPr id="66" name="TextBox 65"/>
          <p:cNvSpPr txBox="1"/>
          <p:nvPr/>
        </p:nvSpPr>
        <p:spPr>
          <a:xfrm>
            <a:off x="4114800" y="2432304"/>
            <a:ext cx="1828800" cy="457200"/>
          </a:xfrm>
          <a:prstGeom prst="rect">
            <a:avLst/>
          </a:prstGeom>
          <a:noFill/>
        </p:spPr>
        <p:txBody>
          <a:bodyPr wrap="square" lIns="73152" tIns="27432" rIns="73152" bIns="27432" anchor="ctr">
            <a:spAutoFit/>
          </a:bodyPr>
          <a:lstStyle/>
          <a:p>
            <a:pPr algn="l"/>
            <a:r>
              <a:rPr sz="800" b="0">
                <a:solidFill>
                  <a:srgbClr val="141B33"/>
                </a:solidFill>
                <a:latin typeface="Segoe UI"/>
              </a:rPr>
              <a:t>DataZoneProvisionedManaged</a:t>
            </a:r>
          </a:p>
        </p:txBody>
      </p:sp>
      <p:sp>
        <p:nvSpPr>
          <p:cNvPr id="67" name="TextBox 66"/>
          <p:cNvSpPr txBox="1"/>
          <p:nvPr/>
        </p:nvSpPr>
        <p:spPr>
          <a:xfrm>
            <a:off x="5943600" y="2432304"/>
            <a:ext cx="1508760" cy="457200"/>
          </a:xfrm>
          <a:prstGeom prst="rect">
            <a:avLst/>
          </a:prstGeom>
          <a:noFill/>
        </p:spPr>
        <p:txBody>
          <a:bodyPr wrap="square" lIns="73152" tIns="27432" rIns="73152" bIns="27432" anchor="ctr">
            <a:spAutoFit/>
          </a:bodyPr>
          <a:lstStyle/>
          <a:p>
            <a:pPr algn="l"/>
            <a:r>
              <a:rPr sz="800" b="0">
                <a:solidFill>
                  <a:srgbClr val="141B33"/>
                </a:solidFill>
                <a:latin typeface="Segoe UI"/>
              </a:rPr>
              <a:t>ProvisionedManaged</a:t>
            </a:r>
          </a:p>
        </p:txBody>
      </p:sp>
      <p:sp>
        <p:nvSpPr>
          <p:cNvPr id="68" name="Rectangle 67"/>
          <p:cNvSpPr/>
          <p:nvPr/>
        </p:nvSpPr>
        <p:spPr>
          <a:xfrm>
            <a:off x="548640" y="2889504"/>
            <a:ext cx="6903720" cy="457200"/>
          </a:xfrm>
          <a:prstGeom prst="rect">
            <a:avLst/>
          </a:prstGeom>
          <a:solidFill>
            <a:srgbClr val="FFFFFF"/>
          </a:solidFill>
          <a:ln w="6350">
            <a:solidFill>
              <a:srgbClr val="E1E7F4"/>
            </a:solidFill>
          </a:ln>
          <a:effectLst/>
        </p:spPr>
        <p:txBody>
          <a:bodyPr rtlCol="0" anchor="ctr"/>
          <a:lstStyle/>
          <a:p>
            <a:pPr algn="ctr"/>
            <a:endParaRPr/>
          </a:p>
        </p:txBody>
      </p:sp>
      <p:sp>
        <p:nvSpPr>
          <p:cNvPr id="69" name="TextBox 68"/>
          <p:cNvSpPr txBox="1"/>
          <p:nvPr/>
        </p:nvSpPr>
        <p:spPr>
          <a:xfrm>
            <a:off x="548640" y="2889504"/>
            <a:ext cx="1874519" cy="457200"/>
          </a:xfrm>
          <a:prstGeom prst="rect">
            <a:avLst/>
          </a:prstGeom>
          <a:noFill/>
        </p:spPr>
        <p:txBody>
          <a:bodyPr wrap="square" lIns="73152" tIns="27432" rIns="73152" bIns="27432" anchor="ctr">
            <a:spAutoFit/>
          </a:bodyPr>
          <a:lstStyle/>
          <a:p>
            <a:pPr algn="l"/>
            <a:r>
              <a:rPr sz="850" b="1">
                <a:solidFill>
                  <a:srgbClr val="141B33"/>
                </a:solidFill>
                <a:latin typeface="Segoe UI"/>
              </a:rPr>
              <a:t>Batch</a:t>
            </a:r>
          </a:p>
          <a:p>
            <a:pPr algn="l"/>
            <a:r>
              <a:rPr sz="850" b="0">
                <a:solidFill>
                  <a:srgbClr val="141B33"/>
                </a:solidFill>
                <a:latin typeface="Segoe UI"/>
              </a:rPr>
              <a:t>asynchronous · 50% discount · 24-hour target</a:t>
            </a:r>
          </a:p>
        </p:txBody>
      </p:sp>
      <p:sp>
        <p:nvSpPr>
          <p:cNvPr id="70" name="TextBox 69"/>
          <p:cNvSpPr txBox="1"/>
          <p:nvPr/>
        </p:nvSpPr>
        <p:spPr>
          <a:xfrm>
            <a:off x="2423160" y="2889504"/>
            <a:ext cx="1691640" cy="457200"/>
          </a:xfrm>
          <a:prstGeom prst="rect">
            <a:avLst/>
          </a:prstGeom>
          <a:noFill/>
        </p:spPr>
        <p:txBody>
          <a:bodyPr wrap="square" lIns="73152" tIns="27432" rIns="73152" bIns="27432" anchor="ctr">
            <a:spAutoFit/>
          </a:bodyPr>
          <a:lstStyle/>
          <a:p>
            <a:pPr algn="l"/>
            <a:r>
              <a:rPr sz="800" b="0">
                <a:solidFill>
                  <a:srgbClr val="141B33"/>
                </a:solidFill>
                <a:latin typeface="Segoe UI"/>
              </a:rPr>
              <a:t>GlobalBatch</a:t>
            </a:r>
          </a:p>
        </p:txBody>
      </p:sp>
      <p:sp>
        <p:nvSpPr>
          <p:cNvPr id="71" name="TextBox 70"/>
          <p:cNvSpPr txBox="1"/>
          <p:nvPr/>
        </p:nvSpPr>
        <p:spPr>
          <a:xfrm>
            <a:off x="4114800" y="2889504"/>
            <a:ext cx="1828800" cy="457200"/>
          </a:xfrm>
          <a:prstGeom prst="rect">
            <a:avLst/>
          </a:prstGeom>
          <a:noFill/>
        </p:spPr>
        <p:txBody>
          <a:bodyPr wrap="square" lIns="73152" tIns="27432" rIns="73152" bIns="27432" anchor="ctr">
            <a:spAutoFit/>
          </a:bodyPr>
          <a:lstStyle/>
          <a:p>
            <a:pPr algn="l"/>
            <a:r>
              <a:rPr sz="800" b="0">
                <a:solidFill>
                  <a:srgbClr val="141B33"/>
                </a:solidFill>
                <a:latin typeface="Segoe UI"/>
              </a:rPr>
              <a:t>DataZoneBatch</a:t>
            </a:r>
          </a:p>
        </p:txBody>
      </p:sp>
      <p:sp>
        <p:nvSpPr>
          <p:cNvPr id="72" name="TextBox 71"/>
          <p:cNvSpPr txBox="1"/>
          <p:nvPr/>
        </p:nvSpPr>
        <p:spPr>
          <a:xfrm>
            <a:off x="5943600" y="2889504"/>
            <a:ext cx="1508760" cy="457200"/>
          </a:xfrm>
          <a:prstGeom prst="rect">
            <a:avLst/>
          </a:prstGeom>
          <a:noFill/>
        </p:spPr>
        <p:txBody>
          <a:bodyPr wrap="square" lIns="73152" tIns="27432" rIns="73152" bIns="27432" anchor="ctr">
            <a:spAutoFit/>
          </a:bodyPr>
          <a:lstStyle/>
          <a:p>
            <a:pPr algn="l"/>
            <a:r>
              <a:rPr sz="800" b="0">
                <a:solidFill>
                  <a:srgbClr val="44495B"/>
                </a:solidFill>
                <a:latin typeface="Segoe UI"/>
              </a:rPr>
              <a:t>—</a:t>
            </a:r>
          </a:p>
        </p:txBody>
      </p:sp>
      <p:sp>
        <p:nvSpPr>
          <p:cNvPr id="73" name="Rectangle 72"/>
          <p:cNvSpPr/>
          <p:nvPr/>
        </p:nvSpPr>
        <p:spPr>
          <a:xfrm>
            <a:off x="548640" y="3346704"/>
            <a:ext cx="6903720" cy="457200"/>
          </a:xfrm>
          <a:prstGeom prst="rect">
            <a:avLst/>
          </a:prstGeom>
          <a:solidFill>
            <a:srgbClr val="F6F8FD"/>
          </a:solidFill>
          <a:ln w="6350">
            <a:solidFill>
              <a:srgbClr val="E1E7F4"/>
            </a:solidFill>
          </a:ln>
          <a:effectLst/>
        </p:spPr>
        <p:txBody>
          <a:bodyPr rtlCol="0" anchor="ctr"/>
          <a:lstStyle/>
          <a:p>
            <a:pPr algn="ctr"/>
            <a:endParaRPr/>
          </a:p>
        </p:txBody>
      </p:sp>
      <p:sp>
        <p:nvSpPr>
          <p:cNvPr id="74" name="TextBox 73"/>
          <p:cNvSpPr txBox="1"/>
          <p:nvPr/>
        </p:nvSpPr>
        <p:spPr>
          <a:xfrm>
            <a:off x="548640" y="3346704"/>
            <a:ext cx="1874519" cy="457200"/>
          </a:xfrm>
          <a:prstGeom prst="rect">
            <a:avLst/>
          </a:prstGeom>
          <a:noFill/>
        </p:spPr>
        <p:txBody>
          <a:bodyPr wrap="square" lIns="73152" tIns="27432" rIns="73152" bIns="27432" anchor="ctr">
            <a:spAutoFit/>
          </a:bodyPr>
          <a:lstStyle/>
          <a:p>
            <a:pPr algn="l"/>
            <a:r>
              <a:rPr sz="850" b="1">
                <a:solidFill>
                  <a:srgbClr val="141B33"/>
                </a:solidFill>
                <a:latin typeface="Segoe UI"/>
              </a:rPr>
              <a:t>Developer</a:t>
            </a:r>
          </a:p>
          <a:p>
            <a:pPr algn="l"/>
            <a:r>
              <a:rPr sz="850" b="0">
                <a:solidFill>
                  <a:srgbClr val="141B33"/>
                </a:solidFill>
                <a:latin typeface="Segoe UI"/>
              </a:rPr>
              <a:t>fine-tuned model evaluation · 24-hour lifetime · no SLA</a:t>
            </a:r>
          </a:p>
        </p:txBody>
      </p:sp>
      <p:sp>
        <p:nvSpPr>
          <p:cNvPr id="75" name="TextBox 74"/>
          <p:cNvSpPr txBox="1"/>
          <p:nvPr/>
        </p:nvSpPr>
        <p:spPr>
          <a:xfrm>
            <a:off x="2423160" y="3346704"/>
            <a:ext cx="1691640" cy="457200"/>
          </a:xfrm>
          <a:prstGeom prst="rect">
            <a:avLst/>
          </a:prstGeom>
          <a:noFill/>
        </p:spPr>
        <p:txBody>
          <a:bodyPr wrap="square" lIns="73152" tIns="27432" rIns="73152" bIns="27432" anchor="ctr">
            <a:spAutoFit/>
          </a:bodyPr>
          <a:lstStyle/>
          <a:p>
            <a:pPr algn="l"/>
            <a:r>
              <a:rPr sz="800" b="0">
                <a:solidFill>
                  <a:srgbClr val="141B33"/>
                </a:solidFill>
                <a:latin typeface="Segoe UI"/>
              </a:rPr>
              <a:t>DeveloperTier</a:t>
            </a:r>
          </a:p>
        </p:txBody>
      </p:sp>
      <p:sp>
        <p:nvSpPr>
          <p:cNvPr id="76" name="TextBox 75"/>
          <p:cNvSpPr txBox="1"/>
          <p:nvPr/>
        </p:nvSpPr>
        <p:spPr>
          <a:xfrm>
            <a:off x="4114800" y="3346704"/>
            <a:ext cx="1828800" cy="457200"/>
          </a:xfrm>
          <a:prstGeom prst="rect">
            <a:avLst/>
          </a:prstGeom>
          <a:noFill/>
        </p:spPr>
        <p:txBody>
          <a:bodyPr wrap="square" lIns="73152" tIns="27432" rIns="73152" bIns="27432" anchor="ctr">
            <a:spAutoFit/>
          </a:bodyPr>
          <a:lstStyle/>
          <a:p>
            <a:pPr algn="l"/>
            <a:r>
              <a:rPr sz="800" b="0">
                <a:solidFill>
                  <a:srgbClr val="44495B"/>
                </a:solidFill>
                <a:latin typeface="Segoe UI"/>
              </a:rPr>
              <a:t>—</a:t>
            </a:r>
          </a:p>
        </p:txBody>
      </p:sp>
      <p:sp>
        <p:nvSpPr>
          <p:cNvPr id="77" name="TextBox 76"/>
          <p:cNvSpPr txBox="1"/>
          <p:nvPr/>
        </p:nvSpPr>
        <p:spPr>
          <a:xfrm>
            <a:off x="5943600" y="3346704"/>
            <a:ext cx="1508760" cy="457200"/>
          </a:xfrm>
          <a:prstGeom prst="rect">
            <a:avLst/>
          </a:prstGeom>
          <a:noFill/>
        </p:spPr>
        <p:txBody>
          <a:bodyPr wrap="square" lIns="73152" tIns="27432" rIns="73152" bIns="27432" anchor="ctr">
            <a:spAutoFit/>
          </a:bodyPr>
          <a:lstStyle/>
          <a:p>
            <a:pPr algn="l"/>
            <a:r>
              <a:rPr sz="800" b="0">
                <a:solidFill>
                  <a:srgbClr val="44495B"/>
                </a:solidFill>
                <a:latin typeface="Segoe UI"/>
              </a:rPr>
              <a:t>—</a:t>
            </a:r>
          </a:p>
        </p:txBody>
      </p:sp>
      <p:sp>
        <p:nvSpPr>
          <p:cNvPr id="78" name="TextBox 77"/>
          <p:cNvSpPr txBox="1"/>
          <p:nvPr/>
        </p:nvSpPr>
        <p:spPr>
          <a:xfrm>
            <a:off x="548640" y="3986784"/>
            <a:ext cx="69037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OPTIONS AND ALTERNATIVES</a:t>
            </a:r>
          </a:p>
        </p:txBody>
      </p:sp>
      <p:sp>
        <p:nvSpPr>
          <p:cNvPr id="79" name="Rectangle 78"/>
          <p:cNvSpPr/>
          <p:nvPr/>
        </p:nvSpPr>
        <p:spPr>
          <a:xfrm>
            <a:off x="548640" y="4242816"/>
            <a:ext cx="3383279" cy="932688"/>
          </a:xfrm>
          <a:prstGeom prst="rect">
            <a:avLst/>
          </a:prstGeom>
          <a:solidFill>
            <a:srgbClr val="F6F8FD"/>
          </a:solidFill>
          <a:ln w="9525">
            <a:solidFill>
              <a:srgbClr val="E1E7F4"/>
            </a:solidFill>
          </a:ln>
          <a:effectLst/>
        </p:spPr>
        <p:txBody>
          <a:bodyPr rtlCol="0" anchor="ctr"/>
          <a:lstStyle/>
          <a:p>
            <a:pPr algn="ctr"/>
            <a:endParaRPr/>
          </a:p>
        </p:txBody>
      </p:sp>
      <p:sp>
        <p:nvSpPr>
          <p:cNvPr id="80" name="Rectangle 79"/>
          <p:cNvSpPr/>
          <p:nvPr/>
        </p:nvSpPr>
        <p:spPr>
          <a:xfrm>
            <a:off x="548640" y="4242816"/>
            <a:ext cx="45720" cy="932688"/>
          </a:xfrm>
          <a:prstGeom prst="rect">
            <a:avLst/>
          </a:prstGeom>
          <a:solidFill>
            <a:srgbClr val="101A3C"/>
          </a:solidFill>
          <a:ln>
            <a:noFill/>
          </a:ln>
          <a:effectLst/>
        </p:spPr>
        <p:txBody>
          <a:bodyPr rtlCol="0" anchor="ctr"/>
          <a:lstStyle/>
          <a:p>
            <a:pPr algn="ctr"/>
            <a:endParaRPr/>
          </a:p>
        </p:txBody>
      </p:sp>
      <p:sp>
        <p:nvSpPr>
          <p:cNvPr id="81" name="TextBox 80"/>
          <p:cNvSpPr txBox="1"/>
          <p:nvPr/>
        </p:nvSpPr>
        <p:spPr>
          <a:xfrm>
            <a:off x="621792" y="4242816"/>
            <a:ext cx="3291839" cy="932688"/>
          </a:xfrm>
          <a:prstGeom prst="rect">
            <a:avLst/>
          </a:prstGeom>
          <a:noFill/>
        </p:spPr>
        <p:txBody>
          <a:bodyPr wrap="square" lIns="73152" tIns="27432" rIns="73152" bIns="27432" anchor="ctr">
            <a:spAutoFit/>
          </a:bodyPr>
          <a:lstStyle/>
          <a:p>
            <a:pPr algn="l"/>
            <a:r>
              <a:rPr sz="850" b="1">
                <a:solidFill>
                  <a:srgbClr val="141B33"/>
                </a:solidFill>
                <a:latin typeface="Segoe UI"/>
              </a:rPr>
              <a:t>Options on a Standard deployment</a:t>
            </a:r>
          </a:p>
          <a:p>
            <a:pPr algn="l">
              <a:spcBef>
                <a:spcPts val="200"/>
              </a:spcBef>
            </a:pPr>
            <a:r>
              <a:rPr sz="850" b="1">
                <a:solidFill>
                  <a:srgbClr val="141B33"/>
                </a:solidFill>
                <a:latin typeface="Segoe UI"/>
              </a:rPr>
              <a:t>Priority Processing</a:t>
            </a:r>
            <a:r>
              <a:rPr sz="850" b="0">
                <a:solidFill>
                  <a:srgbClr val="141B33"/>
                </a:solidFill>
                <a:latin typeface="Segoe UI"/>
              </a:rPr>
              <a:t> — lower, steadier latency on pay-as-you-go; Global and Data Zone Standard (US).</a:t>
            </a:r>
          </a:p>
          <a:p>
            <a:pPr algn="l">
              <a:spcBef>
                <a:spcPts val="200"/>
              </a:spcBef>
            </a:pPr>
            <a:r>
              <a:rPr sz="850" b="1">
                <a:solidFill>
                  <a:srgbClr val="141B33"/>
                </a:solidFill>
                <a:latin typeface="Segoe UI"/>
              </a:rPr>
              <a:t>Flex processing*</a:t>
            </a:r>
            <a:r>
              <a:rPr sz="850" b="0">
                <a:solidFill>
                  <a:srgbClr val="141B33"/>
                </a:solidFill>
                <a:latin typeface="Segoe UI"/>
              </a:rPr>
              <a:t> — half the Standard token price for delay-tolerant requests; Global Standard.</a:t>
            </a:r>
          </a:p>
        </p:txBody>
      </p:sp>
      <p:sp>
        <p:nvSpPr>
          <p:cNvPr id="82" name="Rectangle 81"/>
          <p:cNvSpPr/>
          <p:nvPr/>
        </p:nvSpPr>
        <p:spPr>
          <a:xfrm>
            <a:off x="4069080" y="4242816"/>
            <a:ext cx="3383279" cy="932688"/>
          </a:xfrm>
          <a:prstGeom prst="rect">
            <a:avLst/>
          </a:prstGeom>
          <a:solidFill>
            <a:srgbClr val="F6F8FD"/>
          </a:solidFill>
          <a:ln w="9525">
            <a:solidFill>
              <a:srgbClr val="E1E7F4"/>
            </a:solidFill>
          </a:ln>
          <a:effectLst/>
        </p:spPr>
        <p:txBody>
          <a:bodyPr rtlCol="0" anchor="ctr"/>
          <a:lstStyle/>
          <a:p>
            <a:pPr algn="ctr"/>
            <a:endParaRPr/>
          </a:p>
        </p:txBody>
      </p:sp>
      <p:sp>
        <p:nvSpPr>
          <p:cNvPr id="83" name="Rectangle 82"/>
          <p:cNvSpPr/>
          <p:nvPr/>
        </p:nvSpPr>
        <p:spPr>
          <a:xfrm>
            <a:off x="4069080" y="4242816"/>
            <a:ext cx="45720" cy="932688"/>
          </a:xfrm>
          <a:prstGeom prst="rect">
            <a:avLst/>
          </a:prstGeom>
          <a:solidFill>
            <a:srgbClr val="00B39F"/>
          </a:solidFill>
          <a:ln>
            <a:noFill/>
          </a:ln>
          <a:effectLst/>
        </p:spPr>
        <p:txBody>
          <a:bodyPr rtlCol="0" anchor="ctr"/>
          <a:lstStyle/>
          <a:p>
            <a:pPr algn="ctr"/>
            <a:endParaRPr/>
          </a:p>
        </p:txBody>
      </p:sp>
      <p:sp>
        <p:nvSpPr>
          <p:cNvPr id="84" name="TextBox 83"/>
          <p:cNvSpPr txBox="1"/>
          <p:nvPr/>
        </p:nvSpPr>
        <p:spPr>
          <a:xfrm>
            <a:off x="4142232" y="4242816"/>
            <a:ext cx="3291839" cy="932688"/>
          </a:xfrm>
          <a:prstGeom prst="rect">
            <a:avLst/>
          </a:prstGeom>
          <a:noFill/>
        </p:spPr>
        <p:txBody>
          <a:bodyPr wrap="square" lIns="73152" tIns="27432" rIns="73152" bIns="27432" anchor="ctr">
            <a:spAutoFit/>
          </a:bodyPr>
          <a:lstStyle/>
          <a:p>
            <a:pPr algn="l"/>
            <a:r>
              <a:rPr sz="850" b="1">
                <a:solidFill>
                  <a:srgbClr val="141B33"/>
                </a:solidFill>
                <a:latin typeface="Segoe UI"/>
              </a:rPr>
              <a:t>Alternatives to a serverless deployment</a:t>
            </a:r>
          </a:p>
          <a:p>
            <a:pPr algn="l">
              <a:spcBef>
                <a:spcPts val="200"/>
              </a:spcBef>
            </a:pPr>
            <a:r>
              <a:rPr sz="850" b="1">
                <a:solidFill>
                  <a:srgbClr val="141B33"/>
                </a:solidFill>
                <a:latin typeface="Segoe UI"/>
              </a:rPr>
              <a:t>Instant access models*</a:t>
            </a:r>
            <a:r>
              <a:rPr sz="850" b="0">
                <a:solidFill>
                  <a:srgbClr val="141B33"/>
                </a:solidFill>
                <a:latin typeface="Segoe UI"/>
              </a:rPr>
              <a:t> — call selected models by name, no deployment step.</a:t>
            </a:r>
          </a:p>
          <a:p>
            <a:pPr algn="l">
              <a:spcBef>
                <a:spcPts val="200"/>
              </a:spcBef>
            </a:pPr>
            <a:r>
              <a:rPr sz="850" b="1">
                <a:solidFill>
                  <a:srgbClr val="141B33"/>
                </a:solidFill>
                <a:latin typeface="Segoe UI"/>
              </a:rPr>
              <a:t>Managed compute*</a:t>
            </a:r>
            <a:r>
              <a:rPr sz="850" b="0">
                <a:solidFill>
                  <a:srgbClr val="141B33"/>
                </a:solidFill>
                <a:latin typeface="Segoe UI"/>
              </a:rPr>
              <a:t> — dedicated virtual machine capacity in your own resource; open and custom models.</a:t>
            </a:r>
          </a:p>
        </p:txBody>
      </p:sp>
      <p:sp>
        <p:nvSpPr>
          <p:cNvPr id="85" name="TextBox 84"/>
          <p:cNvSpPr txBox="1"/>
          <p:nvPr/>
        </p:nvSpPr>
        <p:spPr>
          <a:xfrm>
            <a:off x="7680960" y="1298448"/>
            <a:ext cx="3959352"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HOW TO CHOOSE</a:t>
            </a:r>
          </a:p>
        </p:txBody>
      </p:sp>
      <p:sp>
        <p:nvSpPr>
          <p:cNvPr id="86" name="Rectangle 85"/>
          <p:cNvSpPr/>
          <p:nvPr/>
        </p:nvSpPr>
        <p:spPr>
          <a:xfrm>
            <a:off x="7680960" y="1554480"/>
            <a:ext cx="3959352" cy="713232"/>
          </a:xfrm>
          <a:prstGeom prst="rect">
            <a:avLst/>
          </a:prstGeom>
          <a:solidFill>
            <a:srgbClr val="FFFFFF"/>
          </a:solidFill>
          <a:ln w="9525">
            <a:solidFill>
              <a:srgbClr val="E1E7F4"/>
            </a:solidFill>
          </a:ln>
          <a:effectLst/>
        </p:spPr>
        <p:txBody>
          <a:bodyPr rtlCol="0" anchor="ctr"/>
          <a:lstStyle/>
          <a:p>
            <a:pPr algn="ctr"/>
            <a:endParaRPr/>
          </a:p>
        </p:txBody>
      </p:sp>
      <p:sp>
        <p:nvSpPr>
          <p:cNvPr id="87" name="Oval 86"/>
          <p:cNvSpPr/>
          <p:nvPr/>
        </p:nvSpPr>
        <p:spPr>
          <a:xfrm>
            <a:off x="7754112" y="1664207"/>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1</a:t>
            </a:r>
          </a:p>
        </p:txBody>
      </p:sp>
      <p:sp>
        <p:nvSpPr>
          <p:cNvPr id="88" name="TextBox 87"/>
          <p:cNvSpPr txBox="1"/>
          <p:nvPr/>
        </p:nvSpPr>
        <p:spPr>
          <a:xfrm>
            <a:off x="8010144" y="1554480"/>
            <a:ext cx="3593592" cy="713232"/>
          </a:xfrm>
          <a:prstGeom prst="rect">
            <a:avLst/>
          </a:prstGeom>
          <a:noFill/>
        </p:spPr>
        <p:txBody>
          <a:bodyPr wrap="square" lIns="73152" tIns="27432" rIns="73152" bIns="27432" anchor="ctr">
            <a:spAutoFit/>
          </a:bodyPr>
          <a:lstStyle/>
          <a:p>
            <a:pPr algn="l"/>
            <a:r>
              <a:rPr sz="850" b="1">
                <a:solidFill>
                  <a:srgbClr val="141B33"/>
                </a:solidFill>
                <a:latin typeface="Segoe UI"/>
              </a:rPr>
              <a:t>Where may inference run?</a:t>
            </a:r>
          </a:p>
          <a:p>
            <a:pPr algn="l"/>
            <a:r>
              <a:rPr sz="850" b="0">
                <a:solidFill>
                  <a:srgbClr val="141B33"/>
                </a:solidFill>
                <a:latin typeface="Segoe UI"/>
              </a:rPr>
              <a:t>Global — any Azure region · Data Zone — inside the US, EU or Asia-Pacific data zone · Regional — inside one geography. Data at rest always stays in the designated geography.</a:t>
            </a:r>
          </a:p>
        </p:txBody>
      </p:sp>
      <p:sp>
        <p:nvSpPr>
          <p:cNvPr id="89" name="Rectangle 88"/>
          <p:cNvSpPr/>
          <p:nvPr/>
        </p:nvSpPr>
        <p:spPr>
          <a:xfrm>
            <a:off x="7680960" y="2340864"/>
            <a:ext cx="3959352" cy="713232"/>
          </a:xfrm>
          <a:prstGeom prst="rect">
            <a:avLst/>
          </a:prstGeom>
          <a:solidFill>
            <a:srgbClr val="FFFFFF"/>
          </a:solidFill>
          <a:ln w="9525">
            <a:solidFill>
              <a:srgbClr val="E1E7F4"/>
            </a:solidFill>
          </a:ln>
          <a:effectLst/>
        </p:spPr>
        <p:txBody>
          <a:bodyPr rtlCol="0" anchor="ctr"/>
          <a:lstStyle/>
          <a:p>
            <a:pPr algn="ctr"/>
            <a:endParaRPr/>
          </a:p>
        </p:txBody>
      </p:sp>
      <p:sp>
        <p:nvSpPr>
          <p:cNvPr id="90" name="Oval 89"/>
          <p:cNvSpPr/>
          <p:nvPr/>
        </p:nvSpPr>
        <p:spPr>
          <a:xfrm>
            <a:off x="7754112" y="2450592"/>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2</a:t>
            </a:r>
          </a:p>
        </p:txBody>
      </p:sp>
      <p:sp>
        <p:nvSpPr>
          <p:cNvPr id="91" name="TextBox 90"/>
          <p:cNvSpPr txBox="1"/>
          <p:nvPr/>
        </p:nvSpPr>
        <p:spPr>
          <a:xfrm>
            <a:off x="8010144" y="2340864"/>
            <a:ext cx="3593592" cy="713232"/>
          </a:xfrm>
          <a:prstGeom prst="rect">
            <a:avLst/>
          </a:prstGeom>
          <a:noFill/>
        </p:spPr>
        <p:txBody>
          <a:bodyPr wrap="square" lIns="73152" tIns="27432" rIns="73152" bIns="27432" anchor="ctr">
            <a:spAutoFit/>
          </a:bodyPr>
          <a:lstStyle/>
          <a:p>
            <a:pPr algn="l"/>
            <a:r>
              <a:rPr sz="850" b="1">
                <a:solidFill>
                  <a:srgbClr val="141B33"/>
                </a:solidFill>
                <a:latin typeface="Segoe UI"/>
              </a:rPr>
              <a:t>How predictable must latency be?</a:t>
            </a:r>
          </a:p>
          <a:p>
            <a:pPr algn="l"/>
            <a:r>
              <a:rPr sz="850" b="0">
                <a:solidFill>
                  <a:srgbClr val="141B33"/>
                </a:solidFill>
                <a:latin typeface="Segoe UI"/>
              </a:rPr>
              <a:t>Provisioned gives guaranteed throughput and lower latency variance; Standard is best effort; Batch has no real-time target.</a:t>
            </a:r>
          </a:p>
        </p:txBody>
      </p:sp>
      <p:sp>
        <p:nvSpPr>
          <p:cNvPr id="92" name="Rectangle 91"/>
          <p:cNvSpPr/>
          <p:nvPr/>
        </p:nvSpPr>
        <p:spPr>
          <a:xfrm>
            <a:off x="7680960" y="3127248"/>
            <a:ext cx="3959352" cy="713232"/>
          </a:xfrm>
          <a:prstGeom prst="rect">
            <a:avLst/>
          </a:prstGeom>
          <a:solidFill>
            <a:srgbClr val="FFFFFF"/>
          </a:solidFill>
          <a:ln w="9525">
            <a:solidFill>
              <a:srgbClr val="E1E7F4"/>
            </a:solidFill>
          </a:ln>
          <a:effectLst/>
        </p:spPr>
        <p:txBody>
          <a:bodyPr rtlCol="0" anchor="ctr"/>
          <a:lstStyle/>
          <a:p>
            <a:pPr algn="ctr"/>
            <a:endParaRPr/>
          </a:p>
        </p:txBody>
      </p:sp>
      <p:sp>
        <p:nvSpPr>
          <p:cNvPr id="93" name="Oval 92"/>
          <p:cNvSpPr/>
          <p:nvPr/>
        </p:nvSpPr>
        <p:spPr>
          <a:xfrm>
            <a:off x="7754112" y="3236976"/>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3</a:t>
            </a:r>
          </a:p>
        </p:txBody>
      </p:sp>
      <p:sp>
        <p:nvSpPr>
          <p:cNvPr id="94" name="TextBox 93"/>
          <p:cNvSpPr txBox="1"/>
          <p:nvPr/>
        </p:nvSpPr>
        <p:spPr>
          <a:xfrm>
            <a:off x="8010144" y="3127248"/>
            <a:ext cx="3593592" cy="713232"/>
          </a:xfrm>
          <a:prstGeom prst="rect">
            <a:avLst/>
          </a:prstGeom>
          <a:noFill/>
        </p:spPr>
        <p:txBody>
          <a:bodyPr wrap="square" lIns="73152" tIns="27432" rIns="73152" bIns="27432" anchor="ctr">
            <a:spAutoFit/>
          </a:bodyPr>
          <a:lstStyle/>
          <a:p>
            <a:pPr algn="l"/>
            <a:r>
              <a:rPr sz="850" b="1">
                <a:solidFill>
                  <a:srgbClr val="141B33"/>
                </a:solidFill>
                <a:latin typeface="Segoe UI"/>
              </a:rPr>
              <a:t>How price-sensitive is the workload?</a:t>
            </a:r>
          </a:p>
          <a:p>
            <a:pPr algn="l"/>
            <a:r>
              <a:rPr sz="850" b="0">
                <a:solidFill>
                  <a:srgbClr val="141B33"/>
                </a:solidFill>
                <a:latin typeface="Segoe UI"/>
              </a:rPr>
              <a:t>Standard bills per token; Provisioned is reserved capacity; Batch halves the token price for asynchronous jobs.</a:t>
            </a:r>
          </a:p>
        </p:txBody>
      </p:sp>
      <p:sp>
        <p:nvSpPr>
          <p:cNvPr id="95" name="Rectangle 94"/>
          <p:cNvSpPr/>
          <p:nvPr/>
        </p:nvSpPr>
        <p:spPr>
          <a:xfrm>
            <a:off x="7680960" y="3968496"/>
            <a:ext cx="3959352" cy="1517904"/>
          </a:xfrm>
          <a:prstGeom prst="rect">
            <a:avLst/>
          </a:prstGeom>
          <a:solidFill>
            <a:srgbClr val="0B1229"/>
          </a:solidFill>
          <a:ln>
            <a:noFill/>
          </a:ln>
          <a:effectLst/>
        </p:spPr>
        <p:txBody>
          <a:bodyPr rtlCol="0" anchor="ctr"/>
          <a:lstStyle/>
          <a:p>
            <a:pPr algn="ctr"/>
            <a:endParaRPr/>
          </a:p>
        </p:txBody>
      </p:sp>
      <p:sp>
        <p:nvSpPr>
          <p:cNvPr id="96" name="TextBox 95"/>
          <p:cNvSpPr txBox="1"/>
          <p:nvPr/>
        </p:nvSpPr>
        <p:spPr>
          <a:xfrm>
            <a:off x="7680960" y="3968496"/>
            <a:ext cx="3959352" cy="1517904"/>
          </a:xfrm>
          <a:prstGeom prst="rect">
            <a:avLst/>
          </a:prstGeom>
          <a:noFill/>
        </p:spPr>
        <p:txBody>
          <a:bodyPr wrap="square" lIns="73152" tIns="27432" rIns="73152" bIns="27432" anchor="ctr">
            <a:spAutoFit/>
          </a:bodyPr>
          <a:lstStyle/>
          <a:p>
            <a:pPr algn="l"/>
            <a:r>
              <a:rPr sz="850" b="1">
                <a:solidFill>
                  <a:srgbClr val="FFFFFF"/>
                </a:solidFill>
                <a:latin typeface="Segoe UI"/>
              </a:rPr>
              <a:t>Good to know</a:t>
            </a:r>
          </a:p>
          <a:p>
            <a:pPr algn="l">
              <a:spcBef>
                <a:spcPts val="200"/>
              </a:spcBef>
            </a:pPr>
            <a:r>
              <a:rPr sz="850" b="0">
                <a:solidFill>
                  <a:srgbClr val="FFFFFF"/>
                </a:solidFill>
                <a:latin typeface="Segoe UI"/>
              </a:rPr>
              <a:t>• New deployment types arrive Global first, then Data Zone, then Regional.</a:t>
            </a:r>
          </a:p>
          <a:p>
            <a:pPr algn="l">
              <a:spcBef>
                <a:spcPts val="200"/>
              </a:spcBef>
            </a:pPr>
            <a:r>
              <a:rPr sz="850" b="0">
                <a:solidFill>
                  <a:srgbClr val="FFFFFF"/>
                </a:solidFill>
                <a:latin typeface="Segoe UI"/>
              </a:rPr>
              <a:t>• Global and Data Zone Standard share the failure domain of the region a request is first routed to.</a:t>
            </a:r>
          </a:p>
          <a:p>
            <a:pPr algn="l">
              <a:spcBef>
                <a:spcPts val="200"/>
              </a:spcBef>
            </a:pPr>
            <a:r>
              <a:rPr sz="850" b="0">
                <a:solidFill>
                  <a:srgbClr val="FFFFFF"/>
                </a:solidFill>
                <a:latin typeface="Segoe UI"/>
              </a:rPr>
              <a:t>• Microsoft can add regions to a data zone without notice; the EU data zone follows the EU Data Boundary and may include EFTA countries such as Switzerland.</a:t>
            </a:r>
          </a:p>
          <a:p>
            <a:pPr algn="l">
              <a:spcBef>
                <a:spcPts val="200"/>
              </a:spcBef>
            </a:pPr>
            <a:r>
              <a:rPr sz="850" b="0">
                <a:solidFill>
                  <a:srgbClr val="FFFFFF"/>
                </a:solidFill>
                <a:latin typeface="Segoe UI"/>
              </a:rPr>
              <a:t>• Azure Policy can restrict which deployment types a subscription may create.</a:t>
            </a:r>
          </a:p>
        </p:txBody>
      </p:sp>
      <p:sp>
        <p:nvSpPr>
          <p:cNvPr id="97" name="TextBox 96"/>
          <p:cNvSpPr txBox="1"/>
          <p:nvPr/>
        </p:nvSpPr>
        <p:spPr>
          <a:xfrm>
            <a:off x="548640" y="5504688"/>
            <a:ext cx="11091672"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2   ·   M O D E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Priority and Flex processing</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Two service tiers selected per request on a Standard deployment: Priority for lower latency, Flex for lower cost.</a:t>
            </a:r>
          </a:p>
          <a:p>
            <a:endParaRPr sz="1200">
              <a:solidFill>
                <a:srgbClr val="44495B"/>
              </a:solidFill>
              <a:latin typeface="Segoe UI"/>
            </a:endParaRPr>
          </a:p>
        </p:txBody>
      </p:sp>
      <p:sp>
        <p:nvSpPr>
          <p:cNvPr id="5" name="Shape"/>
          <p:cNvSpPr/>
          <p:nvPr/>
        </p:nvSpPr>
        <p:spPr>
          <a:xfrm>
            <a:off x="548640" y="1417320"/>
            <a:ext cx="548640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Request carries service_tier</a:t>
            </a:r>
          </a:p>
          <a:p>
            <a:pPr algn="ctr"/>
            <a:r>
              <a:rPr sz="900">
                <a:solidFill>
                  <a:srgbClr val="141B33"/>
                </a:solidFill>
                <a:latin typeface="Segoe UI"/>
              </a:rPr>
              <a:t>auto | default | priority</a:t>
            </a:r>
          </a:p>
        </p:txBody>
      </p:sp>
      <p:sp>
        <p:nvSpPr>
          <p:cNvPr id="6" name="Shape"/>
          <p:cNvSpPr/>
          <p:nvPr/>
        </p:nvSpPr>
        <p:spPr>
          <a:xfrm>
            <a:off x="3200400" y="1874520"/>
            <a:ext cx="182880" cy="182880"/>
          </a:xfrm>
          <a:prstGeom prst="downArrow">
            <a:avLst/>
          </a:prstGeom>
          <a:solidFill>
            <a:srgbClr val="00B39F"/>
          </a:solidFill>
        </p:spPr>
        <p:txBody>
          <a:bodyPr/>
          <a:lstStyle/>
          <a:p>
            <a:endParaRPr/>
          </a:p>
        </p:txBody>
      </p:sp>
      <p:sp>
        <p:nvSpPr>
          <p:cNvPr id="7" name="Shape"/>
          <p:cNvSpPr/>
          <p:nvPr/>
        </p:nvSpPr>
        <p:spPr>
          <a:xfrm>
            <a:off x="548640" y="2148840"/>
            <a:ext cx="5486400" cy="420624"/>
          </a:xfrm>
          <a:prstGeom prst="rect">
            <a:avLst/>
          </a:prstGeom>
          <a:solidFill>
            <a:srgbClr val="101A3C"/>
          </a:solidFill>
        </p:spPr>
        <p:txBody>
          <a:bodyPr anchor="ctr"/>
          <a:lstStyle/>
          <a:p>
            <a:pPr algn="ctr"/>
            <a:r>
              <a:rPr sz="900">
                <a:solidFill>
                  <a:srgbClr val="FFFFFF"/>
                </a:solidFill>
                <a:latin typeface="Segoe UI"/>
              </a:rPr>
              <a:t>GlobalStandard or DataZoneStandard (US) deployment</a:t>
            </a:r>
          </a:p>
          <a:p>
            <a:pPr algn="ctr"/>
            <a:r>
              <a:rPr sz="900">
                <a:solidFill>
                  <a:srgbClr val="FFFFFF"/>
                </a:solidFill>
                <a:latin typeface="Segoe UI"/>
              </a:rPr>
              <a:t>model versions 2025-12-01 or later</a:t>
            </a:r>
          </a:p>
        </p:txBody>
      </p:sp>
      <p:sp>
        <p:nvSpPr>
          <p:cNvPr id="8" name="Shape"/>
          <p:cNvSpPr/>
          <p:nvPr/>
        </p:nvSpPr>
        <p:spPr>
          <a:xfrm>
            <a:off x="548640" y="2880360"/>
            <a:ext cx="2651760" cy="566928"/>
          </a:xfrm>
          <a:prstGeom prst="rect">
            <a:avLst/>
          </a:prstGeom>
          <a:solidFill>
            <a:srgbClr val="00B39F"/>
          </a:solidFill>
        </p:spPr>
        <p:txBody>
          <a:bodyPr anchor="ctr"/>
          <a:lstStyle/>
          <a:p>
            <a:pPr algn="ctr"/>
            <a:r>
              <a:rPr sz="900">
                <a:solidFill>
                  <a:srgbClr val="0B1229"/>
                </a:solidFill>
                <a:latin typeface="Segoe UI"/>
              </a:rPr>
              <a:t>Priority lane</a:t>
            </a:r>
          </a:p>
          <a:p>
            <a:pPr algn="ctr"/>
            <a:r>
              <a:rPr sz="900">
                <a:solidFill>
                  <a:srgbClr val="0B1229"/>
                </a:solidFill>
                <a:latin typeface="Segoe UI"/>
              </a:rPr>
              <a:t>latency targets apply</a:t>
            </a:r>
          </a:p>
          <a:p>
            <a:pPr algn="ctr"/>
            <a:r>
              <a:rPr sz="900">
                <a:solidFill>
                  <a:srgbClr val="0B1229"/>
                </a:solidFill>
                <a:latin typeface="Segoe UI"/>
              </a:rPr>
              <a:t>same quota as standard</a:t>
            </a:r>
          </a:p>
        </p:txBody>
      </p:sp>
      <p:sp>
        <p:nvSpPr>
          <p:cNvPr id="9" name="Shape"/>
          <p:cNvSpPr/>
          <p:nvPr/>
        </p:nvSpPr>
        <p:spPr>
          <a:xfrm>
            <a:off x="1783080" y="2660904"/>
            <a:ext cx="182880" cy="182880"/>
          </a:xfrm>
          <a:prstGeom prst="downArrow">
            <a:avLst/>
          </a:prstGeom>
          <a:solidFill>
            <a:srgbClr val="00B39F"/>
          </a:solidFill>
        </p:spPr>
        <p:txBody>
          <a:bodyPr/>
          <a:lstStyle/>
          <a:p>
            <a:endParaRPr/>
          </a:p>
        </p:txBody>
      </p:sp>
      <p:sp>
        <p:nvSpPr>
          <p:cNvPr id="10" name="Shape"/>
          <p:cNvSpPr/>
          <p:nvPr/>
        </p:nvSpPr>
        <p:spPr>
          <a:xfrm>
            <a:off x="3383280" y="2880360"/>
            <a:ext cx="2651760" cy="566928"/>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Standard lane</a:t>
            </a:r>
          </a:p>
          <a:p>
            <a:pPr algn="ctr"/>
            <a:r>
              <a:rPr sz="900">
                <a:solidFill>
                  <a:srgbClr val="141B33"/>
                </a:solidFill>
                <a:latin typeface="Segoe UI"/>
              </a:rPr>
              <a:t>best-effort service</a:t>
            </a:r>
          </a:p>
          <a:p>
            <a:pPr algn="ctr"/>
            <a:r>
              <a:rPr sz="900">
                <a:solidFill>
                  <a:srgbClr val="141B33"/>
                </a:solidFill>
                <a:latin typeface="Segoe UI"/>
              </a:rPr>
              <a:t>billed as standard</a:t>
            </a:r>
          </a:p>
        </p:txBody>
      </p:sp>
      <p:sp>
        <p:nvSpPr>
          <p:cNvPr id="11" name="Shape"/>
          <p:cNvSpPr/>
          <p:nvPr/>
        </p:nvSpPr>
        <p:spPr>
          <a:xfrm>
            <a:off x="4617720" y="2660904"/>
            <a:ext cx="182880" cy="182880"/>
          </a:xfrm>
          <a:prstGeom prst="downArrow">
            <a:avLst/>
          </a:prstGeom>
          <a:solidFill>
            <a:srgbClr val="00B39F"/>
          </a:solidFill>
        </p:spPr>
        <p:txBody>
          <a:bodyPr/>
          <a:lstStyle/>
          <a:p>
            <a:endParaRPr/>
          </a:p>
        </p:txBody>
      </p:sp>
      <p:sp>
        <p:nvSpPr>
          <p:cNvPr id="12" name="Shape"/>
          <p:cNvSpPr/>
          <p:nvPr/>
        </p:nvSpPr>
        <p:spPr>
          <a:xfrm>
            <a:off x="548640" y="3648456"/>
            <a:ext cx="5486400" cy="1328928"/>
          </a:xfrm>
          <a:prstGeom prst="rect">
            <a:avLst/>
          </a:prstGeom>
          <a:solidFill>
            <a:srgbClr val="F6F8FD"/>
          </a:solidFill>
          <a:ln w="9525">
            <a:solidFill>
              <a:srgbClr val="E1E7F4"/>
            </a:solidFill>
          </a:ln>
        </p:spPr>
        <p:txBody>
          <a:bodyPr/>
          <a:lstStyle/>
          <a:p>
            <a:endParaRPr/>
          </a:p>
        </p:txBody>
      </p:sp>
      <p:sp>
        <p:nvSpPr>
          <p:cNvPr id="13" name="Shape"/>
          <p:cNvSpPr/>
          <p:nvPr/>
        </p:nvSpPr>
        <p:spPr>
          <a:xfrm>
            <a:off x="548640" y="3648456"/>
            <a:ext cx="5486400" cy="38405"/>
          </a:xfrm>
          <a:prstGeom prst="rect">
            <a:avLst/>
          </a:prstGeom>
          <a:solidFill>
            <a:srgbClr val="101A3C"/>
          </a:solidFill>
        </p:spPr>
        <p:txBody>
          <a:bodyPr/>
          <a:lstStyle/>
          <a:p>
            <a:endParaRPr/>
          </a:p>
        </p:txBody>
      </p:sp>
      <p:sp>
        <p:nvSpPr>
          <p:cNvPr id="14" name="TextBox"/>
          <p:cNvSpPr txBox="1"/>
          <p:nvPr/>
        </p:nvSpPr>
        <p:spPr>
          <a:xfrm>
            <a:off x="603504" y="3771900"/>
            <a:ext cx="5376672" cy="472440"/>
          </a:xfrm>
          <a:prstGeom prst="rect">
            <a:avLst/>
          </a:prstGeom>
        </p:spPr>
        <p:txBody>
          <a:bodyPr anchor="ctr"/>
          <a:lstStyle/>
          <a:p>
            <a:r>
              <a:rPr sz="1100" b="1">
                <a:solidFill>
                  <a:srgbClr val="101A3C"/>
                </a:solidFill>
                <a:latin typeface="Segoe UI"/>
              </a:rPr>
              <a:t>Downgraded to standard when</a:t>
            </a:r>
          </a:p>
          <a:p>
            <a:endParaRPr sz="1100" b="1">
              <a:solidFill>
                <a:srgbClr val="101A3C"/>
              </a:solidFill>
              <a:latin typeface="Segoe UI"/>
            </a:endParaRPr>
          </a:p>
        </p:txBody>
      </p:sp>
      <p:sp>
        <p:nvSpPr>
          <p:cNvPr id="15" name="TextBox"/>
          <p:cNvSpPr txBox="1"/>
          <p:nvPr/>
        </p:nvSpPr>
        <p:spPr>
          <a:xfrm>
            <a:off x="603504" y="4076700"/>
            <a:ext cx="5376672" cy="822960"/>
          </a:xfrm>
          <a:prstGeom prst="rect">
            <a:avLst/>
          </a:prstGeom>
        </p:spPr>
        <p:txBody>
          <a:bodyPr anchor="ctr"/>
          <a:lstStyle/>
          <a:p>
            <a:r>
              <a:rPr sz="900">
                <a:solidFill>
                  <a:srgbClr val="141B33"/>
                </a:solidFill>
                <a:latin typeface="Segoe UI"/>
              </a:rPr>
              <a:t>throughput ramps more than 50% of TPM in under 15 minutes</a:t>
            </a:r>
          </a:p>
          <a:p>
            <a:r>
              <a:rPr sz="900">
                <a:solidFill>
                  <a:srgbClr val="141B33"/>
                </a:solidFill>
                <a:latin typeface="Segoe UI"/>
              </a:rPr>
              <a:t>the service is under peak demand</a:t>
            </a:r>
          </a:p>
          <a:p>
            <a:r>
              <a:rPr sz="900">
                <a:solidFill>
                  <a:srgbClr val="141B33"/>
                </a:solidFill>
                <a:latin typeface="Segoe UI"/>
              </a:rPr>
              <a:t>the request is long context: over 272k tokens on gpt-5.6 models,</a:t>
            </a:r>
          </a:p>
          <a:p>
            <a:r>
              <a:rPr sz="900">
                <a:solidFill>
                  <a:srgbClr val="141B33"/>
                </a:solidFill>
                <a:latin typeface="Segoe UI"/>
              </a:rPr>
              <a:t>over 128k on gpt-5.4 and gpt-4.1</a:t>
            </a:r>
          </a:p>
          <a:p>
            <a:r>
              <a:rPr sz="900">
                <a:solidFill>
                  <a:srgbClr val="141B33"/>
                </a:solidFill>
                <a:latin typeface="Segoe UI"/>
              </a:rPr>
              <a:t>The response echoes the service_tier that was actually applied.</a:t>
            </a:r>
          </a:p>
        </p:txBody>
      </p:sp>
      <p:sp>
        <p:nvSpPr>
          <p:cNvPr id="16" name="Shape"/>
          <p:cNvSpPr/>
          <p:nvPr/>
        </p:nvSpPr>
        <p:spPr>
          <a:xfrm>
            <a:off x="6272784" y="1417320"/>
            <a:ext cx="5370576" cy="245364"/>
          </a:xfrm>
          <a:prstGeom prst="rect">
            <a:avLst/>
          </a:prstGeom>
          <a:solidFill>
            <a:srgbClr val="101A3C"/>
          </a:solidFill>
        </p:spPr>
        <p:txBody>
          <a:bodyPr/>
          <a:lstStyle/>
          <a:p>
            <a:endParaRPr/>
          </a:p>
        </p:txBody>
      </p:sp>
      <p:sp>
        <p:nvSpPr>
          <p:cNvPr id="17" name="TextBox"/>
          <p:cNvSpPr txBox="1"/>
          <p:nvPr/>
        </p:nvSpPr>
        <p:spPr>
          <a:xfrm>
            <a:off x="6281928" y="1399032"/>
            <a:ext cx="1915119" cy="426720"/>
          </a:xfrm>
          <a:prstGeom prst="rect">
            <a:avLst/>
          </a:prstGeom>
        </p:spPr>
        <p:txBody>
          <a:bodyPr anchor="ctr"/>
          <a:lstStyle/>
          <a:p>
            <a:r>
              <a:rPr sz="950" b="1">
                <a:solidFill>
                  <a:srgbClr val="808080"/>
                </a:solidFill>
                <a:latin typeface="Segoe UI"/>
              </a:rPr>
              <a:t>Model</a:t>
            </a:r>
          </a:p>
          <a:p>
            <a:endParaRPr sz="950" b="1">
              <a:solidFill>
                <a:srgbClr val="808080"/>
              </a:solidFill>
              <a:latin typeface="Segoe UI"/>
            </a:endParaRPr>
          </a:p>
        </p:txBody>
      </p:sp>
      <p:sp>
        <p:nvSpPr>
          <p:cNvPr id="18" name="TextBox"/>
          <p:cNvSpPr txBox="1"/>
          <p:nvPr/>
        </p:nvSpPr>
        <p:spPr>
          <a:xfrm>
            <a:off x="8215335" y="1399032"/>
            <a:ext cx="3418881" cy="426720"/>
          </a:xfrm>
          <a:prstGeom prst="rect">
            <a:avLst/>
          </a:prstGeom>
        </p:spPr>
        <p:txBody>
          <a:bodyPr anchor="ctr"/>
          <a:lstStyle/>
          <a:p>
            <a:r>
              <a:rPr sz="950" b="1">
                <a:solidFill>
                  <a:srgbClr val="808080"/>
                </a:solidFill>
                <a:latin typeface="Segoe UI"/>
              </a:rPr>
              <a:t>Latency target, p50 per 5 minutes</a:t>
            </a:r>
          </a:p>
          <a:p>
            <a:endParaRPr sz="950" b="1">
              <a:solidFill>
                <a:srgbClr val="808080"/>
              </a:solidFill>
              <a:latin typeface="Segoe UI"/>
            </a:endParaRPr>
          </a:p>
        </p:txBody>
      </p:sp>
      <p:sp>
        <p:nvSpPr>
          <p:cNvPr id="19" name="Shape"/>
          <p:cNvSpPr/>
          <p:nvPr/>
        </p:nvSpPr>
        <p:spPr>
          <a:xfrm>
            <a:off x="6272784" y="1817370"/>
            <a:ext cx="5370576" cy="245364"/>
          </a:xfrm>
          <a:prstGeom prst="rect">
            <a:avLst/>
          </a:prstGeom>
          <a:solidFill>
            <a:srgbClr val="FFFFFF"/>
          </a:solidFill>
          <a:ln w="9525">
            <a:solidFill>
              <a:srgbClr val="E1E7F4"/>
            </a:solidFill>
          </a:ln>
        </p:spPr>
        <p:txBody>
          <a:bodyPr/>
          <a:lstStyle/>
          <a:p>
            <a:endParaRPr/>
          </a:p>
        </p:txBody>
      </p:sp>
      <p:sp>
        <p:nvSpPr>
          <p:cNvPr id="20" name="TextBox"/>
          <p:cNvSpPr txBox="1"/>
          <p:nvPr/>
        </p:nvSpPr>
        <p:spPr>
          <a:xfrm>
            <a:off x="6281928" y="1644396"/>
            <a:ext cx="1915119" cy="426720"/>
          </a:xfrm>
          <a:prstGeom prst="rect">
            <a:avLst/>
          </a:prstGeom>
        </p:spPr>
        <p:txBody>
          <a:bodyPr anchor="ctr"/>
          <a:lstStyle/>
          <a:p>
            <a:r>
              <a:rPr sz="950">
                <a:solidFill>
                  <a:srgbClr val="141B33"/>
                </a:solidFill>
                <a:latin typeface="Segoe UI"/>
              </a:rPr>
              <a:t>gpt-5.6-terra</a:t>
            </a:r>
          </a:p>
          <a:p>
            <a:endParaRPr sz="950">
              <a:solidFill>
                <a:srgbClr val="141B33"/>
              </a:solidFill>
              <a:latin typeface="Segoe UI"/>
            </a:endParaRPr>
          </a:p>
        </p:txBody>
      </p:sp>
      <p:sp>
        <p:nvSpPr>
          <p:cNvPr id="21" name="TextBox"/>
          <p:cNvSpPr txBox="1"/>
          <p:nvPr/>
        </p:nvSpPr>
        <p:spPr>
          <a:xfrm>
            <a:off x="8215335" y="1644396"/>
            <a:ext cx="3418881" cy="426720"/>
          </a:xfrm>
          <a:prstGeom prst="rect">
            <a:avLst/>
          </a:prstGeom>
        </p:spPr>
        <p:txBody>
          <a:bodyPr anchor="ctr"/>
          <a:lstStyle/>
          <a:p>
            <a:r>
              <a:rPr sz="950">
                <a:solidFill>
                  <a:srgbClr val="141B33"/>
                </a:solidFill>
                <a:latin typeface="Segoe UI"/>
              </a:rPr>
              <a:t>99% of windows above 70 TPS</a:t>
            </a:r>
          </a:p>
          <a:p>
            <a:endParaRPr sz="950">
              <a:solidFill>
                <a:srgbClr val="141B33"/>
              </a:solidFill>
              <a:latin typeface="Segoe UI"/>
            </a:endParaRPr>
          </a:p>
        </p:txBody>
      </p:sp>
      <p:sp>
        <p:nvSpPr>
          <p:cNvPr id="22" name="Shape"/>
          <p:cNvSpPr/>
          <p:nvPr/>
        </p:nvSpPr>
        <p:spPr>
          <a:xfrm>
            <a:off x="6272784" y="2062734"/>
            <a:ext cx="5370576" cy="245364"/>
          </a:xfrm>
          <a:prstGeom prst="rect">
            <a:avLst/>
          </a:prstGeom>
          <a:solidFill>
            <a:srgbClr val="F6F8FD"/>
          </a:solidFill>
          <a:ln w="9525">
            <a:solidFill>
              <a:srgbClr val="E1E7F4"/>
            </a:solidFill>
          </a:ln>
        </p:spPr>
        <p:txBody>
          <a:bodyPr/>
          <a:lstStyle/>
          <a:p>
            <a:endParaRPr/>
          </a:p>
        </p:txBody>
      </p:sp>
      <p:sp>
        <p:nvSpPr>
          <p:cNvPr id="23" name="TextBox"/>
          <p:cNvSpPr txBox="1"/>
          <p:nvPr/>
        </p:nvSpPr>
        <p:spPr>
          <a:xfrm>
            <a:off x="6281928" y="1889760"/>
            <a:ext cx="1915119" cy="426720"/>
          </a:xfrm>
          <a:prstGeom prst="rect">
            <a:avLst/>
          </a:prstGeom>
        </p:spPr>
        <p:txBody>
          <a:bodyPr anchor="ctr"/>
          <a:lstStyle/>
          <a:p>
            <a:r>
              <a:rPr sz="950">
                <a:solidFill>
                  <a:srgbClr val="141B33"/>
                </a:solidFill>
                <a:latin typeface="Segoe UI"/>
              </a:rPr>
              <a:t>gpt-5.6-sol</a:t>
            </a:r>
          </a:p>
          <a:p>
            <a:endParaRPr sz="950">
              <a:solidFill>
                <a:srgbClr val="141B33"/>
              </a:solidFill>
              <a:latin typeface="Segoe UI"/>
            </a:endParaRPr>
          </a:p>
        </p:txBody>
      </p:sp>
      <p:sp>
        <p:nvSpPr>
          <p:cNvPr id="24" name="TextBox"/>
          <p:cNvSpPr txBox="1"/>
          <p:nvPr/>
        </p:nvSpPr>
        <p:spPr>
          <a:xfrm>
            <a:off x="8215335" y="1889760"/>
            <a:ext cx="3418881" cy="426720"/>
          </a:xfrm>
          <a:prstGeom prst="rect">
            <a:avLst/>
          </a:prstGeom>
        </p:spPr>
        <p:txBody>
          <a:bodyPr anchor="ctr"/>
          <a:lstStyle/>
          <a:p>
            <a:r>
              <a:rPr sz="950">
                <a:solidFill>
                  <a:srgbClr val="141B33"/>
                </a:solidFill>
                <a:latin typeface="Segoe UI"/>
              </a:rPr>
              <a:t>above 50 TPS</a:t>
            </a:r>
          </a:p>
          <a:p>
            <a:endParaRPr sz="950">
              <a:solidFill>
                <a:srgbClr val="141B33"/>
              </a:solidFill>
              <a:latin typeface="Segoe UI"/>
            </a:endParaRPr>
          </a:p>
        </p:txBody>
      </p:sp>
      <p:sp>
        <p:nvSpPr>
          <p:cNvPr id="25" name="Shape"/>
          <p:cNvSpPr/>
          <p:nvPr/>
        </p:nvSpPr>
        <p:spPr>
          <a:xfrm>
            <a:off x="6272784" y="2308098"/>
            <a:ext cx="5370576" cy="245364"/>
          </a:xfrm>
          <a:prstGeom prst="rect">
            <a:avLst/>
          </a:prstGeom>
          <a:solidFill>
            <a:srgbClr val="FFFFFF"/>
          </a:solidFill>
          <a:ln w="9525">
            <a:solidFill>
              <a:srgbClr val="E1E7F4"/>
            </a:solidFill>
          </a:ln>
        </p:spPr>
        <p:txBody>
          <a:bodyPr/>
          <a:lstStyle/>
          <a:p>
            <a:endParaRPr/>
          </a:p>
        </p:txBody>
      </p:sp>
      <p:sp>
        <p:nvSpPr>
          <p:cNvPr id="26" name="TextBox"/>
          <p:cNvSpPr txBox="1"/>
          <p:nvPr/>
        </p:nvSpPr>
        <p:spPr>
          <a:xfrm>
            <a:off x="6281928" y="2135124"/>
            <a:ext cx="1915119" cy="426720"/>
          </a:xfrm>
          <a:prstGeom prst="rect">
            <a:avLst/>
          </a:prstGeom>
        </p:spPr>
        <p:txBody>
          <a:bodyPr anchor="ctr"/>
          <a:lstStyle/>
          <a:p>
            <a:r>
              <a:rPr sz="950">
                <a:solidFill>
                  <a:srgbClr val="141B33"/>
                </a:solidFill>
                <a:latin typeface="Segoe UI"/>
              </a:rPr>
              <a:t>gpt-5.5</a:t>
            </a:r>
          </a:p>
          <a:p>
            <a:endParaRPr sz="950">
              <a:solidFill>
                <a:srgbClr val="141B33"/>
              </a:solidFill>
              <a:latin typeface="Segoe UI"/>
            </a:endParaRPr>
          </a:p>
        </p:txBody>
      </p:sp>
      <p:sp>
        <p:nvSpPr>
          <p:cNvPr id="27" name="TextBox"/>
          <p:cNvSpPr txBox="1"/>
          <p:nvPr/>
        </p:nvSpPr>
        <p:spPr>
          <a:xfrm>
            <a:off x="8215335" y="2135124"/>
            <a:ext cx="3418881" cy="426720"/>
          </a:xfrm>
          <a:prstGeom prst="rect">
            <a:avLst/>
          </a:prstGeom>
        </p:spPr>
        <p:txBody>
          <a:bodyPr anchor="ctr"/>
          <a:lstStyle/>
          <a:p>
            <a:r>
              <a:rPr sz="950">
                <a:solidFill>
                  <a:srgbClr val="141B33"/>
                </a:solidFill>
                <a:latin typeface="Segoe UI"/>
              </a:rPr>
              <a:t>above 50 TPS</a:t>
            </a:r>
          </a:p>
          <a:p>
            <a:endParaRPr sz="950">
              <a:solidFill>
                <a:srgbClr val="141B33"/>
              </a:solidFill>
              <a:latin typeface="Segoe UI"/>
            </a:endParaRPr>
          </a:p>
        </p:txBody>
      </p:sp>
      <p:sp>
        <p:nvSpPr>
          <p:cNvPr id="28" name="Shape"/>
          <p:cNvSpPr/>
          <p:nvPr/>
        </p:nvSpPr>
        <p:spPr>
          <a:xfrm>
            <a:off x="6272784" y="2553462"/>
            <a:ext cx="5370576" cy="245364"/>
          </a:xfrm>
          <a:prstGeom prst="rect">
            <a:avLst/>
          </a:prstGeom>
          <a:solidFill>
            <a:srgbClr val="F6F8FD"/>
          </a:solidFill>
          <a:ln w="9525">
            <a:solidFill>
              <a:srgbClr val="E1E7F4"/>
            </a:solidFill>
          </a:ln>
        </p:spPr>
        <p:txBody>
          <a:bodyPr/>
          <a:lstStyle/>
          <a:p>
            <a:endParaRPr/>
          </a:p>
        </p:txBody>
      </p:sp>
      <p:sp>
        <p:nvSpPr>
          <p:cNvPr id="29" name="TextBox"/>
          <p:cNvSpPr txBox="1"/>
          <p:nvPr/>
        </p:nvSpPr>
        <p:spPr>
          <a:xfrm>
            <a:off x="6281928" y="2380488"/>
            <a:ext cx="1915119" cy="426720"/>
          </a:xfrm>
          <a:prstGeom prst="rect">
            <a:avLst/>
          </a:prstGeom>
        </p:spPr>
        <p:txBody>
          <a:bodyPr anchor="ctr"/>
          <a:lstStyle/>
          <a:p>
            <a:r>
              <a:rPr sz="950">
                <a:solidFill>
                  <a:srgbClr val="141B33"/>
                </a:solidFill>
                <a:latin typeface="Segoe UI"/>
              </a:rPr>
              <a:t>gpt-5.4-mini</a:t>
            </a:r>
          </a:p>
          <a:p>
            <a:endParaRPr sz="950">
              <a:solidFill>
                <a:srgbClr val="141B33"/>
              </a:solidFill>
              <a:latin typeface="Segoe UI"/>
            </a:endParaRPr>
          </a:p>
        </p:txBody>
      </p:sp>
      <p:sp>
        <p:nvSpPr>
          <p:cNvPr id="30" name="TextBox"/>
          <p:cNvSpPr txBox="1"/>
          <p:nvPr/>
        </p:nvSpPr>
        <p:spPr>
          <a:xfrm>
            <a:off x="8215335" y="2380488"/>
            <a:ext cx="3418881" cy="426720"/>
          </a:xfrm>
          <a:prstGeom prst="rect">
            <a:avLst/>
          </a:prstGeom>
        </p:spPr>
        <p:txBody>
          <a:bodyPr anchor="ctr"/>
          <a:lstStyle/>
          <a:p>
            <a:r>
              <a:rPr sz="950">
                <a:solidFill>
                  <a:srgbClr val="141B33"/>
                </a:solidFill>
                <a:latin typeface="Segoe UI"/>
              </a:rPr>
              <a:t>above 100 TPS</a:t>
            </a:r>
          </a:p>
          <a:p>
            <a:endParaRPr sz="950">
              <a:solidFill>
                <a:srgbClr val="141B33"/>
              </a:solidFill>
              <a:latin typeface="Segoe UI"/>
            </a:endParaRPr>
          </a:p>
        </p:txBody>
      </p:sp>
      <p:sp>
        <p:nvSpPr>
          <p:cNvPr id="31" name="Shape"/>
          <p:cNvSpPr/>
          <p:nvPr/>
        </p:nvSpPr>
        <p:spPr>
          <a:xfrm>
            <a:off x="6272784" y="2798826"/>
            <a:ext cx="5370576" cy="245364"/>
          </a:xfrm>
          <a:prstGeom prst="rect">
            <a:avLst/>
          </a:prstGeom>
          <a:solidFill>
            <a:srgbClr val="FFFFFF"/>
          </a:solidFill>
          <a:ln w="9525">
            <a:solidFill>
              <a:srgbClr val="E1E7F4"/>
            </a:solidFill>
          </a:ln>
        </p:spPr>
        <p:txBody>
          <a:bodyPr/>
          <a:lstStyle/>
          <a:p>
            <a:endParaRPr/>
          </a:p>
        </p:txBody>
      </p:sp>
      <p:sp>
        <p:nvSpPr>
          <p:cNvPr id="32" name="TextBox"/>
          <p:cNvSpPr txBox="1"/>
          <p:nvPr/>
        </p:nvSpPr>
        <p:spPr>
          <a:xfrm>
            <a:off x="6281928" y="2625852"/>
            <a:ext cx="1915119" cy="426720"/>
          </a:xfrm>
          <a:prstGeom prst="rect">
            <a:avLst/>
          </a:prstGeom>
        </p:spPr>
        <p:txBody>
          <a:bodyPr anchor="ctr"/>
          <a:lstStyle/>
          <a:p>
            <a:r>
              <a:rPr sz="950">
                <a:solidFill>
                  <a:srgbClr val="141B33"/>
                </a:solidFill>
                <a:latin typeface="Segoe UI"/>
              </a:rPr>
              <a:t>gpt-5.4</a:t>
            </a:r>
          </a:p>
          <a:p>
            <a:endParaRPr sz="950">
              <a:solidFill>
                <a:srgbClr val="141B33"/>
              </a:solidFill>
              <a:latin typeface="Segoe UI"/>
            </a:endParaRPr>
          </a:p>
        </p:txBody>
      </p:sp>
      <p:sp>
        <p:nvSpPr>
          <p:cNvPr id="33" name="TextBox"/>
          <p:cNvSpPr txBox="1"/>
          <p:nvPr/>
        </p:nvSpPr>
        <p:spPr>
          <a:xfrm>
            <a:off x="8215335" y="2625852"/>
            <a:ext cx="3418881" cy="426720"/>
          </a:xfrm>
          <a:prstGeom prst="rect">
            <a:avLst/>
          </a:prstGeom>
        </p:spPr>
        <p:txBody>
          <a:bodyPr anchor="ctr"/>
          <a:lstStyle/>
          <a:p>
            <a:r>
              <a:rPr sz="950">
                <a:solidFill>
                  <a:srgbClr val="141B33"/>
                </a:solidFill>
                <a:latin typeface="Segoe UI"/>
              </a:rPr>
              <a:t>above 50 TPS</a:t>
            </a:r>
          </a:p>
          <a:p>
            <a:endParaRPr sz="950">
              <a:solidFill>
                <a:srgbClr val="141B33"/>
              </a:solidFill>
              <a:latin typeface="Segoe UI"/>
            </a:endParaRPr>
          </a:p>
        </p:txBody>
      </p:sp>
      <p:sp>
        <p:nvSpPr>
          <p:cNvPr id="34" name="Shape"/>
          <p:cNvSpPr/>
          <p:nvPr/>
        </p:nvSpPr>
        <p:spPr>
          <a:xfrm>
            <a:off x="6272784" y="3044190"/>
            <a:ext cx="5370576" cy="245364"/>
          </a:xfrm>
          <a:prstGeom prst="rect">
            <a:avLst/>
          </a:prstGeom>
          <a:solidFill>
            <a:srgbClr val="F6F8FD"/>
          </a:solidFill>
          <a:ln w="9525">
            <a:solidFill>
              <a:srgbClr val="E1E7F4"/>
            </a:solidFill>
          </a:ln>
        </p:spPr>
        <p:txBody>
          <a:bodyPr/>
          <a:lstStyle/>
          <a:p>
            <a:endParaRPr/>
          </a:p>
        </p:txBody>
      </p:sp>
      <p:sp>
        <p:nvSpPr>
          <p:cNvPr id="35" name="TextBox"/>
          <p:cNvSpPr txBox="1"/>
          <p:nvPr/>
        </p:nvSpPr>
        <p:spPr>
          <a:xfrm>
            <a:off x="6281928" y="2871216"/>
            <a:ext cx="1915119" cy="426720"/>
          </a:xfrm>
          <a:prstGeom prst="rect">
            <a:avLst/>
          </a:prstGeom>
        </p:spPr>
        <p:txBody>
          <a:bodyPr anchor="ctr"/>
          <a:lstStyle/>
          <a:p>
            <a:r>
              <a:rPr sz="950">
                <a:solidFill>
                  <a:srgbClr val="141B33"/>
                </a:solidFill>
                <a:latin typeface="Segoe UI"/>
              </a:rPr>
              <a:t>gpt-5.2</a:t>
            </a:r>
          </a:p>
          <a:p>
            <a:endParaRPr sz="950">
              <a:solidFill>
                <a:srgbClr val="141B33"/>
              </a:solidFill>
              <a:latin typeface="Segoe UI"/>
            </a:endParaRPr>
          </a:p>
        </p:txBody>
      </p:sp>
      <p:sp>
        <p:nvSpPr>
          <p:cNvPr id="36" name="TextBox"/>
          <p:cNvSpPr txBox="1"/>
          <p:nvPr/>
        </p:nvSpPr>
        <p:spPr>
          <a:xfrm>
            <a:off x="8215335" y="2871216"/>
            <a:ext cx="3418881" cy="426720"/>
          </a:xfrm>
          <a:prstGeom prst="rect">
            <a:avLst/>
          </a:prstGeom>
        </p:spPr>
        <p:txBody>
          <a:bodyPr anchor="ctr"/>
          <a:lstStyle/>
          <a:p>
            <a:r>
              <a:rPr sz="950">
                <a:solidFill>
                  <a:srgbClr val="141B33"/>
                </a:solidFill>
                <a:latin typeface="Segoe UI"/>
              </a:rPr>
              <a:t>above 50 TPS</a:t>
            </a:r>
          </a:p>
          <a:p>
            <a:endParaRPr sz="950">
              <a:solidFill>
                <a:srgbClr val="141B33"/>
              </a:solidFill>
              <a:latin typeface="Segoe UI"/>
            </a:endParaRPr>
          </a:p>
        </p:txBody>
      </p:sp>
      <p:sp>
        <p:nvSpPr>
          <p:cNvPr id="37" name="Shape"/>
          <p:cNvSpPr/>
          <p:nvPr/>
        </p:nvSpPr>
        <p:spPr>
          <a:xfrm>
            <a:off x="6272784" y="3289554"/>
            <a:ext cx="5370576" cy="245364"/>
          </a:xfrm>
          <a:prstGeom prst="rect">
            <a:avLst/>
          </a:prstGeom>
          <a:solidFill>
            <a:srgbClr val="FFFFFF"/>
          </a:solidFill>
          <a:ln w="9525">
            <a:solidFill>
              <a:srgbClr val="E1E7F4"/>
            </a:solidFill>
          </a:ln>
        </p:spPr>
        <p:txBody>
          <a:bodyPr/>
          <a:lstStyle/>
          <a:p>
            <a:endParaRPr/>
          </a:p>
        </p:txBody>
      </p:sp>
      <p:sp>
        <p:nvSpPr>
          <p:cNvPr id="38" name="TextBox"/>
          <p:cNvSpPr txBox="1"/>
          <p:nvPr/>
        </p:nvSpPr>
        <p:spPr>
          <a:xfrm>
            <a:off x="6281928" y="3116580"/>
            <a:ext cx="1915119" cy="426720"/>
          </a:xfrm>
          <a:prstGeom prst="rect">
            <a:avLst/>
          </a:prstGeom>
        </p:spPr>
        <p:txBody>
          <a:bodyPr anchor="ctr"/>
          <a:lstStyle/>
          <a:p>
            <a:r>
              <a:rPr sz="950">
                <a:solidFill>
                  <a:srgbClr val="141B33"/>
                </a:solidFill>
                <a:latin typeface="Segoe UI"/>
              </a:rPr>
              <a:t>gpt-5.1</a:t>
            </a:r>
          </a:p>
          <a:p>
            <a:endParaRPr sz="950">
              <a:solidFill>
                <a:srgbClr val="141B33"/>
              </a:solidFill>
              <a:latin typeface="Segoe UI"/>
            </a:endParaRPr>
          </a:p>
        </p:txBody>
      </p:sp>
      <p:sp>
        <p:nvSpPr>
          <p:cNvPr id="39" name="TextBox"/>
          <p:cNvSpPr txBox="1"/>
          <p:nvPr/>
        </p:nvSpPr>
        <p:spPr>
          <a:xfrm>
            <a:off x="8215335" y="3116580"/>
            <a:ext cx="3418881" cy="426720"/>
          </a:xfrm>
          <a:prstGeom prst="rect">
            <a:avLst/>
          </a:prstGeom>
        </p:spPr>
        <p:txBody>
          <a:bodyPr anchor="ctr"/>
          <a:lstStyle/>
          <a:p>
            <a:r>
              <a:rPr sz="950">
                <a:solidFill>
                  <a:srgbClr val="141B33"/>
                </a:solidFill>
                <a:latin typeface="Segoe UI"/>
              </a:rPr>
              <a:t>above 50 TPS</a:t>
            </a:r>
          </a:p>
          <a:p>
            <a:endParaRPr sz="950">
              <a:solidFill>
                <a:srgbClr val="141B33"/>
              </a:solidFill>
              <a:latin typeface="Segoe UI"/>
            </a:endParaRPr>
          </a:p>
        </p:txBody>
      </p:sp>
      <p:sp>
        <p:nvSpPr>
          <p:cNvPr id="40" name="Shape"/>
          <p:cNvSpPr/>
          <p:nvPr/>
        </p:nvSpPr>
        <p:spPr>
          <a:xfrm>
            <a:off x="6272784" y="3534918"/>
            <a:ext cx="5370576" cy="245364"/>
          </a:xfrm>
          <a:prstGeom prst="rect">
            <a:avLst/>
          </a:prstGeom>
          <a:solidFill>
            <a:srgbClr val="F6F8FD"/>
          </a:solidFill>
          <a:ln w="9525">
            <a:solidFill>
              <a:srgbClr val="E1E7F4"/>
            </a:solidFill>
          </a:ln>
        </p:spPr>
        <p:txBody>
          <a:bodyPr/>
          <a:lstStyle/>
          <a:p>
            <a:endParaRPr/>
          </a:p>
        </p:txBody>
      </p:sp>
      <p:sp>
        <p:nvSpPr>
          <p:cNvPr id="41" name="TextBox"/>
          <p:cNvSpPr txBox="1"/>
          <p:nvPr/>
        </p:nvSpPr>
        <p:spPr>
          <a:xfrm>
            <a:off x="6281928" y="3361944"/>
            <a:ext cx="1915119" cy="426720"/>
          </a:xfrm>
          <a:prstGeom prst="rect">
            <a:avLst/>
          </a:prstGeom>
        </p:spPr>
        <p:txBody>
          <a:bodyPr anchor="ctr"/>
          <a:lstStyle/>
          <a:p>
            <a:r>
              <a:rPr sz="950">
                <a:solidFill>
                  <a:srgbClr val="141B33"/>
                </a:solidFill>
                <a:latin typeface="Segoe UI"/>
              </a:rPr>
              <a:t>gpt-4.1</a:t>
            </a:r>
          </a:p>
          <a:p>
            <a:endParaRPr sz="950">
              <a:solidFill>
                <a:srgbClr val="141B33"/>
              </a:solidFill>
              <a:latin typeface="Segoe UI"/>
            </a:endParaRPr>
          </a:p>
        </p:txBody>
      </p:sp>
      <p:sp>
        <p:nvSpPr>
          <p:cNvPr id="42" name="TextBox"/>
          <p:cNvSpPr txBox="1"/>
          <p:nvPr/>
        </p:nvSpPr>
        <p:spPr>
          <a:xfrm>
            <a:off x="8215335" y="3361944"/>
            <a:ext cx="3418881" cy="426720"/>
          </a:xfrm>
          <a:prstGeom prst="rect">
            <a:avLst/>
          </a:prstGeom>
        </p:spPr>
        <p:txBody>
          <a:bodyPr anchor="ctr"/>
          <a:lstStyle/>
          <a:p>
            <a:r>
              <a:rPr sz="950">
                <a:solidFill>
                  <a:srgbClr val="141B33"/>
                </a:solidFill>
                <a:latin typeface="Segoe UI"/>
              </a:rPr>
              <a:t>above 80 TPS</a:t>
            </a:r>
          </a:p>
          <a:p>
            <a:endParaRPr sz="950">
              <a:solidFill>
                <a:srgbClr val="141B33"/>
              </a:solidFill>
              <a:latin typeface="Segoe UI"/>
            </a:endParaRPr>
          </a:p>
        </p:txBody>
      </p:sp>
      <p:sp>
        <p:nvSpPr>
          <p:cNvPr id="43" name="Shape"/>
          <p:cNvSpPr/>
          <p:nvPr/>
        </p:nvSpPr>
        <p:spPr>
          <a:xfrm>
            <a:off x="6272784" y="3808476"/>
            <a:ext cx="2602992" cy="1184148"/>
          </a:xfrm>
          <a:prstGeom prst="rect">
            <a:avLst/>
          </a:prstGeom>
          <a:solidFill>
            <a:srgbClr val="F6F8FD"/>
          </a:solidFill>
          <a:ln w="9525">
            <a:solidFill>
              <a:srgbClr val="E1E7F4"/>
            </a:solidFill>
          </a:ln>
        </p:spPr>
        <p:txBody>
          <a:bodyPr/>
          <a:lstStyle/>
          <a:p>
            <a:endParaRPr/>
          </a:p>
        </p:txBody>
      </p:sp>
      <p:sp>
        <p:nvSpPr>
          <p:cNvPr id="44" name="Shape"/>
          <p:cNvSpPr/>
          <p:nvPr/>
        </p:nvSpPr>
        <p:spPr>
          <a:xfrm>
            <a:off x="6272784" y="3808476"/>
            <a:ext cx="2602992" cy="38405"/>
          </a:xfrm>
          <a:prstGeom prst="rect">
            <a:avLst/>
          </a:prstGeom>
          <a:solidFill>
            <a:srgbClr val="101A3C"/>
          </a:solidFill>
        </p:spPr>
        <p:txBody>
          <a:bodyPr/>
          <a:lstStyle/>
          <a:p>
            <a:endParaRPr/>
          </a:p>
        </p:txBody>
      </p:sp>
      <p:sp>
        <p:nvSpPr>
          <p:cNvPr id="45" name="TextBox"/>
          <p:cNvSpPr txBox="1"/>
          <p:nvPr/>
        </p:nvSpPr>
        <p:spPr>
          <a:xfrm>
            <a:off x="6327648" y="3931920"/>
            <a:ext cx="2493264" cy="457200"/>
          </a:xfrm>
          <a:prstGeom prst="rect">
            <a:avLst/>
          </a:prstGeom>
        </p:spPr>
        <p:txBody>
          <a:bodyPr anchor="ctr"/>
          <a:lstStyle/>
          <a:p>
            <a:r>
              <a:rPr sz="1050" b="1">
                <a:solidFill>
                  <a:srgbClr val="101A3C"/>
                </a:solidFill>
                <a:latin typeface="Segoe UI"/>
              </a:rPr>
              <a:t>Enable it</a:t>
            </a:r>
          </a:p>
          <a:p>
            <a:endParaRPr sz="1050" b="1">
              <a:solidFill>
                <a:srgbClr val="101A3C"/>
              </a:solidFill>
              <a:latin typeface="Segoe UI"/>
            </a:endParaRPr>
          </a:p>
        </p:txBody>
      </p:sp>
      <p:sp>
        <p:nvSpPr>
          <p:cNvPr id="46" name="TextBox"/>
          <p:cNvSpPr txBox="1"/>
          <p:nvPr/>
        </p:nvSpPr>
        <p:spPr>
          <a:xfrm>
            <a:off x="6327648" y="4229100"/>
            <a:ext cx="2493264" cy="685800"/>
          </a:xfrm>
          <a:prstGeom prst="rect">
            <a:avLst/>
          </a:prstGeom>
        </p:spPr>
        <p:txBody>
          <a:bodyPr anchor="ctr"/>
          <a:lstStyle/>
          <a:p>
            <a:r>
              <a:rPr sz="900">
                <a:solidFill>
                  <a:srgbClr val="141B33"/>
                </a:solidFill>
                <a:latin typeface="Segoe UI"/>
              </a:rPr>
              <a:t>At the deployment, or per</a:t>
            </a:r>
          </a:p>
          <a:p>
            <a:r>
              <a:rPr sz="900">
                <a:solidFill>
                  <a:srgbClr val="141B33"/>
                </a:solidFill>
                <a:latin typeface="Segoe UI"/>
              </a:rPr>
              <a:t>request with service_tier.</a:t>
            </a:r>
          </a:p>
          <a:p>
            <a:r>
              <a:rPr sz="900">
                <a:solidFill>
                  <a:srgbClr val="141B33"/>
                </a:solidFill>
                <a:latin typeface="Segoe UI"/>
              </a:rPr>
              <a:t>Not on regional standard</a:t>
            </a:r>
          </a:p>
          <a:p>
            <a:r>
              <a:rPr sz="900">
                <a:solidFill>
                  <a:srgbClr val="141B33"/>
                </a:solidFill>
                <a:latin typeface="Segoe UI"/>
              </a:rPr>
              <a:t>and not on the EU data zone.</a:t>
            </a:r>
          </a:p>
        </p:txBody>
      </p:sp>
      <p:sp>
        <p:nvSpPr>
          <p:cNvPr id="47" name="Shape"/>
          <p:cNvSpPr/>
          <p:nvPr/>
        </p:nvSpPr>
        <p:spPr>
          <a:xfrm>
            <a:off x="9040368" y="3808476"/>
            <a:ext cx="2602992" cy="1184148"/>
          </a:xfrm>
          <a:prstGeom prst="rect">
            <a:avLst/>
          </a:prstGeom>
          <a:solidFill>
            <a:srgbClr val="F6F8FD"/>
          </a:solidFill>
          <a:ln w="9525">
            <a:solidFill>
              <a:srgbClr val="E1E7F4"/>
            </a:solidFill>
          </a:ln>
        </p:spPr>
        <p:txBody>
          <a:bodyPr/>
          <a:lstStyle/>
          <a:p>
            <a:endParaRPr/>
          </a:p>
        </p:txBody>
      </p:sp>
      <p:sp>
        <p:nvSpPr>
          <p:cNvPr id="48" name="Shape"/>
          <p:cNvSpPr/>
          <p:nvPr/>
        </p:nvSpPr>
        <p:spPr>
          <a:xfrm>
            <a:off x="9040368" y="3808476"/>
            <a:ext cx="2602992" cy="38405"/>
          </a:xfrm>
          <a:prstGeom prst="rect">
            <a:avLst/>
          </a:prstGeom>
          <a:solidFill>
            <a:srgbClr val="101A3C"/>
          </a:solidFill>
        </p:spPr>
        <p:txBody>
          <a:bodyPr/>
          <a:lstStyle/>
          <a:p>
            <a:endParaRPr/>
          </a:p>
        </p:txBody>
      </p:sp>
      <p:sp>
        <p:nvSpPr>
          <p:cNvPr id="49" name="TextBox"/>
          <p:cNvSpPr txBox="1"/>
          <p:nvPr/>
        </p:nvSpPr>
        <p:spPr>
          <a:xfrm>
            <a:off x="9095232" y="3931920"/>
            <a:ext cx="2493264" cy="457200"/>
          </a:xfrm>
          <a:prstGeom prst="rect">
            <a:avLst/>
          </a:prstGeom>
        </p:spPr>
        <p:txBody>
          <a:bodyPr anchor="ctr"/>
          <a:lstStyle/>
          <a:p>
            <a:r>
              <a:rPr sz="1050" b="1">
                <a:solidFill>
                  <a:srgbClr val="101A3C"/>
                </a:solidFill>
                <a:latin typeface="Segoe UI"/>
              </a:rPr>
              <a:t>Watch it</a:t>
            </a:r>
          </a:p>
          <a:p>
            <a:endParaRPr sz="1050" b="1">
              <a:solidFill>
                <a:srgbClr val="101A3C"/>
              </a:solidFill>
              <a:latin typeface="Segoe UI"/>
            </a:endParaRPr>
          </a:p>
        </p:txBody>
      </p:sp>
      <p:sp>
        <p:nvSpPr>
          <p:cNvPr id="50" name="TextBox"/>
          <p:cNvSpPr txBox="1"/>
          <p:nvPr/>
        </p:nvSpPr>
        <p:spPr>
          <a:xfrm>
            <a:off x="9095232" y="4229100"/>
            <a:ext cx="2493264" cy="685800"/>
          </a:xfrm>
          <a:prstGeom prst="rect">
            <a:avLst/>
          </a:prstGeom>
        </p:spPr>
        <p:txBody>
          <a:bodyPr anchor="ctr"/>
          <a:lstStyle/>
          <a:p>
            <a:r>
              <a:rPr sz="900">
                <a:solidFill>
                  <a:srgbClr val="141B33"/>
                </a:solidFill>
                <a:latin typeface="Segoe UI"/>
              </a:rPr>
              <a:t>Azure Monitor metric</a:t>
            </a:r>
          </a:p>
          <a:p>
            <a:r>
              <a:rPr sz="900">
                <a:solidFill>
                  <a:srgbClr val="141B33"/>
                </a:solidFill>
                <a:latin typeface="Segoe UI"/>
              </a:rPr>
              <a:t>“Azure OpenAI requests”,</a:t>
            </a:r>
          </a:p>
          <a:p>
            <a:r>
              <a:rPr sz="900">
                <a:solidFill>
                  <a:srgbClr val="141B33"/>
                </a:solidFill>
                <a:latin typeface="Segoe UI"/>
              </a:rPr>
              <a:t>split by ServiceTierRequest</a:t>
            </a:r>
          </a:p>
          <a:p>
            <a:r>
              <a:rPr sz="900">
                <a:solidFill>
                  <a:srgbClr val="141B33"/>
                </a:solidFill>
                <a:latin typeface="Segoe UI"/>
              </a:rPr>
              <a:t>and ServiceTierResponse.</a:t>
            </a:r>
          </a:p>
        </p:txBody>
      </p:sp>
      <p:sp>
        <p:nvSpPr>
          <p:cNvPr id="53" name="Shape"/>
          <p:cNvSpPr/>
          <p:nvPr/>
        </p:nvSpPr>
        <p:spPr>
          <a:xfrm>
            <a:off x="548640" y="5687568"/>
            <a:ext cx="11094720" cy="9525"/>
          </a:xfrm>
          <a:prstGeom prst="rect">
            <a:avLst/>
          </a:prstGeom>
          <a:solidFill>
            <a:srgbClr val="E1E7F4"/>
          </a:solidFill>
        </p:spPr>
        <p:txBody>
          <a:bodyPr/>
          <a:lstStyle/>
          <a:p>
            <a:endParaRPr/>
          </a:p>
        </p:txBody>
      </p:sp>
      <p:sp>
        <p:nvSpPr>
          <p:cNvPr id="54"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learn.microsoft.com/azure/foundry/openai/concepts/priority-processing · how-to/flex-processing</a:t>
            </a:r>
          </a:p>
          <a:p>
            <a:endParaRPr sz="900">
              <a:solidFill>
                <a:srgbClr val="44495B"/>
              </a:solidFill>
              <a:latin typeface="Segoe UI"/>
            </a:endParaRPr>
          </a:p>
        </p:txBody>
      </p:sp>
      <p:sp>
        <p:nvSpPr>
          <p:cNvPr id="55"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9</a:t>
            </a:r>
          </a:p>
        </p:txBody>
      </p:sp>
      <p:sp>
        <p:nvSpPr>
          <p:cNvPr id="56" name="Rectangle 55"/>
          <p:cNvSpPr/>
          <p:nvPr/>
        </p:nvSpPr>
        <p:spPr>
          <a:xfrm>
            <a:off x="548640" y="5047488"/>
            <a:ext cx="11091672" cy="475488"/>
          </a:xfrm>
          <a:prstGeom prst="rect">
            <a:avLst/>
          </a:prstGeom>
          <a:solidFill>
            <a:srgbClr val="F6F8FD"/>
          </a:solidFill>
          <a:ln w="9525">
            <a:solidFill>
              <a:srgbClr val="E1E7F4"/>
            </a:solidFill>
          </a:ln>
          <a:effectLst/>
        </p:spPr>
        <p:txBody>
          <a:bodyPr wrap="square" rtlCol="0" anchor="ctr"/>
          <a:lstStyle/>
          <a:p>
            <a:endParaRPr/>
          </a:p>
        </p:txBody>
      </p:sp>
      <p:sp>
        <p:nvSpPr>
          <p:cNvPr id="57" name="Rectangle 56"/>
          <p:cNvSpPr/>
          <p:nvPr/>
        </p:nvSpPr>
        <p:spPr>
          <a:xfrm>
            <a:off x="548640" y="5047488"/>
            <a:ext cx="45720" cy="475488"/>
          </a:xfrm>
          <a:prstGeom prst="rect">
            <a:avLst/>
          </a:prstGeom>
          <a:solidFill>
            <a:srgbClr val="00B39F"/>
          </a:solidFill>
          <a:ln>
            <a:noFill/>
          </a:ln>
          <a:effectLst/>
        </p:spPr>
        <p:txBody>
          <a:bodyPr wrap="square" rtlCol="0" anchor="ctr"/>
          <a:lstStyle/>
          <a:p>
            <a:endParaRPr/>
          </a:p>
        </p:txBody>
      </p:sp>
      <p:sp>
        <p:nvSpPr>
          <p:cNvPr id="58" name="TextBox 57"/>
          <p:cNvSpPr txBox="1"/>
          <p:nvPr/>
        </p:nvSpPr>
        <p:spPr>
          <a:xfrm>
            <a:off x="713232" y="5120640"/>
            <a:ext cx="1600200" cy="164592"/>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Flex processing*</a:t>
            </a:r>
          </a:p>
        </p:txBody>
      </p:sp>
      <p:sp>
        <p:nvSpPr>
          <p:cNvPr id="59" name="TextBox 58"/>
          <p:cNvSpPr txBox="1"/>
          <p:nvPr/>
        </p:nvSpPr>
        <p:spPr>
          <a:xfrm>
            <a:off x="713232" y="5312664"/>
            <a:ext cx="1600200"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lower price, variable latency</a:t>
            </a:r>
          </a:p>
        </p:txBody>
      </p:sp>
      <p:cxnSp>
        <p:nvCxnSpPr>
          <p:cNvPr id="60" name="Connector 59"/>
          <p:cNvCxnSpPr/>
          <p:nvPr/>
        </p:nvCxnSpPr>
        <p:spPr>
          <a:xfrm>
            <a:off x="2322576" y="5129783"/>
            <a:ext cx="0" cy="310896"/>
          </a:xfrm>
          <a:prstGeom prst="line">
            <a:avLst/>
          </a:prstGeom>
          <a:ln w="9525">
            <a:solidFill>
              <a:srgbClr val="E1E7F4"/>
            </a:solidFill>
          </a:ln>
        </p:spPr>
      </p:cxnSp>
      <p:sp>
        <p:nvSpPr>
          <p:cNvPr id="61" name="TextBox 60"/>
          <p:cNvSpPr txBox="1"/>
          <p:nvPr/>
        </p:nvSpPr>
        <p:spPr>
          <a:xfrm>
            <a:off x="2395728" y="5102351"/>
            <a:ext cx="2137410" cy="146304"/>
          </a:xfrm>
          <a:prstGeom prst="rect">
            <a:avLst/>
          </a:prstGeom>
          <a:noFill/>
        </p:spPr>
        <p:txBody>
          <a:bodyPr wrap="square" lIns="0" tIns="0" rIns="0" bIns="0" anchor="t">
            <a:spAutoFit/>
          </a:bodyPr>
          <a:lstStyle/>
          <a:p>
            <a:pPr algn="l">
              <a:lnSpc>
                <a:spcPct val="100000"/>
              </a:lnSpc>
            </a:pPr>
            <a:r>
              <a:rPr sz="800" b="1" i="0" dirty="0">
                <a:solidFill>
                  <a:srgbClr val="101A3C"/>
                </a:solidFill>
                <a:latin typeface="Segoe UI"/>
                <a:cs typeface="Segoe UI"/>
              </a:rPr>
              <a:t>Selected per request</a:t>
            </a:r>
          </a:p>
        </p:txBody>
      </p:sp>
      <p:sp>
        <p:nvSpPr>
          <p:cNvPr id="62" name="TextBox 61"/>
          <p:cNvSpPr txBox="1"/>
          <p:nvPr/>
        </p:nvSpPr>
        <p:spPr>
          <a:xfrm>
            <a:off x="2395728" y="5248655"/>
            <a:ext cx="2137410" cy="256032"/>
          </a:xfrm>
          <a:prstGeom prst="rect">
            <a:avLst/>
          </a:prstGeom>
          <a:noFill/>
        </p:spPr>
        <p:txBody>
          <a:bodyPr wrap="square" lIns="0" tIns="0" rIns="0" bIns="0" anchor="t">
            <a:spAutoFit/>
          </a:bodyPr>
          <a:lstStyle/>
          <a:p>
            <a:pPr algn="l">
              <a:lnSpc>
                <a:spcPct val="105000"/>
              </a:lnSpc>
            </a:pPr>
            <a:r>
              <a:rPr sz="750" b="0" i="0" dirty="0">
                <a:solidFill>
                  <a:srgbClr val="44495B"/>
                </a:solidFill>
                <a:latin typeface="Segoe UI"/>
                <a:cs typeface="Segoe UI"/>
              </a:rPr>
              <a:t>service_tier = flex; same Global Standard deployment; not the Batch API</a:t>
            </a:r>
          </a:p>
        </p:txBody>
      </p:sp>
      <p:cxnSp>
        <p:nvCxnSpPr>
          <p:cNvPr id="63" name="Connector 62"/>
          <p:cNvCxnSpPr/>
          <p:nvPr/>
        </p:nvCxnSpPr>
        <p:spPr>
          <a:xfrm>
            <a:off x="4606290" y="5129783"/>
            <a:ext cx="0" cy="310896"/>
          </a:xfrm>
          <a:prstGeom prst="line">
            <a:avLst/>
          </a:prstGeom>
          <a:ln w="9525">
            <a:solidFill>
              <a:srgbClr val="E1E7F4"/>
            </a:solidFill>
          </a:ln>
        </p:spPr>
      </p:cxnSp>
      <p:sp>
        <p:nvSpPr>
          <p:cNvPr id="64" name="TextBox 63"/>
          <p:cNvSpPr txBox="1"/>
          <p:nvPr/>
        </p:nvSpPr>
        <p:spPr>
          <a:xfrm>
            <a:off x="4679442" y="5102351"/>
            <a:ext cx="2137410" cy="146304"/>
          </a:xfrm>
          <a:prstGeom prst="rect">
            <a:avLst/>
          </a:prstGeom>
          <a:noFill/>
        </p:spPr>
        <p:txBody>
          <a:bodyPr wrap="square" lIns="0" tIns="0" rIns="0" bIns="0" anchor="t">
            <a:spAutoFit/>
          </a:bodyPr>
          <a:lstStyle/>
          <a:p>
            <a:pPr algn="l">
              <a:lnSpc>
                <a:spcPct val="100000"/>
              </a:lnSpc>
            </a:pPr>
            <a:r>
              <a:rPr sz="800" b="1" i="0" dirty="0">
                <a:solidFill>
                  <a:srgbClr val="101A3C"/>
                </a:solidFill>
                <a:latin typeface="Segoe UI"/>
                <a:cs typeface="Segoe UI"/>
              </a:rPr>
              <a:t>Price and service level</a:t>
            </a:r>
          </a:p>
        </p:txBody>
      </p:sp>
      <p:sp>
        <p:nvSpPr>
          <p:cNvPr id="65" name="TextBox 64"/>
          <p:cNvSpPr txBox="1"/>
          <p:nvPr/>
        </p:nvSpPr>
        <p:spPr>
          <a:xfrm>
            <a:off x="4679442" y="5248655"/>
            <a:ext cx="2137410" cy="256032"/>
          </a:xfrm>
          <a:prstGeom prst="rect">
            <a:avLst/>
          </a:prstGeom>
          <a:noFill/>
        </p:spPr>
        <p:txBody>
          <a:bodyPr wrap="square" lIns="0" tIns="0" rIns="0" bIns="0" anchor="t">
            <a:spAutoFit/>
          </a:bodyPr>
          <a:lstStyle/>
          <a:p>
            <a:pPr algn="l">
              <a:lnSpc>
                <a:spcPct val="105000"/>
              </a:lnSpc>
            </a:pPr>
            <a:r>
              <a:rPr sz="750" b="0" i="0" dirty="0">
                <a:solidFill>
                  <a:srgbClr val="44495B"/>
                </a:solidFill>
                <a:latin typeface="Segoe UI"/>
                <a:cs typeface="Segoe UI"/>
              </a:rPr>
              <a:t>half the Standard token rate; same model output; no latency or service SLA</a:t>
            </a:r>
          </a:p>
        </p:txBody>
      </p:sp>
      <p:cxnSp>
        <p:nvCxnSpPr>
          <p:cNvPr id="66" name="Connector 65"/>
          <p:cNvCxnSpPr/>
          <p:nvPr/>
        </p:nvCxnSpPr>
        <p:spPr>
          <a:xfrm>
            <a:off x="6890004" y="5129783"/>
            <a:ext cx="0" cy="310896"/>
          </a:xfrm>
          <a:prstGeom prst="line">
            <a:avLst/>
          </a:prstGeom>
          <a:ln w="9525">
            <a:solidFill>
              <a:srgbClr val="E1E7F4"/>
            </a:solidFill>
          </a:ln>
        </p:spPr>
      </p:cxnSp>
      <p:sp>
        <p:nvSpPr>
          <p:cNvPr id="67" name="TextBox 66"/>
          <p:cNvSpPr txBox="1"/>
          <p:nvPr/>
        </p:nvSpPr>
        <p:spPr>
          <a:xfrm>
            <a:off x="6963156" y="5102351"/>
            <a:ext cx="2137410" cy="146304"/>
          </a:xfrm>
          <a:prstGeom prst="rect">
            <a:avLst/>
          </a:prstGeom>
          <a:noFill/>
        </p:spPr>
        <p:txBody>
          <a:bodyPr wrap="square" lIns="0" tIns="0" rIns="0" bIns="0" anchor="t">
            <a:spAutoFit/>
          </a:bodyPr>
          <a:lstStyle/>
          <a:p>
            <a:pPr algn="l">
              <a:lnSpc>
                <a:spcPct val="100000"/>
              </a:lnSpc>
            </a:pPr>
            <a:r>
              <a:rPr sz="800" b="1" i="0" dirty="0">
                <a:solidFill>
                  <a:srgbClr val="101A3C"/>
                </a:solidFill>
                <a:latin typeface="Segoe UI"/>
                <a:cs typeface="Segoe UI"/>
              </a:rPr>
              <a:t>When capacity is short</a:t>
            </a:r>
          </a:p>
        </p:txBody>
      </p:sp>
      <p:sp>
        <p:nvSpPr>
          <p:cNvPr id="68" name="TextBox 67"/>
          <p:cNvSpPr txBox="1"/>
          <p:nvPr/>
        </p:nvSpPr>
        <p:spPr>
          <a:xfrm>
            <a:off x="6963156" y="5248655"/>
            <a:ext cx="2137410" cy="256032"/>
          </a:xfrm>
          <a:prstGeom prst="rect">
            <a:avLst/>
          </a:prstGeom>
          <a:noFill/>
        </p:spPr>
        <p:txBody>
          <a:bodyPr wrap="square" lIns="0" tIns="0" rIns="0" bIns="0" anchor="t">
            <a:spAutoFit/>
          </a:bodyPr>
          <a:lstStyle/>
          <a:p>
            <a:pPr algn="l">
              <a:lnSpc>
                <a:spcPct val="105000"/>
              </a:lnSpc>
            </a:pPr>
            <a:r>
              <a:rPr sz="750" b="0" i="0" dirty="0">
                <a:solidFill>
                  <a:srgbClr val="44495B"/>
                </a:solidFill>
                <a:latin typeface="Segoe UI"/>
                <a:cs typeface="Segoe UI"/>
              </a:rPr>
              <a:t>HTTP 429 and no automatic fallback; retry with service_tier = default</a:t>
            </a:r>
          </a:p>
        </p:txBody>
      </p:sp>
      <p:cxnSp>
        <p:nvCxnSpPr>
          <p:cNvPr id="69" name="Connector 68"/>
          <p:cNvCxnSpPr/>
          <p:nvPr/>
        </p:nvCxnSpPr>
        <p:spPr>
          <a:xfrm>
            <a:off x="9173718" y="5129783"/>
            <a:ext cx="0" cy="310896"/>
          </a:xfrm>
          <a:prstGeom prst="line">
            <a:avLst/>
          </a:prstGeom>
          <a:ln w="9525">
            <a:solidFill>
              <a:srgbClr val="E1E7F4"/>
            </a:solidFill>
          </a:ln>
        </p:spPr>
      </p:cxnSp>
      <p:sp>
        <p:nvSpPr>
          <p:cNvPr id="70" name="TextBox 69"/>
          <p:cNvSpPr txBox="1"/>
          <p:nvPr/>
        </p:nvSpPr>
        <p:spPr>
          <a:xfrm>
            <a:off x="9246870" y="5102351"/>
            <a:ext cx="2137410" cy="146304"/>
          </a:xfrm>
          <a:prstGeom prst="rect">
            <a:avLst/>
          </a:prstGeom>
          <a:noFill/>
        </p:spPr>
        <p:txBody>
          <a:bodyPr wrap="square" lIns="0" tIns="0" rIns="0" bIns="0" anchor="t">
            <a:spAutoFit/>
          </a:bodyPr>
          <a:lstStyle/>
          <a:p>
            <a:pPr algn="l">
              <a:lnSpc>
                <a:spcPct val="100000"/>
              </a:lnSpc>
            </a:pPr>
            <a:r>
              <a:rPr sz="800" b="1" i="0" dirty="0">
                <a:solidFill>
                  <a:srgbClr val="101A3C"/>
                </a:solidFill>
                <a:latin typeface="Segoe UI"/>
                <a:cs typeface="Segoe UI"/>
              </a:rPr>
              <a:t>Supported models</a:t>
            </a:r>
          </a:p>
        </p:txBody>
      </p:sp>
      <p:sp>
        <p:nvSpPr>
          <p:cNvPr id="71" name="TextBox 70"/>
          <p:cNvSpPr txBox="1"/>
          <p:nvPr/>
        </p:nvSpPr>
        <p:spPr>
          <a:xfrm>
            <a:off x="9246870" y="5248655"/>
            <a:ext cx="2137410" cy="256032"/>
          </a:xfrm>
          <a:prstGeom prst="rect">
            <a:avLst/>
          </a:prstGeom>
          <a:noFill/>
        </p:spPr>
        <p:txBody>
          <a:bodyPr wrap="square" lIns="0" tIns="0" rIns="0" bIns="0" anchor="t">
            <a:spAutoFit/>
          </a:bodyPr>
          <a:lstStyle/>
          <a:p>
            <a:pPr algn="l">
              <a:lnSpc>
                <a:spcPct val="105000"/>
              </a:lnSpc>
            </a:pPr>
            <a:r>
              <a:rPr sz="750" b="0" i="0" dirty="0">
                <a:solidFill>
                  <a:srgbClr val="44495B"/>
                </a:solidFill>
                <a:latin typeface="Segoe UI"/>
                <a:cs typeface="Segoe UI"/>
              </a:rPr>
              <a:t>gpt-5.6-sol (2026-07-09) only; any other model returns HTTP 400</a:t>
            </a:r>
          </a:p>
        </p:txBody>
      </p:sp>
      <p:sp>
        <p:nvSpPr>
          <p:cNvPr id="72" name="TextBox 71"/>
          <p:cNvSpPr txBox="1"/>
          <p:nvPr/>
        </p:nvSpPr>
        <p:spPr>
          <a:xfrm>
            <a:off x="7863840" y="5541264"/>
            <a:ext cx="3870655" cy="128016"/>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2   ·   M O D E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Model Router</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A trained router model deployed like any other model; it picks an eligible underlying model per prompt.</a:t>
            </a:r>
          </a:p>
          <a:p>
            <a:endParaRPr sz="1200">
              <a:solidFill>
                <a:srgbClr val="44495B"/>
              </a:solidFill>
              <a:latin typeface="Segoe UI"/>
            </a:endParaRPr>
          </a:p>
        </p:txBody>
      </p:sp>
      <p:sp>
        <p:nvSpPr>
          <p:cNvPr id="5" name="Shape"/>
          <p:cNvSpPr/>
          <p:nvPr/>
        </p:nvSpPr>
        <p:spPr>
          <a:xfrm>
            <a:off x="548640" y="1417320"/>
            <a:ext cx="141732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Your prompt</a:t>
            </a:r>
          </a:p>
          <a:p>
            <a:pPr algn="ctr"/>
            <a:r>
              <a:rPr sz="900">
                <a:solidFill>
                  <a:srgbClr val="141B33"/>
                </a:solidFill>
                <a:latin typeface="Segoe UI"/>
              </a:rPr>
              <a:t>text-only routing</a:t>
            </a:r>
          </a:p>
        </p:txBody>
      </p:sp>
      <p:sp>
        <p:nvSpPr>
          <p:cNvPr id="6" name="Shape"/>
          <p:cNvSpPr/>
          <p:nvPr/>
        </p:nvSpPr>
        <p:spPr>
          <a:xfrm>
            <a:off x="2020824" y="1527048"/>
            <a:ext cx="201168" cy="201168"/>
          </a:xfrm>
          <a:prstGeom prst="rightArrow">
            <a:avLst/>
          </a:prstGeom>
          <a:solidFill>
            <a:srgbClr val="00B39F"/>
          </a:solidFill>
        </p:spPr>
        <p:txBody>
          <a:bodyPr/>
          <a:lstStyle/>
          <a:p>
            <a:endParaRPr/>
          </a:p>
        </p:txBody>
      </p:sp>
      <p:sp>
        <p:nvSpPr>
          <p:cNvPr id="7" name="Shape"/>
          <p:cNvSpPr/>
          <p:nvPr/>
        </p:nvSpPr>
        <p:spPr>
          <a:xfrm>
            <a:off x="2276856" y="1417320"/>
            <a:ext cx="4306824" cy="420624"/>
          </a:xfrm>
          <a:prstGeom prst="rect">
            <a:avLst/>
          </a:prstGeom>
          <a:solidFill>
            <a:srgbClr val="101A3C"/>
          </a:solidFill>
        </p:spPr>
        <p:txBody>
          <a:bodyPr anchor="ctr"/>
          <a:lstStyle/>
          <a:p>
            <a:pPr algn="ctr"/>
            <a:r>
              <a:rPr sz="900">
                <a:solidFill>
                  <a:srgbClr val="FFFFFF"/>
                </a:solidFill>
                <a:latin typeface="Segoe UI"/>
              </a:rPr>
              <a:t>Model Router deployment</a:t>
            </a:r>
          </a:p>
          <a:p>
            <a:pPr algn="ctr"/>
            <a:r>
              <a:rPr sz="900">
                <a:solidFill>
                  <a:srgbClr val="FFFFFF"/>
                </a:solidFill>
                <a:latin typeface="Segoe UI"/>
              </a:rPr>
              <a:t>version 2025-11-18, active and updated in place</a:t>
            </a:r>
          </a:p>
        </p:txBody>
      </p:sp>
      <p:sp>
        <p:nvSpPr>
          <p:cNvPr id="8" name="Shape"/>
          <p:cNvSpPr/>
          <p:nvPr/>
        </p:nvSpPr>
        <p:spPr>
          <a:xfrm>
            <a:off x="548640" y="2057400"/>
            <a:ext cx="1938528" cy="420624"/>
          </a:xfrm>
          <a:prstGeom prst="rect">
            <a:avLst/>
          </a:prstGeom>
          <a:solidFill>
            <a:srgbClr val="00B39F"/>
          </a:solidFill>
        </p:spPr>
        <p:txBody>
          <a:bodyPr anchor="ctr"/>
          <a:lstStyle/>
          <a:p>
            <a:pPr algn="ctr"/>
            <a:r>
              <a:rPr sz="900">
                <a:solidFill>
                  <a:srgbClr val="0B1229"/>
                </a:solidFill>
                <a:latin typeface="Segoe UI"/>
              </a:rPr>
              <a:t>Balanced — default</a:t>
            </a:r>
          </a:p>
          <a:p>
            <a:pPr algn="ctr"/>
            <a:r>
              <a:rPr sz="900">
                <a:solidFill>
                  <a:srgbClr val="0B1229"/>
                </a:solidFill>
                <a:latin typeface="Segoe UI"/>
              </a:rPr>
              <a:t>quality band about 1-2%</a:t>
            </a:r>
          </a:p>
        </p:txBody>
      </p:sp>
      <p:sp>
        <p:nvSpPr>
          <p:cNvPr id="9" name="Shape"/>
          <p:cNvSpPr/>
          <p:nvPr/>
        </p:nvSpPr>
        <p:spPr>
          <a:xfrm>
            <a:off x="2596896" y="2057400"/>
            <a:ext cx="1938528" cy="420624"/>
          </a:xfrm>
          <a:prstGeom prst="rect">
            <a:avLst/>
          </a:prstGeom>
          <a:solidFill>
            <a:srgbClr val="00B39F"/>
          </a:solidFill>
        </p:spPr>
        <p:txBody>
          <a:bodyPr anchor="ctr"/>
          <a:lstStyle/>
          <a:p>
            <a:pPr algn="ctr"/>
            <a:r>
              <a:rPr sz="900">
                <a:solidFill>
                  <a:srgbClr val="0B1229"/>
                </a:solidFill>
                <a:latin typeface="Segoe UI"/>
              </a:rPr>
              <a:t>Cost</a:t>
            </a:r>
          </a:p>
          <a:p>
            <a:pPr algn="ctr"/>
            <a:r>
              <a:rPr sz="900">
                <a:solidFill>
                  <a:srgbClr val="0B1229"/>
                </a:solidFill>
                <a:latin typeface="Segoe UI"/>
              </a:rPr>
              <a:t>quality band about 5-6%</a:t>
            </a:r>
          </a:p>
        </p:txBody>
      </p:sp>
      <p:sp>
        <p:nvSpPr>
          <p:cNvPr id="10" name="Shape"/>
          <p:cNvSpPr/>
          <p:nvPr/>
        </p:nvSpPr>
        <p:spPr>
          <a:xfrm>
            <a:off x="4645152" y="2057400"/>
            <a:ext cx="1938528" cy="420624"/>
          </a:xfrm>
          <a:prstGeom prst="rect">
            <a:avLst/>
          </a:prstGeom>
          <a:solidFill>
            <a:srgbClr val="00B39F"/>
          </a:solidFill>
        </p:spPr>
        <p:txBody>
          <a:bodyPr anchor="ctr"/>
          <a:lstStyle/>
          <a:p>
            <a:pPr algn="ctr"/>
            <a:r>
              <a:rPr sz="900">
                <a:solidFill>
                  <a:srgbClr val="0B1229"/>
                </a:solidFill>
                <a:latin typeface="Segoe UI"/>
              </a:rPr>
              <a:t>Quality</a:t>
            </a:r>
          </a:p>
          <a:p>
            <a:pPr algn="ctr"/>
            <a:r>
              <a:rPr sz="900">
                <a:solidFill>
                  <a:srgbClr val="0B1229"/>
                </a:solidFill>
                <a:latin typeface="Segoe UI"/>
              </a:rPr>
              <a:t>best model, any cost</a:t>
            </a:r>
          </a:p>
        </p:txBody>
      </p:sp>
      <p:sp>
        <p:nvSpPr>
          <p:cNvPr id="11" name="Shape"/>
          <p:cNvSpPr/>
          <p:nvPr/>
        </p:nvSpPr>
        <p:spPr>
          <a:xfrm>
            <a:off x="548640" y="2697480"/>
            <a:ext cx="6035040" cy="566928"/>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Model subset — choose which models take part; new models are not added automatically.</a:t>
            </a:r>
          </a:p>
          <a:p>
            <a:pPr algn="ctr"/>
            <a:r>
              <a:rPr sz="900">
                <a:solidFill>
                  <a:srgbClr val="141B33"/>
                </a:solidFill>
                <a:latin typeface="Segoe UI"/>
              </a:rPr>
              <a:t>Automatic failover is on by default; a subset acts as the fallback set, minimum two models.</a:t>
            </a:r>
          </a:p>
          <a:p>
            <a:r>
              <a:rPr sz="900">
                <a:solidFill>
                  <a:srgbClr val="141B33"/>
                </a:solidFill>
                <a:latin typeface="Segoe UI"/>
              </a:rPr>
              <a:t>Session affinity* keeps the same model across related Chat Completions turns; routing metadata* reports the serving model and ordered attempts.</a:t>
            </a:r>
          </a:p>
        </p:txBody>
      </p:sp>
      <p:sp>
        <p:nvSpPr>
          <p:cNvPr id="12" name="Shape"/>
          <p:cNvSpPr/>
          <p:nvPr/>
        </p:nvSpPr>
        <p:spPr>
          <a:xfrm>
            <a:off x="548640" y="3337560"/>
            <a:ext cx="6035040" cy="960120"/>
          </a:xfrm>
          <a:prstGeom prst="rect">
            <a:avLst/>
          </a:prstGeom>
          <a:solidFill>
            <a:srgbClr val="101A3C"/>
          </a:solidFill>
        </p:spPr>
        <p:txBody>
          <a:bodyPr anchor="ctr"/>
          <a:lstStyle/>
          <a:p>
            <a:pPr algn="ctr"/>
            <a:r>
              <a:rPr sz="900">
                <a:solidFill>
                  <a:srgbClr val="FFFFFF"/>
                </a:solidFill>
                <a:latin typeface="Segoe UI"/>
              </a:rPr>
              <a:t>OpenAI — gpt-5.6 sol / terra / luna, gpt-5.5, gpt-5.4 / mini / nano,</a:t>
            </a:r>
          </a:p>
          <a:p>
            <a:pPr algn="ctr"/>
            <a:r>
              <a:rPr sz="900">
                <a:solidFill>
                  <a:srgbClr val="FFFFFF"/>
                </a:solidFill>
                <a:latin typeface="Segoe UI"/>
              </a:rPr>
              <a:t>gpt-5.2, gpt-5 / mini / nano, o4-mini, gpt-4.1 / mini / nano, gpt-4o,</a:t>
            </a:r>
          </a:p>
          <a:p>
            <a:pPr algn="ctr"/>
            <a:r>
              <a:rPr sz="900">
                <a:solidFill>
                  <a:srgbClr val="FFFFFF"/>
                </a:solidFill>
                <a:latin typeface="Segoe UI"/>
              </a:rPr>
              <a:t>gpt-4o-mini, gpt-oss-120b</a:t>
            </a:r>
          </a:p>
          <a:p>
            <a:pPr algn="ctr"/>
            <a:r>
              <a:rPr sz="900">
                <a:solidFill>
                  <a:srgbClr val="FFFFFF"/>
                </a:solidFill>
                <a:latin typeface="Segoe UI"/>
              </a:rPr>
              <a:t>Anthropic — claude-opus-4-8 / 4-7 / 4-6, sonnet-4-5, haiku-4-5</a:t>
            </a:r>
          </a:p>
          <a:p>
            <a:pPr algn="ctr"/>
            <a:r>
              <a:rPr sz="900">
                <a:solidFill>
                  <a:srgbClr val="FFFFFF"/>
                </a:solidFill>
                <a:latin typeface="Segoe UI"/>
              </a:rPr>
              <a:t>(deploy Claude yourself; the router invokes your deployments)</a:t>
            </a:r>
          </a:p>
          <a:p>
            <a:pPr algn="ctr"/>
            <a:r>
              <a:rPr sz="900">
                <a:solidFill>
                  <a:srgbClr val="FFFFFF"/>
                </a:solidFill>
                <a:latin typeface="Segoe UI"/>
              </a:rPr>
              <a:t>xAI — grok-4-1-fast-reasoning, grok-4 · DeepSeek-V3.2 · Meta Llama-4-Maverick</a:t>
            </a:r>
          </a:p>
        </p:txBody>
      </p:sp>
      <p:sp>
        <p:nvSpPr>
          <p:cNvPr id="13" name="Shape"/>
          <p:cNvSpPr/>
          <p:nvPr/>
        </p:nvSpPr>
        <p:spPr>
          <a:xfrm>
            <a:off x="3474720" y="4361688"/>
            <a:ext cx="182880" cy="164592"/>
          </a:xfrm>
          <a:prstGeom prst="downArrow">
            <a:avLst/>
          </a:prstGeom>
          <a:solidFill>
            <a:srgbClr val="00B39F"/>
          </a:solidFill>
        </p:spPr>
        <p:txBody>
          <a:bodyPr/>
          <a:lstStyle/>
          <a:p>
            <a:endParaRPr/>
          </a:p>
        </p:txBody>
      </p:sp>
      <p:sp>
        <p:nvSpPr>
          <p:cNvPr id="14" name="Shape"/>
          <p:cNvSpPr/>
          <p:nvPr/>
        </p:nvSpPr>
        <p:spPr>
          <a:xfrm>
            <a:off x="548640" y="4599432"/>
            <a:ext cx="603504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Best response</a:t>
            </a:r>
          </a:p>
          <a:p>
            <a:pPr algn="ctr"/>
            <a:r>
              <a:rPr sz="900">
                <a:solidFill>
                  <a:srgbClr val="141B33"/>
                </a:solidFill>
                <a:latin typeface="Segoe UI"/>
              </a:rPr>
              <a:t>returned to your application on one deployment</a:t>
            </a:r>
          </a:p>
        </p:txBody>
      </p:sp>
      <p:sp>
        <p:nvSpPr>
          <p:cNvPr id="15" name="Shape"/>
          <p:cNvSpPr/>
          <p:nvPr/>
        </p:nvSpPr>
        <p:spPr>
          <a:xfrm>
            <a:off x="6821424" y="1417320"/>
            <a:ext cx="2337816" cy="1321308"/>
          </a:xfrm>
          <a:prstGeom prst="rect">
            <a:avLst/>
          </a:prstGeom>
          <a:solidFill>
            <a:srgbClr val="F6F8FD"/>
          </a:solidFill>
          <a:ln w="9525">
            <a:solidFill>
              <a:srgbClr val="E1E7F4"/>
            </a:solidFill>
          </a:ln>
        </p:spPr>
        <p:txBody>
          <a:bodyPr/>
          <a:lstStyle/>
          <a:p>
            <a:endParaRPr/>
          </a:p>
        </p:txBody>
      </p:sp>
      <p:sp>
        <p:nvSpPr>
          <p:cNvPr id="16" name="Shape"/>
          <p:cNvSpPr/>
          <p:nvPr/>
        </p:nvSpPr>
        <p:spPr>
          <a:xfrm>
            <a:off x="6821424" y="1417320"/>
            <a:ext cx="2337816" cy="38405"/>
          </a:xfrm>
          <a:prstGeom prst="rect">
            <a:avLst/>
          </a:prstGeom>
          <a:solidFill>
            <a:srgbClr val="101A3C"/>
          </a:solidFill>
        </p:spPr>
        <p:txBody>
          <a:bodyPr/>
          <a:lstStyle/>
          <a:p>
            <a:endParaRPr/>
          </a:p>
        </p:txBody>
      </p:sp>
      <p:sp>
        <p:nvSpPr>
          <p:cNvPr id="17" name="TextBox"/>
          <p:cNvSpPr txBox="1"/>
          <p:nvPr/>
        </p:nvSpPr>
        <p:spPr>
          <a:xfrm>
            <a:off x="6876288" y="1540764"/>
            <a:ext cx="2228088" cy="457200"/>
          </a:xfrm>
          <a:prstGeom prst="rect">
            <a:avLst/>
          </a:prstGeom>
        </p:spPr>
        <p:txBody>
          <a:bodyPr anchor="ctr"/>
          <a:lstStyle/>
          <a:p>
            <a:r>
              <a:rPr sz="1050" b="1">
                <a:solidFill>
                  <a:srgbClr val="101A3C"/>
                </a:solidFill>
                <a:latin typeface="Segoe UI"/>
              </a:rPr>
              <a:t>Billing</a:t>
            </a:r>
          </a:p>
          <a:p>
            <a:endParaRPr sz="1050" b="1">
              <a:solidFill>
                <a:srgbClr val="101A3C"/>
              </a:solidFill>
              <a:latin typeface="Segoe UI"/>
            </a:endParaRPr>
          </a:p>
        </p:txBody>
      </p:sp>
      <p:sp>
        <p:nvSpPr>
          <p:cNvPr id="18" name="TextBox"/>
          <p:cNvSpPr txBox="1"/>
          <p:nvPr/>
        </p:nvSpPr>
        <p:spPr>
          <a:xfrm>
            <a:off x="6876288" y="1837944"/>
            <a:ext cx="2228088" cy="685800"/>
          </a:xfrm>
          <a:prstGeom prst="rect">
            <a:avLst/>
          </a:prstGeom>
        </p:spPr>
        <p:txBody>
          <a:bodyPr anchor="ctr"/>
          <a:lstStyle/>
          <a:p>
            <a:r>
              <a:rPr sz="900">
                <a:solidFill>
                  <a:srgbClr val="141B33"/>
                </a:solidFill>
                <a:latin typeface="Segoe UI"/>
              </a:rPr>
              <a:t>The router is charged for</a:t>
            </a:r>
          </a:p>
          <a:p>
            <a:r>
              <a:rPr sz="900">
                <a:solidFill>
                  <a:srgbClr val="141B33"/>
                </a:solidFill>
                <a:latin typeface="Segoe UI"/>
              </a:rPr>
              <a:t>input prompts at the rate on</a:t>
            </a:r>
          </a:p>
          <a:p>
            <a:r>
              <a:rPr sz="900">
                <a:solidFill>
                  <a:srgbClr val="141B33"/>
                </a:solidFill>
                <a:latin typeface="Segoe UI"/>
              </a:rPr>
              <a:t>the pricing page; underlying</a:t>
            </a:r>
          </a:p>
          <a:p>
            <a:r>
              <a:rPr sz="900">
                <a:solidFill>
                  <a:srgbClr val="141B33"/>
                </a:solidFill>
                <a:latin typeface="Segoe UI"/>
              </a:rPr>
              <a:t>model tokens bill normally.</a:t>
            </a:r>
          </a:p>
        </p:txBody>
      </p:sp>
      <p:sp>
        <p:nvSpPr>
          <p:cNvPr id="19" name="Shape"/>
          <p:cNvSpPr/>
          <p:nvPr/>
        </p:nvSpPr>
        <p:spPr>
          <a:xfrm>
            <a:off x="9287256" y="1417320"/>
            <a:ext cx="2337816" cy="1321308"/>
          </a:xfrm>
          <a:prstGeom prst="rect">
            <a:avLst/>
          </a:prstGeom>
          <a:solidFill>
            <a:srgbClr val="F6F8FD"/>
          </a:solidFill>
          <a:ln w="9525">
            <a:solidFill>
              <a:srgbClr val="E1E7F4"/>
            </a:solidFill>
          </a:ln>
        </p:spPr>
        <p:txBody>
          <a:bodyPr/>
          <a:lstStyle/>
          <a:p>
            <a:endParaRPr/>
          </a:p>
        </p:txBody>
      </p:sp>
      <p:sp>
        <p:nvSpPr>
          <p:cNvPr id="20" name="Shape"/>
          <p:cNvSpPr/>
          <p:nvPr/>
        </p:nvSpPr>
        <p:spPr>
          <a:xfrm>
            <a:off x="9287256" y="1417320"/>
            <a:ext cx="2337816" cy="38405"/>
          </a:xfrm>
          <a:prstGeom prst="rect">
            <a:avLst/>
          </a:prstGeom>
          <a:solidFill>
            <a:srgbClr val="101A3C"/>
          </a:solidFill>
        </p:spPr>
        <p:txBody>
          <a:bodyPr/>
          <a:lstStyle/>
          <a:p>
            <a:endParaRPr/>
          </a:p>
        </p:txBody>
      </p:sp>
      <p:sp>
        <p:nvSpPr>
          <p:cNvPr id="21" name="TextBox"/>
          <p:cNvSpPr txBox="1"/>
          <p:nvPr/>
        </p:nvSpPr>
        <p:spPr>
          <a:xfrm>
            <a:off x="9342120" y="1540764"/>
            <a:ext cx="2228088" cy="457200"/>
          </a:xfrm>
          <a:prstGeom prst="rect">
            <a:avLst/>
          </a:prstGeom>
        </p:spPr>
        <p:txBody>
          <a:bodyPr anchor="ctr"/>
          <a:lstStyle/>
          <a:p>
            <a:r>
              <a:rPr sz="1050" b="1">
                <a:solidFill>
                  <a:srgbClr val="101A3C"/>
                </a:solidFill>
                <a:latin typeface="Segoe UI"/>
              </a:rPr>
              <a:t>Quota tiers</a:t>
            </a:r>
          </a:p>
          <a:p>
            <a:endParaRPr sz="1050" b="1">
              <a:solidFill>
                <a:srgbClr val="101A3C"/>
              </a:solidFill>
              <a:latin typeface="Segoe UI"/>
            </a:endParaRPr>
          </a:p>
        </p:txBody>
      </p:sp>
      <p:sp>
        <p:nvSpPr>
          <p:cNvPr id="22" name="TextBox"/>
          <p:cNvSpPr txBox="1"/>
          <p:nvPr/>
        </p:nvSpPr>
        <p:spPr>
          <a:xfrm>
            <a:off x="9342120" y="1837944"/>
            <a:ext cx="2228088" cy="822960"/>
          </a:xfrm>
          <a:prstGeom prst="rect">
            <a:avLst/>
          </a:prstGeom>
        </p:spPr>
        <p:txBody>
          <a:bodyPr anchor="ctr"/>
          <a:lstStyle/>
          <a:p>
            <a:r>
              <a:rPr sz="900">
                <a:solidFill>
                  <a:srgbClr val="141B33"/>
                </a:solidFill>
                <a:latin typeface="Segoe UI"/>
              </a:rPr>
              <a:t>GlobalStandard Tier 1:</a:t>
            </a:r>
          </a:p>
          <a:p>
            <a:r>
              <a:rPr sz="900">
                <a:solidFill>
                  <a:srgbClr val="141B33"/>
                </a:solidFill>
                <a:latin typeface="Segoe UI"/>
              </a:rPr>
              <a:t>1,000 RPM / 1M TPM, rising</a:t>
            </a:r>
          </a:p>
          <a:p>
            <a:r>
              <a:rPr sz="900">
                <a:solidFill>
                  <a:srgbClr val="141B33"/>
                </a:solidFill>
                <a:latin typeface="Segoe UI"/>
              </a:rPr>
              <a:t>to Tier 6: 15,000 RPM /</a:t>
            </a:r>
          </a:p>
          <a:p>
            <a:r>
              <a:rPr sz="900">
                <a:solidFill>
                  <a:srgbClr val="141B33"/>
                </a:solidFill>
                <a:latin typeface="Segoe UI"/>
              </a:rPr>
              <a:t>15M TPM. DataZoneStandard</a:t>
            </a:r>
          </a:p>
          <a:p>
            <a:r>
              <a:rPr sz="900">
                <a:solidFill>
                  <a:srgbClr val="141B33"/>
                </a:solidFill>
                <a:latin typeface="Segoe UI"/>
              </a:rPr>
              <a:t>runs 300 RPM to 4,000 RPM.</a:t>
            </a:r>
          </a:p>
        </p:txBody>
      </p:sp>
      <p:sp>
        <p:nvSpPr>
          <p:cNvPr id="23" name="Shape"/>
          <p:cNvSpPr/>
          <p:nvPr/>
        </p:nvSpPr>
        <p:spPr>
          <a:xfrm>
            <a:off x="6821424" y="2866644"/>
            <a:ext cx="2337816" cy="1458468"/>
          </a:xfrm>
          <a:prstGeom prst="rect">
            <a:avLst/>
          </a:prstGeom>
          <a:solidFill>
            <a:srgbClr val="F6F8FD"/>
          </a:solidFill>
          <a:ln w="9525">
            <a:solidFill>
              <a:srgbClr val="E1E7F4"/>
            </a:solidFill>
          </a:ln>
        </p:spPr>
        <p:txBody>
          <a:bodyPr/>
          <a:lstStyle/>
          <a:p>
            <a:endParaRPr/>
          </a:p>
        </p:txBody>
      </p:sp>
      <p:sp>
        <p:nvSpPr>
          <p:cNvPr id="24" name="Shape"/>
          <p:cNvSpPr/>
          <p:nvPr/>
        </p:nvSpPr>
        <p:spPr>
          <a:xfrm>
            <a:off x="6821424" y="2866644"/>
            <a:ext cx="2337816" cy="38405"/>
          </a:xfrm>
          <a:prstGeom prst="rect">
            <a:avLst/>
          </a:prstGeom>
          <a:solidFill>
            <a:srgbClr val="101A3C"/>
          </a:solidFill>
        </p:spPr>
        <p:txBody>
          <a:bodyPr/>
          <a:lstStyle/>
          <a:p>
            <a:endParaRPr/>
          </a:p>
        </p:txBody>
      </p:sp>
      <p:sp>
        <p:nvSpPr>
          <p:cNvPr id="25" name="TextBox"/>
          <p:cNvSpPr txBox="1"/>
          <p:nvPr/>
        </p:nvSpPr>
        <p:spPr>
          <a:xfrm>
            <a:off x="6876288" y="2990088"/>
            <a:ext cx="2228088" cy="457200"/>
          </a:xfrm>
          <a:prstGeom prst="rect">
            <a:avLst/>
          </a:prstGeom>
        </p:spPr>
        <p:txBody>
          <a:bodyPr anchor="ctr"/>
          <a:lstStyle/>
          <a:p>
            <a:r>
              <a:rPr sz="1050" b="1">
                <a:solidFill>
                  <a:srgbClr val="101A3C"/>
                </a:solidFill>
                <a:latin typeface="Segoe UI"/>
              </a:rPr>
              <a:t>Limits</a:t>
            </a:r>
          </a:p>
          <a:p>
            <a:endParaRPr sz="1050" b="1">
              <a:solidFill>
                <a:srgbClr val="101A3C"/>
              </a:solidFill>
              <a:latin typeface="Segoe UI"/>
            </a:endParaRPr>
          </a:p>
        </p:txBody>
      </p:sp>
      <p:sp>
        <p:nvSpPr>
          <p:cNvPr id="26" name="TextBox"/>
          <p:cNvSpPr txBox="1"/>
          <p:nvPr/>
        </p:nvSpPr>
        <p:spPr>
          <a:xfrm>
            <a:off x="6876288" y="3287268"/>
            <a:ext cx="2228088" cy="960120"/>
          </a:xfrm>
          <a:prstGeom prst="rect">
            <a:avLst/>
          </a:prstGeom>
        </p:spPr>
        <p:txBody>
          <a:bodyPr anchor="ctr"/>
          <a:lstStyle/>
          <a:p>
            <a:r>
              <a:rPr sz="900">
                <a:solidFill>
                  <a:srgbClr val="141B33"/>
                </a:solidFill>
                <a:latin typeface="Segoe UI"/>
              </a:rPr>
              <a:t>Effective context window is</a:t>
            </a:r>
          </a:p>
          <a:p>
            <a:r>
              <a:rPr sz="900">
                <a:solidFill>
                  <a:srgbClr val="141B33"/>
                </a:solidFill>
                <a:latin typeface="Segoe UI"/>
              </a:rPr>
              <a:t>the smallest model in the</a:t>
            </a:r>
          </a:p>
          <a:p>
            <a:r>
              <a:rPr sz="900">
                <a:solidFill>
                  <a:srgbClr val="141B33"/>
                </a:solidFill>
                <a:latin typeface="Segoe UI"/>
              </a:rPr>
              <a:t>pool — use a subset.</a:t>
            </a:r>
          </a:p>
          <a:p>
            <a:r>
              <a:rPr sz="900">
                <a:solidFill>
                  <a:srgbClr val="141B33"/>
                </a:solidFill>
                <a:latin typeface="Segoe UI"/>
              </a:rPr>
              <a:t>Routing is on text only and</a:t>
            </a:r>
          </a:p>
          <a:p>
            <a:r>
              <a:rPr sz="900">
                <a:solidFill>
                  <a:srgbClr val="141B33"/>
                </a:solidFill>
                <a:latin typeface="Segoe UI"/>
              </a:rPr>
              <a:t>there is no audio input.</a:t>
            </a:r>
          </a:p>
          <a:p>
            <a:r>
              <a:rPr sz="900">
                <a:solidFill>
                  <a:srgbClr val="141B33"/>
                </a:solidFill>
                <a:latin typeface="Segoe UI"/>
              </a:rPr>
              <a:t>Evaluation target only.</a:t>
            </a:r>
          </a:p>
        </p:txBody>
      </p:sp>
      <p:sp>
        <p:nvSpPr>
          <p:cNvPr id="27" name="Shape"/>
          <p:cNvSpPr/>
          <p:nvPr/>
        </p:nvSpPr>
        <p:spPr>
          <a:xfrm>
            <a:off x="9287256" y="2866644"/>
            <a:ext cx="2337816" cy="1737360"/>
          </a:xfrm>
          <a:prstGeom prst="rect">
            <a:avLst/>
          </a:prstGeom>
          <a:solidFill>
            <a:srgbClr val="F6F8FD"/>
          </a:solidFill>
          <a:ln w="9525">
            <a:solidFill>
              <a:srgbClr val="E1E7F4"/>
            </a:solidFill>
          </a:ln>
        </p:spPr>
        <p:txBody>
          <a:bodyPr/>
          <a:lstStyle/>
          <a:p>
            <a:endParaRPr/>
          </a:p>
        </p:txBody>
      </p:sp>
      <p:sp>
        <p:nvSpPr>
          <p:cNvPr id="28" name="Shape"/>
          <p:cNvSpPr/>
          <p:nvPr/>
        </p:nvSpPr>
        <p:spPr>
          <a:xfrm>
            <a:off x="9287256" y="2866644"/>
            <a:ext cx="2337816" cy="38405"/>
          </a:xfrm>
          <a:prstGeom prst="rect">
            <a:avLst/>
          </a:prstGeom>
          <a:solidFill>
            <a:srgbClr val="101A3C"/>
          </a:solidFill>
        </p:spPr>
        <p:txBody>
          <a:bodyPr/>
          <a:lstStyle/>
          <a:p>
            <a:endParaRPr/>
          </a:p>
        </p:txBody>
      </p:sp>
      <p:sp>
        <p:nvSpPr>
          <p:cNvPr id="29" name="TextBox"/>
          <p:cNvSpPr txBox="1"/>
          <p:nvPr/>
        </p:nvSpPr>
        <p:spPr>
          <a:xfrm>
            <a:off x="9342120" y="2990088"/>
            <a:ext cx="2228088" cy="457200"/>
          </a:xfrm>
          <a:prstGeom prst="rect">
            <a:avLst/>
          </a:prstGeom>
        </p:spPr>
        <p:txBody>
          <a:bodyPr anchor="ctr"/>
          <a:lstStyle/>
          <a:p>
            <a:r>
              <a:rPr sz="1050" b="1">
                <a:solidFill>
                  <a:srgbClr val="101A3C"/>
                </a:solidFill>
                <a:latin typeface="Segoe UI"/>
              </a:rPr>
              <a:t>Governance</a:t>
            </a:r>
          </a:p>
          <a:p>
            <a:endParaRPr sz="1050" b="1">
              <a:solidFill>
                <a:srgbClr val="101A3C"/>
              </a:solidFill>
              <a:latin typeface="Segoe UI"/>
            </a:endParaRPr>
          </a:p>
        </p:txBody>
      </p:sp>
      <p:sp>
        <p:nvSpPr>
          <p:cNvPr id="30" name="TextBox"/>
          <p:cNvSpPr txBox="1"/>
          <p:nvPr/>
        </p:nvSpPr>
        <p:spPr>
          <a:xfrm>
            <a:off x="9342120" y="3287268"/>
            <a:ext cx="2228088" cy="1115568"/>
          </a:xfrm>
          <a:prstGeom prst="rect">
            <a:avLst/>
          </a:prstGeom>
        </p:spPr>
        <p:txBody>
          <a:bodyPr anchor="ctr"/>
          <a:lstStyle/>
          <a:p>
            <a:r>
              <a:rPr sz="900">
                <a:solidFill>
                  <a:srgbClr val="141B33"/>
                </a:solidFill>
                <a:latin typeface="Segoe UI"/>
              </a:rPr>
              <a:t>Azure Policy governs which</a:t>
            </a:r>
          </a:p>
          <a:p>
            <a:r>
              <a:rPr sz="900">
                <a:solidFill>
                  <a:srgbClr val="141B33"/>
                </a:solidFill>
                <a:latin typeface="Segoe UI"/>
              </a:rPr>
              <a:t>subsets may be used. The</a:t>
            </a:r>
          </a:p>
          <a:p>
            <a:r>
              <a:rPr sz="900">
                <a:solidFill>
                  <a:srgbClr val="141B33"/>
                </a:solidFill>
                <a:latin typeface="Segoe UI"/>
              </a:rPr>
              <a:t>router honours data-zone</a:t>
            </a:r>
          </a:p>
          <a:p>
            <a:r>
              <a:rPr sz="900">
                <a:solidFill>
                  <a:srgbClr val="141B33"/>
                </a:solidFill>
                <a:latin typeface="Segoe UI"/>
              </a:rPr>
              <a:t>boundaries and does not</a:t>
            </a:r>
          </a:p>
          <a:p>
            <a:r>
              <a:rPr sz="900">
                <a:solidFill>
                  <a:srgbClr val="141B33"/>
                </a:solidFill>
                <a:latin typeface="Segoe UI"/>
              </a:rPr>
              <a:t>store your prompts. Now in</a:t>
            </a:r>
          </a:p>
          <a:p>
            <a:r>
              <a:rPr sz="900">
                <a:solidFill>
                  <a:srgbClr val="141B33"/>
                </a:solidFill>
                <a:latin typeface="Segoe UI"/>
              </a:rPr>
              <a:t>32 regions, 23 of them with</a:t>
            </a:r>
          </a:p>
          <a:p>
            <a:r>
              <a:rPr sz="900">
                <a:solidFill>
                  <a:srgbClr val="141B33"/>
                </a:solidFill>
                <a:latin typeface="Segoe UI"/>
              </a:rPr>
              <a:t>Data Zone Standard.</a:t>
            </a:r>
          </a:p>
        </p:txBody>
      </p:sp>
      <p:sp>
        <p:nvSpPr>
          <p:cNvPr id="31" name="Shape"/>
          <p:cNvSpPr/>
          <p:nvPr/>
        </p:nvSpPr>
        <p:spPr>
          <a:xfrm>
            <a:off x="6821424" y="4453128"/>
            <a:ext cx="4821936" cy="909828"/>
          </a:xfrm>
          <a:prstGeom prst="rect">
            <a:avLst/>
          </a:prstGeom>
          <a:solidFill>
            <a:srgbClr val="F6F8FD"/>
          </a:solidFill>
          <a:ln w="9525">
            <a:solidFill>
              <a:srgbClr val="E1E7F4"/>
            </a:solidFill>
          </a:ln>
        </p:spPr>
        <p:txBody>
          <a:bodyPr/>
          <a:lstStyle/>
          <a:p>
            <a:endParaRPr/>
          </a:p>
        </p:txBody>
      </p:sp>
      <p:sp>
        <p:nvSpPr>
          <p:cNvPr id="32" name="Shape"/>
          <p:cNvSpPr/>
          <p:nvPr/>
        </p:nvSpPr>
        <p:spPr>
          <a:xfrm>
            <a:off x="6821424" y="4453128"/>
            <a:ext cx="4821936" cy="38405"/>
          </a:xfrm>
          <a:prstGeom prst="rect">
            <a:avLst/>
          </a:prstGeom>
          <a:solidFill>
            <a:srgbClr val="00B39F"/>
          </a:solidFill>
        </p:spPr>
        <p:txBody>
          <a:bodyPr/>
          <a:lstStyle/>
          <a:p>
            <a:endParaRPr/>
          </a:p>
        </p:txBody>
      </p:sp>
      <p:sp>
        <p:nvSpPr>
          <p:cNvPr id="33" name="TextBox"/>
          <p:cNvSpPr txBox="1"/>
          <p:nvPr/>
        </p:nvSpPr>
        <p:spPr>
          <a:xfrm>
            <a:off x="6876288" y="4576572"/>
            <a:ext cx="4712208" cy="457200"/>
          </a:xfrm>
          <a:prstGeom prst="rect">
            <a:avLst/>
          </a:prstGeom>
        </p:spPr>
        <p:txBody>
          <a:bodyPr anchor="ctr"/>
          <a:lstStyle/>
          <a:p>
            <a:r>
              <a:rPr sz="1050" b="1">
                <a:solidFill>
                  <a:srgbClr val="101A3C"/>
                </a:solidFill>
                <a:latin typeface="Segoe UI"/>
              </a:rPr>
              <a:t>Retired from the routing pool</a:t>
            </a:r>
          </a:p>
          <a:p>
            <a:endParaRPr sz="1050" b="1">
              <a:solidFill>
                <a:srgbClr val="101A3C"/>
              </a:solidFill>
              <a:latin typeface="Segoe UI"/>
            </a:endParaRPr>
          </a:p>
        </p:txBody>
      </p:sp>
      <p:sp>
        <p:nvSpPr>
          <p:cNvPr id="34" name="TextBox"/>
          <p:cNvSpPr txBox="1"/>
          <p:nvPr/>
        </p:nvSpPr>
        <p:spPr>
          <a:xfrm>
            <a:off x="6876288" y="4873752"/>
            <a:ext cx="4712208" cy="411480"/>
          </a:xfrm>
          <a:prstGeom prst="rect">
            <a:avLst/>
          </a:prstGeom>
        </p:spPr>
        <p:txBody>
          <a:bodyPr anchor="ctr"/>
          <a:lstStyle/>
          <a:p>
            <a:r>
              <a:rPr sz="900">
                <a:solidFill>
                  <a:srgbClr val="141B33"/>
                </a:solidFill>
                <a:latin typeface="Segoe UI"/>
              </a:rPr>
              <a:t>gpt-5-chat, gpt-5.2-chat, gpt-5.3-chat,</a:t>
            </a:r>
          </a:p>
          <a:p>
            <a:r>
              <a:rPr sz="900">
                <a:solidFill>
                  <a:srgbClr val="141B33"/>
                </a:solidFill>
                <a:latin typeface="Segoe UI"/>
              </a:rPr>
              <a:t>DeepSeek-V3.1 and claude-opus-4.1</a:t>
            </a:r>
          </a:p>
        </p:txBody>
      </p:sp>
      <p:sp>
        <p:nvSpPr>
          <p:cNvPr id="35" name="Shape"/>
          <p:cNvSpPr/>
          <p:nvPr/>
        </p:nvSpPr>
        <p:spPr>
          <a:xfrm>
            <a:off x="548640" y="5687568"/>
            <a:ext cx="11094720" cy="9525"/>
          </a:xfrm>
          <a:prstGeom prst="rect">
            <a:avLst/>
          </a:prstGeom>
          <a:solidFill>
            <a:srgbClr val="E1E7F4"/>
          </a:solidFill>
        </p:spPr>
        <p:txBody>
          <a:bodyPr/>
          <a:lstStyle/>
          <a:p>
            <a:endParaRPr/>
          </a:p>
        </p:txBody>
      </p:sp>
      <p:sp>
        <p:nvSpPr>
          <p:cNvPr id="36"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learn.microsoft.com/azure/foundry/openai/concepts/model-router</a:t>
            </a:r>
          </a:p>
          <a:p>
            <a:endParaRPr sz="900">
              <a:solidFill>
                <a:srgbClr val="44495B"/>
              </a:solidFill>
              <a:latin typeface="Segoe UI"/>
            </a:endParaRPr>
          </a:p>
        </p:txBody>
      </p:sp>
      <p:sp>
        <p:nvSpPr>
          <p:cNvPr id="37"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3   ·   D A T A   A N D   T O O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Tools, Toolboxes and Skills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A tool is one capability; a toolbox bundles tools behind one MCP endpoint; a skill packages a multi-step procedure.</a:t>
            </a:r>
          </a:p>
          <a:p>
            <a:endParaRPr sz="1200">
              <a:solidFill>
                <a:srgbClr val="44495B"/>
              </a:solidFill>
              <a:latin typeface="Segoe UI"/>
            </a:endParaRPr>
          </a:p>
        </p:txBody>
      </p:sp>
      <p:sp>
        <p:nvSpPr>
          <p:cNvPr id="31" name="Shape"/>
          <p:cNvSpPr/>
          <p:nvPr/>
        </p:nvSpPr>
        <p:spPr>
          <a:xfrm>
            <a:off x="548640" y="5458968"/>
            <a:ext cx="11094720" cy="9525"/>
          </a:xfrm>
          <a:prstGeom prst="rect">
            <a:avLst/>
          </a:prstGeom>
          <a:solidFill>
            <a:srgbClr val="E1E7F4"/>
          </a:solidFill>
        </p:spPr>
        <p:txBody>
          <a:bodyPr/>
          <a:lstStyle/>
          <a:p>
            <a:endParaRPr/>
          </a:p>
        </p:txBody>
      </p:sp>
      <p:sp>
        <p:nvSpPr>
          <p:cNvPr id="32"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learn.microsoft.com/azure/foundry/agents/concepts/toolbox-overview</a:t>
            </a:r>
          </a:p>
          <a:p>
            <a:endParaRPr sz="900">
              <a:solidFill>
                <a:srgbClr val="44495B"/>
              </a:solidFill>
              <a:latin typeface="Segoe UI"/>
            </a:endParaRPr>
          </a:p>
        </p:txBody>
      </p:sp>
      <p:sp>
        <p:nvSpPr>
          <p:cNvPr id="33"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11</a:t>
            </a:r>
          </a:p>
        </p:txBody>
      </p:sp>
      <p:sp>
        <p:nvSpPr>
          <p:cNvPr id="34" name="Rectangle 33"/>
          <p:cNvSpPr/>
          <p:nvPr/>
        </p:nvSpPr>
        <p:spPr>
          <a:xfrm>
            <a:off x="548640" y="1298448"/>
            <a:ext cx="3575304" cy="960120"/>
          </a:xfrm>
          <a:prstGeom prst="rect">
            <a:avLst/>
          </a:prstGeom>
          <a:solidFill>
            <a:srgbClr val="F6F8FD"/>
          </a:solidFill>
          <a:ln w="9525">
            <a:solidFill>
              <a:srgbClr val="E1E7F4"/>
            </a:solidFill>
          </a:ln>
          <a:effectLst/>
        </p:spPr>
        <p:txBody>
          <a:bodyPr rtlCol="0" anchor="ctr"/>
          <a:lstStyle/>
          <a:p>
            <a:pPr algn="ctr"/>
            <a:endParaRPr/>
          </a:p>
        </p:txBody>
      </p:sp>
      <p:sp>
        <p:nvSpPr>
          <p:cNvPr id="35" name="Rectangle 34"/>
          <p:cNvSpPr/>
          <p:nvPr/>
        </p:nvSpPr>
        <p:spPr>
          <a:xfrm>
            <a:off x="548640" y="1298448"/>
            <a:ext cx="3575304" cy="45720"/>
          </a:xfrm>
          <a:prstGeom prst="rect">
            <a:avLst/>
          </a:prstGeom>
          <a:solidFill>
            <a:srgbClr val="00B39F"/>
          </a:solidFill>
          <a:ln>
            <a:noFill/>
          </a:ln>
          <a:effectLst/>
        </p:spPr>
        <p:txBody>
          <a:bodyPr rtlCol="0" anchor="ctr"/>
          <a:lstStyle/>
          <a:p>
            <a:pPr algn="ctr"/>
            <a:endParaRPr/>
          </a:p>
        </p:txBody>
      </p:sp>
      <p:sp>
        <p:nvSpPr>
          <p:cNvPr id="36" name="TextBox 35"/>
          <p:cNvSpPr txBox="1"/>
          <p:nvPr/>
        </p:nvSpPr>
        <p:spPr>
          <a:xfrm>
            <a:off x="548640" y="1353312"/>
            <a:ext cx="3575304" cy="886968"/>
          </a:xfrm>
          <a:prstGeom prst="rect">
            <a:avLst/>
          </a:prstGeom>
          <a:noFill/>
        </p:spPr>
        <p:txBody>
          <a:bodyPr wrap="square" lIns="73152" tIns="27432" rIns="73152" bIns="27432" anchor="t">
            <a:spAutoFit/>
          </a:bodyPr>
          <a:lstStyle/>
          <a:p>
            <a:pPr algn="l"/>
            <a:r>
              <a:rPr sz="850" b="1">
                <a:solidFill>
                  <a:srgbClr val="141B33"/>
                </a:solidFill>
                <a:latin typeface="Segoe UI"/>
              </a:rPr>
              <a:t>Tool</a:t>
            </a:r>
          </a:p>
          <a:p>
            <a:pPr algn="l">
              <a:spcBef>
                <a:spcPts val="300"/>
              </a:spcBef>
            </a:pPr>
            <a:r>
              <a:rPr sz="850" b="0">
                <a:solidFill>
                  <a:srgbClr val="141B33"/>
                </a:solidFill>
                <a:latin typeface="Segoe UI"/>
              </a:rPr>
              <a:t>A capability an agent can invoke during a conversation. The model decides whether to call it from its instructions and the tool definitions; your app or the service executes it and the result flows back.</a:t>
            </a:r>
          </a:p>
        </p:txBody>
      </p:sp>
      <p:sp>
        <p:nvSpPr>
          <p:cNvPr id="37" name="Rectangle 36"/>
          <p:cNvSpPr/>
          <p:nvPr/>
        </p:nvSpPr>
        <p:spPr>
          <a:xfrm>
            <a:off x="4306824" y="1298448"/>
            <a:ext cx="3575304" cy="960120"/>
          </a:xfrm>
          <a:prstGeom prst="rect">
            <a:avLst/>
          </a:prstGeom>
          <a:solidFill>
            <a:srgbClr val="F6F8FD"/>
          </a:solidFill>
          <a:ln w="9525">
            <a:solidFill>
              <a:srgbClr val="E1E7F4"/>
            </a:solidFill>
          </a:ln>
          <a:effectLst/>
        </p:spPr>
        <p:txBody>
          <a:bodyPr rtlCol="0" anchor="ctr"/>
          <a:lstStyle/>
          <a:p>
            <a:pPr algn="ctr"/>
            <a:endParaRPr/>
          </a:p>
        </p:txBody>
      </p:sp>
      <p:sp>
        <p:nvSpPr>
          <p:cNvPr id="38" name="Rectangle 37"/>
          <p:cNvSpPr/>
          <p:nvPr/>
        </p:nvSpPr>
        <p:spPr>
          <a:xfrm>
            <a:off x="4306824" y="1298448"/>
            <a:ext cx="3575304" cy="45720"/>
          </a:xfrm>
          <a:prstGeom prst="rect">
            <a:avLst/>
          </a:prstGeom>
          <a:solidFill>
            <a:srgbClr val="00B39F"/>
          </a:solidFill>
          <a:ln>
            <a:noFill/>
          </a:ln>
          <a:effectLst/>
        </p:spPr>
        <p:txBody>
          <a:bodyPr rtlCol="0" anchor="ctr"/>
          <a:lstStyle/>
          <a:p>
            <a:pPr algn="ctr"/>
            <a:endParaRPr/>
          </a:p>
        </p:txBody>
      </p:sp>
      <p:sp>
        <p:nvSpPr>
          <p:cNvPr id="39" name="TextBox 38"/>
          <p:cNvSpPr txBox="1"/>
          <p:nvPr/>
        </p:nvSpPr>
        <p:spPr>
          <a:xfrm>
            <a:off x="4306824" y="1353312"/>
            <a:ext cx="3575304" cy="886968"/>
          </a:xfrm>
          <a:prstGeom prst="rect">
            <a:avLst/>
          </a:prstGeom>
          <a:noFill/>
        </p:spPr>
        <p:txBody>
          <a:bodyPr wrap="square" lIns="73152" tIns="27432" rIns="73152" bIns="27432" anchor="t">
            <a:spAutoFit/>
          </a:bodyPr>
          <a:lstStyle/>
          <a:p>
            <a:pPr algn="l"/>
            <a:r>
              <a:rPr sz="850" b="1">
                <a:solidFill>
                  <a:srgbClr val="141B33"/>
                </a:solidFill>
                <a:latin typeface="Segoe UI"/>
              </a:rPr>
              <a:t>Toolbox</a:t>
            </a:r>
          </a:p>
          <a:p>
            <a:pPr algn="l">
              <a:spcBef>
                <a:spcPts val="300"/>
              </a:spcBef>
            </a:pPr>
            <a:r>
              <a:rPr sz="850" b="0">
                <a:solidFill>
                  <a:srgbClr val="141B33"/>
                </a:solidFill>
                <a:latin typeface="Segoe UI"/>
              </a:rPr>
              <a:t>A curated bundle of tools configured once and exposed as a single MCP-compatible endpoint. Any MCP-capable runtime can consume it — prompt agents, Agent Framework, LangGraph, GitHub Copilot SDK or custom code.</a:t>
            </a:r>
          </a:p>
        </p:txBody>
      </p:sp>
      <p:sp>
        <p:nvSpPr>
          <p:cNvPr id="40" name="Rectangle 39"/>
          <p:cNvSpPr/>
          <p:nvPr/>
        </p:nvSpPr>
        <p:spPr>
          <a:xfrm>
            <a:off x="8065008" y="1298448"/>
            <a:ext cx="3575304" cy="960120"/>
          </a:xfrm>
          <a:prstGeom prst="rect">
            <a:avLst/>
          </a:prstGeom>
          <a:solidFill>
            <a:srgbClr val="F6F8FD"/>
          </a:solidFill>
          <a:ln w="9525">
            <a:solidFill>
              <a:srgbClr val="E1E7F4"/>
            </a:solidFill>
          </a:ln>
          <a:effectLst/>
        </p:spPr>
        <p:txBody>
          <a:bodyPr rtlCol="0" anchor="ctr"/>
          <a:lstStyle/>
          <a:p>
            <a:pPr algn="ctr"/>
            <a:endParaRPr/>
          </a:p>
        </p:txBody>
      </p:sp>
      <p:sp>
        <p:nvSpPr>
          <p:cNvPr id="41" name="Rectangle 40"/>
          <p:cNvSpPr/>
          <p:nvPr/>
        </p:nvSpPr>
        <p:spPr>
          <a:xfrm>
            <a:off x="8065008" y="1298448"/>
            <a:ext cx="3575304" cy="45720"/>
          </a:xfrm>
          <a:prstGeom prst="rect">
            <a:avLst/>
          </a:prstGeom>
          <a:solidFill>
            <a:srgbClr val="101A3C"/>
          </a:solidFill>
          <a:ln>
            <a:noFill/>
          </a:ln>
          <a:effectLst/>
        </p:spPr>
        <p:txBody>
          <a:bodyPr rtlCol="0" anchor="ctr"/>
          <a:lstStyle/>
          <a:p>
            <a:pPr algn="ctr"/>
            <a:endParaRPr/>
          </a:p>
        </p:txBody>
      </p:sp>
      <p:sp>
        <p:nvSpPr>
          <p:cNvPr id="42" name="TextBox 41"/>
          <p:cNvSpPr txBox="1"/>
          <p:nvPr/>
        </p:nvSpPr>
        <p:spPr>
          <a:xfrm>
            <a:off x="8065008" y="1353312"/>
            <a:ext cx="3575304" cy="886968"/>
          </a:xfrm>
          <a:prstGeom prst="rect">
            <a:avLst/>
          </a:prstGeom>
          <a:noFill/>
        </p:spPr>
        <p:txBody>
          <a:bodyPr wrap="square" lIns="73152" tIns="27432" rIns="73152" bIns="27432" anchor="t">
            <a:spAutoFit/>
          </a:bodyPr>
          <a:lstStyle/>
          <a:p>
            <a:pPr algn="l"/>
            <a:r>
              <a:rPr sz="850" b="1">
                <a:solidFill>
                  <a:srgbClr val="141B33"/>
                </a:solidFill>
                <a:latin typeface="Segoe UI"/>
              </a:rPr>
              <a:t>Skill*</a:t>
            </a:r>
          </a:p>
          <a:p>
            <a:pPr algn="l">
              <a:spcBef>
                <a:spcPts val="300"/>
              </a:spcBef>
            </a:pPr>
            <a:r>
              <a:rPr sz="850" b="0">
                <a:solidFill>
                  <a:srgbClr val="141B33"/>
                </a:solidFill>
                <a:latin typeface="Segoe UI"/>
              </a:rPr>
              <a:t>Tools define what an agent can do; skills define how it performs a task. A skill packages a reusable multi-step procedure, versioned and immutable, that agents discover through MCP resources.</a:t>
            </a:r>
          </a:p>
        </p:txBody>
      </p:sp>
      <p:sp>
        <p:nvSpPr>
          <p:cNvPr id="43" name="TextBox 42"/>
          <p:cNvSpPr txBox="1"/>
          <p:nvPr/>
        </p:nvSpPr>
        <p:spPr>
          <a:xfrm>
            <a:off x="548640" y="2459736"/>
            <a:ext cx="73152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HOW TOOLS REACH AN AGENT</a:t>
            </a:r>
          </a:p>
        </p:txBody>
      </p:sp>
      <p:sp>
        <p:nvSpPr>
          <p:cNvPr id="44" name="Rectangle 43"/>
          <p:cNvSpPr/>
          <p:nvPr/>
        </p:nvSpPr>
        <p:spPr>
          <a:xfrm>
            <a:off x="548640" y="2715768"/>
            <a:ext cx="11091672" cy="365760"/>
          </a:xfrm>
          <a:prstGeom prst="rect">
            <a:avLst/>
          </a:prstGeom>
          <a:solidFill>
            <a:srgbClr val="EBEFF7"/>
          </a:solidFill>
          <a:ln>
            <a:noFill/>
          </a:ln>
          <a:effectLst/>
        </p:spPr>
        <p:txBody>
          <a:bodyPr rtlCol="0" anchor="ctr"/>
          <a:lstStyle/>
          <a:p>
            <a:pPr algn="ctr"/>
            <a:endParaRPr/>
          </a:p>
        </p:txBody>
      </p:sp>
      <p:sp>
        <p:nvSpPr>
          <p:cNvPr id="45" name="TextBox 44"/>
          <p:cNvSpPr txBox="1"/>
          <p:nvPr/>
        </p:nvSpPr>
        <p:spPr>
          <a:xfrm>
            <a:off x="548640" y="2715768"/>
            <a:ext cx="11091672" cy="365760"/>
          </a:xfrm>
          <a:prstGeom prst="rect">
            <a:avLst/>
          </a:prstGeom>
          <a:noFill/>
        </p:spPr>
        <p:txBody>
          <a:bodyPr wrap="square" lIns="73152" tIns="27432" rIns="73152" bIns="27432" anchor="ctr">
            <a:spAutoFit/>
          </a:bodyPr>
          <a:lstStyle/>
          <a:p>
            <a:pPr algn="ctr"/>
            <a:r>
              <a:rPr sz="850" b="1">
                <a:solidFill>
                  <a:srgbClr val="141B33"/>
                </a:solidFill>
                <a:latin typeface="Segoe UI"/>
              </a:rPr>
              <a:t>Agents  </a:t>
            </a:r>
            <a:r>
              <a:rPr sz="850" b="0">
                <a:solidFill>
                  <a:srgbClr val="141B33"/>
                </a:solidFill>
                <a:latin typeface="Segoe UI"/>
              </a:rPr>
              <a:t>prompt agent · hosted agent (Agent Framework, LangGraph, GitHub Copilot SDK, custom code) · any MCP-capable runtime</a:t>
            </a:r>
          </a:p>
        </p:txBody>
      </p:sp>
      <p:sp>
        <p:nvSpPr>
          <p:cNvPr id="46" name="Down Arrow 45"/>
          <p:cNvSpPr/>
          <p:nvPr/>
        </p:nvSpPr>
        <p:spPr>
          <a:xfrm>
            <a:off x="5989320" y="3108959"/>
            <a:ext cx="201168" cy="164592"/>
          </a:xfrm>
          <a:prstGeom prst="downArrow">
            <a:avLst/>
          </a:prstGeom>
          <a:solidFill>
            <a:srgbClr val="00B39F"/>
          </a:solidFill>
          <a:ln>
            <a:noFill/>
          </a:ln>
          <a:effectLst/>
        </p:spPr>
        <p:txBody>
          <a:bodyPr rtlCol="0" anchor="ctr"/>
          <a:lstStyle/>
          <a:p>
            <a:pPr algn="ctr"/>
            <a:endParaRPr/>
          </a:p>
        </p:txBody>
      </p:sp>
      <p:sp>
        <p:nvSpPr>
          <p:cNvPr id="47" name="Rectangle 46"/>
          <p:cNvSpPr/>
          <p:nvPr/>
        </p:nvSpPr>
        <p:spPr>
          <a:xfrm>
            <a:off x="548640" y="3300983"/>
            <a:ext cx="11091672" cy="420624"/>
          </a:xfrm>
          <a:prstGeom prst="rect">
            <a:avLst/>
          </a:prstGeom>
          <a:solidFill>
            <a:srgbClr val="101A3C"/>
          </a:solidFill>
          <a:ln>
            <a:noFill/>
          </a:ln>
          <a:effectLst/>
        </p:spPr>
        <p:txBody>
          <a:bodyPr rtlCol="0" anchor="ctr"/>
          <a:lstStyle/>
          <a:p>
            <a:pPr algn="ctr"/>
            <a:endParaRPr/>
          </a:p>
        </p:txBody>
      </p:sp>
      <p:sp>
        <p:nvSpPr>
          <p:cNvPr id="48" name="TextBox 47"/>
          <p:cNvSpPr txBox="1"/>
          <p:nvPr/>
        </p:nvSpPr>
        <p:spPr>
          <a:xfrm>
            <a:off x="548640" y="3300983"/>
            <a:ext cx="11091672" cy="420624"/>
          </a:xfrm>
          <a:prstGeom prst="rect">
            <a:avLst/>
          </a:prstGeom>
          <a:noFill/>
        </p:spPr>
        <p:txBody>
          <a:bodyPr wrap="square" lIns="73152" tIns="27432" rIns="73152" bIns="27432" anchor="ctr">
            <a:spAutoFit/>
          </a:bodyPr>
          <a:lstStyle/>
          <a:p>
            <a:pPr algn="ctr"/>
            <a:r>
              <a:rPr sz="850" b="1">
                <a:solidFill>
                  <a:srgbClr val="FFFFFF"/>
                </a:solidFill>
                <a:latin typeface="Segoe UI"/>
              </a:rPr>
              <a:t>Toolbox — one MCP-compatible endpoint  </a:t>
            </a:r>
            <a:r>
              <a:rPr sz="850" b="0">
                <a:solidFill>
                  <a:srgbClr val="FFFFFF"/>
                </a:solidFill>
                <a:latin typeface="Segoe UI"/>
              </a:rPr>
              <a:t>centralised authentication (key · Entra managed identity · OAuth on-behalf-of) · guardrails on tool input and output · versioning with a promoted default</a:t>
            </a:r>
          </a:p>
        </p:txBody>
      </p:sp>
      <p:sp>
        <p:nvSpPr>
          <p:cNvPr id="49" name="Down Arrow 48"/>
          <p:cNvSpPr/>
          <p:nvPr/>
        </p:nvSpPr>
        <p:spPr>
          <a:xfrm>
            <a:off x="5989320" y="3749039"/>
            <a:ext cx="201168" cy="164592"/>
          </a:xfrm>
          <a:prstGeom prst="downArrow">
            <a:avLst/>
          </a:prstGeom>
          <a:solidFill>
            <a:srgbClr val="00B39F"/>
          </a:solidFill>
          <a:ln>
            <a:noFill/>
          </a:ln>
          <a:effectLst/>
        </p:spPr>
        <p:txBody>
          <a:bodyPr rtlCol="0" anchor="ctr"/>
          <a:lstStyle/>
          <a:p>
            <a:pPr algn="ctr"/>
            <a:endParaRPr/>
          </a:p>
        </p:txBody>
      </p:sp>
      <p:sp>
        <p:nvSpPr>
          <p:cNvPr id="50" name="Rectangle 49"/>
          <p:cNvSpPr/>
          <p:nvPr/>
        </p:nvSpPr>
        <p:spPr>
          <a:xfrm>
            <a:off x="548640" y="3959351"/>
            <a:ext cx="5074920" cy="1417320"/>
          </a:xfrm>
          <a:prstGeom prst="rect">
            <a:avLst/>
          </a:prstGeom>
          <a:solidFill>
            <a:srgbClr val="F6F8FD"/>
          </a:solidFill>
          <a:ln w="9525">
            <a:solidFill>
              <a:srgbClr val="E1E7F4"/>
            </a:solidFill>
          </a:ln>
          <a:effectLst/>
        </p:spPr>
        <p:txBody>
          <a:bodyPr rtlCol="0" anchor="ctr"/>
          <a:lstStyle/>
          <a:p>
            <a:pPr algn="ctr"/>
            <a:endParaRPr/>
          </a:p>
        </p:txBody>
      </p:sp>
      <p:sp>
        <p:nvSpPr>
          <p:cNvPr id="51" name="TextBox 50"/>
          <p:cNvSpPr txBox="1"/>
          <p:nvPr/>
        </p:nvSpPr>
        <p:spPr>
          <a:xfrm>
            <a:off x="548640" y="3977639"/>
            <a:ext cx="5074920" cy="237744"/>
          </a:xfrm>
          <a:prstGeom prst="rect">
            <a:avLst/>
          </a:prstGeom>
          <a:noFill/>
        </p:spPr>
        <p:txBody>
          <a:bodyPr wrap="square" lIns="73152" tIns="27432" rIns="73152" bIns="27432" anchor="ctr">
            <a:spAutoFit/>
          </a:bodyPr>
          <a:lstStyle/>
          <a:p>
            <a:pPr algn="l"/>
            <a:r>
              <a:rPr sz="850" b="1">
                <a:solidFill>
                  <a:srgbClr val="008173"/>
                </a:solidFill>
                <a:latin typeface="Segoe UI"/>
              </a:rPr>
              <a:t>Available through a Toolbox</a:t>
            </a:r>
          </a:p>
        </p:txBody>
      </p:sp>
      <p:sp>
        <p:nvSpPr>
          <p:cNvPr id="52" name="Rectangle 51"/>
          <p:cNvSpPr/>
          <p:nvPr/>
        </p:nvSpPr>
        <p:spPr>
          <a:xfrm>
            <a:off x="621792" y="425195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53" name="TextBox 52"/>
          <p:cNvSpPr txBox="1"/>
          <p:nvPr/>
        </p:nvSpPr>
        <p:spPr>
          <a:xfrm>
            <a:off x="621792" y="425195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Web search</a:t>
            </a:r>
          </a:p>
        </p:txBody>
      </p:sp>
      <p:sp>
        <p:nvSpPr>
          <p:cNvPr id="54" name="Rectangle 53"/>
          <p:cNvSpPr/>
          <p:nvPr/>
        </p:nvSpPr>
        <p:spPr>
          <a:xfrm>
            <a:off x="1865376" y="425195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55" name="TextBox 54"/>
          <p:cNvSpPr txBox="1"/>
          <p:nvPr/>
        </p:nvSpPr>
        <p:spPr>
          <a:xfrm>
            <a:off x="1865376" y="425195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Azure AI Search</a:t>
            </a:r>
          </a:p>
        </p:txBody>
      </p:sp>
      <p:sp>
        <p:nvSpPr>
          <p:cNvPr id="56" name="Rectangle 55"/>
          <p:cNvSpPr/>
          <p:nvPr/>
        </p:nvSpPr>
        <p:spPr>
          <a:xfrm>
            <a:off x="3108960" y="425195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57" name="TextBox 56"/>
          <p:cNvSpPr txBox="1"/>
          <p:nvPr/>
        </p:nvSpPr>
        <p:spPr>
          <a:xfrm>
            <a:off x="3108960" y="425195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Code interpreter</a:t>
            </a:r>
          </a:p>
        </p:txBody>
      </p:sp>
      <p:sp>
        <p:nvSpPr>
          <p:cNvPr id="58" name="Rectangle 57"/>
          <p:cNvSpPr/>
          <p:nvPr/>
        </p:nvSpPr>
        <p:spPr>
          <a:xfrm>
            <a:off x="4352544" y="425195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59" name="TextBox 58"/>
          <p:cNvSpPr txBox="1"/>
          <p:nvPr/>
        </p:nvSpPr>
        <p:spPr>
          <a:xfrm>
            <a:off x="4352544" y="425195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File search</a:t>
            </a:r>
          </a:p>
        </p:txBody>
      </p:sp>
      <p:sp>
        <p:nvSpPr>
          <p:cNvPr id="60" name="Rectangle 59"/>
          <p:cNvSpPr/>
          <p:nvPr/>
        </p:nvSpPr>
        <p:spPr>
          <a:xfrm>
            <a:off x="621792" y="4617720"/>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61" name="TextBox 60"/>
          <p:cNvSpPr txBox="1"/>
          <p:nvPr/>
        </p:nvSpPr>
        <p:spPr>
          <a:xfrm>
            <a:off x="621792" y="4617720"/>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OpenAPI</a:t>
            </a:r>
          </a:p>
        </p:txBody>
      </p:sp>
      <p:sp>
        <p:nvSpPr>
          <p:cNvPr id="62" name="Rectangle 61"/>
          <p:cNvSpPr/>
          <p:nvPr/>
        </p:nvSpPr>
        <p:spPr>
          <a:xfrm>
            <a:off x="1865376" y="4617720"/>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63" name="TextBox 62"/>
          <p:cNvSpPr txBox="1"/>
          <p:nvPr/>
        </p:nvSpPr>
        <p:spPr>
          <a:xfrm>
            <a:off x="1865376" y="4617720"/>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MCP servers</a:t>
            </a:r>
          </a:p>
        </p:txBody>
      </p:sp>
      <p:sp>
        <p:nvSpPr>
          <p:cNvPr id="64" name="Rectangle 63"/>
          <p:cNvSpPr/>
          <p:nvPr/>
        </p:nvSpPr>
        <p:spPr>
          <a:xfrm>
            <a:off x="3108960" y="4617720"/>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65" name="TextBox 64"/>
          <p:cNvSpPr txBox="1"/>
          <p:nvPr/>
        </p:nvSpPr>
        <p:spPr>
          <a:xfrm>
            <a:off x="3108960" y="4617720"/>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A2A*</a:t>
            </a:r>
          </a:p>
        </p:txBody>
      </p:sp>
      <p:sp>
        <p:nvSpPr>
          <p:cNvPr id="66" name="Rectangle 65"/>
          <p:cNvSpPr/>
          <p:nvPr/>
        </p:nvSpPr>
        <p:spPr>
          <a:xfrm>
            <a:off x="4352544" y="4617720"/>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67" name="TextBox 66"/>
          <p:cNvSpPr txBox="1"/>
          <p:nvPr/>
        </p:nvSpPr>
        <p:spPr>
          <a:xfrm>
            <a:off x="4352544" y="4617720"/>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Browser automation*</a:t>
            </a:r>
          </a:p>
        </p:txBody>
      </p:sp>
      <p:sp>
        <p:nvSpPr>
          <p:cNvPr id="68" name="Rectangle 67"/>
          <p:cNvSpPr/>
          <p:nvPr/>
        </p:nvSpPr>
        <p:spPr>
          <a:xfrm>
            <a:off x="621792" y="498347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69" name="TextBox 68"/>
          <p:cNvSpPr txBox="1"/>
          <p:nvPr/>
        </p:nvSpPr>
        <p:spPr>
          <a:xfrm>
            <a:off x="621792" y="498347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Foundry IQ</a:t>
            </a:r>
          </a:p>
        </p:txBody>
      </p:sp>
      <p:sp>
        <p:nvSpPr>
          <p:cNvPr id="70" name="Rectangle 69"/>
          <p:cNvSpPr/>
          <p:nvPr/>
        </p:nvSpPr>
        <p:spPr>
          <a:xfrm>
            <a:off x="1865376" y="498347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71" name="TextBox 70"/>
          <p:cNvSpPr txBox="1"/>
          <p:nvPr/>
        </p:nvSpPr>
        <p:spPr>
          <a:xfrm>
            <a:off x="1865376" y="498347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Work IQ*</a:t>
            </a:r>
          </a:p>
        </p:txBody>
      </p:sp>
      <p:sp>
        <p:nvSpPr>
          <p:cNvPr id="72" name="Rectangle 71"/>
          <p:cNvSpPr/>
          <p:nvPr/>
        </p:nvSpPr>
        <p:spPr>
          <a:xfrm>
            <a:off x="3108960" y="498347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73" name="TextBox 72"/>
          <p:cNvSpPr txBox="1"/>
          <p:nvPr/>
        </p:nvSpPr>
        <p:spPr>
          <a:xfrm>
            <a:off x="3108960" y="498347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Fabric IQ*</a:t>
            </a:r>
          </a:p>
        </p:txBody>
      </p:sp>
      <p:sp>
        <p:nvSpPr>
          <p:cNvPr id="74" name="Rectangle 73"/>
          <p:cNvSpPr/>
          <p:nvPr/>
        </p:nvSpPr>
        <p:spPr>
          <a:xfrm>
            <a:off x="5760720" y="3959351"/>
            <a:ext cx="2651760" cy="1417320"/>
          </a:xfrm>
          <a:prstGeom prst="rect">
            <a:avLst/>
          </a:prstGeom>
          <a:solidFill>
            <a:srgbClr val="F6F8FD"/>
          </a:solidFill>
          <a:ln w="9525">
            <a:solidFill>
              <a:srgbClr val="E1E7F4"/>
            </a:solidFill>
          </a:ln>
          <a:effectLst/>
        </p:spPr>
        <p:txBody>
          <a:bodyPr rtlCol="0" anchor="ctr"/>
          <a:lstStyle/>
          <a:p>
            <a:pPr algn="ctr"/>
            <a:endParaRPr/>
          </a:p>
        </p:txBody>
      </p:sp>
      <p:sp>
        <p:nvSpPr>
          <p:cNvPr id="75" name="TextBox 74"/>
          <p:cNvSpPr txBox="1"/>
          <p:nvPr/>
        </p:nvSpPr>
        <p:spPr>
          <a:xfrm>
            <a:off x="5760720" y="3977639"/>
            <a:ext cx="2651760" cy="237744"/>
          </a:xfrm>
          <a:prstGeom prst="rect">
            <a:avLst/>
          </a:prstGeom>
          <a:noFill/>
        </p:spPr>
        <p:txBody>
          <a:bodyPr wrap="square" lIns="73152" tIns="27432" rIns="73152" bIns="27432" anchor="ctr">
            <a:spAutoFit/>
          </a:bodyPr>
          <a:lstStyle/>
          <a:p>
            <a:pPr algn="l"/>
            <a:r>
              <a:rPr sz="850" b="1">
                <a:solidFill>
                  <a:srgbClr val="008173"/>
                </a:solidFill>
                <a:latin typeface="Segoe UI"/>
              </a:rPr>
              <a:t>Toolbox only</a:t>
            </a:r>
          </a:p>
        </p:txBody>
      </p:sp>
      <p:sp>
        <p:nvSpPr>
          <p:cNvPr id="76" name="Rectangle 75"/>
          <p:cNvSpPr/>
          <p:nvPr/>
        </p:nvSpPr>
        <p:spPr>
          <a:xfrm>
            <a:off x="5833872" y="425195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77" name="TextBox 76"/>
          <p:cNvSpPr txBox="1"/>
          <p:nvPr/>
        </p:nvSpPr>
        <p:spPr>
          <a:xfrm>
            <a:off x="5833872" y="425195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Tool search*</a:t>
            </a:r>
          </a:p>
        </p:txBody>
      </p:sp>
      <p:sp>
        <p:nvSpPr>
          <p:cNvPr id="78" name="Rectangle 77"/>
          <p:cNvSpPr/>
          <p:nvPr/>
        </p:nvSpPr>
        <p:spPr>
          <a:xfrm>
            <a:off x="7077456" y="425195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79" name="TextBox 78"/>
          <p:cNvSpPr txBox="1"/>
          <p:nvPr/>
        </p:nvSpPr>
        <p:spPr>
          <a:xfrm>
            <a:off x="7077456" y="425195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Skills*</a:t>
            </a:r>
          </a:p>
        </p:txBody>
      </p:sp>
      <p:sp>
        <p:nvSpPr>
          <p:cNvPr id="80" name="Rectangle 79"/>
          <p:cNvSpPr/>
          <p:nvPr/>
        </p:nvSpPr>
        <p:spPr>
          <a:xfrm>
            <a:off x="5833872" y="4617720"/>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81" name="TextBox 80"/>
          <p:cNvSpPr txBox="1"/>
          <p:nvPr/>
        </p:nvSpPr>
        <p:spPr>
          <a:xfrm>
            <a:off x="5833872" y="4617720"/>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Reminder tool*</a:t>
            </a:r>
          </a:p>
        </p:txBody>
      </p:sp>
      <p:sp>
        <p:nvSpPr>
          <p:cNvPr id="82" name="Rectangle 81"/>
          <p:cNvSpPr/>
          <p:nvPr/>
        </p:nvSpPr>
        <p:spPr>
          <a:xfrm>
            <a:off x="8549640" y="3959351"/>
            <a:ext cx="3090672" cy="1417320"/>
          </a:xfrm>
          <a:prstGeom prst="rect">
            <a:avLst/>
          </a:prstGeom>
          <a:solidFill>
            <a:srgbClr val="FFFFFF"/>
          </a:solidFill>
          <a:ln w="9525">
            <a:solidFill>
              <a:srgbClr val="E1E7F4"/>
            </a:solidFill>
          </a:ln>
          <a:effectLst/>
        </p:spPr>
        <p:txBody>
          <a:bodyPr rtlCol="0" anchor="ctr"/>
          <a:lstStyle/>
          <a:p>
            <a:pPr algn="ctr"/>
            <a:endParaRPr/>
          </a:p>
        </p:txBody>
      </p:sp>
      <p:sp>
        <p:nvSpPr>
          <p:cNvPr id="83" name="TextBox 82"/>
          <p:cNvSpPr txBox="1"/>
          <p:nvPr/>
        </p:nvSpPr>
        <p:spPr>
          <a:xfrm>
            <a:off x="8549640" y="3977639"/>
            <a:ext cx="3090672" cy="237744"/>
          </a:xfrm>
          <a:prstGeom prst="rect">
            <a:avLst/>
          </a:prstGeom>
          <a:noFill/>
        </p:spPr>
        <p:txBody>
          <a:bodyPr wrap="square" lIns="73152" tIns="27432" rIns="73152" bIns="27432" anchor="ctr">
            <a:spAutoFit/>
          </a:bodyPr>
          <a:lstStyle/>
          <a:p>
            <a:pPr algn="l"/>
            <a:r>
              <a:rPr sz="850" b="1">
                <a:solidFill>
                  <a:srgbClr val="44495B"/>
                </a:solidFill>
                <a:latin typeface="Segoe UI"/>
              </a:rPr>
              <a:t>Direct integration only</a:t>
            </a:r>
          </a:p>
        </p:txBody>
      </p:sp>
      <p:sp>
        <p:nvSpPr>
          <p:cNvPr id="84" name="Rectangle 83"/>
          <p:cNvSpPr/>
          <p:nvPr/>
        </p:nvSpPr>
        <p:spPr>
          <a:xfrm>
            <a:off x="8622792" y="4251959"/>
            <a:ext cx="1463040" cy="201168"/>
          </a:xfrm>
          <a:prstGeom prst="rect">
            <a:avLst/>
          </a:prstGeom>
          <a:solidFill>
            <a:srgbClr val="EBEFF7"/>
          </a:solidFill>
          <a:ln>
            <a:noFill/>
          </a:ln>
          <a:effectLst/>
        </p:spPr>
        <p:txBody>
          <a:bodyPr rtlCol="0" anchor="ctr"/>
          <a:lstStyle/>
          <a:p>
            <a:pPr algn="ctr"/>
            <a:endParaRPr/>
          </a:p>
        </p:txBody>
      </p:sp>
      <p:sp>
        <p:nvSpPr>
          <p:cNvPr id="85" name="TextBox 84"/>
          <p:cNvSpPr txBox="1"/>
          <p:nvPr/>
        </p:nvSpPr>
        <p:spPr>
          <a:xfrm>
            <a:off x="8622792" y="4251959"/>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Function calling</a:t>
            </a:r>
          </a:p>
        </p:txBody>
      </p:sp>
      <p:sp>
        <p:nvSpPr>
          <p:cNvPr id="86" name="Rectangle 85"/>
          <p:cNvSpPr/>
          <p:nvPr/>
        </p:nvSpPr>
        <p:spPr>
          <a:xfrm>
            <a:off x="10140696" y="4251959"/>
            <a:ext cx="1463040" cy="201168"/>
          </a:xfrm>
          <a:prstGeom prst="rect">
            <a:avLst/>
          </a:prstGeom>
          <a:solidFill>
            <a:srgbClr val="EBEFF7"/>
          </a:solidFill>
          <a:ln>
            <a:noFill/>
          </a:ln>
          <a:effectLst/>
        </p:spPr>
        <p:txBody>
          <a:bodyPr rtlCol="0" anchor="ctr"/>
          <a:lstStyle/>
          <a:p>
            <a:pPr algn="ctr"/>
            <a:endParaRPr/>
          </a:p>
        </p:txBody>
      </p:sp>
      <p:sp>
        <p:nvSpPr>
          <p:cNvPr id="87" name="TextBox 86"/>
          <p:cNvSpPr txBox="1"/>
          <p:nvPr/>
        </p:nvSpPr>
        <p:spPr>
          <a:xfrm>
            <a:off x="10140696" y="4251959"/>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Grounding with Bing</a:t>
            </a:r>
          </a:p>
        </p:txBody>
      </p:sp>
      <p:sp>
        <p:nvSpPr>
          <p:cNvPr id="88" name="Rectangle 87"/>
          <p:cNvSpPr/>
          <p:nvPr/>
        </p:nvSpPr>
        <p:spPr>
          <a:xfrm>
            <a:off x="8622792" y="4475988"/>
            <a:ext cx="1463040" cy="201168"/>
          </a:xfrm>
          <a:prstGeom prst="rect">
            <a:avLst/>
          </a:prstGeom>
          <a:solidFill>
            <a:srgbClr val="EBEFF7"/>
          </a:solidFill>
          <a:ln>
            <a:noFill/>
          </a:ln>
          <a:effectLst/>
        </p:spPr>
        <p:txBody>
          <a:bodyPr rtlCol="0" anchor="ctr"/>
          <a:lstStyle/>
          <a:p>
            <a:pPr algn="ctr"/>
            <a:endParaRPr/>
          </a:p>
        </p:txBody>
      </p:sp>
      <p:sp>
        <p:nvSpPr>
          <p:cNvPr id="89" name="TextBox 88"/>
          <p:cNvSpPr txBox="1"/>
          <p:nvPr/>
        </p:nvSpPr>
        <p:spPr>
          <a:xfrm>
            <a:off x="8622792" y="4475988"/>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Computer use*</a:t>
            </a:r>
          </a:p>
        </p:txBody>
      </p:sp>
      <p:sp>
        <p:nvSpPr>
          <p:cNvPr id="90" name="Rectangle 89"/>
          <p:cNvSpPr/>
          <p:nvPr/>
        </p:nvSpPr>
        <p:spPr>
          <a:xfrm>
            <a:off x="10140696" y="4475988"/>
            <a:ext cx="1463040" cy="201168"/>
          </a:xfrm>
          <a:prstGeom prst="rect">
            <a:avLst/>
          </a:prstGeom>
          <a:solidFill>
            <a:srgbClr val="EBEFF7"/>
          </a:solidFill>
          <a:ln>
            <a:noFill/>
          </a:ln>
          <a:effectLst/>
        </p:spPr>
        <p:txBody>
          <a:bodyPr rtlCol="0" anchor="ctr"/>
          <a:lstStyle/>
          <a:p>
            <a:pPr algn="ctr"/>
            <a:endParaRPr/>
          </a:p>
        </p:txBody>
      </p:sp>
      <p:sp>
        <p:nvSpPr>
          <p:cNvPr id="91" name="TextBox 90"/>
          <p:cNvSpPr txBox="1"/>
          <p:nvPr/>
        </p:nvSpPr>
        <p:spPr>
          <a:xfrm>
            <a:off x="10140696" y="4475988"/>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Image generation*</a:t>
            </a:r>
          </a:p>
        </p:txBody>
      </p:sp>
      <p:sp>
        <p:nvSpPr>
          <p:cNvPr id="92" name="Rectangle 91"/>
          <p:cNvSpPr/>
          <p:nvPr/>
        </p:nvSpPr>
        <p:spPr>
          <a:xfrm>
            <a:off x="8622792" y="4700016"/>
            <a:ext cx="1463040" cy="201168"/>
          </a:xfrm>
          <a:prstGeom prst="rect">
            <a:avLst/>
          </a:prstGeom>
          <a:solidFill>
            <a:srgbClr val="EBEFF7"/>
          </a:solidFill>
          <a:ln>
            <a:noFill/>
          </a:ln>
          <a:effectLst/>
        </p:spPr>
        <p:txBody>
          <a:bodyPr rtlCol="0" anchor="ctr"/>
          <a:lstStyle/>
          <a:p>
            <a:pPr algn="ctr"/>
            <a:endParaRPr/>
          </a:p>
        </p:txBody>
      </p:sp>
      <p:sp>
        <p:nvSpPr>
          <p:cNvPr id="93" name="TextBox 92"/>
          <p:cNvSpPr txBox="1"/>
          <p:nvPr/>
        </p:nvSpPr>
        <p:spPr>
          <a:xfrm>
            <a:off x="8622792" y="4700016"/>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SharePoint*</a:t>
            </a:r>
          </a:p>
        </p:txBody>
      </p:sp>
      <p:sp>
        <p:nvSpPr>
          <p:cNvPr id="94" name="Rectangle 93"/>
          <p:cNvSpPr/>
          <p:nvPr/>
        </p:nvSpPr>
        <p:spPr>
          <a:xfrm>
            <a:off x="10140696" y="4700016"/>
            <a:ext cx="1463040" cy="201168"/>
          </a:xfrm>
          <a:prstGeom prst="rect">
            <a:avLst/>
          </a:prstGeom>
          <a:solidFill>
            <a:srgbClr val="EBEFF7"/>
          </a:solidFill>
          <a:ln>
            <a:noFill/>
          </a:ln>
          <a:effectLst/>
        </p:spPr>
        <p:txBody>
          <a:bodyPr rtlCol="0" anchor="ctr"/>
          <a:lstStyle/>
          <a:p>
            <a:pPr algn="ctr"/>
            <a:endParaRPr/>
          </a:p>
        </p:txBody>
      </p:sp>
      <p:sp>
        <p:nvSpPr>
          <p:cNvPr id="95" name="TextBox 94"/>
          <p:cNvSpPr txBox="1"/>
          <p:nvPr/>
        </p:nvSpPr>
        <p:spPr>
          <a:xfrm>
            <a:off x="10140696" y="4700016"/>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Fabric data agent*</a:t>
            </a:r>
          </a:p>
        </p:txBody>
      </p:sp>
      <p:sp>
        <p:nvSpPr>
          <p:cNvPr id="96" name="Rectangle 95"/>
          <p:cNvSpPr/>
          <p:nvPr/>
        </p:nvSpPr>
        <p:spPr>
          <a:xfrm>
            <a:off x="8622792" y="4924044"/>
            <a:ext cx="1463040" cy="201168"/>
          </a:xfrm>
          <a:prstGeom prst="rect">
            <a:avLst/>
          </a:prstGeom>
          <a:solidFill>
            <a:srgbClr val="EBEFF7"/>
          </a:solidFill>
          <a:ln>
            <a:noFill/>
          </a:ln>
          <a:effectLst/>
        </p:spPr>
        <p:txBody>
          <a:bodyPr rtlCol="0" anchor="ctr"/>
          <a:lstStyle/>
          <a:p>
            <a:pPr algn="ctr"/>
            <a:endParaRPr/>
          </a:p>
        </p:txBody>
      </p:sp>
      <p:sp>
        <p:nvSpPr>
          <p:cNvPr id="97" name="TextBox 96"/>
          <p:cNvSpPr txBox="1"/>
          <p:nvPr/>
        </p:nvSpPr>
        <p:spPr>
          <a:xfrm>
            <a:off x="8622792" y="4924044"/>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Azure Functions</a:t>
            </a:r>
          </a:p>
        </p:txBody>
      </p:sp>
      <p:sp>
        <p:nvSpPr>
          <p:cNvPr id="98" name="TextBox 97"/>
          <p:cNvSpPr txBox="1"/>
          <p:nvPr/>
        </p:nvSpPr>
        <p:spPr>
          <a:xfrm>
            <a:off x="548640" y="5431536"/>
            <a:ext cx="73152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3   ·   D A T A   A N D   T O O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Foundry IQ: knowledge bases and agentic retrieval</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Azure AI Search underneath; a knowledge base plans, fans out, reranks and synthesises results.</a:t>
            </a:r>
          </a:p>
          <a:p>
            <a:endParaRPr sz="1200">
              <a:solidFill>
                <a:srgbClr val="44495B"/>
              </a:solidFill>
              <a:latin typeface="Segoe UI"/>
            </a:endParaRPr>
          </a:p>
        </p:txBody>
      </p:sp>
      <p:sp>
        <p:nvSpPr>
          <p:cNvPr id="5" name="Shape"/>
          <p:cNvSpPr/>
          <p:nvPr/>
        </p:nvSpPr>
        <p:spPr>
          <a:xfrm>
            <a:off x="548640" y="1417320"/>
            <a:ext cx="640080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Agent in Foundry Agent Service</a:t>
            </a:r>
          </a:p>
          <a:p>
            <a:pPr algn="ctr"/>
            <a:r>
              <a:rPr sz="900">
                <a:solidFill>
                  <a:srgbClr val="141B33"/>
                </a:solidFill>
                <a:latin typeface="Segoe UI"/>
              </a:rPr>
              <a:t>connects through a project connection using the MCP tool</a:t>
            </a:r>
          </a:p>
        </p:txBody>
      </p:sp>
      <p:sp>
        <p:nvSpPr>
          <p:cNvPr id="6" name="Shape"/>
          <p:cNvSpPr/>
          <p:nvPr/>
        </p:nvSpPr>
        <p:spPr>
          <a:xfrm>
            <a:off x="3657600" y="1865376"/>
            <a:ext cx="182880" cy="164592"/>
          </a:xfrm>
          <a:prstGeom prst="downArrow">
            <a:avLst/>
          </a:prstGeom>
          <a:solidFill>
            <a:srgbClr val="00B39F"/>
          </a:solidFill>
        </p:spPr>
        <p:txBody>
          <a:bodyPr/>
          <a:lstStyle/>
          <a:p>
            <a:endParaRPr/>
          </a:p>
        </p:txBody>
      </p:sp>
      <p:sp>
        <p:nvSpPr>
          <p:cNvPr id="7" name="Shape"/>
          <p:cNvSpPr/>
          <p:nvPr/>
        </p:nvSpPr>
        <p:spPr>
          <a:xfrm>
            <a:off x="548640" y="2075688"/>
            <a:ext cx="6400800" cy="1335024"/>
          </a:xfrm>
          <a:prstGeom prst="roundRect">
            <a:avLst/>
          </a:prstGeom>
          <a:solidFill>
            <a:srgbClr val="F6F8FD"/>
          </a:solidFill>
          <a:ln w="12700">
            <a:solidFill>
              <a:srgbClr val="101A3C"/>
            </a:solidFill>
            <a:prstDash val="dash"/>
          </a:ln>
        </p:spPr>
        <p:txBody>
          <a:bodyPr/>
          <a:lstStyle/>
          <a:p>
            <a:endParaRPr/>
          </a:p>
        </p:txBody>
      </p:sp>
      <p:sp>
        <p:nvSpPr>
          <p:cNvPr id="8" name="TextBox"/>
          <p:cNvSpPr txBox="1"/>
          <p:nvPr/>
        </p:nvSpPr>
        <p:spPr>
          <a:xfrm>
            <a:off x="594360" y="2125980"/>
            <a:ext cx="6309360" cy="411480"/>
          </a:xfrm>
          <a:prstGeom prst="rect">
            <a:avLst/>
          </a:prstGeom>
        </p:spPr>
        <p:txBody>
          <a:bodyPr anchor="ctr"/>
          <a:lstStyle/>
          <a:p>
            <a:r>
              <a:rPr sz="900" b="1">
                <a:solidFill>
                  <a:srgbClr val="44495B"/>
                </a:solidFill>
                <a:latin typeface="Segoe UI"/>
              </a:rPr>
              <a:t>K N O W L E D G E   B A S E   —   A Z U R E   A I   S E A R C H</a:t>
            </a:r>
          </a:p>
          <a:p>
            <a:endParaRPr sz="900" b="1">
              <a:solidFill>
                <a:srgbClr val="44495B"/>
              </a:solidFill>
              <a:latin typeface="Segoe UI"/>
            </a:endParaRPr>
          </a:p>
        </p:txBody>
      </p:sp>
      <p:sp>
        <p:nvSpPr>
          <p:cNvPr id="9" name="Shape"/>
          <p:cNvSpPr/>
          <p:nvPr/>
        </p:nvSpPr>
        <p:spPr>
          <a:xfrm>
            <a:off x="676656" y="2587752"/>
            <a:ext cx="1474470" cy="420624"/>
          </a:xfrm>
          <a:prstGeom prst="rect">
            <a:avLst/>
          </a:prstGeom>
          <a:solidFill>
            <a:srgbClr val="101A3C"/>
          </a:solidFill>
        </p:spPr>
        <p:txBody>
          <a:bodyPr anchor="ctr"/>
          <a:lstStyle/>
          <a:p>
            <a:pPr algn="ctr"/>
            <a:r>
              <a:rPr sz="900">
                <a:solidFill>
                  <a:srgbClr val="FFFFFF"/>
                </a:solidFill>
                <a:latin typeface="Segoe UI"/>
              </a:rPr>
              <a:t>Workflow initiation</a:t>
            </a:r>
          </a:p>
          <a:p>
            <a:pPr algn="ctr"/>
            <a:r>
              <a:rPr sz="900">
                <a:solidFill>
                  <a:srgbClr val="FFFFFF"/>
                </a:solidFill>
                <a:latin typeface="Segoe UI"/>
              </a:rPr>
              <a:t>query and chat history</a:t>
            </a:r>
          </a:p>
        </p:txBody>
      </p:sp>
      <p:sp>
        <p:nvSpPr>
          <p:cNvPr id="10" name="Shape"/>
          <p:cNvSpPr/>
          <p:nvPr/>
        </p:nvSpPr>
        <p:spPr>
          <a:xfrm>
            <a:off x="1295019" y="2276856"/>
            <a:ext cx="237744" cy="237744"/>
          </a:xfrm>
          <a:prstGeom prst="ellipse">
            <a:avLst/>
          </a:prstGeom>
          <a:solidFill>
            <a:srgbClr val="00B39F"/>
          </a:solidFill>
        </p:spPr>
        <p:txBody>
          <a:bodyPr anchor="ctr"/>
          <a:lstStyle/>
          <a:p>
            <a:pPr algn="ctr"/>
            <a:r>
              <a:rPr sz="1100" b="1">
                <a:solidFill>
                  <a:srgbClr val="0B1229"/>
                </a:solidFill>
                <a:latin typeface="Segoe UI"/>
              </a:rPr>
              <a:t>1</a:t>
            </a:r>
          </a:p>
        </p:txBody>
      </p:sp>
      <p:sp>
        <p:nvSpPr>
          <p:cNvPr id="11" name="Shape"/>
          <p:cNvSpPr/>
          <p:nvPr/>
        </p:nvSpPr>
        <p:spPr>
          <a:xfrm>
            <a:off x="2233422" y="2587752"/>
            <a:ext cx="1474470" cy="420624"/>
          </a:xfrm>
          <a:prstGeom prst="rect">
            <a:avLst/>
          </a:prstGeom>
          <a:solidFill>
            <a:srgbClr val="101A3C"/>
          </a:solidFill>
        </p:spPr>
        <p:txBody>
          <a:bodyPr anchor="ctr"/>
          <a:lstStyle/>
          <a:p>
            <a:pPr algn="ctr"/>
            <a:r>
              <a:rPr sz="900">
                <a:solidFill>
                  <a:srgbClr val="FFFFFF"/>
                </a:solidFill>
                <a:latin typeface="Segoe UI"/>
              </a:rPr>
              <a:t>Query planning</a:t>
            </a:r>
          </a:p>
          <a:p>
            <a:pPr algn="ctr"/>
            <a:r>
              <a:rPr sz="900">
                <a:solidFill>
                  <a:srgbClr val="FFFFFF"/>
                </a:solidFill>
                <a:latin typeface="Segoe UI"/>
              </a:rPr>
              <a:t>an LLM writes subqueries</a:t>
            </a:r>
          </a:p>
        </p:txBody>
      </p:sp>
      <p:sp>
        <p:nvSpPr>
          <p:cNvPr id="12" name="Shape"/>
          <p:cNvSpPr/>
          <p:nvPr/>
        </p:nvSpPr>
        <p:spPr>
          <a:xfrm>
            <a:off x="2851785" y="2276856"/>
            <a:ext cx="237744" cy="237744"/>
          </a:xfrm>
          <a:prstGeom prst="ellipse">
            <a:avLst/>
          </a:prstGeom>
          <a:solidFill>
            <a:srgbClr val="00B39F"/>
          </a:solidFill>
        </p:spPr>
        <p:txBody>
          <a:bodyPr anchor="ctr"/>
          <a:lstStyle/>
          <a:p>
            <a:pPr algn="ctr"/>
            <a:r>
              <a:rPr sz="1100" b="1">
                <a:solidFill>
                  <a:srgbClr val="0B1229"/>
                </a:solidFill>
                <a:latin typeface="Segoe UI"/>
              </a:rPr>
              <a:t>2</a:t>
            </a:r>
          </a:p>
        </p:txBody>
      </p:sp>
      <p:sp>
        <p:nvSpPr>
          <p:cNvPr id="13" name="Shape"/>
          <p:cNvSpPr/>
          <p:nvPr/>
        </p:nvSpPr>
        <p:spPr>
          <a:xfrm>
            <a:off x="3790188" y="2587752"/>
            <a:ext cx="1474470" cy="420624"/>
          </a:xfrm>
          <a:prstGeom prst="rect">
            <a:avLst/>
          </a:prstGeom>
          <a:solidFill>
            <a:srgbClr val="101A3C"/>
          </a:solidFill>
        </p:spPr>
        <p:txBody>
          <a:bodyPr anchor="ctr"/>
          <a:lstStyle/>
          <a:p>
            <a:pPr algn="ctr"/>
            <a:r>
              <a:rPr sz="900">
                <a:solidFill>
                  <a:srgbClr val="FFFFFF"/>
                </a:solidFill>
                <a:latin typeface="Segoe UI"/>
              </a:rPr>
              <a:t>Query execution</a:t>
            </a:r>
          </a:p>
          <a:p>
            <a:pPr algn="ctr"/>
            <a:r>
              <a:rPr sz="900">
                <a:solidFill>
                  <a:srgbClr val="FFFFFF"/>
                </a:solidFill>
                <a:latin typeface="Segoe UI"/>
              </a:rPr>
              <a:t>run in parallel, reranked</a:t>
            </a:r>
          </a:p>
        </p:txBody>
      </p:sp>
      <p:sp>
        <p:nvSpPr>
          <p:cNvPr id="14" name="Shape"/>
          <p:cNvSpPr/>
          <p:nvPr/>
        </p:nvSpPr>
        <p:spPr>
          <a:xfrm>
            <a:off x="4408551" y="2276856"/>
            <a:ext cx="237744" cy="237744"/>
          </a:xfrm>
          <a:prstGeom prst="ellipse">
            <a:avLst/>
          </a:prstGeom>
          <a:solidFill>
            <a:srgbClr val="00B39F"/>
          </a:solidFill>
        </p:spPr>
        <p:txBody>
          <a:bodyPr anchor="ctr"/>
          <a:lstStyle/>
          <a:p>
            <a:pPr algn="ctr"/>
            <a:r>
              <a:rPr sz="1100" b="1">
                <a:solidFill>
                  <a:srgbClr val="0B1229"/>
                </a:solidFill>
                <a:latin typeface="Segoe UI"/>
              </a:rPr>
              <a:t>3</a:t>
            </a:r>
          </a:p>
        </p:txBody>
      </p:sp>
      <p:sp>
        <p:nvSpPr>
          <p:cNvPr id="15" name="Shape"/>
          <p:cNvSpPr/>
          <p:nvPr/>
        </p:nvSpPr>
        <p:spPr>
          <a:xfrm>
            <a:off x="5346954" y="2587752"/>
            <a:ext cx="1474470" cy="420624"/>
          </a:xfrm>
          <a:prstGeom prst="rect">
            <a:avLst/>
          </a:prstGeom>
          <a:solidFill>
            <a:srgbClr val="101A3C"/>
          </a:solidFill>
        </p:spPr>
        <p:txBody>
          <a:bodyPr anchor="ctr"/>
          <a:lstStyle/>
          <a:p>
            <a:pPr algn="ctr"/>
            <a:r>
              <a:rPr sz="900">
                <a:solidFill>
                  <a:srgbClr val="FFFFFF"/>
                </a:solidFill>
                <a:latin typeface="Segoe UI"/>
              </a:rPr>
              <a:t>Result synthesis</a:t>
            </a:r>
          </a:p>
          <a:p>
            <a:pPr algn="ctr"/>
            <a:r>
              <a:rPr sz="900">
                <a:solidFill>
                  <a:srgbClr val="FFFFFF"/>
                </a:solidFill>
                <a:latin typeface="Segoe UI"/>
              </a:rPr>
              <a:t>answer, citations, log</a:t>
            </a:r>
          </a:p>
        </p:txBody>
      </p:sp>
      <p:sp>
        <p:nvSpPr>
          <p:cNvPr id="16" name="Shape"/>
          <p:cNvSpPr/>
          <p:nvPr/>
        </p:nvSpPr>
        <p:spPr>
          <a:xfrm>
            <a:off x="5965317" y="2276856"/>
            <a:ext cx="237744" cy="237744"/>
          </a:xfrm>
          <a:prstGeom prst="ellipse">
            <a:avLst/>
          </a:prstGeom>
          <a:solidFill>
            <a:srgbClr val="00B39F"/>
          </a:solidFill>
        </p:spPr>
        <p:txBody>
          <a:bodyPr anchor="ctr"/>
          <a:lstStyle/>
          <a:p>
            <a:pPr algn="ctr"/>
            <a:r>
              <a:rPr sz="1100" b="1">
                <a:solidFill>
                  <a:srgbClr val="0B1229"/>
                </a:solidFill>
                <a:latin typeface="Segoe UI"/>
              </a:rPr>
              <a:t>4</a:t>
            </a:r>
          </a:p>
        </p:txBody>
      </p:sp>
      <p:sp>
        <p:nvSpPr>
          <p:cNvPr id="17" name="Shape"/>
          <p:cNvSpPr/>
          <p:nvPr/>
        </p:nvSpPr>
        <p:spPr>
          <a:xfrm>
            <a:off x="548640" y="3575304"/>
            <a:ext cx="3118104" cy="1328928"/>
          </a:xfrm>
          <a:prstGeom prst="rect">
            <a:avLst/>
          </a:prstGeom>
          <a:solidFill>
            <a:srgbClr val="F6F8FD"/>
          </a:solidFill>
          <a:ln w="9525">
            <a:solidFill>
              <a:srgbClr val="E1E7F4"/>
            </a:solidFill>
          </a:ln>
        </p:spPr>
        <p:txBody>
          <a:bodyPr/>
          <a:lstStyle/>
          <a:p>
            <a:endParaRPr/>
          </a:p>
        </p:txBody>
      </p:sp>
      <p:sp>
        <p:nvSpPr>
          <p:cNvPr id="18" name="Shape"/>
          <p:cNvSpPr/>
          <p:nvPr/>
        </p:nvSpPr>
        <p:spPr>
          <a:xfrm>
            <a:off x="548640" y="3575304"/>
            <a:ext cx="3118104" cy="38405"/>
          </a:xfrm>
          <a:prstGeom prst="rect">
            <a:avLst/>
          </a:prstGeom>
          <a:solidFill>
            <a:srgbClr val="101A3C"/>
          </a:solidFill>
        </p:spPr>
        <p:txBody>
          <a:bodyPr/>
          <a:lstStyle/>
          <a:p>
            <a:endParaRPr/>
          </a:p>
        </p:txBody>
      </p:sp>
      <p:sp>
        <p:nvSpPr>
          <p:cNvPr id="19" name="TextBox"/>
          <p:cNvSpPr txBox="1"/>
          <p:nvPr/>
        </p:nvSpPr>
        <p:spPr>
          <a:xfrm>
            <a:off x="603504" y="3698748"/>
            <a:ext cx="3008376" cy="441960"/>
          </a:xfrm>
          <a:prstGeom prst="rect">
            <a:avLst/>
          </a:prstGeom>
        </p:spPr>
        <p:txBody>
          <a:bodyPr anchor="ctr"/>
          <a:lstStyle/>
          <a:p>
            <a:r>
              <a:rPr sz="1000" b="1">
                <a:solidFill>
                  <a:srgbClr val="101A3C"/>
                </a:solidFill>
                <a:latin typeface="Segoe UI"/>
              </a:rPr>
              <a:t>Indexed sources</a:t>
            </a:r>
          </a:p>
          <a:p>
            <a:r>
              <a:rPr sz="1000" b="1">
                <a:solidFill>
                  <a:srgbClr val="101A3C"/>
                </a:solidFill>
                <a:latin typeface="Segoe UI"/>
              </a:rPr>
              <a:t>ingested before the query</a:t>
            </a:r>
          </a:p>
        </p:txBody>
      </p:sp>
      <p:sp>
        <p:nvSpPr>
          <p:cNvPr id="20" name="TextBox"/>
          <p:cNvSpPr txBox="1"/>
          <p:nvPr/>
        </p:nvSpPr>
        <p:spPr>
          <a:xfrm>
            <a:off x="603504" y="4140708"/>
            <a:ext cx="3008376" cy="685800"/>
          </a:xfrm>
          <a:prstGeom prst="rect">
            <a:avLst/>
          </a:prstGeom>
        </p:spPr>
        <p:txBody>
          <a:bodyPr anchor="ctr"/>
          <a:lstStyle/>
          <a:p>
            <a:r>
              <a:rPr sz="900">
                <a:solidFill>
                  <a:srgbClr val="141B33"/>
                </a:solidFill>
                <a:latin typeface="Segoe UI"/>
              </a:rPr>
              <a:t>Search index (GA) · Azure blob (GA)</a:t>
            </a:r>
          </a:p>
          <a:p>
            <a:r>
              <a:rPr sz="900">
                <a:solidFill>
                  <a:srgbClr val="141B33"/>
                </a:solidFill>
                <a:latin typeface="Segoe UI"/>
              </a:rPr>
              <a:t>OneLake (GA) · Azure SQL (Preview)</a:t>
            </a:r>
          </a:p>
          <a:p>
            <a:r>
              <a:rPr sz="900">
                <a:solidFill>
                  <a:srgbClr val="141B33"/>
                </a:solidFill>
                <a:latin typeface="Segoe UI"/>
              </a:rPr>
              <a:t>File upload (Preview)</a:t>
            </a:r>
          </a:p>
          <a:p>
            <a:r>
              <a:rPr sz="900">
                <a:solidFill>
                  <a:srgbClr val="141B33"/>
                </a:solidFill>
                <a:latin typeface="Segoe UI"/>
              </a:rPr>
              <a:t>Indexed SharePoint (Preview)</a:t>
            </a:r>
          </a:p>
        </p:txBody>
      </p:sp>
      <p:sp>
        <p:nvSpPr>
          <p:cNvPr id="21" name="Shape"/>
          <p:cNvSpPr/>
          <p:nvPr/>
        </p:nvSpPr>
        <p:spPr>
          <a:xfrm>
            <a:off x="3831336" y="3575304"/>
            <a:ext cx="3118104" cy="1466088"/>
          </a:xfrm>
          <a:prstGeom prst="rect">
            <a:avLst/>
          </a:prstGeom>
          <a:solidFill>
            <a:srgbClr val="F6F8FD"/>
          </a:solidFill>
          <a:ln w="9525">
            <a:solidFill>
              <a:srgbClr val="E1E7F4"/>
            </a:solidFill>
          </a:ln>
        </p:spPr>
        <p:txBody>
          <a:bodyPr/>
          <a:lstStyle/>
          <a:p>
            <a:endParaRPr/>
          </a:p>
        </p:txBody>
      </p:sp>
      <p:sp>
        <p:nvSpPr>
          <p:cNvPr id="22" name="Shape"/>
          <p:cNvSpPr/>
          <p:nvPr/>
        </p:nvSpPr>
        <p:spPr>
          <a:xfrm>
            <a:off x="3831336" y="3575304"/>
            <a:ext cx="3118104" cy="38405"/>
          </a:xfrm>
          <a:prstGeom prst="rect">
            <a:avLst/>
          </a:prstGeom>
          <a:solidFill>
            <a:srgbClr val="101A3C"/>
          </a:solidFill>
        </p:spPr>
        <p:txBody>
          <a:bodyPr/>
          <a:lstStyle/>
          <a:p>
            <a:endParaRPr/>
          </a:p>
        </p:txBody>
      </p:sp>
      <p:sp>
        <p:nvSpPr>
          <p:cNvPr id="23" name="TextBox"/>
          <p:cNvSpPr txBox="1"/>
          <p:nvPr/>
        </p:nvSpPr>
        <p:spPr>
          <a:xfrm>
            <a:off x="3886200" y="3698748"/>
            <a:ext cx="3008376" cy="441960"/>
          </a:xfrm>
          <a:prstGeom prst="rect">
            <a:avLst/>
          </a:prstGeom>
        </p:spPr>
        <p:txBody>
          <a:bodyPr anchor="ctr"/>
          <a:lstStyle/>
          <a:p>
            <a:r>
              <a:rPr sz="1000" b="1">
                <a:solidFill>
                  <a:srgbClr val="101A3C"/>
                </a:solidFill>
                <a:latin typeface="Segoe UI"/>
              </a:rPr>
              <a:t>Remote sources</a:t>
            </a:r>
          </a:p>
          <a:p>
            <a:r>
              <a:rPr sz="1000" b="1">
                <a:solidFill>
                  <a:srgbClr val="101A3C"/>
                </a:solidFill>
                <a:latin typeface="Segoe UI"/>
              </a:rPr>
              <a:t>queried live via native APIs</a:t>
            </a:r>
          </a:p>
        </p:txBody>
      </p:sp>
      <p:sp>
        <p:nvSpPr>
          <p:cNvPr id="24" name="TextBox"/>
          <p:cNvSpPr txBox="1"/>
          <p:nvPr/>
        </p:nvSpPr>
        <p:spPr>
          <a:xfrm>
            <a:off x="3886200" y="4140708"/>
            <a:ext cx="3008376" cy="822960"/>
          </a:xfrm>
          <a:prstGeom prst="rect">
            <a:avLst/>
          </a:prstGeom>
        </p:spPr>
        <p:txBody>
          <a:bodyPr anchor="ctr"/>
          <a:lstStyle/>
          <a:p>
            <a:r>
              <a:rPr sz="900">
                <a:solidFill>
                  <a:srgbClr val="141B33"/>
                </a:solidFill>
                <a:latin typeface="Segoe UI"/>
              </a:rPr>
              <a:t>Web / Bing (GA)</a:t>
            </a:r>
          </a:p>
          <a:p>
            <a:r>
              <a:rPr sz="900">
                <a:solidFill>
                  <a:srgbClr val="141B33"/>
                </a:solidFill>
                <a:latin typeface="Segoe UI"/>
              </a:rPr>
              <a:t>Remote SharePoint (Preview)</a:t>
            </a:r>
          </a:p>
          <a:p>
            <a:r>
              <a:rPr sz="900">
                <a:solidFill>
                  <a:srgbClr val="141B33"/>
                </a:solidFill>
                <a:latin typeface="Segoe UI"/>
              </a:rPr>
              <a:t>Fabric Data Agent (Preview)</a:t>
            </a:r>
          </a:p>
          <a:p>
            <a:r>
              <a:rPr sz="900">
                <a:solidFill>
                  <a:srgbClr val="141B33"/>
                </a:solidFill>
                <a:latin typeface="Segoe UI"/>
              </a:rPr>
              <a:t>Fabric Ontology (Preview)</a:t>
            </a:r>
          </a:p>
          <a:p>
            <a:r>
              <a:rPr sz="900">
                <a:solidFill>
                  <a:srgbClr val="141B33"/>
                </a:solidFill>
                <a:latin typeface="Segoe UI"/>
              </a:rPr>
              <a:t>MCP server (Preview) · Work IQ (Preview)</a:t>
            </a:r>
          </a:p>
        </p:txBody>
      </p:sp>
      <p:sp>
        <p:nvSpPr>
          <p:cNvPr id="25" name="Shape"/>
          <p:cNvSpPr/>
          <p:nvPr/>
        </p:nvSpPr>
        <p:spPr>
          <a:xfrm>
            <a:off x="7187184" y="1417320"/>
            <a:ext cx="4456176" cy="1184148"/>
          </a:xfrm>
          <a:prstGeom prst="rect">
            <a:avLst/>
          </a:prstGeom>
          <a:solidFill>
            <a:srgbClr val="F6F8FD"/>
          </a:solidFill>
          <a:ln w="9525">
            <a:solidFill>
              <a:srgbClr val="E1E7F4"/>
            </a:solidFill>
          </a:ln>
        </p:spPr>
        <p:txBody>
          <a:bodyPr/>
          <a:lstStyle/>
          <a:p>
            <a:endParaRPr/>
          </a:p>
        </p:txBody>
      </p:sp>
      <p:sp>
        <p:nvSpPr>
          <p:cNvPr id="26" name="Shape"/>
          <p:cNvSpPr/>
          <p:nvPr/>
        </p:nvSpPr>
        <p:spPr>
          <a:xfrm>
            <a:off x="7187184" y="1417320"/>
            <a:ext cx="4456176" cy="38405"/>
          </a:xfrm>
          <a:prstGeom prst="rect">
            <a:avLst/>
          </a:prstGeom>
          <a:solidFill>
            <a:srgbClr val="00B39F"/>
          </a:solidFill>
        </p:spPr>
        <p:txBody>
          <a:bodyPr/>
          <a:lstStyle/>
          <a:p>
            <a:endParaRPr/>
          </a:p>
        </p:txBody>
      </p:sp>
      <p:sp>
        <p:nvSpPr>
          <p:cNvPr id="27" name="TextBox"/>
          <p:cNvSpPr txBox="1"/>
          <p:nvPr/>
        </p:nvSpPr>
        <p:spPr>
          <a:xfrm>
            <a:off x="7242048" y="1540764"/>
            <a:ext cx="4346448" cy="457200"/>
          </a:xfrm>
          <a:prstGeom prst="rect">
            <a:avLst/>
          </a:prstGeom>
        </p:spPr>
        <p:txBody>
          <a:bodyPr anchor="ctr"/>
          <a:lstStyle/>
          <a:p>
            <a:r>
              <a:rPr sz="1050" b="1">
                <a:solidFill>
                  <a:srgbClr val="101A3C"/>
                </a:solidFill>
                <a:latin typeface="Segoe UI"/>
              </a:rPr>
              <a:t>Status</a:t>
            </a:r>
          </a:p>
          <a:p>
            <a:endParaRPr sz="1050" b="1">
              <a:solidFill>
                <a:srgbClr val="101A3C"/>
              </a:solidFill>
              <a:latin typeface="Segoe UI"/>
            </a:endParaRPr>
          </a:p>
        </p:txBody>
      </p:sp>
      <p:sp>
        <p:nvSpPr>
          <p:cNvPr id="28" name="TextBox"/>
          <p:cNvSpPr txBox="1"/>
          <p:nvPr/>
        </p:nvSpPr>
        <p:spPr>
          <a:xfrm>
            <a:off x="7242048" y="1837944"/>
            <a:ext cx="4346448" cy="685800"/>
          </a:xfrm>
          <a:prstGeom prst="rect">
            <a:avLst/>
          </a:prstGeom>
        </p:spPr>
        <p:txBody>
          <a:bodyPr anchor="ctr"/>
          <a:lstStyle/>
          <a:p>
            <a:r>
              <a:rPr sz="900">
                <a:solidFill>
                  <a:srgbClr val="141B33"/>
                </a:solidFill>
                <a:latin typeface="Segoe UI"/>
              </a:rPr>
              <a:t>Knowledge bases are GA. A subset of agentic retrieval</a:t>
            </a:r>
          </a:p>
          <a:p>
            <a:r>
              <a:rPr sz="900">
                <a:solidFill>
                  <a:srgbClr val="141B33"/>
                </a:solidFill>
                <a:latin typeface="Segoe UI"/>
              </a:rPr>
              <a:t>is GA in REST 2026-04-01; the full set is in the</a:t>
            </a:r>
          </a:p>
          <a:p>
            <a:r>
              <a:rPr sz="900">
                <a:solidFill>
                  <a:srgbClr val="141B33"/>
                </a:solidFill>
                <a:latin typeface="Segoe UI"/>
              </a:rPr>
              <a:t>2026-08-01-preview API and the portal experiences</a:t>
            </a:r>
          </a:p>
          <a:p>
            <a:r>
              <a:rPr sz="900">
                <a:solidFill>
                  <a:srgbClr val="141B33"/>
                </a:solidFill>
                <a:latin typeface="Segoe UI"/>
              </a:rPr>
              <a:t>are preview.</a:t>
            </a:r>
          </a:p>
        </p:txBody>
      </p:sp>
      <p:sp>
        <p:nvSpPr>
          <p:cNvPr id="29" name="Shape"/>
          <p:cNvSpPr/>
          <p:nvPr/>
        </p:nvSpPr>
        <p:spPr>
          <a:xfrm>
            <a:off x="7187184" y="2729484"/>
            <a:ext cx="4456176" cy="1184148"/>
          </a:xfrm>
          <a:prstGeom prst="rect">
            <a:avLst/>
          </a:prstGeom>
          <a:solidFill>
            <a:srgbClr val="F6F8FD"/>
          </a:solidFill>
          <a:ln w="9525">
            <a:solidFill>
              <a:srgbClr val="E1E7F4"/>
            </a:solidFill>
          </a:ln>
        </p:spPr>
        <p:txBody>
          <a:bodyPr/>
          <a:lstStyle/>
          <a:p>
            <a:endParaRPr/>
          </a:p>
        </p:txBody>
      </p:sp>
      <p:sp>
        <p:nvSpPr>
          <p:cNvPr id="30" name="Shape"/>
          <p:cNvSpPr/>
          <p:nvPr/>
        </p:nvSpPr>
        <p:spPr>
          <a:xfrm>
            <a:off x="7187184" y="2729484"/>
            <a:ext cx="4456176" cy="38405"/>
          </a:xfrm>
          <a:prstGeom prst="rect">
            <a:avLst/>
          </a:prstGeom>
          <a:solidFill>
            <a:srgbClr val="00B39F"/>
          </a:solidFill>
        </p:spPr>
        <p:txBody>
          <a:bodyPr/>
          <a:lstStyle/>
          <a:p>
            <a:endParaRPr/>
          </a:p>
        </p:txBody>
      </p:sp>
      <p:sp>
        <p:nvSpPr>
          <p:cNvPr id="31" name="TextBox"/>
          <p:cNvSpPr txBox="1"/>
          <p:nvPr/>
        </p:nvSpPr>
        <p:spPr>
          <a:xfrm>
            <a:off x="7242048" y="2852928"/>
            <a:ext cx="4346448" cy="457200"/>
          </a:xfrm>
          <a:prstGeom prst="rect">
            <a:avLst/>
          </a:prstGeom>
        </p:spPr>
        <p:txBody>
          <a:bodyPr anchor="ctr"/>
          <a:lstStyle/>
          <a:p>
            <a:r>
              <a:rPr sz="1050" b="1">
                <a:solidFill>
                  <a:srgbClr val="101A3C"/>
                </a:solidFill>
                <a:latin typeface="Segoe UI"/>
              </a:rPr>
              <a:t>Access control (preview)</a:t>
            </a:r>
          </a:p>
          <a:p>
            <a:endParaRPr sz="1050" b="1">
              <a:solidFill>
                <a:srgbClr val="101A3C"/>
              </a:solidFill>
              <a:latin typeface="Segoe UI"/>
            </a:endParaRPr>
          </a:p>
        </p:txBody>
      </p:sp>
      <p:sp>
        <p:nvSpPr>
          <p:cNvPr id="32" name="TextBox"/>
          <p:cNvSpPr txBox="1"/>
          <p:nvPr/>
        </p:nvSpPr>
        <p:spPr>
          <a:xfrm>
            <a:off x="7242048" y="3150108"/>
            <a:ext cx="4346448" cy="685800"/>
          </a:xfrm>
          <a:prstGeom prst="rect">
            <a:avLst/>
          </a:prstGeom>
        </p:spPr>
        <p:txBody>
          <a:bodyPr anchor="ctr"/>
          <a:lstStyle/>
          <a:p>
            <a:r>
              <a:rPr sz="900">
                <a:solidFill>
                  <a:srgbClr val="141B33"/>
                </a:solidFill>
                <a:latin typeface="Segoe UI"/>
              </a:rPr>
              <a:t>Blob, indexed OneLake and indexed SharePoint can</a:t>
            </a:r>
          </a:p>
          <a:p>
            <a:r>
              <a:rPr sz="900">
                <a:solidFill>
                  <a:srgbClr val="141B33"/>
                </a:solidFill>
                <a:latin typeface="Segoe UI"/>
              </a:rPr>
              <a:t>ingest Purview sensitivity labels, which enforces</a:t>
            </a:r>
          </a:p>
          <a:p>
            <a:r>
              <a:rPr sz="900">
                <a:solidFill>
                  <a:srgbClr val="141B33"/>
                </a:solidFill>
                <a:latin typeface="Segoe UI"/>
              </a:rPr>
              <a:t>document-level access at query time. Remote</a:t>
            </a:r>
          </a:p>
          <a:p>
            <a:r>
              <a:rPr sz="900">
                <a:solidFill>
                  <a:srgbClr val="141B33"/>
                </a:solidFill>
                <a:latin typeface="Segoe UI"/>
              </a:rPr>
              <a:t>SharePoint and Fabric retrieval run on a user identity.</a:t>
            </a:r>
          </a:p>
        </p:txBody>
      </p:sp>
      <p:sp>
        <p:nvSpPr>
          <p:cNvPr id="33" name="Shape"/>
          <p:cNvSpPr/>
          <p:nvPr/>
        </p:nvSpPr>
        <p:spPr>
          <a:xfrm>
            <a:off x="7187184" y="4041648"/>
            <a:ext cx="4456176" cy="1458468"/>
          </a:xfrm>
          <a:prstGeom prst="rect">
            <a:avLst/>
          </a:prstGeom>
          <a:solidFill>
            <a:srgbClr val="F6F8FD"/>
          </a:solidFill>
          <a:ln w="9525">
            <a:solidFill>
              <a:srgbClr val="E1E7F4"/>
            </a:solidFill>
          </a:ln>
        </p:spPr>
        <p:txBody>
          <a:bodyPr/>
          <a:lstStyle/>
          <a:p>
            <a:endParaRPr/>
          </a:p>
        </p:txBody>
      </p:sp>
      <p:sp>
        <p:nvSpPr>
          <p:cNvPr id="34" name="Shape"/>
          <p:cNvSpPr/>
          <p:nvPr/>
        </p:nvSpPr>
        <p:spPr>
          <a:xfrm>
            <a:off x="7187184" y="4041648"/>
            <a:ext cx="4456176" cy="38405"/>
          </a:xfrm>
          <a:prstGeom prst="rect">
            <a:avLst/>
          </a:prstGeom>
          <a:solidFill>
            <a:srgbClr val="00B39F"/>
          </a:solidFill>
        </p:spPr>
        <p:txBody>
          <a:bodyPr/>
          <a:lstStyle/>
          <a:p>
            <a:endParaRPr/>
          </a:p>
        </p:txBody>
      </p:sp>
      <p:sp>
        <p:nvSpPr>
          <p:cNvPr id="35" name="TextBox"/>
          <p:cNvSpPr txBox="1"/>
          <p:nvPr/>
        </p:nvSpPr>
        <p:spPr>
          <a:xfrm>
            <a:off x="7242048" y="4165092"/>
            <a:ext cx="4346448" cy="457200"/>
          </a:xfrm>
          <a:prstGeom prst="rect">
            <a:avLst/>
          </a:prstGeom>
        </p:spPr>
        <p:txBody>
          <a:bodyPr anchor="ctr"/>
          <a:lstStyle/>
          <a:p>
            <a:r>
              <a:rPr sz="1050" b="1">
                <a:solidFill>
                  <a:srgbClr val="101A3C"/>
                </a:solidFill>
                <a:latin typeface="Segoe UI"/>
              </a:rPr>
              <a:t>Billing and how to connect</a:t>
            </a:r>
          </a:p>
          <a:p>
            <a:endParaRPr sz="1050" b="1">
              <a:solidFill>
                <a:srgbClr val="101A3C"/>
              </a:solidFill>
              <a:latin typeface="Segoe UI"/>
            </a:endParaRPr>
          </a:p>
        </p:txBody>
      </p:sp>
      <p:sp>
        <p:nvSpPr>
          <p:cNvPr id="36" name="TextBox"/>
          <p:cNvSpPr txBox="1"/>
          <p:nvPr/>
        </p:nvSpPr>
        <p:spPr>
          <a:xfrm>
            <a:off x="7242048" y="4462272"/>
            <a:ext cx="4346448" cy="960120"/>
          </a:xfrm>
          <a:prstGeom prst="rect">
            <a:avLst/>
          </a:prstGeom>
        </p:spPr>
        <p:txBody>
          <a:bodyPr anchor="ctr"/>
          <a:lstStyle/>
          <a:p>
            <a:r>
              <a:rPr sz="900">
                <a:solidFill>
                  <a:srgbClr val="141B33"/>
                </a:solidFill>
                <a:latin typeface="Segoe UI"/>
              </a:rPr>
              <a:t>Azure AI Search bills retrieval tokens for subqueries</a:t>
            </a:r>
          </a:p>
          <a:p>
            <a:r>
              <a:rPr sz="900">
                <a:solidFill>
                  <a:srgbClr val="141B33"/>
                </a:solidFill>
                <a:latin typeface="Segoe UI"/>
              </a:rPr>
              <a:t>and semantic ranking; Azure OpenAI bills planning and</a:t>
            </a:r>
          </a:p>
          <a:p>
            <a:r>
              <a:rPr sz="900">
                <a:solidFill>
                  <a:srgbClr val="141B33"/>
                </a:solidFill>
                <a:latin typeface="Segoe UI"/>
              </a:rPr>
              <a:t>synthesis tokens. Documented example: $4.32 for 2,000</a:t>
            </a:r>
          </a:p>
          <a:p>
            <a:r>
              <a:rPr sz="900">
                <a:solidFill>
                  <a:srgbClr val="141B33"/>
                </a:solidFill>
                <a:latin typeface="Segoe UI"/>
              </a:rPr>
              <a:t>retrievals with three subqueries each.</a:t>
            </a:r>
          </a:p>
          <a:p>
            <a:r>
              <a:rPr sz="900">
                <a:solidFill>
                  <a:srgbClr val="141B33"/>
                </a:solidFill>
                <a:latin typeface="Segoe UI"/>
              </a:rPr>
              <a:t>Foundry project only, not hub-based; Python SDK or</a:t>
            </a:r>
          </a:p>
          <a:p>
            <a:r>
              <a:rPr sz="900">
                <a:solidFill>
                  <a:srgbClr val="141B33"/>
                </a:solidFill>
                <a:latin typeface="Segoe UI"/>
              </a:rPr>
              <a:t>REST today, and also through a Toolbox.</a:t>
            </a:r>
          </a:p>
        </p:txBody>
      </p:sp>
      <p:sp>
        <p:nvSpPr>
          <p:cNvPr id="37" name="Shape"/>
          <p:cNvSpPr/>
          <p:nvPr/>
        </p:nvSpPr>
        <p:spPr>
          <a:xfrm>
            <a:off x="548640" y="5687568"/>
            <a:ext cx="11094720" cy="9525"/>
          </a:xfrm>
          <a:prstGeom prst="rect">
            <a:avLst/>
          </a:prstGeom>
          <a:solidFill>
            <a:srgbClr val="E1E7F4"/>
          </a:solidFill>
        </p:spPr>
        <p:txBody>
          <a:bodyPr/>
          <a:lstStyle/>
          <a:p>
            <a:endParaRPr/>
          </a:p>
        </p:txBody>
      </p:sp>
      <p:sp>
        <p:nvSpPr>
          <p:cNvPr id="38"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learn.microsoft.com/azure/search/agentic-retrieval-overview</a:t>
            </a:r>
          </a:p>
          <a:p>
            <a:endParaRPr sz="900">
              <a:solidFill>
                <a:srgbClr val="44495B"/>
              </a:solidFill>
              <a:latin typeface="Segoe UI"/>
            </a:endParaRPr>
          </a:p>
        </p:txBody>
      </p:sp>
      <p:sp>
        <p:nvSpPr>
          <p:cNvPr id="39"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3   ·   D A T A   A N D   T O O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Microsoft IQ: Foundry IQ, Work IQ and Fabric IQ</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Three intelligence layers for grounding agents — each reachable directly, through a Toolbox, or through a Foundry IQ knowledge base.</a:t>
            </a:r>
          </a:p>
          <a:p>
            <a:endParaRPr sz="1200">
              <a:solidFill>
                <a:srgbClr val="44495B"/>
              </a:solidFill>
              <a:latin typeface="Segoe UI"/>
            </a:endParaRPr>
          </a:p>
        </p:txBody>
      </p:sp>
      <p:sp>
        <p:nvSpPr>
          <p:cNvPr id="32" name="Shape"/>
          <p:cNvSpPr/>
          <p:nvPr/>
        </p:nvSpPr>
        <p:spPr>
          <a:xfrm>
            <a:off x="548640" y="5687568"/>
            <a:ext cx="11094720" cy="9525"/>
          </a:xfrm>
          <a:prstGeom prst="rect">
            <a:avLst/>
          </a:prstGeom>
          <a:solidFill>
            <a:srgbClr val="E1E7F4"/>
          </a:solidFill>
        </p:spPr>
        <p:txBody>
          <a:bodyPr/>
          <a:lstStyle/>
          <a:p>
            <a:endParaRPr/>
          </a:p>
        </p:txBody>
      </p:sp>
      <p:sp>
        <p:nvSpPr>
          <p:cNvPr id="33"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learn.microsoft.com/azure/foundry/agents/how-to — foundry-iq-connect · tools/work-iq · tools/fabric-iq</a:t>
            </a:r>
          </a:p>
          <a:p>
            <a:endParaRPr sz="900">
              <a:solidFill>
                <a:srgbClr val="44495B"/>
              </a:solidFill>
              <a:latin typeface="Segoe UI"/>
            </a:endParaRPr>
          </a:p>
        </p:txBody>
      </p:sp>
      <p:sp>
        <p:nvSpPr>
          <p:cNvPr id="34"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13</a:t>
            </a:r>
          </a:p>
        </p:txBody>
      </p:sp>
      <p:sp>
        <p:nvSpPr>
          <p:cNvPr id="35" name="TextBox 34"/>
          <p:cNvSpPr txBox="1"/>
          <p:nvPr/>
        </p:nvSpPr>
        <p:spPr>
          <a:xfrm>
            <a:off x="548640" y="1298448"/>
            <a:ext cx="73152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WHAT EACH LAYER KNOWS</a:t>
            </a:r>
          </a:p>
        </p:txBody>
      </p:sp>
      <p:sp>
        <p:nvSpPr>
          <p:cNvPr id="36" name="Rectangle 35"/>
          <p:cNvSpPr/>
          <p:nvPr/>
        </p:nvSpPr>
        <p:spPr>
          <a:xfrm>
            <a:off x="548640" y="1554480"/>
            <a:ext cx="3575304" cy="713232"/>
          </a:xfrm>
          <a:prstGeom prst="rect">
            <a:avLst/>
          </a:prstGeom>
          <a:solidFill>
            <a:srgbClr val="F6F8FD"/>
          </a:solidFill>
          <a:ln w="9525">
            <a:solidFill>
              <a:srgbClr val="E1E7F4"/>
            </a:solidFill>
          </a:ln>
          <a:effectLst/>
        </p:spPr>
        <p:txBody>
          <a:bodyPr rtlCol="0" anchor="ctr"/>
          <a:lstStyle/>
          <a:p>
            <a:pPr algn="ctr"/>
            <a:endParaRPr/>
          </a:p>
        </p:txBody>
      </p:sp>
      <p:sp>
        <p:nvSpPr>
          <p:cNvPr id="37" name="Rectangle 36"/>
          <p:cNvSpPr/>
          <p:nvPr/>
        </p:nvSpPr>
        <p:spPr>
          <a:xfrm>
            <a:off x="548640" y="1554480"/>
            <a:ext cx="3575304" cy="45720"/>
          </a:xfrm>
          <a:prstGeom prst="rect">
            <a:avLst/>
          </a:prstGeom>
          <a:solidFill>
            <a:srgbClr val="00B39F"/>
          </a:solidFill>
          <a:ln>
            <a:noFill/>
          </a:ln>
          <a:effectLst/>
        </p:spPr>
        <p:txBody>
          <a:bodyPr rtlCol="0" anchor="ctr"/>
          <a:lstStyle/>
          <a:p>
            <a:pPr algn="ctr"/>
            <a:endParaRPr/>
          </a:p>
        </p:txBody>
      </p:sp>
      <p:sp>
        <p:nvSpPr>
          <p:cNvPr id="38" name="TextBox 37"/>
          <p:cNvSpPr txBox="1"/>
          <p:nvPr/>
        </p:nvSpPr>
        <p:spPr>
          <a:xfrm>
            <a:off x="548640" y="1609344"/>
            <a:ext cx="3575304" cy="640080"/>
          </a:xfrm>
          <a:prstGeom prst="rect">
            <a:avLst/>
          </a:prstGeom>
          <a:noFill/>
        </p:spPr>
        <p:txBody>
          <a:bodyPr wrap="square" lIns="73152" tIns="27432" rIns="73152" bIns="27432" anchor="t">
            <a:spAutoFit/>
          </a:bodyPr>
          <a:lstStyle/>
          <a:p>
            <a:pPr algn="l"/>
            <a:r>
              <a:rPr sz="850" b="1">
                <a:solidFill>
                  <a:srgbClr val="141B33"/>
                </a:solidFill>
                <a:latin typeface="Segoe UI"/>
              </a:rPr>
              <a:t>Foundry IQ</a:t>
            </a:r>
          </a:p>
          <a:p>
            <a:pPr algn="l">
              <a:spcBef>
                <a:spcPts val="200"/>
              </a:spcBef>
            </a:pPr>
            <a:r>
              <a:rPr sz="850" b="0">
                <a:solidFill>
                  <a:srgbClr val="141B33"/>
                </a:solidFill>
                <a:latin typeface="Segoe UI"/>
              </a:rPr>
              <a:t>Knowledge base on Azure AI Search: agentic retrieval over indexed sources (blob, OneLake, Azure SQL) and remote sources (web, SharePoint, Fabric, MCP).</a:t>
            </a:r>
          </a:p>
        </p:txBody>
      </p:sp>
      <p:sp>
        <p:nvSpPr>
          <p:cNvPr id="39" name="Rectangle 38"/>
          <p:cNvSpPr/>
          <p:nvPr/>
        </p:nvSpPr>
        <p:spPr>
          <a:xfrm>
            <a:off x="4306824" y="1554480"/>
            <a:ext cx="3575304" cy="713232"/>
          </a:xfrm>
          <a:prstGeom prst="rect">
            <a:avLst/>
          </a:prstGeom>
          <a:solidFill>
            <a:srgbClr val="F6F8FD"/>
          </a:solidFill>
          <a:ln w="9525">
            <a:solidFill>
              <a:srgbClr val="E1E7F4"/>
            </a:solidFill>
          </a:ln>
          <a:effectLst/>
        </p:spPr>
        <p:txBody>
          <a:bodyPr rtlCol="0" anchor="ctr"/>
          <a:lstStyle/>
          <a:p>
            <a:pPr algn="ctr"/>
            <a:endParaRPr/>
          </a:p>
        </p:txBody>
      </p:sp>
      <p:sp>
        <p:nvSpPr>
          <p:cNvPr id="40" name="Rectangle 39"/>
          <p:cNvSpPr/>
          <p:nvPr/>
        </p:nvSpPr>
        <p:spPr>
          <a:xfrm>
            <a:off x="4306824" y="1554480"/>
            <a:ext cx="3575304" cy="45720"/>
          </a:xfrm>
          <a:prstGeom prst="rect">
            <a:avLst/>
          </a:prstGeom>
          <a:solidFill>
            <a:srgbClr val="101A3C"/>
          </a:solidFill>
          <a:ln>
            <a:noFill/>
          </a:ln>
          <a:effectLst/>
        </p:spPr>
        <p:txBody>
          <a:bodyPr rtlCol="0" anchor="ctr"/>
          <a:lstStyle/>
          <a:p>
            <a:pPr algn="ctr"/>
            <a:endParaRPr/>
          </a:p>
        </p:txBody>
      </p:sp>
      <p:sp>
        <p:nvSpPr>
          <p:cNvPr id="41" name="TextBox 40"/>
          <p:cNvSpPr txBox="1"/>
          <p:nvPr/>
        </p:nvSpPr>
        <p:spPr>
          <a:xfrm>
            <a:off x="4306824" y="1609344"/>
            <a:ext cx="3575304" cy="640080"/>
          </a:xfrm>
          <a:prstGeom prst="rect">
            <a:avLst/>
          </a:prstGeom>
          <a:noFill/>
        </p:spPr>
        <p:txBody>
          <a:bodyPr wrap="square" lIns="73152" tIns="27432" rIns="73152" bIns="27432" anchor="t">
            <a:spAutoFit/>
          </a:bodyPr>
          <a:lstStyle/>
          <a:p>
            <a:pPr algn="l"/>
            <a:r>
              <a:rPr sz="850" b="1">
                <a:solidFill>
                  <a:srgbClr val="141B33"/>
                </a:solidFill>
                <a:latin typeface="Segoe UI"/>
              </a:rPr>
              <a:t>Work IQ*</a:t>
            </a:r>
          </a:p>
          <a:p>
            <a:pPr algn="l">
              <a:spcBef>
                <a:spcPts val="200"/>
              </a:spcBef>
            </a:pPr>
            <a:r>
              <a:rPr sz="850" b="0">
                <a:solidFill>
                  <a:srgbClr val="141B33"/>
                </a:solidFill>
                <a:latin typeface="Segoe UI"/>
              </a:rPr>
              <a:t>Microsoft 365 context: emails, meetings, files, chats and business signals. Every request runs as the signed-in user and honours Microsoft 365 permissions.</a:t>
            </a:r>
          </a:p>
        </p:txBody>
      </p:sp>
      <p:sp>
        <p:nvSpPr>
          <p:cNvPr id="42" name="Rectangle 41"/>
          <p:cNvSpPr/>
          <p:nvPr/>
        </p:nvSpPr>
        <p:spPr>
          <a:xfrm>
            <a:off x="8065008" y="1554480"/>
            <a:ext cx="3575304" cy="713232"/>
          </a:xfrm>
          <a:prstGeom prst="rect">
            <a:avLst/>
          </a:prstGeom>
          <a:solidFill>
            <a:srgbClr val="F6F8FD"/>
          </a:solidFill>
          <a:ln w="9525">
            <a:solidFill>
              <a:srgbClr val="E1E7F4"/>
            </a:solidFill>
          </a:ln>
          <a:effectLst/>
        </p:spPr>
        <p:txBody>
          <a:bodyPr rtlCol="0" anchor="ctr"/>
          <a:lstStyle/>
          <a:p>
            <a:pPr algn="ctr"/>
            <a:endParaRPr/>
          </a:p>
        </p:txBody>
      </p:sp>
      <p:sp>
        <p:nvSpPr>
          <p:cNvPr id="43" name="Rectangle 42"/>
          <p:cNvSpPr/>
          <p:nvPr/>
        </p:nvSpPr>
        <p:spPr>
          <a:xfrm>
            <a:off x="8065008" y="1554480"/>
            <a:ext cx="3575304" cy="45720"/>
          </a:xfrm>
          <a:prstGeom prst="rect">
            <a:avLst/>
          </a:prstGeom>
          <a:solidFill>
            <a:srgbClr val="101A3C"/>
          </a:solidFill>
          <a:ln>
            <a:noFill/>
          </a:ln>
          <a:effectLst/>
        </p:spPr>
        <p:txBody>
          <a:bodyPr rtlCol="0" anchor="ctr"/>
          <a:lstStyle/>
          <a:p>
            <a:pPr algn="ctr"/>
            <a:endParaRPr/>
          </a:p>
        </p:txBody>
      </p:sp>
      <p:sp>
        <p:nvSpPr>
          <p:cNvPr id="44" name="TextBox 43"/>
          <p:cNvSpPr txBox="1"/>
          <p:nvPr/>
        </p:nvSpPr>
        <p:spPr>
          <a:xfrm>
            <a:off x="8065008" y="1609344"/>
            <a:ext cx="3575304" cy="640080"/>
          </a:xfrm>
          <a:prstGeom prst="rect">
            <a:avLst/>
          </a:prstGeom>
          <a:noFill/>
        </p:spPr>
        <p:txBody>
          <a:bodyPr wrap="square" lIns="73152" tIns="27432" rIns="73152" bIns="27432" anchor="t">
            <a:spAutoFit/>
          </a:bodyPr>
          <a:lstStyle/>
          <a:p>
            <a:pPr algn="l"/>
            <a:r>
              <a:rPr sz="850" b="1">
                <a:solidFill>
                  <a:srgbClr val="141B33"/>
                </a:solidFill>
                <a:latin typeface="Segoe UI"/>
              </a:rPr>
              <a:t>Fabric IQ*</a:t>
            </a:r>
          </a:p>
          <a:p>
            <a:pPr algn="l">
              <a:spcBef>
                <a:spcPts val="200"/>
              </a:spcBef>
            </a:pPr>
            <a:r>
              <a:rPr sz="850" b="0">
                <a:solidFill>
                  <a:srgbClr val="141B33"/>
                </a:solidFill>
                <a:latin typeface="Segoe UI"/>
              </a:rPr>
              <a:t>Microsoft Fabric data with business meaning: the ontology (entity types, relationships, bindings to OneLake), the Fabric data agent and Power BI semantic models.</a:t>
            </a:r>
          </a:p>
        </p:txBody>
      </p:sp>
      <p:sp>
        <p:nvSpPr>
          <p:cNvPr id="45" name="TextBox 44"/>
          <p:cNvSpPr txBox="1"/>
          <p:nvPr/>
        </p:nvSpPr>
        <p:spPr>
          <a:xfrm>
            <a:off x="548640" y="2377440"/>
            <a:ext cx="73152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HOW YOUR AGENT CONNECTS — THREE PATHS</a:t>
            </a:r>
          </a:p>
        </p:txBody>
      </p:sp>
      <p:sp>
        <p:nvSpPr>
          <p:cNvPr id="46" name="Rectangle 45"/>
          <p:cNvSpPr/>
          <p:nvPr/>
        </p:nvSpPr>
        <p:spPr>
          <a:xfrm>
            <a:off x="548640" y="2633472"/>
            <a:ext cx="11091672" cy="329184"/>
          </a:xfrm>
          <a:prstGeom prst="rect">
            <a:avLst/>
          </a:prstGeom>
          <a:solidFill>
            <a:srgbClr val="101A3C"/>
          </a:solidFill>
          <a:ln>
            <a:noFill/>
          </a:ln>
          <a:effectLst/>
        </p:spPr>
        <p:txBody>
          <a:bodyPr rtlCol="0" anchor="ctr"/>
          <a:lstStyle/>
          <a:p>
            <a:pPr algn="ctr"/>
            <a:endParaRPr/>
          </a:p>
        </p:txBody>
      </p:sp>
      <p:sp>
        <p:nvSpPr>
          <p:cNvPr id="47" name="TextBox 46"/>
          <p:cNvSpPr txBox="1"/>
          <p:nvPr/>
        </p:nvSpPr>
        <p:spPr>
          <a:xfrm>
            <a:off x="548640" y="2633472"/>
            <a:ext cx="1874519" cy="329184"/>
          </a:xfrm>
          <a:prstGeom prst="rect">
            <a:avLst/>
          </a:prstGeom>
          <a:noFill/>
        </p:spPr>
        <p:txBody>
          <a:bodyPr wrap="square" lIns="73152" tIns="27432" rIns="73152" bIns="27432" anchor="ctr">
            <a:spAutoFit/>
          </a:bodyPr>
          <a:lstStyle/>
          <a:p>
            <a:pPr algn="l"/>
            <a:r>
              <a:rPr sz="850" b="1">
                <a:solidFill>
                  <a:srgbClr val="FFFFFF"/>
                </a:solidFill>
                <a:latin typeface="Segoe UI"/>
              </a:rPr>
              <a:t>Layer</a:t>
            </a:r>
          </a:p>
        </p:txBody>
      </p:sp>
      <p:sp>
        <p:nvSpPr>
          <p:cNvPr id="48" name="TextBox 47"/>
          <p:cNvSpPr txBox="1"/>
          <p:nvPr/>
        </p:nvSpPr>
        <p:spPr>
          <a:xfrm>
            <a:off x="2423160" y="2633472"/>
            <a:ext cx="3291840" cy="329184"/>
          </a:xfrm>
          <a:prstGeom prst="rect">
            <a:avLst/>
          </a:prstGeom>
          <a:noFill/>
        </p:spPr>
        <p:txBody>
          <a:bodyPr wrap="square" lIns="73152" tIns="27432" rIns="73152" bIns="27432" anchor="ctr">
            <a:spAutoFit/>
          </a:bodyPr>
          <a:lstStyle/>
          <a:p>
            <a:pPr algn="l"/>
            <a:r>
              <a:rPr sz="850" b="1">
                <a:solidFill>
                  <a:srgbClr val="FFFFFF"/>
                </a:solidFill>
                <a:latin typeface="Segoe UI"/>
              </a:rPr>
              <a:t>Directly — native mechanism</a:t>
            </a:r>
          </a:p>
          <a:p>
            <a:pPr algn="l"/>
            <a:r>
              <a:rPr sz="850" b="0">
                <a:solidFill>
                  <a:srgbClr val="FFFFFF"/>
                </a:solidFill>
                <a:latin typeface="Segoe UI"/>
              </a:rPr>
              <a:t>one connection per agent</a:t>
            </a:r>
          </a:p>
        </p:txBody>
      </p:sp>
      <p:sp>
        <p:nvSpPr>
          <p:cNvPr id="49" name="TextBox 48"/>
          <p:cNvSpPr txBox="1"/>
          <p:nvPr/>
        </p:nvSpPr>
        <p:spPr>
          <a:xfrm>
            <a:off x="5715000" y="2633472"/>
            <a:ext cx="2788920" cy="329184"/>
          </a:xfrm>
          <a:prstGeom prst="rect">
            <a:avLst/>
          </a:prstGeom>
          <a:noFill/>
        </p:spPr>
        <p:txBody>
          <a:bodyPr wrap="square" lIns="73152" tIns="27432" rIns="73152" bIns="27432" anchor="ctr">
            <a:spAutoFit/>
          </a:bodyPr>
          <a:lstStyle/>
          <a:p>
            <a:pPr algn="l"/>
            <a:r>
              <a:rPr sz="850" b="1">
                <a:solidFill>
                  <a:srgbClr val="FFFFFF"/>
                </a:solidFill>
                <a:latin typeface="Segoe UI"/>
              </a:rPr>
              <a:t>Through a Toolbox</a:t>
            </a:r>
          </a:p>
          <a:p>
            <a:pPr algn="l"/>
            <a:r>
              <a:rPr sz="850" b="0">
                <a:solidFill>
                  <a:srgbClr val="FFFFFF"/>
                </a:solidFill>
                <a:latin typeface="Segoe UI"/>
              </a:rPr>
              <a:t>one MCP endpoint, shared across agents</a:t>
            </a:r>
          </a:p>
        </p:txBody>
      </p:sp>
      <p:sp>
        <p:nvSpPr>
          <p:cNvPr id="50" name="TextBox 49"/>
          <p:cNvSpPr txBox="1"/>
          <p:nvPr/>
        </p:nvSpPr>
        <p:spPr>
          <a:xfrm>
            <a:off x="8503920" y="2633472"/>
            <a:ext cx="3136392" cy="329184"/>
          </a:xfrm>
          <a:prstGeom prst="rect">
            <a:avLst/>
          </a:prstGeom>
          <a:noFill/>
        </p:spPr>
        <p:txBody>
          <a:bodyPr wrap="square" lIns="73152" tIns="27432" rIns="73152" bIns="27432" anchor="ctr">
            <a:spAutoFit/>
          </a:bodyPr>
          <a:lstStyle/>
          <a:p>
            <a:pPr algn="l"/>
            <a:r>
              <a:rPr sz="850" b="1">
                <a:solidFill>
                  <a:srgbClr val="FFFFFF"/>
                </a:solidFill>
                <a:latin typeface="Segoe UI"/>
              </a:rPr>
              <a:t>Through a Foundry IQ knowledge base</a:t>
            </a:r>
          </a:p>
          <a:p>
            <a:pPr algn="l"/>
            <a:r>
              <a:rPr sz="850" b="0">
                <a:solidFill>
                  <a:srgbClr val="FFFFFF"/>
                </a:solidFill>
                <a:latin typeface="Segoe UI"/>
              </a:rPr>
              <a:t>as a remote knowledge source</a:t>
            </a:r>
          </a:p>
        </p:txBody>
      </p:sp>
      <p:sp>
        <p:nvSpPr>
          <p:cNvPr id="51" name="Rectangle 50"/>
          <p:cNvSpPr/>
          <p:nvPr/>
        </p:nvSpPr>
        <p:spPr>
          <a:xfrm>
            <a:off x="548640" y="2962656"/>
            <a:ext cx="11091672" cy="420624"/>
          </a:xfrm>
          <a:prstGeom prst="rect">
            <a:avLst/>
          </a:prstGeom>
          <a:solidFill>
            <a:srgbClr val="FFFFFF"/>
          </a:solidFill>
          <a:ln w="6350">
            <a:solidFill>
              <a:srgbClr val="E1E7F4"/>
            </a:solidFill>
          </a:ln>
          <a:effectLst/>
        </p:spPr>
        <p:txBody>
          <a:bodyPr rtlCol="0" anchor="ctr"/>
          <a:lstStyle/>
          <a:p>
            <a:pPr algn="ctr"/>
            <a:endParaRPr/>
          </a:p>
        </p:txBody>
      </p:sp>
      <p:sp>
        <p:nvSpPr>
          <p:cNvPr id="52" name="TextBox 51"/>
          <p:cNvSpPr txBox="1"/>
          <p:nvPr/>
        </p:nvSpPr>
        <p:spPr>
          <a:xfrm>
            <a:off x="548640" y="2962656"/>
            <a:ext cx="1874519" cy="420624"/>
          </a:xfrm>
          <a:prstGeom prst="rect">
            <a:avLst/>
          </a:prstGeom>
          <a:noFill/>
        </p:spPr>
        <p:txBody>
          <a:bodyPr wrap="square" lIns="73152" tIns="27432" rIns="73152" bIns="27432" anchor="ctr">
            <a:spAutoFit/>
          </a:bodyPr>
          <a:lstStyle/>
          <a:p>
            <a:pPr algn="l"/>
            <a:r>
              <a:rPr sz="900" b="1">
                <a:solidFill>
                  <a:srgbClr val="101A3C"/>
                </a:solidFill>
                <a:latin typeface="Segoe UI"/>
              </a:rPr>
              <a:t>Foundry IQ</a:t>
            </a:r>
          </a:p>
        </p:txBody>
      </p:sp>
      <p:sp>
        <p:nvSpPr>
          <p:cNvPr id="53" name="TextBox 52"/>
          <p:cNvSpPr txBox="1"/>
          <p:nvPr/>
        </p:nvSpPr>
        <p:spPr>
          <a:xfrm>
            <a:off x="2423160" y="2962656"/>
            <a:ext cx="3291840" cy="420624"/>
          </a:xfrm>
          <a:prstGeom prst="rect">
            <a:avLst/>
          </a:prstGeom>
          <a:noFill/>
        </p:spPr>
        <p:txBody>
          <a:bodyPr wrap="square" lIns="73152" tIns="27432" rIns="73152" bIns="27432" anchor="ctr">
            <a:spAutoFit/>
          </a:bodyPr>
          <a:lstStyle/>
          <a:p>
            <a:pPr algn="l"/>
            <a:r>
              <a:rPr sz="800" b="1">
                <a:solidFill>
                  <a:srgbClr val="141B33"/>
                </a:solidFill>
                <a:latin typeface="Segoe UI"/>
              </a:rPr>
              <a:t>MCP tool over a project connection</a:t>
            </a:r>
          </a:p>
          <a:p>
            <a:pPr algn="l"/>
            <a:r>
              <a:rPr sz="800" b="0">
                <a:solidFill>
                  <a:srgbClr val="141B33"/>
                </a:solidFill>
                <a:latin typeface="Segoe UI"/>
              </a:rPr>
              <a:t>agentic retrieval; Python SDK and REST</a:t>
            </a:r>
          </a:p>
        </p:txBody>
      </p:sp>
      <p:sp>
        <p:nvSpPr>
          <p:cNvPr id="54" name="TextBox 53"/>
          <p:cNvSpPr txBox="1"/>
          <p:nvPr/>
        </p:nvSpPr>
        <p:spPr>
          <a:xfrm>
            <a:off x="5715000" y="2962656"/>
            <a:ext cx="2788920" cy="420624"/>
          </a:xfrm>
          <a:prstGeom prst="rect">
            <a:avLst/>
          </a:prstGeom>
          <a:noFill/>
        </p:spPr>
        <p:txBody>
          <a:bodyPr wrap="square" lIns="73152" tIns="27432" rIns="73152" bIns="27432" anchor="ctr">
            <a:spAutoFit/>
          </a:bodyPr>
          <a:lstStyle/>
          <a:p>
            <a:pPr algn="l"/>
            <a:r>
              <a:rPr sz="800" b="1">
                <a:solidFill>
                  <a:srgbClr val="141B33"/>
                </a:solidFill>
                <a:latin typeface="Segoe UI"/>
              </a:rPr>
              <a:t>Yes</a:t>
            </a:r>
          </a:p>
          <a:p>
            <a:pPr algn="l"/>
            <a:r>
              <a:rPr sz="800" b="0">
                <a:solidFill>
                  <a:srgbClr val="141B33"/>
                </a:solidFill>
                <a:latin typeface="Segoe UI"/>
              </a:rPr>
              <a:t>Foundry IQ is Toolbox-capable</a:t>
            </a:r>
          </a:p>
        </p:txBody>
      </p:sp>
      <p:sp>
        <p:nvSpPr>
          <p:cNvPr id="55" name="TextBox 54"/>
          <p:cNvSpPr txBox="1"/>
          <p:nvPr/>
        </p:nvSpPr>
        <p:spPr>
          <a:xfrm>
            <a:off x="8503920" y="2962656"/>
            <a:ext cx="3136392" cy="420624"/>
          </a:xfrm>
          <a:prstGeom prst="rect">
            <a:avLst/>
          </a:prstGeom>
          <a:noFill/>
        </p:spPr>
        <p:txBody>
          <a:bodyPr wrap="square" lIns="73152" tIns="27432" rIns="73152" bIns="27432" anchor="ctr">
            <a:spAutoFit/>
          </a:bodyPr>
          <a:lstStyle/>
          <a:p>
            <a:pPr algn="l"/>
            <a:r>
              <a:rPr sz="800" b="1">
                <a:solidFill>
                  <a:srgbClr val="141B33"/>
                </a:solidFill>
                <a:latin typeface="Segoe UI"/>
              </a:rPr>
              <a:t>Is the knowledge base</a:t>
            </a:r>
          </a:p>
          <a:p>
            <a:pPr algn="l"/>
            <a:r>
              <a:rPr sz="800" b="0">
                <a:solidFill>
                  <a:srgbClr val="141B33"/>
                </a:solidFill>
                <a:latin typeface="Segoe UI"/>
              </a:rPr>
              <a:t>indexed and remote sources fan in here</a:t>
            </a:r>
          </a:p>
        </p:txBody>
      </p:sp>
      <p:sp>
        <p:nvSpPr>
          <p:cNvPr id="56" name="Rectangle 55"/>
          <p:cNvSpPr/>
          <p:nvPr/>
        </p:nvSpPr>
        <p:spPr>
          <a:xfrm>
            <a:off x="548640" y="3383280"/>
            <a:ext cx="11091672" cy="420624"/>
          </a:xfrm>
          <a:prstGeom prst="rect">
            <a:avLst/>
          </a:prstGeom>
          <a:solidFill>
            <a:srgbClr val="F6F8FD"/>
          </a:solidFill>
          <a:ln w="6350">
            <a:solidFill>
              <a:srgbClr val="E1E7F4"/>
            </a:solidFill>
          </a:ln>
          <a:effectLst/>
        </p:spPr>
        <p:txBody>
          <a:bodyPr rtlCol="0" anchor="ctr"/>
          <a:lstStyle/>
          <a:p>
            <a:pPr algn="ctr"/>
            <a:endParaRPr/>
          </a:p>
        </p:txBody>
      </p:sp>
      <p:sp>
        <p:nvSpPr>
          <p:cNvPr id="57" name="TextBox 56"/>
          <p:cNvSpPr txBox="1"/>
          <p:nvPr/>
        </p:nvSpPr>
        <p:spPr>
          <a:xfrm>
            <a:off x="548640" y="3383280"/>
            <a:ext cx="1874519" cy="420624"/>
          </a:xfrm>
          <a:prstGeom prst="rect">
            <a:avLst/>
          </a:prstGeom>
          <a:noFill/>
        </p:spPr>
        <p:txBody>
          <a:bodyPr wrap="square" lIns="73152" tIns="27432" rIns="73152" bIns="27432" anchor="ctr">
            <a:spAutoFit/>
          </a:bodyPr>
          <a:lstStyle/>
          <a:p>
            <a:pPr algn="l"/>
            <a:r>
              <a:rPr sz="900" b="1">
                <a:solidFill>
                  <a:srgbClr val="101A3C"/>
                </a:solidFill>
                <a:latin typeface="Segoe UI"/>
              </a:rPr>
              <a:t>Work IQ*</a:t>
            </a:r>
          </a:p>
        </p:txBody>
      </p:sp>
      <p:sp>
        <p:nvSpPr>
          <p:cNvPr id="58" name="TextBox 57"/>
          <p:cNvSpPr txBox="1"/>
          <p:nvPr/>
        </p:nvSpPr>
        <p:spPr>
          <a:xfrm>
            <a:off x="2423160" y="3383280"/>
            <a:ext cx="3291840" cy="420624"/>
          </a:xfrm>
          <a:prstGeom prst="rect">
            <a:avLst/>
          </a:prstGeom>
          <a:noFill/>
        </p:spPr>
        <p:txBody>
          <a:bodyPr wrap="square" lIns="73152" tIns="27432" rIns="73152" bIns="27432" anchor="ctr">
            <a:spAutoFit/>
          </a:bodyPr>
          <a:lstStyle/>
          <a:p>
            <a:pPr algn="l"/>
            <a:r>
              <a:rPr sz="800" b="1">
                <a:solidFill>
                  <a:srgbClr val="141B33"/>
                </a:solidFill>
                <a:latin typeface="Segoe UI"/>
              </a:rPr>
              <a:t>A2A protocol</a:t>
            </a:r>
          </a:p>
          <a:p>
            <a:pPr algn="l"/>
            <a:r>
              <a:rPr sz="800" b="0">
                <a:solidFill>
                  <a:srgbClr val="141B33"/>
                </a:solidFill>
                <a:latin typeface="Segoe UI"/>
              </a:rPr>
              <a:t>delegate a natural-language task to Work IQ as a peer agent (A2A 1.0 / 0.3)</a:t>
            </a:r>
          </a:p>
        </p:txBody>
      </p:sp>
      <p:sp>
        <p:nvSpPr>
          <p:cNvPr id="59" name="TextBox 58"/>
          <p:cNvSpPr txBox="1"/>
          <p:nvPr/>
        </p:nvSpPr>
        <p:spPr>
          <a:xfrm>
            <a:off x="5715000" y="3383280"/>
            <a:ext cx="2788920" cy="420624"/>
          </a:xfrm>
          <a:prstGeom prst="rect">
            <a:avLst/>
          </a:prstGeom>
          <a:noFill/>
        </p:spPr>
        <p:txBody>
          <a:bodyPr wrap="square" lIns="73152" tIns="27432" rIns="73152" bIns="27432" anchor="ctr">
            <a:spAutoFit/>
          </a:bodyPr>
          <a:lstStyle/>
          <a:p>
            <a:pPr algn="l"/>
            <a:r>
              <a:rPr sz="800" b="1">
                <a:solidFill>
                  <a:srgbClr val="141B33"/>
                </a:solidFill>
                <a:latin typeface="Segoe UI"/>
              </a:rPr>
              <a:t>Yes</a:t>
            </a:r>
          </a:p>
          <a:p>
            <a:pPr algn="l"/>
            <a:r>
              <a:rPr sz="800" b="0">
                <a:solidFill>
                  <a:srgbClr val="141B33"/>
                </a:solidFill>
                <a:latin typeface="Segoe UI"/>
              </a:rPr>
              <a:t>Work IQ MCP server inside the Toolbox</a:t>
            </a:r>
          </a:p>
        </p:txBody>
      </p:sp>
      <p:sp>
        <p:nvSpPr>
          <p:cNvPr id="60" name="TextBox 59"/>
          <p:cNvSpPr txBox="1"/>
          <p:nvPr/>
        </p:nvSpPr>
        <p:spPr>
          <a:xfrm>
            <a:off x="8503920" y="3383280"/>
            <a:ext cx="3136392" cy="420624"/>
          </a:xfrm>
          <a:prstGeom prst="rect">
            <a:avLst/>
          </a:prstGeom>
          <a:noFill/>
        </p:spPr>
        <p:txBody>
          <a:bodyPr wrap="square" lIns="73152" tIns="27432" rIns="73152" bIns="27432" anchor="ctr">
            <a:spAutoFit/>
          </a:bodyPr>
          <a:lstStyle/>
          <a:p>
            <a:pPr algn="l"/>
            <a:r>
              <a:rPr sz="800" b="1">
                <a:solidFill>
                  <a:srgbClr val="141B33"/>
                </a:solidFill>
                <a:latin typeface="Segoe UI"/>
              </a:rPr>
              <a:t>Yes*</a:t>
            </a:r>
          </a:p>
          <a:p>
            <a:pPr algn="l"/>
            <a:r>
              <a:rPr sz="800" b="0">
                <a:solidFill>
                  <a:srgbClr val="141B33"/>
                </a:solidFill>
                <a:latin typeface="Segoe UI"/>
              </a:rPr>
              <a:t>Work IQ remote knowledge source</a:t>
            </a:r>
          </a:p>
        </p:txBody>
      </p:sp>
      <p:sp>
        <p:nvSpPr>
          <p:cNvPr id="61" name="Rectangle 60"/>
          <p:cNvSpPr/>
          <p:nvPr/>
        </p:nvSpPr>
        <p:spPr>
          <a:xfrm>
            <a:off x="548640" y="3803904"/>
            <a:ext cx="11091672" cy="420624"/>
          </a:xfrm>
          <a:prstGeom prst="rect">
            <a:avLst/>
          </a:prstGeom>
          <a:solidFill>
            <a:srgbClr val="FFFFFF"/>
          </a:solidFill>
          <a:ln w="6350">
            <a:solidFill>
              <a:srgbClr val="E1E7F4"/>
            </a:solidFill>
          </a:ln>
          <a:effectLst/>
        </p:spPr>
        <p:txBody>
          <a:bodyPr rtlCol="0" anchor="ctr"/>
          <a:lstStyle/>
          <a:p>
            <a:pPr algn="ctr"/>
            <a:endParaRPr/>
          </a:p>
        </p:txBody>
      </p:sp>
      <p:sp>
        <p:nvSpPr>
          <p:cNvPr id="62" name="TextBox 61"/>
          <p:cNvSpPr txBox="1"/>
          <p:nvPr/>
        </p:nvSpPr>
        <p:spPr>
          <a:xfrm>
            <a:off x="548640" y="3803904"/>
            <a:ext cx="1874519" cy="420624"/>
          </a:xfrm>
          <a:prstGeom prst="rect">
            <a:avLst/>
          </a:prstGeom>
          <a:noFill/>
        </p:spPr>
        <p:txBody>
          <a:bodyPr wrap="square" lIns="73152" tIns="27432" rIns="73152" bIns="27432" anchor="ctr">
            <a:spAutoFit/>
          </a:bodyPr>
          <a:lstStyle/>
          <a:p>
            <a:pPr algn="l"/>
            <a:r>
              <a:rPr sz="900" b="1">
                <a:solidFill>
                  <a:srgbClr val="101A3C"/>
                </a:solidFill>
                <a:latin typeface="Segoe UI"/>
              </a:rPr>
              <a:t>Fabric IQ*</a:t>
            </a:r>
          </a:p>
        </p:txBody>
      </p:sp>
      <p:sp>
        <p:nvSpPr>
          <p:cNvPr id="63" name="TextBox 62"/>
          <p:cNvSpPr txBox="1"/>
          <p:nvPr/>
        </p:nvSpPr>
        <p:spPr>
          <a:xfrm>
            <a:off x="2423160" y="3803904"/>
            <a:ext cx="3291840" cy="420624"/>
          </a:xfrm>
          <a:prstGeom prst="rect">
            <a:avLst/>
          </a:prstGeom>
          <a:noFill/>
        </p:spPr>
        <p:txBody>
          <a:bodyPr wrap="square" lIns="73152" tIns="27432" rIns="73152" bIns="27432" anchor="ctr">
            <a:spAutoFit/>
          </a:bodyPr>
          <a:lstStyle/>
          <a:p>
            <a:pPr algn="l"/>
            <a:r>
              <a:rPr sz="800" b="1">
                <a:solidFill>
                  <a:srgbClr val="141B33"/>
                </a:solidFill>
                <a:latin typeface="Segoe UI"/>
              </a:rPr>
              <a:t>Server-side tool</a:t>
            </a:r>
          </a:p>
          <a:p>
            <a:pPr algn="l"/>
            <a:r>
              <a:rPr sz="800" b="0">
                <a:solidFill>
                  <a:srgbClr val="141B33"/>
                </a:solidFill>
                <a:latin typeface="Segoe UI"/>
              </a:rPr>
              <a:t>registered on the agent; ontology-grounded answers</a:t>
            </a:r>
          </a:p>
        </p:txBody>
      </p:sp>
      <p:sp>
        <p:nvSpPr>
          <p:cNvPr id="64" name="TextBox 63"/>
          <p:cNvSpPr txBox="1"/>
          <p:nvPr/>
        </p:nvSpPr>
        <p:spPr>
          <a:xfrm>
            <a:off x="5715000" y="3803904"/>
            <a:ext cx="2788920" cy="420624"/>
          </a:xfrm>
          <a:prstGeom prst="rect">
            <a:avLst/>
          </a:prstGeom>
          <a:noFill/>
        </p:spPr>
        <p:txBody>
          <a:bodyPr wrap="square" lIns="73152" tIns="27432" rIns="73152" bIns="27432" anchor="ctr">
            <a:spAutoFit/>
          </a:bodyPr>
          <a:lstStyle/>
          <a:p>
            <a:pPr algn="l"/>
            <a:r>
              <a:rPr sz="800" b="1">
                <a:solidFill>
                  <a:srgbClr val="141B33"/>
                </a:solidFill>
                <a:latin typeface="Segoe UI"/>
              </a:rPr>
              <a:t>Yes</a:t>
            </a:r>
          </a:p>
          <a:p>
            <a:pPr algn="l"/>
            <a:r>
              <a:rPr sz="800" b="0">
                <a:solidFill>
                  <a:srgbClr val="141B33"/>
                </a:solidFill>
                <a:latin typeface="Segoe UI"/>
              </a:rPr>
              <a:t>Fabric IQ inside the Toolbox</a:t>
            </a:r>
          </a:p>
        </p:txBody>
      </p:sp>
      <p:sp>
        <p:nvSpPr>
          <p:cNvPr id="65" name="TextBox 64"/>
          <p:cNvSpPr txBox="1"/>
          <p:nvPr/>
        </p:nvSpPr>
        <p:spPr>
          <a:xfrm>
            <a:off x="8503920" y="3803904"/>
            <a:ext cx="3136392" cy="420624"/>
          </a:xfrm>
          <a:prstGeom prst="rect">
            <a:avLst/>
          </a:prstGeom>
          <a:noFill/>
        </p:spPr>
        <p:txBody>
          <a:bodyPr wrap="square" lIns="73152" tIns="27432" rIns="73152" bIns="27432" anchor="ctr">
            <a:spAutoFit/>
          </a:bodyPr>
          <a:lstStyle/>
          <a:p>
            <a:pPr algn="l"/>
            <a:r>
              <a:rPr sz="800" b="1">
                <a:solidFill>
                  <a:srgbClr val="141B33"/>
                </a:solidFill>
                <a:latin typeface="Segoe UI"/>
              </a:rPr>
              <a:t>Yes*</a:t>
            </a:r>
          </a:p>
          <a:p>
            <a:pPr algn="l"/>
            <a:r>
              <a:rPr sz="800" b="0">
                <a:solidFill>
                  <a:srgbClr val="141B33"/>
                </a:solidFill>
                <a:latin typeface="Segoe UI"/>
              </a:rPr>
              <a:t>Fabric Data Agent and Fabric Ontology remote sources</a:t>
            </a:r>
          </a:p>
        </p:txBody>
      </p:sp>
      <p:sp>
        <p:nvSpPr>
          <p:cNvPr id="66" name="TextBox 65"/>
          <p:cNvSpPr txBox="1"/>
          <p:nvPr/>
        </p:nvSpPr>
        <p:spPr>
          <a:xfrm>
            <a:off x="548640" y="4315968"/>
            <a:ext cx="73152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WHAT TO PLAN FOR</a:t>
            </a:r>
          </a:p>
        </p:txBody>
      </p:sp>
      <p:sp>
        <p:nvSpPr>
          <p:cNvPr id="67" name="Rectangle 66"/>
          <p:cNvSpPr/>
          <p:nvPr/>
        </p:nvSpPr>
        <p:spPr>
          <a:xfrm>
            <a:off x="548640" y="4572000"/>
            <a:ext cx="3575304" cy="932688"/>
          </a:xfrm>
          <a:prstGeom prst="rect">
            <a:avLst/>
          </a:prstGeom>
          <a:solidFill>
            <a:srgbClr val="F6F8FD"/>
          </a:solidFill>
          <a:ln w="9525">
            <a:solidFill>
              <a:srgbClr val="E1E7F4"/>
            </a:solidFill>
          </a:ln>
          <a:effectLst/>
        </p:spPr>
        <p:txBody>
          <a:bodyPr rtlCol="0" anchor="ctr"/>
          <a:lstStyle/>
          <a:p>
            <a:pPr algn="ctr"/>
            <a:endParaRPr/>
          </a:p>
        </p:txBody>
      </p:sp>
      <p:sp>
        <p:nvSpPr>
          <p:cNvPr id="68" name="Rectangle 67"/>
          <p:cNvSpPr/>
          <p:nvPr/>
        </p:nvSpPr>
        <p:spPr>
          <a:xfrm>
            <a:off x="548640" y="4572000"/>
            <a:ext cx="45720" cy="932688"/>
          </a:xfrm>
          <a:prstGeom prst="rect">
            <a:avLst/>
          </a:prstGeom>
          <a:solidFill>
            <a:srgbClr val="00B39F"/>
          </a:solidFill>
          <a:ln>
            <a:noFill/>
          </a:ln>
          <a:effectLst/>
        </p:spPr>
        <p:txBody>
          <a:bodyPr rtlCol="0" anchor="ctr"/>
          <a:lstStyle/>
          <a:p>
            <a:pPr algn="ctr"/>
            <a:endParaRPr/>
          </a:p>
        </p:txBody>
      </p:sp>
      <p:sp>
        <p:nvSpPr>
          <p:cNvPr id="69" name="TextBox 68"/>
          <p:cNvSpPr txBox="1"/>
          <p:nvPr/>
        </p:nvSpPr>
        <p:spPr>
          <a:xfrm>
            <a:off x="603503" y="4572000"/>
            <a:ext cx="3502152" cy="932688"/>
          </a:xfrm>
          <a:prstGeom prst="rect">
            <a:avLst/>
          </a:prstGeom>
          <a:noFill/>
        </p:spPr>
        <p:txBody>
          <a:bodyPr wrap="square" lIns="73152" tIns="27432" rIns="73152" bIns="27432" anchor="t">
            <a:spAutoFit/>
          </a:bodyPr>
          <a:lstStyle/>
          <a:p>
            <a:pPr algn="l"/>
            <a:r>
              <a:rPr sz="750" b="1">
                <a:solidFill>
                  <a:srgbClr val="141B33"/>
                </a:solidFill>
                <a:latin typeface="Segoe UI"/>
              </a:rPr>
              <a:t>Identity</a:t>
            </a:r>
          </a:p>
          <a:p>
            <a:pPr algn="l">
              <a:spcBef>
                <a:spcPts val="150"/>
              </a:spcBef>
            </a:pPr>
            <a:r>
              <a:rPr sz="750" b="0">
                <a:solidFill>
                  <a:srgbClr val="141B33"/>
                </a:solidFill>
                <a:latin typeface="Segoe UI"/>
              </a:rPr>
              <a:t>Foundry IQ — permission-aware retrieval; Purview sensitivity labels trim results at query time.</a:t>
            </a:r>
          </a:p>
          <a:p>
            <a:pPr algn="l">
              <a:spcBef>
                <a:spcPts val="150"/>
              </a:spcBef>
            </a:pPr>
            <a:r>
              <a:rPr sz="750" b="0">
                <a:solidFill>
                  <a:srgbClr val="141B33"/>
                </a:solidFill>
                <a:latin typeface="Segoe UI"/>
              </a:rPr>
              <a:t>Work IQ — runs as the signed-in user; Microsoft 365 permissions apply.</a:t>
            </a:r>
          </a:p>
          <a:p>
            <a:pPr algn="l">
              <a:spcBef>
                <a:spcPts val="150"/>
              </a:spcBef>
            </a:pPr>
            <a:r>
              <a:rPr sz="750" b="0">
                <a:solidFill>
                  <a:srgbClr val="141B33"/>
                </a:solidFill>
                <a:latin typeface="Segoe UI"/>
              </a:rPr>
              <a:t>Fabric IQ — uses the connection identity; Fabric permissions and governance apply.</a:t>
            </a:r>
          </a:p>
        </p:txBody>
      </p:sp>
      <p:sp>
        <p:nvSpPr>
          <p:cNvPr id="70" name="Rectangle 69"/>
          <p:cNvSpPr/>
          <p:nvPr/>
        </p:nvSpPr>
        <p:spPr>
          <a:xfrm>
            <a:off x="4306824" y="4572000"/>
            <a:ext cx="3575304" cy="932688"/>
          </a:xfrm>
          <a:prstGeom prst="rect">
            <a:avLst/>
          </a:prstGeom>
          <a:solidFill>
            <a:srgbClr val="F6F8FD"/>
          </a:solidFill>
          <a:ln w="9525">
            <a:solidFill>
              <a:srgbClr val="E1E7F4"/>
            </a:solidFill>
          </a:ln>
          <a:effectLst/>
        </p:spPr>
        <p:txBody>
          <a:bodyPr rtlCol="0" anchor="ctr"/>
          <a:lstStyle/>
          <a:p>
            <a:pPr algn="ctr"/>
            <a:endParaRPr/>
          </a:p>
        </p:txBody>
      </p:sp>
      <p:sp>
        <p:nvSpPr>
          <p:cNvPr id="71" name="Rectangle 70"/>
          <p:cNvSpPr/>
          <p:nvPr/>
        </p:nvSpPr>
        <p:spPr>
          <a:xfrm>
            <a:off x="4306824" y="4572000"/>
            <a:ext cx="45720" cy="932688"/>
          </a:xfrm>
          <a:prstGeom prst="rect">
            <a:avLst/>
          </a:prstGeom>
          <a:solidFill>
            <a:srgbClr val="101A3C"/>
          </a:solidFill>
          <a:ln>
            <a:noFill/>
          </a:ln>
          <a:effectLst/>
        </p:spPr>
        <p:txBody>
          <a:bodyPr rtlCol="0" anchor="ctr"/>
          <a:lstStyle/>
          <a:p>
            <a:pPr algn="ctr"/>
            <a:endParaRPr/>
          </a:p>
        </p:txBody>
      </p:sp>
      <p:sp>
        <p:nvSpPr>
          <p:cNvPr id="72" name="TextBox 71"/>
          <p:cNvSpPr txBox="1"/>
          <p:nvPr/>
        </p:nvSpPr>
        <p:spPr>
          <a:xfrm>
            <a:off x="4361688" y="4572000"/>
            <a:ext cx="3502152" cy="932688"/>
          </a:xfrm>
          <a:prstGeom prst="rect">
            <a:avLst/>
          </a:prstGeom>
          <a:noFill/>
        </p:spPr>
        <p:txBody>
          <a:bodyPr wrap="square" lIns="73152" tIns="27432" rIns="73152" bIns="27432" anchor="t">
            <a:spAutoFit/>
          </a:bodyPr>
          <a:lstStyle/>
          <a:p>
            <a:pPr algn="l"/>
            <a:r>
              <a:rPr sz="750" b="1">
                <a:solidFill>
                  <a:srgbClr val="141B33"/>
                </a:solidFill>
                <a:latin typeface="Segoe UI"/>
              </a:rPr>
              <a:t>Billing</a:t>
            </a:r>
          </a:p>
          <a:p>
            <a:pPr algn="l">
              <a:spcBef>
                <a:spcPts val="150"/>
              </a:spcBef>
            </a:pPr>
            <a:r>
              <a:rPr sz="750" b="0">
                <a:solidFill>
                  <a:srgbClr val="141B33"/>
                </a:solidFill>
                <a:latin typeface="Segoe UI"/>
              </a:rPr>
              <a:t>Foundry IQ — Azure AI Search retrieval tokens plus model tokens for planning and synthesis.</a:t>
            </a:r>
          </a:p>
          <a:p>
            <a:pPr algn="l">
              <a:spcBef>
                <a:spcPts val="150"/>
              </a:spcBef>
            </a:pPr>
            <a:r>
              <a:rPr sz="750" b="0">
                <a:solidFill>
                  <a:srgbClr val="141B33"/>
                </a:solidFill>
                <a:latin typeface="Segoe UI"/>
              </a:rPr>
              <a:t>Work IQ API (A2A, REST, MCP) — usage-based via Copilot Credits; connector-backed Microsoft 365 tools use connector licensing, possibly a Copilot licence per user.</a:t>
            </a:r>
          </a:p>
          <a:p>
            <a:pPr algn="l">
              <a:spcBef>
                <a:spcPts val="150"/>
              </a:spcBef>
            </a:pPr>
            <a:r>
              <a:rPr sz="750" b="0">
                <a:solidFill>
                  <a:srgbClr val="141B33"/>
                </a:solidFill>
                <a:latin typeface="Segoe UI"/>
              </a:rPr>
              <a:t>Fabric IQ — Fabric capacity (F2+ or Power BI Premium P1+).</a:t>
            </a:r>
          </a:p>
        </p:txBody>
      </p:sp>
      <p:sp>
        <p:nvSpPr>
          <p:cNvPr id="73" name="Rectangle 72"/>
          <p:cNvSpPr/>
          <p:nvPr/>
        </p:nvSpPr>
        <p:spPr>
          <a:xfrm>
            <a:off x="8065008" y="4572000"/>
            <a:ext cx="3575304" cy="932688"/>
          </a:xfrm>
          <a:prstGeom prst="rect">
            <a:avLst/>
          </a:prstGeom>
          <a:solidFill>
            <a:srgbClr val="F6F8FD"/>
          </a:solidFill>
          <a:ln w="9525">
            <a:solidFill>
              <a:srgbClr val="E1E7F4"/>
            </a:solidFill>
          </a:ln>
          <a:effectLst/>
        </p:spPr>
        <p:txBody>
          <a:bodyPr rtlCol="0" anchor="ctr"/>
          <a:lstStyle/>
          <a:p>
            <a:pPr algn="ctr"/>
            <a:endParaRPr/>
          </a:p>
        </p:txBody>
      </p:sp>
      <p:sp>
        <p:nvSpPr>
          <p:cNvPr id="74" name="Rectangle 73"/>
          <p:cNvSpPr/>
          <p:nvPr/>
        </p:nvSpPr>
        <p:spPr>
          <a:xfrm>
            <a:off x="8065008" y="4572000"/>
            <a:ext cx="45720" cy="932688"/>
          </a:xfrm>
          <a:prstGeom prst="rect">
            <a:avLst/>
          </a:prstGeom>
          <a:solidFill>
            <a:srgbClr val="101A3C"/>
          </a:solidFill>
          <a:ln>
            <a:noFill/>
          </a:ln>
          <a:effectLst/>
        </p:spPr>
        <p:txBody>
          <a:bodyPr rtlCol="0" anchor="ctr"/>
          <a:lstStyle/>
          <a:p>
            <a:pPr algn="ctr"/>
            <a:endParaRPr/>
          </a:p>
        </p:txBody>
      </p:sp>
      <p:sp>
        <p:nvSpPr>
          <p:cNvPr id="75" name="TextBox 74"/>
          <p:cNvSpPr txBox="1"/>
          <p:nvPr/>
        </p:nvSpPr>
        <p:spPr>
          <a:xfrm>
            <a:off x="8119872" y="4572000"/>
            <a:ext cx="3502152" cy="932688"/>
          </a:xfrm>
          <a:prstGeom prst="rect">
            <a:avLst/>
          </a:prstGeom>
          <a:noFill/>
        </p:spPr>
        <p:txBody>
          <a:bodyPr wrap="square" lIns="73152" tIns="27432" rIns="73152" bIns="27432" anchor="t">
            <a:spAutoFit/>
          </a:bodyPr>
          <a:lstStyle/>
          <a:p>
            <a:pPr algn="l"/>
            <a:r>
              <a:rPr sz="750" b="1">
                <a:solidFill>
                  <a:srgbClr val="141B33"/>
                </a:solidFill>
                <a:latin typeface="Segoe UI"/>
              </a:rPr>
              <a:t>Setup</a:t>
            </a:r>
          </a:p>
          <a:p>
            <a:pPr algn="l">
              <a:spcBef>
                <a:spcPts val="150"/>
              </a:spcBef>
            </a:pPr>
            <a:r>
              <a:rPr sz="750" b="0">
                <a:solidFill>
                  <a:srgbClr val="141B33"/>
                </a:solidFill>
                <a:latin typeface="Segoe UI"/>
              </a:rPr>
              <a:t>Foundry IQ — Foundry project (not hub-based) and an Azure AI Search service; Foundry User role.</a:t>
            </a:r>
          </a:p>
          <a:p>
            <a:pPr algn="l">
              <a:spcBef>
                <a:spcPts val="150"/>
              </a:spcBef>
            </a:pPr>
            <a:r>
              <a:rPr sz="750" b="0">
                <a:solidFill>
                  <a:srgbClr val="141B33"/>
                </a:solidFill>
                <a:latin typeface="Segoe UI"/>
              </a:rPr>
              <a:t>Work IQ — one-time Entra Global Administrator consent to the Work IQ service principal.</a:t>
            </a:r>
          </a:p>
          <a:p>
            <a:pPr algn="l">
              <a:spcBef>
                <a:spcPts val="150"/>
              </a:spcBef>
            </a:pPr>
            <a:r>
              <a:rPr sz="750" b="0">
                <a:solidFill>
                  <a:srgbClr val="141B33"/>
                </a:solidFill>
                <a:latin typeface="Segoe UI"/>
              </a:rPr>
              <a:t>Fabric IQ — a published Fabric data agent in the same region as its data sources.</a:t>
            </a:r>
          </a:p>
        </p:txBody>
      </p:sp>
      <p:sp>
        <p:nvSpPr>
          <p:cNvPr id="76" name="TextBox 75"/>
          <p:cNvSpPr txBox="1"/>
          <p:nvPr/>
        </p:nvSpPr>
        <p:spPr>
          <a:xfrm>
            <a:off x="548640" y="5522976"/>
            <a:ext cx="11091672"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 Work IQ and Fabric IQ may send data outside the Azure compliance boundary; review before enabling.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4   ·   A G E N T S   A N D   S D K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Foundry Agent Service</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A managed platform that runs your agents and connects them to models, tools, memory and observability through one project endpoint.</a:t>
            </a:r>
          </a:p>
          <a:p>
            <a:endParaRPr sz="1200">
              <a:solidFill>
                <a:srgbClr val="44495B"/>
              </a:solidFill>
              <a:latin typeface="Segoe UI"/>
            </a:endParaRPr>
          </a:p>
        </p:txBody>
      </p:sp>
      <p:sp>
        <p:nvSpPr>
          <p:cNvPr id="30" name="Shape"/>
          <p:cNvSpPr/>
          <p:nvPr/>
        </p:nvSpPr>
        <p:spPr>
          <a:xfrm>
            <a:off x="548640" y="5687568"/>
            <a:ext cx="11094720" cy="9525"/>
          </a:xfrm>
          <a:prstGeom prst="rect">
            <a:avLst/>
          </a:prstGeom>
          <a:solidFill>
            <a:srgbClr val="E1E7F4"/>
          </a:solidFill>
        </p:spPr>
        <p:txBody>
          <a:bodyPr/>
          <a:lstStyle/>
          <a:p>
            <a:endParaRPr/>
          </a:p>
        </p:txBody>
      </p:sp>
      <p:sp>
        <p:nvSpPr>
          <p:cNvPr id="31"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 — overview · hosted-agents · use-your-own-resources</a:t>
            </a:r>
          </a:p>
          <a:p>
            <a:endParaRPr sz="900">
              <a:solidFill>
                <a:srgbClr val="44495B"/>
              </a:solidFill>
              <a:latin typeface="Segoe UI"/>
            </a:endParaRPr>
          </a:p>
        </p:txBody>
      </p:sp>
      <p:sp>
        <p:nvSpPr>
          <p:cNvPr id="32"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14</a:t>
            </a:r>
          </a:p>
        </p:txBody>
      </p:sp>
      <p:sp>
        <p:nvSpPr>
          <p:cNvPr id="33" name="Rectangle 32"/>
          <p:cNvSpPr/>
          <p:nvPr/>
        </p:nvSpPr>
        <p:spPr>
          <a:xfrm>
            <a:off x="548640" y="2167128"/>
            <a:ext cx="1417320" cy="512064"/>
          </a:xfrm>
          <a:prstGeom prst="rect">
            <a:avLst/>
          </a:prstGeom>
          <a:solidFill>
            <a:srgbClr val="EBEFF7"/>
          </a:solidFill>
          <a:ln>
            <a:noFill/>
          </a:ln>
          <a:effectLst/>
        </p:spPr>
        <p:txBody>
          <a:bodyPr rtlCol="0" anchor="ctr"/>
          <a:lstStyle/>
          <a:p>
            <a:pPr algn="ctr"/>
            <a:endParaRPr/>
          </a:p>
        </p:txBody>
      </p:sp>
      <p:sp>
        <p:nvSpPr>
          <p:cNvPr id="34" name="TextBox 33"/>
          <p:cNvSpPr txBox="1"/>
          <p:nvPr/>
        </p:nvSpPr>
        <p:spPr>
          <a:xfrm>
            <a:off x="548640" y="2167128"/>
            <a:ext cx="1417320" cy="512064"/>
          </a:xfrm>
          <a:prstGeom prst="rect">
            <a:avLst/>
          </a:prstGeom>
          <a:noFill/>
        </p:spPr>
        <p:txBody>
          <a:bodyPr wrap="square" lIns="73152" tIns="27432" rIns="73152" bIns="27432" anchor="ctr">
            <a:spAutoFit/>
          </a:bodyPr>
          <a:lstStyle/>
          <a:p>
            <a:pPr algn="ctr"/>
            <a:r>
              <a:rPr sz="800" b="1">
                <a:solidFill>
                  <a:srgbClr val="141B33"/>
                </a:solidFill>
                <a:latin typeface="Segoe UI"/>
              </a:rPr>
              <a:t>Your application</a:t>
            </a:r>
          </a:p>
          <a:p>
            <a:pPr algn="ctr"/>
            <a:r>
              <a:rPr sz="800" b="0">
                <a:solidFill>
                  <a:srgbClr val="141B33"/>
                </a:solidFill>
                <a:latin typeface="Segoe UI"/>
              </a:rPr>
              <a:t>web app · API · Teams and Microsoft 365 Copilot</a:t>
            </a:r>
          </a:p>
        </p:txBody>
      </p:sp>
      <p:sp>
        <p:nvSpPr>
          <p:cNvPr id="35" name="Rectangle 34"/>
          <p:cNvSpPr/>
          <p:nvPr/>
        </p:nvSpPr>
        <p:spPr>
          <a:xfrm>
            <a:off x="548640" y="2788920"/>
            <a:ext cx="1417320" cy="512064"/>
          </a:xfrm>
          <a:prstGeom prst="rect">
            <a:avLst/>
          </a:prstGeom>
          <a:solidFill>
            <a:srgbClr val="EBEFF7"/>
          </a:solidFill>
          <a:ln>
            <a:noFill/>
          </a:ln>
          <a:effectLst/>
        </p:spPr>
        <p:txBody>
          <a:bodyPr rtlCol="0" anchor="ctr"/>
          <a:lstStyle/>
          <a:p>
            <a:pPr algn="ctr"/>
            <a:endParaRPr/>
          </a:p>
        </p:txBody>
      </p:sp>
      <p:sp>
        <p:nvSpPr>
          <p:cNvPr id="36" name="TextBox 35"/>
          <p:cNvSpPr txBox="1"/>
          <p:nvPr/>
        </p:nvSpPr>
        <p:spPr>
          <a:xfrm>
            <a:off x="548640" y="2788920"/>
            <a:ext cx="1417320" cy="512064"/>
          </a:xfrm>
          <a:prstGeom prst="rect">
            <a:avLst/>
          </a:prstGeom>
          <a:noFill/>
        </p:spPr>
        <p:txBody>
          <a:bodyPr wrap="square" lIns="73152" tIns="27432" rIns="73152" bIns="27432" anchor="ctr">
            <a:spAutoFit/>
          </a:bodyPr>
          <a:lstStyle/>
          <a:p>
            <a:pPr algn="ctr"/>
            <a:r>
              <a:rPr sz="800" b="1">
                <a:solidFill>
                  <a:srgbClr val="141B33"/>
                </a:solidFill>
                <a:latin typeface="Segoe UI"/>
              </a:rPr>
              <a:t>Other agents</a:t>
            </a:r>
          </a:p>
          <a:p>
            <a:pPr algn="ctr"/>
            <a:r>
              <a:rPr sz="800" b="0">
                <a:solidFill>
                  <a:srgbClr val="141B33"/>
                </a:solidFill>
                <a:latin typeface="Segoe UI"/>
              </a:rPr>
              <a:t>A2A · Invocations</a:t>
            </a:r>
          </a:p>
        </p:txBody>
      </p:sp>
      <p:sp>
        <p:nvSpPr>
          <p:cNvPr id="37" name="Rectangle 36"/>
          <p:cNvSpPr/>
          <p:nvPr/>
        </p:nvSpPr>
        <p:spPr>
          <a:xfrm>
            <a:off x="2240280" y="1298448"/>
            <a:ext cx="5806440" cy="3200400"/>
          </a:xfrm>
          <a:prstGeom prst="rect">
            <a:avLst/>
          </a:prstGeom>
          <a:solidFill>
            <a:srgbClr val="F6F8FD"/>
          </a:solidFill>
          <a:ln w="9525">
            <a:solidFill>
              <a:srgbClr val="44495B"/>
            </a:solidFill>
            <a:prstDash val="dash"/>
          </a:ln>
          <a:effectLst/>
        </p:spPr>
        <p:txBody>
          <a:bodyPr rtlCol="0" anchor="ctr"/>
          <a:lstStyle/>
          <a:p>
            <a:pPr algn="ctr"/>
            <a:endParaRPr/>
          </a:p>
        </p:txBody>
      </p:sp>
      <p:sp>
        <p:nvSpPr>
          <p:cNvPr id="38" name="TextBox 37"/>
          <p:cNvSpPr txBox="1"/>
          <p:nvPr/>
        </p:nvSpPr>
        <p:spPr>
          <a:xfrm>
            <a:off x="2286000" y="1316736"/>
            <a:ext cx="580644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FOUNDRY AGENT SERVICE</a:t>
            </a:r>
          </a:p>
        </p:txBody>
      </p:sp>
      <p:sp>
        <p:nvSpPr>
          <p:cNvPr id="39" name="Rectangle 38"/>
          <p:cNvSpPr/>
          <p:nvPr/>
        </p:nvSpPr>
        <p:spPr>
          <a:xfrm>
            <a:off x="2468880" y="1801368"/>
            <a:ext cx="2788920" cy="2057400"/>
          </a:xfrm>
          <a:prstGeom prst="rect">
            <a:avLst/>
          </a:prstGeom>
          <a:solidFill>
            <a:srgbClr val="101A3C"/>
          </a:solidFill>
          <a:ln>
            <a:noFill/>
          </a:ln>
          <a:effectLst/>
        </p:spPr>
        <p:txBody>
          <a:bodyPr rtlCol="0" anchor="ctr"/>
          <a:lstStyle/>
          <a:p>
            <a:pPr algn="ctr"/>
            <a:endParaRPr/>
          </a:p>
        </p:txBody>
      </p:sp>
      <p:sp>
        <p:nvSpPr>
          <p:cNvPr id="40" name="TextBox 39"/>
          <p:cNvSpPr txBox="1"/>
          <p:nvPr/>
        </p:nvSpPr>
        <p:spPr>
          <a:xfrm>
            <a:off x="2468880" y="1837943"/>
            <a:ext cx="2788920" cy="402336"/>
          </a:xfrm>
          <a:prstGeom prst="rect">
            <a:avLst/>
          </a:prstGeom>
          <a:noFill/>
        </p:spPr>
        <p:txBody>
          <a:bodyPr wrap="square" lIns="73152" tIns="27432" rIns="73152" bIns="27432" anchor="ctr">
            <a:spAutoFit/>
          </a:bodyPr>
          <a:lstStyle/>
          <a:p>
            <a:pPr algn="ctr"/>
            <a:r>
              <a:rPr sz="900" b="1">
                <a:solidFill>
                  <a:srgbClr val="FFFFFF"/>
                </a:solidFill>
                <a:latin typeface="Segoe UI"/>
              </a:rPr>
              <a:t>Agent Runtime</a:t>
            </a:r>
          </a:p>
          <a:p>
            <a:pPr algn="ctr"/>
            <a:r>
              <a:rPr sz="900" b="0">
                <a:solidFill>
                  <a:srgbClr val="FFFFFF"/>
                </a:solidFill>
                <a:latin typeface="Segoe UI"/>
              </a:rPr>
              <a:t>conversations · tool calls · agent lifecycle</a:t>
            </a:r>
          </a:p>
        </p:txBody>
      </p:sp>
      <p:sp>
        <p:nvSpPr>
          <p:cNvPr id="41" name="Rectangle 40"/>
          <p:cNvSpPr/>
          <p:nvPr/>
        </p:nvSpPr>
        <p:spPr>
          <a:xfrm>
            <a:off x="2606040" y="2304288"/>
            <a:ext cx="2514600" cy="457200"/>
          </a:xfrm>
          <a:prstGeom prst="rect">
            <a:avLst/>
          </a:prstGeom>
          <a:solidFill>
            <a:srgbClr val="FFFFFF"/>
          </a:solidFill>
          <a:ln w="9525">
            <a:solidFill>
              <a:srgbClr val="E1E7F4"/>
            </a:solidFill>
          </a:ln>
          <a:effectLst/>
        </p:spPr>
        <p:txBody>
          <a:bodyPr rtlCol="0" anchor="ctr"/>
          <a:lstStyle/>
          <a:p>
            <a:pPr algn="ctr"/>
            <a:endParaRPr/>
          </a:p>
        </p:txBody>
      </p:sp>
      <p:sp>
        <p:nvSpPr>
          <p:cNvPr id="42" name="TextBox 41"/>
          <p:cNvSpPr txBox="1"/>
          <p:nvPr/>
        </p:nvSpPr>
        <p:spPr>
          <a:xfrm>
            <a:off x="2606040" y="2304288"/>
            <a:ext cx="2514600" cy="457200"/>
          </a:xfrm>
          <a:prstGeom prst="rect">
            <a:avLst/>
          </a:prstGeom>
          <a:noFill/>
        </p:spPr>
        <p:txBody>
          <a:bodyPr wrap="square" lIns="73152" tIns="27432" rIns="73152" bIns="27432" anchor="ctr">
            <a:spAutoFit/>
          </a:bodyPr>
          <a:lstStyle/>
          <a:p>
            <a:pPr algn="ctr"/>
            <a:r>
              <a:rPr sz="800" b="1">
                <a:solidFill>
                  <a:srgbClr val="141B33"/>
                </a:solidFill>
                <a:latin typeface="Segoe UI"/>
              </a:rPr>
              <a:t>Prompt agent</a:t>
            </a:r>
          </a:p>
          <a:p>
            <a:pPr algn="ctr"/>
            <a:r>
              <a:rPr sz="800" b="0">
                <a:solidFill>
                  <a:srgbClr val="141B33"/>
                </a:solidFill>
                <a:latin typeface="Segoe UI"/>
              </a:rPr>
              <a:t>instructions + model + tools; Foundry runs it</a:t>
            </a:r>
          </a:p>
        </p:txBody>
      </p:sp>
      <p:sp>
        <p:nvSpPr>
          <p:cNvPr id="43" name="Rectangle 42"/>
          <p:cNvSpPr/>
          <p:nvPr/>
        </p:nvSpPr>
        <p:spPr>
          <a:xfrm>
            <a:off x="2606040" y="2825496"/>
            <a:ext cx="2514600" cy="457200"/>
          </a:xfrm>
          <a:prstGeom prst="rect">
            <a:avLst/>
          </a:prstGeom>
          <a:solidFill>
            <a:srgbClr val="FFFFFF"/>
          </a:solidFill>
          <a:ln w="9525">
            <a:solidFill>
              <a:srgbClr val="E1E7F4"/>
            </a:solidFill>
          </a:ln>
          <a:effectLst/>
        </p:spPr>
        <p:txBody>
          <a:bodyPr rtlCol="0" anchor="ctr"/>
          <a:lstStyle/>
          <a:p>
            <a:pPr algn="ctr"/>
            <a:endParaRPr/>
          </a:p>
        </p:txBody>
      </p:sp>
      <p:sp>
        <p:nvSpPr>
          <p:cNvPr id="44" name="TextBox 43"/>
          <p:cNvSpPr txBox="1"/>
          <p:nvPr/>
        </p:nvSpPr>
        <p:spPr>
          <a:xfrm>
            <a:off x="2606040" y="2825496"/>
            <a:ext cx="2514600" cy="457200"/>
          </a:xfrm>
          <a:prstGeom prst="rect">
            <a:avLst/>
          </a:prstGeom>
          <a:noFill/>
        </p:spPr>
        <p:txBody>
          <a:bodyPr wrap="square" lIns="73152" tIns="27432" rIns="73152" bIns="27432" anchor="ctr">
            <a:spAutoFit/>
          </a:bodyPr>
          <a:lstStyle/>
          <a:p>
            <a:pPr algn="ctr"/>
            <a:r>
              <a:rPr sz="800" b="1">
                <a:solidFill>
                  <a:srgbClr val="141B33"/>
                </a:solidFill>
                <a:latin typeface="Segoe UI"/>
              </a:rPr>
              <a:t>Hosted agent</a:t>
            </a:r>
          </a:p>
          <a:p>
            <a:pPr algn="ctr"/>
            <a:r>
              <a:rPr sz="800" b="0">
                <a:solidFill>
                  <a:srgbClr val="141B33"/>
                </a:solidFill>
                <a:latin typeface="Segoe UI"/>
              </a:rPr>
              <a:t>your code and framework in a container; per-session VM-isolated sandbox</a:t>
            </a:r>
          </a:p>
        </p:txBody>
      </p:sp>
      <p:sp>
        <p:nvSpPr>
          <p:cNvPr id="45" name="Rectangle 44"/>
          <p:cNvSpPr/>
          <p:nvPr/>
        </p:nvSpPr>
        <p:spPr>
          <a:xfrm>
            <a:off x="2606040" y="3291840"/>
            <a:ext cx="2514600" cy="457200"/>
          </a:xfrm>
          <a:prstGeom prst="rect">
            <a:avLst/>
          </a:prstGeom>
          <a:solidFill>
            <a:srgbClr val="EBEFF7"/>
          </a:solidFill>
          <a:ln>
            <a:noFill/>
          </a:ln>
          <a:effectLst/>
        </p:spPr>
        <p:txBody>
          <a:bodyPr rtlCol="0" anchor="ctr"/>
          <a:lstStyle/>
          <a:p>
            <a:pPr algn="ctr"/>
            <a:endParaRPr/>
          </a:p>
        </p:txBody>
      </p:sp>
      <p:sp>
        <p:nvSpPr>
          <p:cNvPr id="46" name="TextBox 45"/>
          <p:cNvSpPr txBox="1"/>
          <p:nvPr/>
        </p:nvSpPr>
        <p:spPr>
          <a:xfrm>
            <a:off x="2606040" y="3291840"/>
            <a:ext cx="2514600" cy="457200"/>
          </a:xfrm>
          <a:prstGeom prst="rect">
            <a:avLst/>
          </a:prstGeom>
          <a:noFill/>
        </p:spPr>
        <p:txBody>
          <a:bodyPr wrap="square" lIns="73152" tIns="27432" rIns="73152" bIns="27432" anchor="ctr">
            <a:spAutoFit/>
          </a:bodyPr>
          <a:lstStyle/>
          <a:p>
            <a:pPr algn="ctr"/>
            <a:r>
              <a:rPr sz="800" b="1">
                <a:solidFill>
                  <a:srgbClr val="44495B"/>
                </a:solidFill>
                <a:latin typeface="Segoe UI"/>
              </a:rPr>
              <a:t>Responses API call</a:t>
            </a:r>
          </a:p>
          <a:p>
            <a:pPr algn="ctr"/>
            <a:r>
              <a:rPr sz="800" b="0">
                <a:solidFill>
                  <a:srgbClr val="44495B"/>
                </a:solidFill>
                <a:latin typeface="Segoe UI"/>
              </a:rPr>
              <a:t>ephemeral agent defined in your code; no agent resource</a:t>
            </a:r>
          </a:p>
        </p:txBody>
      </p:sp>
      <p:sp>
        <p:nvSpPr>
          <p:cNvPr id="47" name="Rectangle 46"/>
          <p:cNvSpPr/>
          <p:nvPr/>
        </p:nvSpPr>
        <p:spPr>
          <a:xfrm>
            <a:off x="5760720" y="1801368"/>
            <a:ext cx="2103120" cy="475488"/>
          </a:xfrm>
          <a:prstGeom prst="rect">
            <a:avLst/>
          </a:prstGeom>
          <a:solidFill>
            <a:srgbClr val="FFFFFF"/>
          </a:solidFill>
          <a:ln w="9525">
            <a:solidFill>
              <a:srgbClr val="E1E7F4"/>
            </a:solidFill>
          </a:ln>
          <a:effectLst/>
        </p:spPr>
        <p:txBody>
          <a:bodyPr rtlCol="0" anchor="ctr"/>
          <a:lstStyle/>
          <a:p>
            <a:pPr algn="ctr"/>
            <a:endParaRPr/>
          </a:p>
        </p:txBody>
      </p:sp>
      <p:sp>
        <p:nvSpPr>
          <p:cNvPr id="48" name="TextBox 47"/>
          <p:cNvSpPr txBox="1"/>
          <p:nvPr/>
        </p:nvSpPr>
        <p:spPr>
          <a:xfrm>
            <a:off x="5760720" y="1801368"/>
            <a:ext cx="2103120" cy="475488"/>
          </a:xfrm>
          <a:prstGeom prst="rect">
            <a:avLst/>
          </a:prstGeom>
          <a:noFill/>
        </p:spPr>
        <p:txBody>
          <a:bodyPr wrap="square" lIns="73152" tIns="27432" rIns="73152" bIns="27432" anchor="ctr">
            <a:spAutoFit/>
          </a:bodyPr>
          <a:lstStyle/>
          <a:p>
            <a:pPr algn="ctr"/>
            <a:r>
              <a:rPr sz="800" b="1">
                <a:solidFill>
                  <a:srgbClr val="141B33"/>
                </a:solidFill>
                <a:latin typeface="Segoe UI"/>
              </a:rPr>
              <a:t>Foundry Models</a:t>
            </a:r>
          </a:p>
          <a:p>
            <a:pPr algn="ctr"/>
            <a:r>
              <a:rPr sz="800" b="0">
                <a:solidFill>
                  <a:srgbClr val="141B33"/>
                </a:solidFill>
                <a:latin typeface="Segoe UI"/>
              </a:rPr>
              <a:t>catalog · Model Router · swap models without code changes</a:t>
            </a:r>
          </a:p>
        </p:txBody>
      </p:sp>
      <p:cxnSp>
        <p:nvCxnSpPr>
          <p:cNvPr id="49" name="Connector 48"/>
          <p:cNvCxnSpPr/>
          <p:nvPr/>
        </p:nvCxnSpPr>
        <p:spPr>
          <a:xfrm>
            <a:off x="5257800" y="2039112"/>
            <a:ext cx="50292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5760720" y="2359152"/>
            <a:ext cx="2103120" cy="475488"/>
          </a:xfrm>
          <a:prstGeom prst="rect">
            <a:avLst/>
          </a:prstGeom>
          <a:solidFill>
            <a:srgbClr val="FFFFFF"/>
          </a:solidFill>
          <a:ln w="9525">
            <a:solidFill>
              <a:srgbClr val="E1E7F4"/>
            </a:solidFill>
          </a:ln>
          <a:effectLst/>
        </p:spPr>
        <p:txBody>
          <a:bodyPr rtlCol="0" anchor="ctr"/>
          <a:lstStyle/>
          <a:p>
            <a:pPr algn="ctr"/>
            <a:endParaRPr/>
          </a:p>
        </p:txBody>
      </p:sp>
      <p:sp>
        <p:nvSpPr>
          <p:cNvPr id="51" name="TextBox 50"/>
          <p:cNvSpPr txBox="1"/>
          <p:nvPr/>
        </p:nvSpPr>
        <p:spPr>
          <a:xfrm>
            <a:off x="5760720" y="2359152"/>
            <a:ext cx="2103120" cy="475488"/>
          </a:xfrm>
          <a:prstGeom prst="rect">
            <a:avLst/>
          </a:prstGeom>
          <a:noFill/>
        </p:spPr>
        <p:txBody>
          <a:bodyPr wrap="square" lIns="73152" tIns="27432" rIns="73152" bIns="27432" anchor="ctr">
            <a:spAutoFit/>
          </a:bodyPr>
          <a:lstStyle/>
          <a:p>
            <a:pPr algn="ctr"/>
            <a:r>
              <a:rPr sz="800" b="1">
                <a:solidFill>
                  <a:srgbClr val="141B33"/>
                </a:solidFill>
                <a:latin typeface="Segoe UI"/>
              </a:rPr>
              <a:t>Toolbox</a:t>
            </a:r>
          </a:p>
          <a:p>
            <a:pPr algn="ctr"/>
            <a:r>
              <a:rPr sz="800" b="0">
                <a:solidFill>
                  <a:srgbClr val="141B33"/>
                </a:solidFill>
                <a:latin typeface="Segoe UI"/>
              </a:rPr>
              <a:t>one MCP endpoint · centralised auth · Foundry IQ, Work IQ*, Fabric IQ*</a:t>
            </a:r>
          </a:p>
        </p:txBody>
      </p:sp>
      <p:cxnSp>
        <p:nvCxnSpPr>
          <p:cNvPr id="52" name="Connector 51"/>
          <p:cNvCxnSpPr/>
          <p:nvPr/>
        </p:nvCxnSpPr>
        <p:spPr>
          <a:xfrm>
            <a:off x="5257800" y="2596896"/>
            <a:ext cx="50292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5760720" y="2916936"/>
            <a:ext cx="2103120" cy="475488"/>
          </a:xfrm>
          <a:prstGeom prst="rect">
            <a:avLst/>
          </a:prstGeom>
          <a:solidFill>
            <a:srgbClr val="FFFFFF"/>
          </a:solidFill>
          <a:ln w="9525">
            <a:solidFill>
              <a:srgbClr val="E1E7F4"/>
            </a:solidFill>
          </a:ln>
          <a:effectLst/>
        </p:spPr>
        <p:txBody>
          <a:bodyPr rtlCol="0" anchor="ctr"/>
          <a:lstStyle/>
          <a:p>
            <a:pPr algn="ctr"/>
            <a:endParaRPr/>
          </a:p>
        </p:txBody>
      </p:sp>
      <p:sp>
        <p:nvSpPr>
          <p:cNvPr id="54" name="TextBox 53"/>
          <p:cNvSpPr txBox="1"/>
          <p:nvPr/>
        </p:nvSpPr>
        <p:spPr>
          <a:xfrm>
            <a:off x="5760720" y="2916936"/>
            <a:ext cx="2103120" cy="475488"/>
          </a:xfrm>
          <a:prstGeom prst="rect">
            <a:avLst/>
          </a:prstGeom>
          <a:noFill/>
        </p:spPr>
        <p:txBody>
          <a:bodyPr wrap="square" lIns="73152" tIns="27432" rIns="73152" bIns="27432" anchor="ctr">
            <a:spAutoFit/>
          </a:bodyPr>
          <a:lstStyle/>
          <a:p>
            <a:pPr algn="ctr"/>
            <a:r>
              <a:rPr sz="800" b="1">
                <a:solidFill>
                  <a:srgbClr val="141B33"/>
                </a:solidFill>
                <a:latin typeface="Segoe UI"/>
              </a:rPr>
              <a:t>Memory*</a:t>
            </a:r>
          </a:p>
          <a:p>
            <a:pPr algn="ctr"/>
            <a:r>
              <a:rPr sz="800" b="0">
                <a:solidFill>
                  <a:srgbClr val="141B33"/>
                </a:solidFill>
                <a:latin typeface="Segoe UI"/>
              </a:rPr>
              <a:t>procedural · user · session</a:t>
            </a:r>
          </a:p>
        </p:txBody>
      </p:sp>
      <p:cxnSp>
        <p:nvCxnSpPr>
          <p:cNvPr id="55" name="Connector 54"/>
          <p:cNvCxnSpPr/>
          <p:nvPr/>
        </p:nvCxnSpPr>
        <p:spPr>
          <a:xfrm>
            <a:off x="5257800" y="3154680"/>
            <a:ext cx="50292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5760720" y="3474720"/>
            <a:ext cx="2103120" cy="548640"/>
          </a:xfrm>
          <a:prstGeom prst="rect">
            <a:avLst/>
          </a:prstGeom>
          <a:solidFill>
            <a:srgbClr val="FFFFFF"/>
          </a:solidFill>
          <a:ln w="9525">
            <a:solidFill>
              <a:srgbClr val="E1E7F4"/>
            </a:solidFill>
          </a:ln>
          <a:effectLst/>
        </p:spPr>
        <p:txBody>
          <a:bodyPr rtlCol="0" anchor="ctr"/>
          <a:lstStyle/>
          <a:p>
            <a:pPr algn="ctr"/>
            <a:endParaRPr/>
          </a:p>
        </p:txBody>
      </p:sp>
      <p:sp>
        <p:nvSpPr>
          <p:cNvPr id="57" name="TextBox 56"/>
          <p:cNvSpPr txBox="1"/>
          <p:nvPr/>
        </p:nvSpPr>
        <p:spPr>
          <a:xfrm>
            <a:off x="5760720" y="3474720"/>
            <a:ext cx="2103120" cy="548640"/>
          </a:xfrm>
          <a:prstGeom prst="rect">
            <a:avLst/>
          </a:prstGeom>
          <a:noFill/>
        </p:spPr>
        <p:txBody>
          <a:bodyPr wrap="square" lIns="73152" tIns="27432" rIns="73152" bIns="27432" anchor="ctr">
            <a:spAutoFit/>
          </a:bodyPr>
          <a:lstStyle/>
          <a:p>
            <a:pPr algn="ctr"/>
            <a:r>
              <a:rPr sz="800" b="1">
                <a:solidFill>
                  <a:srgbClr val="141B33"/>
                </a:solidFill>
                <a:latin typeface="Segoe UI"/>
              </a:rPr>
              <a:t>Observability</a:t>
            </a:r>
          </a:p>
          <a:p>
            <a:pPr algn="ctr"/>
            <a:r>
              <a:rPr sz="800" b="0">
                <a:solidFill>
                  <a:srgbClr val="141B33"/>
                </a:solidFill>
                <a:latin typeface="Segoe UI"/>
              </a:rPr>
              <a:t>server-side traces · evaluations · Agent Optimizer*</a:t>
            </a:r>
          </a:p>
        </p:txBody>
      </p:sp>
      <p:cxnSp>
        <p:nvCxnSpPr>
          <p:cNvPr id="58" name="Connector 57"/>
          <p:cNvCxnSpPr/>
          <p:nvPr/>
        </p:nvCxnSpPr>
        <p:spPr>
          <a:xfrm>
            <a:off x="5257800" y="3712463"/>
            <a:ext cx="502920" cy="0"/>
          </a:xfrm>
          <a:prstGeom prst="line">
            <a:avLst/>
          </a:prstGeom>
          <a:ln w="15875">
            <a:solidFill>
              <a:srgbClr val="44495B"/>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2468880" y="3931920"/>
            <a:ext cx="5394960" cy="384048"/>
          </a:xfrm>
          <a:prstGeom prst="rect">
            <a:avLst/>
          </a:prstGeom>
          <a:solidFill>
            <a:srgbClr val="0B1229"/>
          </a:solidFill>
          <a:ln>
            <a:noFill/>
          </a:ln>
          <a:effectLst/>
        </p:spPr>
        <p:txBody>
          <a:bodyPr rtlCol="0" anchor="ctr"/>
          <a:lstStyle/>
          <a:p>
            <a:pPr algn="ctr"/>
            <a:endParaRPr/>
          </a:p>
        </p:txBody>
      </p:sp>
      <p:sp>
        <p:nvSpPr>
          <p:cNvPr id="60" name="TextBox 59"/>
          <p:cNvSpPr txBox="1"/>
          <p:nvPr/>
        </p:nvSpPr>
        <p:spPr>
          <a:xfrm>
            <a:off x="2468880" y="3931920"/>
            <a:ext cx="5394960" cy="384048"/>
          </a:xfrm>
          <a:prstGeom prst="rect">
            <a:avLst/>
          </a:prstGeom>
          <a:noFill/>
        </p:spPr>
        <p:txBody>
          <a:bodyPr wrap="square" lIns="73152" tIns="27432" rIns="73152" bIns="27432" anchor="ctr">
            <a:spAutoFit/>
          </a:bodyPr>
          <a:lstStyle/>
          <a:p>
            <a:pPr algn="ctr"/>
            <a:r>
              <a:rPr sz="800" b="1">
                <a:solidFill>
                  <a:srgbClr val="FFFFFF"/>
                </a:solidFill>
                <a:latin typeface="Segoe UI"/>
              </a:rPr>
              <a:t>Identity and security  </a:t>
            </a:r>
            <a:r>
              <a:rPr sz="800" b="0">
                <a:solidFill>
                  <a:srgbClr val="FFFFFF"/>
                </a:solidFill>
                <a:latin typeface="Segoe UI"/>
              </a:rPr>
              <a:t>Entra agent identity per agent · project managed identity · RBAC · guardrails · private networking and BYO VNet</a:t>
            </a:r>
          </a:p>
        </p:txBody>
      </p:sp>
      <p:cxnSp>
        <p:nvCxnSpPr>
          <p:cNvPr id="61" name="Connector 60"/>
          <p:cNvCxnSpPr/>
          <p:nvPr/>
        </p:nvCxnSpPr>
        <p:spPr>
          <a:xfrm>
            <a:off x="1965960" y="2423160"/>
            <a:ext cx="50292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965960" y="3044952"/>
            <a:ext cx="50292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8275320" y="2167128"/>
            <a:ext cx="1600200" cy="786384"/>
          </a:xfrm>
          <a:prstGeom prst="rect">
            <a:avLst/>
          </a:prstGeom>
          <a:solidFill>
            <a:srgbClr val="FFFFFF"/>
          </a:solidFill>
          <a:ln w="9525">
            <a:solidFill>
              <a:srgbClr val="E1E7F4"/>
            </a:solidFill>
          </a:ln>
          <a:effectLst/>
        </p:spPr>
        <p:txBody>
          <a:bodyPr rtlCol="0" anchor="ctr"/>
          <a:lstStyle/>
          <a:p>
            <a:pPr algn="ctr"/>
            <a:endParaRPr/>
          </a:p>
        </p:txBody>
      </p:sp>
      <p:sp>
        <p:nvSpPr>
          <p:cNvPr id="64" name="TextBox 63"/>
          <p:cNvSpPr txBox="1"/>
          <p:nvPr/>
        </p:nvSpPr>
        <p:spPr>
          <a:xfrm>
            <a:off x="8275320" y="2167128"/>
            <a:ext cx="1600200" cy="786384"/>
          </a:xfrm>
          <a:prstGeom prst="rect">
            <a:avLst/>
          </a:prstGeom>
          <a:noFill/>
        </p:spPr>
        <p:txBody>
          <a:bodyPr wrap="square" lIns="73152" tIns="27432" rIns="73152" bIns="27432" anchor="ctr">
            <a:spAutoFit/>
          </a:bodyPr>
          <a:lstStyle/>
          <a:p>
            <a:pPr algn="ctr"/>
            <a:r>
              <a:rPr sz="800" b="1">
                <a:solidFill>
                  <a:srgbClr val="141B33"/>
                </a:solidFill>
                <a:latin typeface="Segoe UI"/>
              </a:rPr>
              <a:t>Publishing</a:t>
            </a:r>
          </a:p>
          <a:p>
            <a:pPr algn="ctr"/>
            <a:r>
              <a:rPr sz="800" b="0">
                <a:solidFill>
                  <a:srgbClr val="141B33"/>
                </a:solidFill>
                <a:latin typeface="Segoe UI"/>
              </a:rPr>
              <a:t>versioned agents · stable endpoints · Microsoft 365 Copilot and Teams · Entra Agent Registry</a:t>
            </a:r>
          </a:p>
        </p:txBody>
      </p:sp>
      <p:cxnSp>
        <p:nvCxnSpPr>
          <p:cNvPr id="65" name="Connector 64"/>
          <p:cNvCxnSpPr/>
          <p:nvPr/>
        </p:nvCxnSpPr>
        <p:spPr>
          <a:xfrm>
            <a:off x="8046720" y="2560320"/>
            <a:ext cx="22860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8275320" y="1298448"/>
            <a:ext cx="3364992" cy="731520"/>
          </a:xfrm>
          <a:prstGeom prst="rect">
            <a:avLst/>
          </a:prstGeom>
          <a:solidFill>
            <a:srgbClr val="FFFFFF"/>
          </a:solidFill>
          <a:ln w="9525">
            <a:solidFill>
              <a:srgbClr val="E1E7F4"/>
            </a:solidFill>
          </a:ln>
          <a:effectLst/>
        </p:spPr>
        <p:txBody>
          <a:bodyPr rtlCol="0" anchor="ctr"/>
          <a:lstStyle/>
          <a:p>
            <a:pPr algn="ctr"/>
            <a:endParaRPr/>
          </a:p>
        </p:txBody>
      </p:sp>
      <p:sp>
        <p:nvSpPr>
          <p:cNvPr id="67" name="Rectangle 66"/>
          <p:cNvSpPr/>
          <p:nvPr/>
        </p:nvSpPr>
        <p:spPr>
          <a:xfrm>
            <a:off x="8275320" y="1298448"/>
            <a:ext cx="3364992" cy="36576"/>
          </a:xfrm>
          <a:prstGeom prst="rect">
            <a:avLst/>
          </a:prstGeom>
          <a:solidFill>
            <a:srgbClr val="00B39F"/>
          </a:solidFill>
          <a:ln>
            <a:noFill/>
          </a:ln>
          <a:effectLst/>
        </p:spPr>
        <p:txBody>
          <a:bodyPr rtlCol="0" anchor="ctr"/>
          <a:lstStyle/>
          <a:p>
            <a:pPr algn="ctr"/>
            <a:endParaRPr/>
          </a:p>
        </p:txBody>
      </p:sp>
      <p:sp>
        <p:nvSpPr>
          <p:cNvPr id="68" name="TextBox 67"/>
          <p:cNvSpPr txBox="1"/>
          <p:nvPr/>
        </p:nvSpPr>
        <p:spPr>
          <a:xfrm>
            <a:off x="8275320" y="1335024"/>
            <a:ext cx="3364992" cy="694944"/>
          </a:xfrm>
          <a:prstGeom prst="rect">
            <a:avLst/>
          </a:prstGeom>
          <a:noFill/>
        </p:spPr>
        <p:txBody>
          <a:bodyPr wrap="square" lIns="73152" tIns="27432" rIns="73152" bIns="27432" anchor="t">
            <a:spAutoFit/>
          </a:bodyPr>
          <a:lstStyle/>
          <a:p>
            <a:pPr algn="l"/>
            <a:r>
              <a:rPr sz="800" b="1">
                <a:solidFill>
                  <a:srgbClr val="141B33"/>
                </a:solidFill>
                <a:latin typeface="Segoe UI"/>
              </a:rPr>
              <a:t>Foundry Agents API — built on the Responses API</a:t>
            </a:r>
          </a:p>
          <a:p>
            <a:pPr algn="l">
              <a:spcBef>
                <a:spcPts val="200"/>
              </a:spcBef>
            </a:pPr>
            <a:r>
              <a:rPr sz="800" b="0">
                <a:solidFill>
                  <a:srgbClr val="141B33"/>
                </a:solidFill>
                <a:latin typeface="Segoe UI"/>
              </a:rPr>
              <a:t>Threads → Conversations · Runs → Responses · Assistants → Agents. A superset of the OpenAI Responses API; migration tool available.</a:t>
            </a:r>
          </a:p>
        </p:txBody>
      </p:sp>
      <p:sp>
        <p:nvSpPr>
          <p:cNvPr id="69" name="Rectangle 68"/>
          <p:cNvSpPr/>
          <p:nvPr/>
        </p:nvSpPr>
        <p:spPr>
          <a:xfrm>
            <a:off x="8275320" y="3081528"/>
            <a:ext cx="3364992" cy="1463040"/>
          </a:xfrm>
          <a:prstGeom prst="rect">
            <a:avLst/>
          </a:prstGeom>
          <a:solidFill>
            <a:srgbClr val="FFFFFF"/>
          </a:solidFill>
          <a:ln w="9525">
            <a:solidFill>
              <a:srgbClr val="E1E7F4"/>
            </a:solidFill>
          </a:ln>
          <a:effectLst/>
        </p:spPr>
        <p:txBody>
          <a:bodyPr rtlCol="0" anchor="ctr"/>
          <a:lstStyle/>
          <a:p>
            <a:pPr algn="ctr"/>
            <a:endParaRPr/>
          </a:p>
        </p:txBody>
      </p:sp>
      <p:sp>
        <p:nvSpPr>
          <p:cNvPr id="70" name="Rectangle 69"/>
          <p:cNvSpPr/>
          <p:nvPr/>
        </p:nvSpPr>
        <p:spPr>
          <a:xfrm>
            <a:off x="8275320" y="3081528"/>
            <a:ext cx="3364992" cy="36576"/>
          </a:xfrm>
          <a:prstGeom prst="rect">
            <a:avLst/>
          </a:prstGeom>
          <a:solidFill>
            <a:srgbClr val="101A3C"/>
          </a:solidFill>
          <a:ln>
            <a:noFill/>
          </a:ln>
          <a:effectLst/>
        </p:spPr>
        <p:txBody>
          <a:bodyPr rtlCol="0" anchor="ctr"/>
          <a:lstStyle/>
          <a:p>
            <a:pPr algn="ctr"/>
            <a:endParaRPr/>
          </a:p>
        </p:txBody>
      </p:sp>
      <p:sp>
        <p:nvSpPr>
          <p:cNvPr id="71" name="TextBox 70"/>
          <p:cNvSpPr txBox="1"/>
          <p:nvPr/>
        </p:nvSpPr>
        <p:spPr>
          <a:xfrm>
            <a:off x="8275320" y="3118104"/>
            <a:ext cx="3364992" cy="274320"/>
          </a:xfrm>
          <a:prstGeom prst="rect">
            <a:avLst/>
          </a:prstGeom>
          <a:noFill/>
        </p:spPr>
        <p:txBody>
          <a:bodyPr wrap="square" lIns="73152" tIns="27432" rIns="73152" bIns="27432" anchor="ctr">
            <a:spAutoFit/>
          </a:bodyPr>
          <a:lstStyle/>
          <a:p>
            <a:pPr algn="l"/>
            <a:r>
              <a:rPr sz="850" b="1">
                <a:solidFill>
                  <a:srgbClr val="141B33"/>
                </a:solidFill>
                <a:latin typeface="Segoe UI"/>
              </a:rPr>
              <a:t>Hosted agent runtime</a:t>
            </a:r>
          </a:p>
        </p:txBody>
      </p:sp>
      <p:sp>
        <p:nvSpPr>
          <p:cNvPr id="72" name="TextBox 71"/>
          <p:cNvSpPr txBox="1"/>
          <p:nvPr/>
        </p:nvSpPr>
        <p:spPr>
          <a:xfrm>
            <a:off x="8293608" y="3410712"/>
            <a:ext cx="868680" cy="274320"/>
          </a:xfrm>
          <a:prstGeom prst="rect">
            <a:avLst/>
          </a:prstGeom>
          <a:noFill/>
        </p:spPr>
        <p:txBody>
          <a:bodyPr wrap="square" lIns="73152" tIns="27432" rIns="73152" bIns="27432" anchor="t">
            <a:spAutoFit/>
          </a:bodyPr>
          <a:lstStyle/>
          <a:p>
            <a:pPr algn="l"/>
            <a:r>
              <a:rPr sz="750" b="1">
                <a:solidFill>
                  <a:srgbClr val="44495B"/>
                </a:solidFill>
                <a:latin typeface="Segoe UI"/>
              </a:rPr>
              <a:t>Sandbox</a:t>
            </a:r>
          </a:p>
        </p:txBody>
      </p:sp>
      <p:sp>
        <p:nvSpPr>
          <p:cNvPr id="73" name="TextBox 72"/>
          <p:cNvSpPr txBox="1"/>
          <p:nvPr/>
        </p:nvSpPr>
        <p:spPr>
          <a:xfrm>
            <a:off x="9144000" y="3410712"/>
            <a:ext cx="2450592" cy="274320"/>
          </a:xfrm>
          <a:prstGeom prst="rect">
            <a:avLst/>
          </a:prstGeom>
          <a:noFill/>
        </p:spPr>
        <p:txBody>
          <a:bodyPr wrap="square" lIns="73152" tIns="27432" rIns="73152" bIns="27432" anchor="t">
            <a:spAutoFit/>
          </a:bodyPr>
          <a:lstStyle/>
          <a:p>
            <a:pPr algn="l"/>
            <a:r>
              <a:rPr sz="750" b="0">
                <a:solidFill>
                  <a:srgbClr val="141B33"/>
                </a:solidFill>
                <a:latin typeface="Segoe UI"/>
              </a:rPr>
              <a:t>0.5–2 vCPU · 1–4 GiB · disk up to 20 GiB</a:t>
            </a:r>
          </a:p>
        </p:txBody>
      </p:sp>
      <p:sp>
        <p:nvSpPr>
          <p:cNvPr id="74" name="TextBox 73"/>
          <p:cNvSpPr txBox="1"/>
          <p:nvPr/>
        </p:nvSpPr>
        <p:spPr>
          <a:xfrm>
            <a:off x="8293608" y="3639312"/>
            <a:ext cx="868680" cy="274320"/>
          </a:xfrm>
          <a:prstGeom prst="rect">
            <a:avLst/>
          </a:prstGeom>
          <a:noFill/>
        </p:spPr>
        <p:txBody>
          <a:bodyPr wrap="square" lIns="73152" tIns="27432" rIns="73152" bIns="27432" anchor="t">
            <a:spAutoFit/>
          </a:bodyPr>
          <a:lstStyle/>
          <a:p>
            <a:pPr algn="l"/>
            <a:r>
              <a:rPr sz="750" b="1">
                <a:solidFill>
                  <a:srgbClr val="44495B"/>
                </a:solidFill>
                <a:latin typeface="Segoe UI"/>
              </a:rPr>
              <a:t>Idle timeout</a:t>
            </a:r>
          </a:p>
        </p:txBody>
      </p:sp>
      <p:sp>
        <p:nvSpPr>
          <p:cNvPr id="75" name="TextBox 74"/>
          <p:cNvSpPr txBox="1"/>
          <p:nvPr/>
        </p:nvSpPr>
        <p:spPr>
          <a:xfrm>
            <a:off x="9144000" y="3639312"/>
            <a:ext cx="2450592" cy="274320"/>
          </a:xfrm>
          <a:prstGeom prst="rect">
            <a:avLst/>
          </a:prstGeom>
          <a:noFill/>
        </p:spPr>
        <p:txBody>
          <a:bodyPr wrap="square" lIns="73152" tIns="27432" rIns="73152" bIns="27432" anchor="t">
            <a:spAutoFit/>
          </a:bodyPr>
          <a:lstStyle/>
          <a:p>
            <a:pPr algn="l"/>
            <a:r>
              <a:rPr sz="750" b="0">
                <a:solidFill>
                  <a:srgbClr val="141B33"/>
                </a:solidFill>
                <a:latin typeface="Segoe UI"/>
              </a:rPr>
              <a:t>2–60 min (default 15) · 30-day idle deletion</a:t>
            </a:r>
          </a:p>
        </p:txBody>
      </p:sp>
      <p:sp>
        <p:nvSpPr>
          <p:cNvPr id="76" name="TextBox 75"/>
          <p:cNvSpPr txBox="1"/>
          <p:nvPr/>
        </p:nvSpPr>
        <p:spPr>
          <a:xfrm>
            <a:off x="8293608" y="3877056"/>
            <a:ext cx="868680" cy="274320"/>
          </a:xfrm>
          <a:prstGeom prst="rect">
            <a:avLst/>
          </a:prstGeom>
          <a:noFill/>
        </p:spPr>
        <p:txBody>
          <a:bodyPr wrap="square" lIns="73152" tIns="27432" rIns="73152" bIns="27432" anchor="t">
            <a:spAutoFit/>
          </a:bodyPr>
          <a:lstStyle/>
          <a:p>
            <a:pPr algn="l"/>
            <a:r>
              <a:rPr sz="750" b="1">
                <a:solidFill>
                  <a:srgbClr val="44495B"/>
                </a:solidFill>
                <a:latin typeface="Segoe UI"/>
              </a:rPr>
              <a:t>Versions</a:t>
            </a:r>
          </a:p>
        </p:txBody>
      </p:sp>
      <p:sp>
        <p:nvSpPr>
          <p:cNvPr id="77" name="TextBox 76"/>
          <p:cNvSpPr txBox="1"/>
          <p:nvPr/>
        </p:nvSpPr>
        <p:spPr>
          <a:xfrm>
            <a:off x="9144000" y="3877056"/>
            <a:ext cx="2450592" cy="274320"/>
          </a:xfrm>
          <a:prstGeom prst="rect">
            <a:avLst/>
          </a:prstGeom>
          <a:noFill/>
        </p:spPr>
        <p:txBody>
          <a:bodyPr wrap="square" lIns="73152" tIns="27432" rIns="73152" bIns="27432" anchor="t">
            <a:spAutoFit/>
          </a:bodyPr>
          <a:lstStyle/>
          <a:p>
            <a:pPr algn="l"/>
            <a:r>
              <a:rPr sz="750" b="0">
                <a:solidFill>
                  <a:srgbClr val="141B33"/>
                </a:solidFill>
                <a:latin typeface="Segoe UI"/>
              </a:rPr>
              <a:t>immutable; one version per endpoint</a:t>
            </a:r>
          </a:p>
        </p:txBody>
      </p:sp>
      <p:sp>
        <p:nvSpPr>
          <p:cNvPr id="78" name="TextBox 77"/>
          <p:cNvSpPr txBox="1"/>
          <p:nvPr/>
        </p:nvSpPr>
        <p:spPr>
          <a:xfrm>
            <a:off x="8293608" y="4114800"/>
            <a:ext cx="868680" cy="274320"/>
          </a:xfrm>
          <a:prstGeom prst="rect">
            <a:avLst/>
          </a:prstGeom>
          <a:noFill/>
        </p:spPr>
        <p:txBody>
          <a:bodyPr wrap="square" lIns="73152" tIns="27432" rIns="73152" bIns="27432" anchor="t">
            <a:spAutoFit/>
          </a:bodyPr>
          <a:lstStyle/>
          <a:p>
            <a:pPr algn="l"/>
            <a:r>
              <a:rPr sz="750" b="1">
                <a:solidFill>
                  <a:srgbClr val="44495B"/>
                </a:solidFill>
                <a:latin typeface="Segoe UI"/>
              </a:rPr>
              <a:t>Protocols</a:t>
            </a:r>
          </a:p>
        </p:txBody>
      </p:sp>
      <p:sp>
        <p:nvSpPr>
          <p:cNvPr id="79" name="TextBox 78"/>
          <p:cNvSpPr txBox="1"/>
          <p:nvPr/>
        </p:nvSpPr>
        <p:spPr>
          <a:xfrm>
            <a:off x="9144000" y="4114800"/>
            <a:ext cx="2450592" cy="274320"/>
          </a:xfrm>
          <a:prstGeom prst="rect">
            <a:avLst/>
          </a:prstGeom>
          <a:noFill/>
        </p:spPr>
        <p:txBody>
          <a:bodyPr wrap="square" lIns="73152" tIns="27432" rIns="73152" bIns="27432" anchor="t">
            <a:spAutoFit/>
          </a:bodyPr>
          <a:lstStyle/>
          <a:p>
            <a:pPr algn="l"/>
            <a:r>
              <a:rPr sz="750" b="0">
                <a:solidFill>
                  <a:srgbClr val="141B33"/>
                </a:solidFill>
                <a:latin typeface="Segoe UI"/>
              </a:rPr>
              <a:t>Responses · Invocations · Activity · A2A</a:t>
            </a:r>
          </a:p>
        </p:txBody>
      </p:sp>
      <p:sp>
        <p:nvSpPr>
          <p:cNvPr id="80" name="TextBox 79"/>
          <p:cNvSpPr txBox="1"/>
          <p:nvPr/>
        </p:nvSpPr>
        <p:spPr>
          <a:xfrm>
            <a:off x="8293608" y="4352544"/>
            <a:ext cx="868680" cy="274320"/>
          </a:xfrm>
          <a:prstGeom prst="rect">
            <a:avLst/>
          </a:prstGeom>
          <a:noFill/>
        </p:spPr>
        <p:txBody>
          <a:bodyPr wrap="square" lIns="73152" tIns="27432" rIns="73152" bIns="27432" anchor="t">
            <a:spAutoFit/>
          </a:bodyPr>
          <a:lstStyle/>
          <a:p>
            <a:pPr algn="l"/>
            <a:r>
              <a:rPr sz="750" b="1">
                <a:solidFill>
                  <a:srgbClr val="44495B"/>
                </a:solidFill>
                <a:latin typeface="Segoe UI"/>
              </a:rPr>
              <a:t>Libraries</a:t>
            </a:r>
          </a:p>
        </p:txBody>
      </p:sp>
      <p:sp>
        <p:nvSpPr>
          <p:cNvPr id="81" name="TextBox 80"/>
          <p:cNvSpPr txBox="1"/>
          <p:nvPr/>
        </p:nvSpPr>
        <p:spPr>
          <a:xfrm>
            <a:off x="9144000" y="4352544"/>
            <a:ext cx="2450592" cy="274320"/>
          </a:xfrm>
          <a:prstGeom prst="rect">
            <a:avLst/>
          </a:prstGeom>
          <a:noFill/>
        </p:spPr>
        <p:txBody>
          <a:bodyPr wrap="square" lIns="73152" tIns="27432" rIns="73152" bIns="27432" anchor="t">
            <a:spAutoFit/>
          </a:bodyPr>
          <a:lstStyle/>
          <a:p>
            <a:pPr algn="l"/>
            <a:r>
              <a:rPr sz="750" b="0">
                <a:solidFill>
                  <a:srgbClr val="141B33"/>
                </a:solidFill>
                <a:latin typeface="Segoe UI"/>
              </a:rPr>
              <a:t>Python and C# · 31 regions</a:t>
            </a:r>
          </a:p>
        </p:txBody>
      </p:sp>
      <p:sp>
        <p:nvSpPr>
          <p:cNvPr id="82" name="TextBox 81"/>
          <p:cNvSpPr txBox="1"/>
          <p:nvPr/>
        </p:nvSpPr>
        <p:spPr>
          <a:xfrm>
            <a:off x="548640" y="4645152"/>
            <a:ext cx="73152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WHERE AGENT STATE LIVES — TWO DEPLOYMENT TEMPLATES</a:t>
            </a:r>
          </a:p>
        </p:txBody>
      </p:sp>
      <p:sp>
        <p:nvSpPr>
          <p:cNvPr id="83" name="Rectangle 82"/>
          <p:cNvSpPr/>
          <p:nvPr/>
        </p:nvSpPr>
        <p:spPr>
          <a:xfrm>
            <a:off x="548640" y="4892040"/>
            <a:ext cx="5454396" cy="566928"/>
          </a:xfrm>
          <a:prstGeom prst="rect">
            <a:avLst/>
          </a:prstGeom>
          <a:solidFill>
            <a:srgbClr val="F6F8FD"/>
          </a:solidFill>
          <a:ln w="9525">
            <a:solidFill>
              <a:srgbClr val="E1E7F4"/>
            </a:solidFill>
          </a:ln>
          <a:effectLst/>
        </p:spPr>
        <p:txBody>
          <a:bodyPr rtlCol="0" anchor="ctr"/>
          <a:lstStyle/>
          <a:p>
            <a:pPr algn="ctr"/>
            <a:endParaRPr/>
          </a:p>
        </p:txBody>
      </p:sp>
      <p:sp>
        <p:nvSpPr>
          <p:cNvPr id="84" name="Rectangle 83"/>
          <p:cNvSpPr/>
          <p:nvPr/>
        </p:nvSpPr>
        <p:spPr>
          <a:xfrm>
            <a:off x="548640" y="4892040"/>
            <a:ext cx="45720" cy="566928"/>
          </a:xfrm>
          <a:prstGeom prst="rect">
            <a:avLst/>
          </a:prstGeom>
          <a:solidFill>
            <a:srgbClr val="101A3C"/>
          </a:solidFill>
          <a:ln>
            <a:noFill/>
          </a:ln>
          <a:effectLst/>
        </p:spPr>
        <p:txBody>
          <a:bodyPr rtlCol="0" anchor="ctr"/>
          <a:lstStyle/>
          <a:p>
            <a:pPr algn="ctr"/>
            <a:endParaRPr/>
          </a:p>
        </p:txBody>
      </p:sp>
      <p:sp>
        <p:nvSpPr>
          <p:cNvPr id="85" name="TextBox 84"/>
          <p:cNvSpPr txBox="1"/>
          <p:nvPr/>
        </p:nvSpPr>
        <p:spPr>
          <a:xfrm>
            <a:off x="621792" y="4892040"/>
            <a:ext cx="5362956" cy="566928"/>
          </a:xfrm>
          <a:prstGeom prst="rect">
            <a:avLst/>
          </a:prstGeom>
          <a:noFill/>
        </p:spPr>
        <p:txBody>
          <a:bodyPr wrap="square" lIns="73152" tIns="27432" rIns="73152" bIns="27432" anchor="ctr">
            <a:spAutoFit/>
          </a:bodyPr>
          <a:lstStyle/>
          <a:p>
            <a:pPr algn="l"/>
            <a:r>
              <a:rPr sz="800" b="1">
                <a:solidFill>
                  <a:srgbClr val="141B33"/>
                </a:solidFill>
                <a:latin typeface="Segoe UI"/>
              </a:rPr>
              <a:t>Basic agent setup  </a:t>
            </a:r>
            <a:r>
              <a:rPr sz="800" b="0">
                <a:solidFill>
                  <a:srgbClr val="141B33"/>
                </a:solidFill>
                <a:latin typeface="Segoe UI"/>
              </a:rPr>
              <a:t>files, conversations and vector stores on Microsoft-managed platform storage; reuse an existing Azure OpenAI resource. Fastest start.</a:t>
            </a:r>
          </a:p>
        </p:txBody>
      </p:sp>
      <p:sp>
        <p:nvSpPr>
          <p:cNvPr id="86" name="Rectangle 85"/>
          <p:cNvSpPr/>
          <p:nvPr/>
        </p:nvSpPr>
        <p:spPr>
          <a:xfrm>
            <a:off x="6185916" y="4892040"/>
            <a:ext cx="5454396" cy="566928"/>
          </a:xfrm>
          <a:prstGeom prst="rect">
            <a:avLst/>
          </a:prstGeom>
          <a:solidFill>
            <a:srgbClr val="F6F8FD"/>
          </a:solidFill>
          <a:ln w="9525">
            <a:solidFill>
              <a:srgbClr val="E1E7F4"/>
            </a:solidFill>
          </a:ln>
          <a:effectLst/>
        </p:spPr>
        <p:txBody>
          <a:bodyPr rtlCol="0" anchor="ctr"/>
          <a:lstStyle/>
          <a:p>
            <a:pPr algn="ctr"/>
            <a:endParaRPr/>
          </a:p>
        </p:txBody>
      </p:sp>
      <p:sp>
        <p:nvSpPr>
          <p:cNvPr id="87" name="Rectangle 86"/>
          <p:cNvSpPr/>
          <p:nvPr/>
        </p:nvSpPr>
        <p:spPr>
          <a:xfrm>
            <a:off x="6185916" y="4892040"/>
            <a:ext cx="45720" cy="566928"/>
          </a:xfrm>
          <a:prstGeom prst="rect">
            <a:avLst/>
          </a:prstGeom>
          <a:solidFill>
            <a:srgbClr val="00B39F"/>
          </a:solidFill>
          <a:ln>
            <a:noFill/>
          </a:ln>
          <a:effectLst/>
        </p:spPr>
        <p:txBody>
          <a:bodyPr rtlCol="0" anchor="ctr"/>
          <a:lstStyle/>
          <a:p>
            <a:pPr algn="ctr"/>
            <a:endParaRPr/>
          </a:p>
        </p:txBody>
      </p:sp>
      <p:sp>
        <p:nvSpPr>
          <p:cNvPr id="88" name="TextBox 87"/>
          <p:cNvSpPr txBox="1"/>
          <p:nvPr/>
        </p:nvSpPr>
        <p:spPr>
          <a:xfrm>
            <a:off x="6259068" y="4892040"/>
            <a:ext cx="5362956" cy="566928"/>
          </a:xfrm>
          <a:prstGeom prst="rect">
            <a:avLst/>
          </a:prstGeom>
          <a:noFill/>
        </p:spPr>
        <p:txBody>
          <a:bodyPr wrap="square" lIns="73152" tIns="27432" rIns="73152" bIns="27432" anchor="ctr">
            <a:spAutoFit/>
          </a:bodyPr>
          <a:lstStyle/>
          <a:p>
            <a:pPr algn="l"/>
            <a:r>
              <a:rPr sz="800" b="1">
                <a:solidFill>
                  <a:srgbClr val="141B33"/>
                </a:solidFill>
                <a:latin typeface="Segoe UI"/>
              </a:rPr>
              <a:t>Standard agent setup  </a:t>
            </a:r>
            <a:r>
              <a:rPr sz="800" b="0">
                <a:solidFill>
                  <a:srgbClr val="141B33"/>
                </a:solidFill>
                <a:latin typeface="Segoe UI"/>
              </a:rPr>
              <a:t>all customer data in your own Azure Cosmos DB, Storage and AI Search; enables customer-managed keys and network isolation. Cosmos DB needs ≥ 3,000 RU/s per project.</a:t>
            </a:r>
          </a:p>
        </p:txBody>
      </p:sp>
      <p:sp>
        <p:nvSpPr>
          <p:cNvPr id="89" name="TextBox 88"/>
          <p:cNvSpPr txBox="1"/>
          <p:nvPr/>
        </p:nvSpPr>
        <p:spPr>
          <a:xfrm>
            <a:off x="548640" y="5477256"/>
            <a:ext cx="73152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4   ·   A G E N T S   A N D   S D K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Protocols and APIs an agent speaks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Inbound: Responses, Invocations, Activity, A2A. Outbound to tools: MCP, OpenAPI, A2A.</a:t>
            </a:r>
          </a:p>
          <a:p>
            <a:endParaRPr sz="1200">
              <a:solidFill>
                <a:srgbClr val="44495B"/>
              </a:solidFill>
              <a:latin typeface="Segoe UI"/>
            </a:endParaRPr>
          </a:p>
        </p:txBody>
      </p:sp>
      <p:sp>
        <p:nvSpPr>
          <p:cNvPr id="5" name="TextBox"/>
          <p:cNvSpPr txBox="1"/>
          <p:nvPr/>
        </p:nvSpPr>
        <p:spPr>
          <a:xfrm>
            <a:off x="457200" y="1202436"/>
            <a:ext cx="2331720" cy="411480"/>
          </a:xfrm>
          <a:prstGeom prst="rect">
            <a:avLst/>
          </a:prstGeom>
        </p:spPr>
        <p:txBody>
          <a:bodyPr anchor="ctr"/>
          <a:lstStyle/>
          <a:p>
            <a:r>
              <a:rPr sz="900" b="1">
                <a:solidFill>
                  <a:srgbClr val="008577"/>
                </a:solidFill>
                <a:latin typeface="Segoe UI"/>
              </a:rPr>
              <a:t>C A L L E R S</a:t>
            </a:r>
          </a:p>
          <a:p>
            <a:endParaRPr sz="900" b="1">
              <a:solidFill>
                <a:srgbClr val="008577"/>
              </a:solidFill>
              <a:latin typeface="Segoe UI"/>
            </a:endParaRPr>
          </a:p>
        </p:txBody>
      </p:sp>
      <p:sp>
        <p:nvSpPr>
          <p:cNvPr id="6" name="Shape"/>
          <p:cNvSpPr/>
          <p:nvPr/>
        </p:nvSpPr>
        <p:spPr>
          <a:xfrm>
            <a:off x="548640" y="1417320"/>
            <a:ext cx="214884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Your application</a:t>
            </a:r>
          </a:p>
          <a:p>
            <a:pPr algn="ctr"/>
            <a:r>
              <a:rPr sz="900">
                <a:solidFill>
                  <a:srgbClr val="141B33"/>
                </a:solidFill>
                <a:latin typeface="Segoe UI"/>
              </a:rPr>
              <a:t>web or service client</a:t>
            </a:r>
          </a:p>
        </p:txBody>
      </p:sp>
      <p:sp>
        <p:nvSpPr>
          <p:cNvPr id="7" name="Shape"/>
          <p:cNvSpPr/>
          <p:nvPr/>
        </p:nvSpPr>
        <p:spPr>
          <a:xfrm>
            <a:off x="548640" y="1929384"/>
            <a:ext cx="214884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Microsoft 365 Copilot</a:t>
            </a:r>
          </a:p>
          <a:p>
            <a:pPr algn="ctr"/>
            <a:r>
              <a:rPr sz="900">
                <a:solidFill>
                  <a:srgbClr val="141B33"/>
                </a:solidFill>
                <a:latin typeface="Segoe UI"/>
              </a:rPr>
              <a:t>and Microsoft Teams</a:t>
            </a:r>
          </a:p>
        </p:txBody>
      </p:sp>
      <p:sp>
        <p:nvSpPr>
          <p:cNvPr id="8" name="Shape"/>
          <p:cNvSpPr/>
          <p:nvPr/>
        </p:nvSpPr>
        <p:spPr>
          <a:xfrm>
            <a:off x="548640" y="2441448"/>
            <a:ext cx="214884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Other agents</a:t>
            </a:r>
          </a:p>
          <a:p>
            <a:pPr algn="ctr"/>
            <a:r>
              <a:rPr sz="900">
                <a:solidFill>
                  <a:srgbClr val="141B33"/>
                </a:solidFill>
                <a:latin typeface="Segoe UI"/>
              </a:rPr>
              <a:t>via A2A delegation</a:t>
            </a:r>
          </a:p>
        </p:txBody>
      </p:sp>
      <p:sp>
        <p:nvSpPr>
          <p:cNvPr id="9" name="Shape"/>
          <p:cNvSpPr/>
          <p:nvPr/>
        </p:nvSpPr>
        <p:spPr>
          <a:xfrm>
            <a:off x="2734056" y="2039112"/>
            <a:ext cx="164592" cy="201168"/>
          </a:xfrm>
          <a:prstGeom prst="rightArrow">
            <a:avLst/>
          </a:prstGeom>
          <a:solidFill>
            <a:srgbClr val="00B39F"/>
          </a:solidFill>
        </p:spPr>
        <p:txBody>
          <a:bodyPr/>
          <a:lstStyle/>
          <a:p>
            <a:endParaRPr/>
          </a:p>
        </p:txBody>
      </p:sp>
      <p:sp>
        <p:nvSpPr>
          <p:cNvPr id="10" name="Shape"/>
          <p:cNvSpPr/>
          <p:nvPr/>
        </p:nvSpPr>
        <p:spPr>
          <a:xfrm>
            <a:off x="2935224" y="1417320"/>
            <a:ext cx="4617720" cy="365760"/>
          </a:xfrm>
          <a:prstGeom prst="rect">
            <a:avLst/>
          </a:prstGeom>
          <a:solidFill>
            <a:srgbClr val="101A3C"/>
          </a:solidFill>
        </p:spPr>
        <p:txBody>
          <a:bodyPr anchor="ctr"/>
          <a:lstStyle/>
          <a:p>
            <a:pPr algn="ctr"/>
            <a:r>
              <a:rPr sz="900">
                <a:solidFill>
                  <a:srgbClr val="FFFFFF"/>
                </a:solidFill>
                <a:latin typeface="Segoe UI"/>
              </a:rPr>
              <a:t>Hosted agent endpoint</a:t>
            </a:r>
          </a:p>
          <a:p>
            <a:pPr algn="ctr"/>
            <a:r>
              <a:rPr sz="900">
                <a:solidFill>
                  <a:srgbClr val="FFFFFF"/>
                </a:solidFill>
                <a:latin typeface="Segoe UI"/>
              </a:rPr>
              <a:t>{project}/agents/{name}/endpoint/protocols/…</a:t>
            </a:r>
          </a:p>
        </p:txBody>
      </p:sp>
      <p:sp>
        <p:nvSpPr>
          <p:cNvPr id="11" name="Shape"/>
          <p:cNvSpPr/>
          <p:nvPr/>
        </p:nvSpPr>
        <p:spPr>
          <a:xfrm>
            <a:off x="2935224" y="1837943"/>
            <a:ext cx="4617720" cy="365760"/>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openai/responses — GA</a:t>
            </a:r>
          </a:p>
          <a:p>
            <a:pPr algn="ctr"/>
            <a:r>
              <a:rPr sz="900">
                <a:solidFill>
                  <a:srgbClr val="141B33"/>
                </a:solidFill>
                <a:latin typeface="Segoe UI"/>
              </a:rPr>
              <a:t>OpenAI-compatible and stateful</a:t>
            </a:r>
          </a:p>
        </p:txBody>
      </p:sp>
      <p:sp>
        <p:nvSpPr>
          <p:cNvPr id="12" name="Shape"/>
          <p:cNvSpPr/>
          <p:nvPr/>
        </p:nvSpPr>
        <p:spPr>
          <a:xfrm>
            <a:off x="2935224" y="2258568"/>
            <a:ext cx="4617720" cy="365760"/>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invocations — GA</a:t>
            </a:r>
          </a:p>
          <a:p>
            <a:pPr algn="ctr"/>
            <a:r>
              <a:rPr sz="900">
                <a:solidFill>
                  <a:srgbClr val="141B33"/>
                </a:solidFill>
                <a:latin typeface="Segoe UI"/>
              </a:rPr>
              <a:t>schema-free request and response</a:t>
            </a:r>
          </a:p>
        </p:txBody>
      </p:sp>
      <p:sp>
        <p:nvSpPr>
          <p:cNvPr id="13" name="Shape"/>
          <p:cNvSpPr/>
          <p:nvPr/>
        </p:nvSpPr>
        <p:spPr>
          <a:xfrm>
            <a:off x="2935224" y="2679192"/>
            <a:ext cx="4617720" cy="365760"/>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invocations_ws — GA</a:t>
            </a:r>
          </a:p>
          <a:p>
            <a:pPr algn="ctr"/>
            <a:r>
              <a:rPr sz="900">
                <a:solidFill>
                  <a:srgbClr val="141B33"/>
                </a:solidFill>
                <a:latin typeface="Segoe UI"/>
              </a:rPr>
              <a:t>the same over a WebSocket</a:t>
            </a:r>
          </a:p>
        </p:txBody>
      </p:sp>
      <p:sp>
        <p:nvSpPr>
          <p:cNvPr id="14" name="Shape"/>
          <p:cNvSpPr/>
          <p:nvPr/>
        </p:nvSpPr>
        <p:spPr>
          <a:xfrm>
            <a:off x="2935224" y="3099816"/>
            <a:ext cx="4617720" cy="475488"/>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Activity protocol</a:t>
            </a:r>
          </a:p>
          <a:p>
            <a:pPr algn="ctr"/>
            <a:r>
              <a:rPr sz="900">
                <a:solidFill>
                  <a:srgbClr val="141B33"/>
                </a:solidFill>
                <a:latin typeface="Segoe UI"/>
              </a:rPr>
              <a:t>Teams and Microsoft 365 channels;</a:t>
            </a:r>
          </a:p>
          <a:p>
            <a:pPr algn="ctr"/>
            <a:r>
              <a:rPr sz="900">
                <a:solidFill>
                  <a:srgbClr val="141B33"/>
                </a:solidFill>
                <a:latin typeface="Segoe UI"/>
              </a:rPr>
              <a:t>bridged automatically from Responses</a:t>
            </a:r>
          </a:p>
        </p:txBody>
      </p:sp>
      <p:sp>
        <p:nvSpPr>
          <p:cNvPr id="15" name="Shape"/>
          <p:cNvSpPr/>
          <p:nvPr/>
        </p:nvSpPr>
        <p:spPr>
          <a:xfrm>
            <a:off x="2935224" y="3630168"/>
            <a:ext cx="4617720" cy="365760"/>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a2a — GA</a:t>
            </a:r>
          </a:p>
          <a:p>
            <a:pPr algn="ctr"/>
            <a:r>
              <a:rPr sz="900">
                <a:solidFill>
                  <a:srgbClr val="141B33"/>
                </a:solidFill>
                <a:latin typeface="Segoe UI"/>
              </a:rPr>
              <a:t>agent-to-agent delegation</a:t>
            </a:r>
          </a:p>
        </p:txBody>
      </p:sp>
      <p:sp>
        <p:nvSpPr>
          <p:cNvPr id="16" name="TextBox"/>
          <p:cNvSpPr txBox="1"/>
          <p:nvPr/>
        </p:nvSpPr>
        <p:spPr>
          <a:xfrm>
            <a:off x="7699248" y="1202436"/>
            <a:ext cx="4035552" cy="411480"/>
          </a:xfrm>
          <a:prstGeom prst="rect">
            <a:avLst/>
          </a:prstGeom>
        </p:spPr>
        <p:txBody>
          <a:bodyPr anchor="ctr"/>
          <a:lstStyle/>
          <a:p>
            <a:r>
              <a:rPr sz="900" b="1">
                <a:solidFill>
                  <a:srgbClr val="008577"/>
                </a:solidFill>
                <a:latin typeface="Segoe UI"/>
              </a:rPr>
              <a:t>O U T B O U N D</a:t>
            </a:r>
          </a:p>
          <a:p>
            <a:endParaRPr sz="900" b="1">
              <a:solidFill>
                <a:srgbClr val="008577"/>
              </a:solidFill>
              <a:latin typeface="Segoe UI"/>
            </a:endParaRPr>
          </a:p>
        </p:txBody>
      </p:sp>
      <p:sp>
        <p:nvSpPr>
          <p:cNvPr id="17" name="Shape"/>
          <p:cNvSpPr/>
          <p:nvPr/>
        </p:nvSpPr>
        <p:spPr>
          <a:xfrm>
            <a:off x="7790688" y="1417320"/>
            <a:ext cx="3852672" cy="420624"/>
          </a:xfrm>
          <a:prstGeom prst="rect">
            <a:avLst/>
          </a:prstGeom>
          <a:solidFill>
            <a:srgbClr val="101A3C"/>
          </a:solidFill>
        </p:spPr>
        <p:txBody>
          <a:bodyPr anchor="ctr"/>
          <a:lstStyle/>
          <a:p>
            <a:pPr algn="ctr"/>
            <a:r>
              <a:rPr sz="900">
                <a:solidFill>
                  <a:srgbClr val="FFFFFF"/>
                </a:solidFill>
                <a:latin typeface="Segoe UI"/>
              </a:rPr>
              <a:t>Toolbox and MCP servers</a:t>
            </a:r>
          </a:p>
          <a:p>
            <a:pPr algn="ctr"/>
            <a:r>
              <a:rPr sz="900">
                <a:solidFill>
                  <a:srgbClr val="FFFFFF"/>
                </a:solidFill>
                <a:latin typeface="Segoe UI"/>
              </a:rPr>
              <a:t>GA</a:t>
            </a:r>
          </a:p>
        </p:txBody>
      </p:sp>
      <p:sp>
        <p:nvSpPr>
          <p:cNvPr id="18" name="Shape"/>
          <p:cNvSpPr/>
          <p:nvPr/>
        </p:nvSpPr>
        <p:spPr>
          <a:xfrm>
            <a:off x="7790688" y="1929384"/>
            <a:ext cx="3852672" cy="420624"/>
          </a:xfrm>
          <a:prstGeom prst="rect">
            <a:avLst/>
          </a:prstGeom>
          <a:solidFill>
            <a:srgbClr val="101A3C"/>
          </a:solidFill>
        </p:spPr>
        <p:txBody>
          <a:bodyPr anchor="ctr"/>
          <a:lstStyle/>
          <a:p>
            <a:pPr algn="ctr"/>
            <a:r>
              <a:rPr sz="900">
                <a:solidFill>
                  <a:srgbClr val="FFFFFF"/>
                </a:solidFill>
                <a:latin typeface="Segoe UI"/>
              </a:rPr>
              <a:t>OpenAPI 3.0 / 3.1 tools</a:t>
            </a:r>
          </a:p>
          <a:p>
            <a:pPr algn="ctr"/>
            <a:r>
              <a:rPr sz="900">
                <a:solidFill>
                  <a:srgbClr val="FFFFFF"/>
                </a:solidFill>
                <a:latin typeface="Segoe UI"/>
              </a:rPr>
              <a:t>GA</a:t>
            </a:r>
          </a:p>
        </p:txBody>
      </p:sp>
      <p:sp>
        <p:nvSpPr>
          <p:cNvPr id="19" name="Shape"/>
          <p:cNvSpPr/>
          <p:nvPr/>
        </p:nvSpPr>
        <p:spPr>
          <a:xfrm>
            <a:off x="7790688" y="2441448"/>
            <a:ext cx="3852672" cy="420624"/>
          </a:xfrm>
          <a:prstGeom prst="rect">
            <a:avLst/>
          </a:prstGeom>
          <a:solidFill>
            <a:srgbClr val="101A3C"/>
          </a:solidFill>
        </p:spPr>
        <p:txBody>
          <a:bodyPr anchor="ctr"/>
          <a:lstStyle/>
          <a:p>
            <a:pPr algn="ctr"/>
            <a:r>
              <a:rPr sz="900">
                <a:solidFill>
                  <a:srgbClr val="FFFFFF"/>
                </a:solidFill>
                <a:latin typeface="Segoe UI"/>
              </a:rPr>
              <a:t>A2A peers</a:t>
            </a:r>
          </a:p>
          <a:p>
            <a:pPr algn="ctr"/>
            <a:r>
              <a:rPr sz="900">
                <a:solidFill>
                  <a:srgbClr val="FFFFFF"/>
                </a:solidFill>
                <a:latin typeface="Segoe UI"/>
              </a:rPr>
              <a:t>GA</a:t>
            </a:r>
          </a:p>
        </p:txBody>
      </p:sp>
      <p:sp>
        <p:nvSpPr>
          <p:cNvPr id="20" name="Shape"/>
          <p:cNvSpPr/>
          <p:nvPr/>
        </p:nvSpPr>
        <p:spPr>
          <a:xfrm>
            <a:off x="7790688" y="2953512"/>
            <a:ext cx="3852672" cy="420624"/>
          </a:xfrm>
          <a:prstGeom prst="rect">
            <a:avLst/>
          </a:prstGeom>
          <a:solidFill>
            <a:srgbClr val="101A3C"/>
          </a:solidFill>
        </p:spPr>
        <p:txBody>
          <a:bodyPr anchor="ctr"/>
          <a:lstStyle/>
          <a:p>
            <a:pPr algn="ctr"/>
            <a:r>
              <a:rPr sz="900">
                <a:solidFill>
                  <a:srgbClr val="FFFFFF"/>
                </a:solidFill>
                <a:latin typeface="Segoe UI"/>
              </a:rPr>
              <a:t>Foundry Models</a:t>
            </a:r>
          </a:p>
          <a:p>
            <a:pPr algn="ctr"/>
            <a:r>
              <a:rPr sz="900">
                <a:solidFill>
                  <a:srgbClr val="FFFFFF"/>
                </a:solidFill>
                <a:latin typeface="Segoe UI"/>
              </a:rPr>
              <a:t>inference</a:t>
            </a:r>
          </a:p>
        </p:txBody>
      </p:sp>
      <p:sp>
        <p:nvSpPr>
          <p:cNvPr id="21" name="Shape"/>
          <p:cNvSpPr/>
          <p:nvPr/>
        </p:nvSpPr>
        <p:spPr>
          <a:xfrm>
            <a:off x="7589520" y="2039112"/>
            <a:ext cx="164592" cy="201168"/>
          </a:xfrm>
          <a:prstGeom prst="rightArrow">
            <a:avLst/>
          </a:prstGeom>
          <a:solidFill>
            <a:srgbClr val="00B39F"/>
          </a:solidFill>
        </p:spPr>
        <p:txBody>
          <a:bodyPr/>
          <a:lstStyle/>
          <a:p>
            <a:endParaRPr/>
          </a:p>
        </p:txBody>
      </p:sp>
      <p:sp>
        <p:nvSpPr>
          <p:cNvPr id="22" name="TextBox"/>
          <p:cNvSpPr txBox="1"/>
          <p:nvPr/>
        </p:nvSpPr>
        <p:spPr>
          <a:xfrm>
            <a:off x="457200" y="4023360"/>
            <a:ext cx="5669280" cy="411480"/>
          </a:xfrm>
          <a:prstGeom prst="rect">
            <a:avLst/>
          </a:prstGeom>
        </p:spPr>
        <p:txBody>
          <a:bodyPr anchor="ctr"/>
          <a:lstStyle/>
          <a:p>
            <a:r>
              <a:rPr sz="900" b="1">
                <a:solidFill>
                  <a:srgbClr val="008577"/>
                </a:solidFill>
                <a:latin typeface="Segoe UI"/>
              </a:rPr>
              <a:t>T O O L   A V A I L A B I L I T Y ,   C L A S S I C   T O   N E W</a:t>
            </a:r>
          </a:p>
          <a:p>
            <a:endParaRPr sz="900" b="1">
              <a:solidFill>
                <a:srgbClr val="008577"/>
              </a:solidFill>
              <a:latin typeface="Segoe UI"/>
            </a:endParaRPr>
          </a:p>
        </p:txBody>
      </p:sp>
      <p:sp>
        <p:nvSpPr>
          <p:cNvPr id="23" name="Shape"/>
          <p:cNvSpPr/>
          <p:nvPr/>
        </p:nvSpPr>
        <p:spPr>
          <a:xfrm>
            <a:off x="548640" y="4343400"/>
            <a:ext cx="11094720" cy="384048"/>
          </a:xfrm>
          <a:prstGeom prst="rect">
            <a:avLst/>
          </a:prstGeom>
          <a:solidFill>
            <a:srgbClr val="101A3C"/>
          </a:solidFill>
        </p:spPr>
        <p:txBody>
          <a:bodyPr/>
          <a:lstStyle/>
          <a:p>
            <a:endParaRPr/>
          </a:p>
        </p:txBody>
      </p:sp>
      <p:sp>
        <p:nvSpPr>
          <p:cNvPr id="24" name="TextBox"/>
          <p:cNvSpPr txBox="1"/>
          <p:nvPr/>
        </p:nvSpPr>
        <p:spPr>
          <a:xfrm>
            <a:off x="2332939" y="4361688"/>
            <a:ext cx="1313078" cy="426720"/>
          </a:xfrm>
          <a:prstGeom prst="rect">
            <a:avLst/>
          </a:prstGeom>
        </p:spPr>
        <p:txBody>
          <a:bodyPr anchor="ctr"/>
          <a:lstStyle/>
          <a:p>
            <a:r>
              <a:rPr sz="950" b="1">
                <a:solidFill>
                  <a:srgbClr val="FFFFFF"/>
                </a:solidFill>
                <a:latin typeface="Segoe UI"/>
              </a:rPr>
              <a:t>A2A</a:t>
            </a:r>
          </a:p>
          <a:p>
            <a:endParaRPr sz="950" b="1">
              <a:solidFill>
                <a:srgbClr val="FFFFFF"/>
              </a:solidFill>
              <a:latin typeface="Segoe UI"/>
            </a:endParaRPr>
          </a:p>
        </p:txBody>
      </p:sp>
      <p:sp>
        <p:nvSpPr>
          <p:cNvPr id="25" name="TextBox"/>
          <p:cNvSpPr txBox="1"/>
          <p:nvPr/>
        </p:nvSpPr>
        <p:spPr>
          <a:xfrm>
            <a:off x="3664305" y="4361688"/>
            <a:ext cx="1313078" cy="426720"/>
          </a:xfrm>
          <a:prstGeom prst="rect">
            <a:avLst/>
          </a:prstGeom>
        </p:spPr>
        <p:txBody>
          <a:bodyPr anchor="ctr"/>
          <a:lstStyle/>
          <a:p>
            <a:r>
              <a:rPr sz="950" b="1">
                <a:solidFill>
                  <a:srgbClr val="FFFFFF"/>
                </a:solidFill>
                <a:latin typeface="Segoe UI"/>
              </a:rPr>
              <a:t>Web search</a:t>
            </a:r>
          </a:p>
          <a:p>
            <a:endParaRPr sz="950" b="1">
              <a:solidFill>
                <a:srgbClr val="FFFFFF"/>
              </a:solidFill>
              <a:latin typeface="Segoe UI"/>
            </a:endParaRPr>
          </a:p>
        </p:txBody>
      </p:sp>
      <p:sp>
        <p:nvSpPr>
          <p:cNvPr id="26" name="TextBox"/>
          <p:cNvSpPr txBox="1"/>
          <p:nvPr/>
        </p:nvSpPr>
        <p:spPr>
          <a:xfrm>
            <a:off x="4995671" y="4361688"/>
            <a:ext cx="1313078" cy="426720"/>
          </a:xfrm>
          <a:prstGeom prst="rect">
            <a:avLst/>
          </a:prstGeom>
        </p:spPr>
        <p:txBody>
          <a:bodyPr anchor="ctr"/>
          <a:lstStyle/>
          <a:p>
            <a:r>
              <a:rPr sz="950" b="1">
                <a:solidFill>
                  <a:srgbClr val="FFFFFF"/>
                </a:solidFill>
                <a:latin typeface="Segoe UI"/>
              </a:rPr>
              <a:t>Image gen.</a:t>
            </a:r>
          </a:p>
          <a:p>
            <a:endParaRPr sz="950" b="1">
              <a:solidFill>
                <a:srgbClr val="FFFFFF"/>
              </a:solidFill>
              <a:latin typeface="Segoe UI"/>
            </a:endParaRPr>
          </a:p>
        </p:txBody>
      </p:sp>
      <p:sp>
        <p:nvSpPr>
          <p:cNvPr id="27" name="TextBox"/>
          <p:cNvSpPr txBox="1"/>
          <p:nvPr/>
        </p:nvSpPr>
        <p:spPr>
          <a:xfrm>
            <a:off x="6327037" y="4361688"/>
            <a:ext cx="1313078" cy="426720"/>
          </a:xfrm>
          <a:prstGeom prst="rect">
            <a:avLst/>
          </a:prstGeom>
        </p:spPr>
        <p:txBody>
          <a:bodyPr anchor="ctr"/>
          <a:lstStyle/>
          <a:p>
            <a:r>
              <a:rPr sz="950" b="1">
                <a:solidFill>
                  <a:srgbClr val="FFFFFF"/>
                </a:solidFill>
                <a:latin typeface="Segoe UI"/>
              </a:rPr>
              <a:t>MCP</a:t>
            </a:r>
          </a:p>
          <a:p>
            <a:endParaRPr sz="950" b="1">
              <a:solidFill>
                <a:srgbClr val="FFFFFF"/>
              </a:solidFill>
              <a:latin typeface="Segoe UI"/>
            </a:endParaRPr>
          </a:p>
        </p:txBody>
      </p:sp>
      <p:sp>
        <p:nvSpPr>
          <p:cNvPr id="28" name="TextBox"/>
          <p:cNvSpPr txBox="1"/>
          <p:nvPr/>
        </p:nvSpPr>
        <p:spPr>
          <a:xfrm>
            <a:off x="7658403" y="4361688"/>
            <a:ext cx="1313078" cy="426720"/>
          </a:xfrm>
          <a:prstGeom prst="rect">
            <a:avLst/>
          </a:prstGeom>
        </p:spPr>
        <p:txBody>
          <a:bodyPr anchor="ctr"/>
          <a:lstStyle/>
          <a:p>
            <a:r>
              <a:rPr sz="950" b="1">
                <a:solidFill>
                  <a:srgbClr val="FFFFFF"/>
                </a:solidFill>
                <a:latin typeface="Segoe UI"/>
              </a:rPr>
              <a:t>Azure</a:t>
            </a:r>
          </a:p>
          <a:p>
            <a:r>
              <a:rPr sz="950" b="1">
                <a:solidFill>
                  <a:srgbClr val="FFFFFF"/>
                </a:solidFill>
                <a:latin typeface="Segoe UI"/>
              </a:rPr>
              <a:t>Functions</a:t>
            </a:r>
          </a:p>
        </p:txBody>
      </p:sp>
      <p:sp>
        <p:nvSpPr>
          <p:cNvPr id="29" name="TextBox"/>
          <p:cNvSpPr txBox="1"/>
          <p:nvPr/>
        </p:nvSpPr>
        <p:spPr>
          <a:xfrm>
            <a:off x="8989769" y="4361688"/>
            <a:ext cx="1313078" cy="426720"/>
          </a:xfrm>
          <a:prstGeom prst="rect">
            <a:avLst/>
          </a:prstGeom>
        </p:spPr>
        <p:txBody>
          <a:bodyPr anchor="ctr"/>
          <a:lstStyle/>
          <a:p>
            <a:r>
              <a:rPr sz="950" b="1">
                <a:solidFill>
                  <a:srgbClr val="FFFFFF"/>
                </a:solidFill>
                <a:latin typeface="Segoe UI"/>
              </a:rPr>
              <a:t>Connected</a:t>
            </a:r>
          </a:p>
          <a:p>
            <a:r>
              <a:rPr sz="950" b="1">
                <a:solidFill>
                  <a:srgbClr val="FFFFFF"/>
                </a:solidFill>
                <a:latin typeface="Segoe UI"/>
              </a:rPr>
              <a:t>agents</a:t>
            </a:r>
          </a:p>
        </p:txBody>
      </p:sp>
      <p:sp>
        <p:nvSpPr>
          <p:cNvPr id="30" name="TextBox"/>
          <p:cNvSpPr txBox="1"/>
          <p:nvPr/>
        </p:nvSpPr>
        <p:spPr>
          <a:xfrm>
            <a:off x="10321135" y="4361688"/>
            <a:ext cx="1313081" cy="426720"/>
          </a:xfrm>
          <a:prstGeom prst="rect">
            <a:avLst/>
          </a:prstGeom>
        </p:spPr>
        <p:txBody>
          <a:bodyPr anchor="ctr"/>
          <a:lstStyle/>
          <a:p>
            <a:r>
              <a:rPr sz="950" b="1">
                <a:solidFill>
                  <a:srgbClr val="FFFFFF"/>
                </a:solidFill>
                <a:latin typeface="Segoe UI"/>
              </a:rPr>
              <a:t>Deep</a:t>
            </a:r>
          </a:p>
          <a:p>
            <a:r>
              <a:rPr sz="950" b="1">
                <a:solidFill>
                  <a:srgbClr val="FFFFFF"/>
                </a:solidFill>
                <a:latin typeface="Segoe UI"/>
              </a:rPr>
              <a:t>Research</a:t>
            </a:r>
          </a:p>
        </p:txBody>
      </p:sp>
      <p:sp>
        <p:nvSpPr>
          <p:cNvPr id="31" name="Shape"/>
          <p:cNvSpPr/>
          <p:nvPr/>
        </p:nvSpPr>
        <p:spPr>
          <a:xfrm>
            <a:off x="548640" y="4754880"/>
            <a:ext cx="11094720" cy="310896"/>
          </a:xfrm>
          <a:prstGeom prst="rect">
            <a:avLst/>
          </a:prstGeom>
          <a:solidFill>
            <a:srgbClr val="FFFFFF"/>
          </a:solidFill>
          <a:ln w="9525">
            <a:solidFill>
              <a:srgbClr val="E1E7F4"/>
            </a:solidFill>
          </a:ln>
        </p:spPr>
        <p:txBody>
          <a:bodyPr/>
          <a:lstStyle/>
          <a:p>
            <a:endParaRPr/>
          </a:p>
        </p:txBody>
      </p:sp>
      <p:sp>
        <p:nvSpPr>
          <p:cNvPr id="32" name="TextBox"/>
          <p:cNvSpPr txBox="1"/>
          <p:nvPr/>
        </p:nvSpPr>
        <p:spPr>
          <a:xfrm>
            <a:off x="557784" y="4754880"/>
            <a:ext cx="1756867" cy="426720"/>
          </a:xfrm>
          <a:prstGeom prst="rect">
            <a:avLst/>
          </a:prstGeom>
        </p:spPr>
        <p:txBody>
          <a:bodyPr anchor="ctr"/>
          <a:lstStyle/>
          <a:p>
            <a:r>
              <a:rPr sz="950">
                <a:solidFill>
                  <a:srgbClr val="808080"/>
                </a:solidFill>
                <a:latin typeface="Segoe UI"/>
              </a:rPr>
              <a:t>Classic</a:t>
            </a:r>
          </a:p>
          <a:p>
            <a:endParaRPr sz="950">
              <a:solidFill>
                <a:srgbClr val="808080"/>
              </a:solidFill>
              <a:latin typeface="Segoe UI"/>
            </a:endParaRPr>
          </a:p>
        </p:txBody>
      </p:sp>
      <p:sp>
        <p:nvSpPr>
          <p:cNvPr id="33" name="TextBox"/>
          <p:cNvSpPr txBox="1"/>
          <p:nvPr/>
        </p:nvSpPr>
        <p:spPr>
          <a:xfrm>
            <a:off x="2332939" y="4754880"/>
            <a:ext cx="1313078" cy="426720"/>
          </a:xfrm>
          <a:prstGeom prst="rect">
            <a:avLst/>
          </a:prstGeom>
        </p:spPr>
        <p:txBody>
          <a:bodyPr anchor="ctr"/>
          <a:lstStyle/>
          <a:p>
            <a:r>
              <a:rPr sz="950">
                <a:solidFill>
                  <a:srgbClr val="808080"/>
                </a:solidFill>
                <a:latin typeface="Segoe UI"/>
              </a:rPr>
              <a:t>no</a:t>
            </a:r>
          </a:p>
          <a:p>
            <a:endParaRPr sz="950">
              <a:solidFill>
                <a:srgbClr val="808080"/>
              </a:solidFill>
              <a:latin typeface="Segoe UI"/>
            </a:endParaRPr>
          </a:p>
        </p:txBody>
      </p:sp>
      <p:sp>
        <p:nvSpPr>
          <p:cNvPr id="34" name="TextBox"/>
          <p:cNvSpPr txBox="1"/>
          <p:nvPr/>
        </p:nvSpPr>
        <p:spPr>
          <a:xfrm>
            <a:off x="3664305" y="4754880"/>
            <a:ext cx="1313078" cy="426720"/>
          </a:xfrm>
          <a:prstGeom prst="rect">
            <a:avLst/>
          </a:prstGeom>
        </p:spPr>
        <p:txBody>
          <a:bodyPr anchor="ctr"/>
          <a:lstStyle/>
          <a:p>
            <a:r>
              <a:rPr sz="950">
                <a:solidFill>
                  <a:srgbClr val="808080"/>
                </a:solidFill>
                <a:latin typeface="Segoe UI"/>
              </a:rPr>
              <a:t>no</a:t>
            </a:r>
          </a:p>
          <a:p>
            <a:endParaRPr sz="950">
              <a:solidFill>
                <a:srgbClr val="808080"/>
              </a:solidFill>
              <a:latin typeface="Segoe UI"/>
            </a:endParaRPr>
          </a:p>
        </p:txBody>
      </p:sp>
      <p:sp>
        <p:nvSpPr>
          <p:cNvPr id="35" name="TextBox"/>
          <p:cNvSpPr txBox="1"/>
          <p:nvPr/>
        </p:nvSpPr>
        <p:spPr>
          <a:xfrm>
            <a:off x="4995671" y="4754880"/>
            <a:ext cx="1313078" cy="426720"/>
          </a:xfrm>
          <a:prstGeom prst="rect">
            <a:avLst/>
          </a:prstGeom>
        </p:spPr>
        <p:txBody>
          <a:bodyPr anchor="ctr"/>
          <a:lstStyle/>
          <a:p>
            <a:r>
              <a:rPr sz="950">
                <a:solidFill>
                  <a:srgbClr val="808080"/>
                </a:solidFill>
                <a:latin typeface="Segoe UI"/>
              </a:rPr>
              <a:t>no</a:t>
            </a:r>
          </a:p>
          <a:p>
            <a:endParaRPr sz="950">
              <a:solidFill>
                <a:srgbClr val="808080"/>
              </a:solidFill>
              <a:latin typeface="Segoe UI"/>
            </a:endParaRPr>
          </a:p>
        </p:txBody>
      </p:sp>
      <p:sp>
        <p:nvSpPr>
          <p:cNvPr id="36" name="TextBox"/>
          <p:cNvSpPr txBox="1"/>
          <p:nvPr/>
        </p:nvSpPr>
        <p:spPr>
          <a:xfrm>
            <a:off x="6327037" y="4754880"/>
            <a:ext cx="1313078" cy="426720"/>
          </a:xfrm>
          <a:prstGeom prst="rect">
            <a:avLst/>
          </a:prstGeom>
        </p:spPr>
        <p:txBody>
          <a:bodyPr anchor="ctr"/>
          <a:lstStyle/>
          <a:p>
            <a:r>
              <a:rPr sz="950">
                <a:solidFill>
                  <a:srgbClr val="808080"/>
                </a:solidFill>
                <a:latin typeface="Segoe UI"/>
              </a:rPr>
              <a:t>preview</a:t>
            </a:r>
          </a:p>
          <a:p>
            <a:endParaRPr sz="950">
              <a:solidFill>
                <a:srgbClr val="808080"/>
              </a:solidFill>
              <a:latin typeface="Segoe UI"/>
            </a:endParaRPr>
          </a:p>
        </p:txBody>
      </p:sp>
      <p:sp>
        <p:nvSpPr>
          <p:cNvPr id="37" name="TextBox"/>
          <p:cNvSpPr txBox="1"/>
          <p:nvPr/>
        </p:nvSpPr>
        <p:spPr>
          <a:xfrm>
            <a:off x="7658403" y="4754880"/>
            <a:ext cx="1313078" cy="426720"/>
          </a:xfrm>
          <a:prstGeom prst="rect">
            <a:avLst/>
          </a:prstGeom>
        </p:spPr>
        <p:txBody>
          <a:bodyPr anchor="ctr"/>
          <a:lstStyle/>
          <a:p>
            <a:r>
              <a:rPr sz="950">
                <a:solidFill>
                  <a:srgbClr val="808080"/>
                </a:solidFill>
                <a:latin typeface="Segoe UI"/>
              </a:rPr>
              <a:t>GA</a:t>
            </a:r>
          </a:p>
          <a:p>
            <a:endParaRPr sz="950">
              <a:solidFill>
                <a:srgbClr val="808080"/>
              </a:solidFill>
              <a:latin typeface="Segoe UI"/>
            </a:endParaRPr>
          </a:p>
        </p:txBody>
      </p:sp>
      <p:sp>
        <p:nvSpPr>
          <p:cNvPr id="38" name="TextBox"/>
          <p:cNvSpPr txBox="1"/>
          <p:nvPr/>
        </p:nvSpPr>
        <p:spPr>
          <a:xfrm>
            <a:off x="8989769" y="4754880"/>
            <a:ext cx="1313078" cy="426720"/>
          </a:xfrm>
          <a:prstGeom prst="rect">
            <a:avLst/>
          </a:prstGeom>
        </p:spPr>
        <p:txBody>
          <a:bodyPr anchor="ctr"/>
          <a:lstStyle/>
          <a:p>
            <a:r>
              <a:rPr sz="950">
                <a:solidFill>
                  <a:srgbClr val="808080"/>
                </a:solidFill>
                <a:latin typeface="Segoe UI"/>
              </a:rPr>
              <a:t>preview</a:t>
            </a:r>
          </a:p>
          <a:p>
            <a:endParaRPr sz="950">
              <a:solidFill>
                <a:srgbClr val="808080"/>
              </a:solidFill>
              <a:latin typeface="Segoe UI"/>
            </a:endParaRPr>
          </a:p>
        </p:txBody>
      </p:sp>
      <p:sp>
        <p:nvSpPr>
          <p:cNvPr id="39" name="TextBox"/>
          <p:cNvSpPr txBox="1"/>
          <p:nvPr/>
        </p:nvSpPr>
        <p:spPr>
          <a:xfrm>
            <a:off x="10321135" y="4754880"/>
            <a:ext cx="1313081" cy="426720"/>
          </a:xfrm>
          <a:prstGeom prst="rect">
            <a:avLst/>
          </a:prstGeom>
        </p:spPr>
        <p:txBody>
          <a:bodyPr anchor="ctr"/>
          <a:lstStyle/>
          <a:p>
            <a:r>
              <a:rPr sz="950">
                <a:solidFill>
                  <a:srgbClr val="808080"/>
                </a:solidFill>
                <a:latin typeface="Segoe UI"/>
              </a:rPr>
              <a:t>preview</a:t>
            </a:r>
          </a:p>
          <a:p>
            <a:endParaRPr sz="950">
              <a:solidFill>
                <a:srgbClr val="808080"/>
              </a:solidFill>
              <a:latin typeface="Segoe UI"/>
            </a:endParaRPr>
          </a:p>
        </p:txBody>
      </p:sp>
      <p:sp>
        <p:nvSpPr>
          <p:cNvPr id="40" name="Shape"/>
          <p:cNvSpPr/>
          <p:nvPr/>
        </p:nvSpPr>
        <p:spPr>
          <a:xfrm>
            <a:off x="548640" y="5102352"/>
            <a:ext cx="11094720" cy="457200"/>
          </a:xfrm>
          <a:prstGeom prst="rect">
            <a:avLst/>
          </a:prstGeom>
          <a:solidFill>
            <a:srgbClr val="F6F8FD"/>
          </a:solidFill>
          <a:ln w="9525">
            <a:solidFill>
              <a:srgbClr val="E1E7F4"/>
            </a:solidFill>
          </a:ln>
        </p:spPr>
        <p:txBody>
          <a:bodyPr/>
          <a:lstStyle/>
          <a:p>
            <a:endParaRPr/>
          </a:p>
        </p:txBody>
      </p:sp>
      <p:sp>
        <p:nvSpPr>
          <p:cNvPr id="41" name="TextBox"/>
          <p:cNvSpPr txBox="1"/>
          <p:nvPr/>
        </p:nvSpPr>
        <p:spPr>
          <a:xfrm>
            <a:off x="557784" y="5102352"/>
            <a:ext cx="1756867" cy="426720"/>
          </a:xfrm>
          <a:prstGeom prst="rect">
            <a:avLst/>
          </a:prstGeom>
        </p:spPr>
        <p:txBody>
          <a:bodyPr anchor="ctr"/>
          <a:lstStyle/>
          <a:p>
            <a:r>
              <a:rPr sz="950">
                <a:solidFill>
                  <a:srgbClr val="141B33"/>
                </a:solidFill>
                <a:latin typeface="Segoe UI"/>
              </a:rPr>
              <a:t>New experience</a:t>
            </a:r>
          </a:p>
          <a:p>
            <a:endParaRPr sz="950">
              <a:solidFill>
                <a:srgbClr val="141B33"/>
              </a:solidFill>
              <a:latin typeface="Segoe UI"/>
            </a:endParaRPr>
          </a:p>
        </p:txBody>
      </p:sp>
      <p:sp>
        <p:nvSpPr>
          <p:cNvPr id="42" name="TextBox"/>
          <p:cNvSpPr txBox="1"/>
          <p:nvPr/>
        </p:nvSpPr>
        <p:spPr>
          <a:xfrm>
            <a:off x="2332939" y="5102352"/>
            <a:ext cx="1313078" cy="426720"/>
          </a:xfrm>
          <a:prstGeom prst="rect">
            <a:avLst/>
          </a:prstGeom>
        </p:spPr>
        <p:txBody>
          <a:bodyPr anchor="ctr"/>
          <a:lstStyle/>
          <a:p>
            <a:r>
              <a:rPr sz="950">
                <a:solidFill>
                  <a:srgbClr val="141B33"/>
                </a:solidFill>
                <a:latin typeface="Segoe UI"/>
              </a:rPr>
              <a:t>GA</a:t>
            </a:r>
          </a:p>
          <a:p>
            <a:endParaRPr sz="950">
              <a:solidFill>
                <a:srgbClr val="141B33"/>
              </a:solidFill>
              <a:latin typeface="Segoe UI"/>
            </a:endParaRPr>
          </a:p>
        </p:txBody>
      </p:sp>
      <p:sp>
        <p:nvSpPr>
          <p:cNvPr id="43" name="TextBox"/>
          <p:cNvSpPr txBox="1"/>
          <p:nvPr/>
        </p:nvSpPr>
        <p:spPr>
          <a:xfrm>
            <a:off x="3664305" y="5102352"/>
            <a:ext cx="1313078" cy="426720"/>
          </a:xfrm>
          <a:prstGeom prst="rect">
            <a:avLst/>
          </a:prstGeom>
        </p:spPr>
        <p:txBody>
          <a:bodyPr anchor="ctr"/>
          <a:lstStyle/>
          <a:p>
            <a:r>
              <a:rPr sz="950">
                <a:solidFill>
                  <a:srgbClr val="141B33"/>
                </a:solidFill>
                <a:latin typeface="Segoe UI"/>
              </a:rPr>
              <a:t>GA</a:t>
            </a:r>
          </a:p>
          <a:p>
            <a:endParaRPr sz="950">
              <a:solidFill>
                <a:srgbClr val="141B33"/>
              </a:solidFill>
              <a:latin typeface="Segoe UI"/>
            </a:endParaRPr>
          </a:p>
        </p:txBody>
      </p:sp>
      <p:sp>
        <p:nvSpPr>
          <p:cNvPr id="44" name="TextBox"/>
          <p:cNvSpPr txBox="1"/>
          <p:nvPr/>
        </p:nvSpPr>
        <p:spPr>
          <a:xfrm>
            <a:off x="4995671" y="5102352"/>
            <a:ext cx="1313078" cy="426720"/>
          </a:xfrm>
          <a:prstGeom prst="rect">
            <a:avLst/>
          </a:prstGeom>
        </p:spPr>
        <p:txBody>
          <a:bodyPr anchor="ctr"/>
          <a:lstStyle/>
          <a:p>
            <a:r>
              <a:rPr sz="950">
                <a:solidFill>
                  <a:srgbClr val="141B33"/>
                </a:solidFill>
                <a:latin typeface="Segoe UI"/>
              </a:rPr>
              <a:t>Preview</a:t>
            </a:r>
          </a:p>
          <a:p>
            <a:endParaRPr sz="950">
              <a:solidFill>
                <a:srgbClr val="141B33"/>
              </a:solidFill>
              <a:latin typeface="Segoe UI"/>
            </a:endParaRPr>
          </a:p>
        </p:txBody>
      </p:sp>
      <p:sp>
        <p:nvSpPr>
          <p:cNvPr id="45" name="TextBox"/>
          <p:cNvSpPr txBox="1"/>
          <p:nvPr/>
        </p:nvSpPr>
        <p:spPr>
          <a:xfrm>
            <a:off x="6327037" y="5102352"/>
            <a:ext cx="1313078" cy="426720"/>
          </a:xfrm>
          <a:prstGeom prst="rect">
            <a:avLst/>
          </a:prstGeom>
        </p:spPr>
        <p:txBody>
          <a:bodyPr anchor="ctr"/>
          <a:lstStyle/>
          <a:p>
            <a:r>
              <a:rPr sz="950">
                <a:solidFill>
                  <a:srgbClr val="141B33"/>
                </a:solidFill>
                <a:latin typeface="Segoe UI"/>
              </a:rPr>
              <a:t>GA</a:t>
            </a:r>
          </a:p>
          <a:p>
            <a:endParaRPr sz="950">
              <a:solidFill>
                <a:srgbClr val="141B33"/>
              </a:solidFill>
              <a:latin typeface="Segoe UI"/>
            </a:endParaRPr>
          </a:p>
        </p:txBody>
      </p:sp>
      <p:sp>
        <p:nvSpPr>
          <p:cNvPr id="46" name="TextBox"/>
          <p:cNvSpPr txBox="1"/>
          <p:nvPr/>
        </p:nvSpPr>
        <p:spPr>
          <a:xfrm>
            <a:off x="7658403" y="5102352"/>
            <a:ext cx="1313078" cy="426720"/>
          </a:xfrm>
          <a:prstGeom prst="rect">
            <a:avLst/>
          </a:prstGeom>
        </p:spPr>
        <p:txBody>
          <a:bodyPr anchor="ctr"/>
          <a:lstStyle/>
          <a:p>
            <a:r>
              <a:rPr sz="950">
                <a:solidFill>
                  <a:srgbClr val="141B33"/>
                </a:solidFill>
                <a:latin typeface="Segoe UI"/>
              </a:rPr>
              <a:t>removed</a:t>
            </a:r>
          </a:p>
          <a:p>
            <a:endParaRPr sz="950">
              <a:solidFill>
                <a:srgbClr val="141B33"/>
              </a:solidFill>
              <a:latin typeface="Segoe UI"/>
            </a:endParaRPr>
          </a:p>
        </p:txBody>
      </p:sp>
      <p:sp>
        <p:nvSpPr>
          <p:cNvPr id="47" name="TextBox"/>
          <p:cNvSpPr txBox="1"/>
          <p:nvPr/>
        </p:nvSpPr>
        <p:spPr>
          <a:xfrm>
            <a:off x="8989769" y="5102352"/>
            <a:ext cx="1313078" cy="426720"/>
          </a:xfrm>
          <a:prstGeom prst="rect">
            <a:avLst/>
          </a:prstGeom>
        </p:spPr>
        <p:txBody>
          <a:bodyPr anchor="ctr"/>
          <a:lstStyle/>
          <a:p>
            <a:r>
              <a:rPr sz="950">
                <a:solidFill>
                  <a:srgbClr val="141B33"/>
                </a:solidFill>
                <a:latin typeface="Segoe UI"/>
              </a:rPr>
              <a:t>removed</a:t>
            </a:r>
          </a:p>
          <a:p>
            <a:r>
              <a:rPr sz="950">
                <a:solidFill>
                  <a:srgbClr val="141B33"/>
                </a:solidFill>
                <a:latin typeface="Segoe UI"/>
              </a:rPr>
              <a:t>use A2A</a:t>
            </a:r>
          </a:p>
        </p:txBody>
      </p:sp>
      <p:sp>
        <p:nvSpPr>
          <p:cNvPr id="48" name="TextBox"/>
          <p:cNvSpPr txBox="1"/>
          <p:nvPr/>
        </p:nvSpPr>
        <p:spPr>
          <a:xfrm>
            <a:off x="10321135" y="5102352"/>
            <a:ext cx="1313081" cy="426720"/>
          </a:xfrm>
          <a:prstGeom prst="rect">
            <a:avLst/>
          </a:prstGeom>
        </p:spPr>
        <p:txBody>
          <a:bodyPr anchor="ctr"/>
          <a:lstStyle/>
          <a:p>
            <a:r>
              <a:rPr sz="950">
                <a:solidFill>
                  <a:srgbClr val="141B33"/>
                </a:solidFill>
                <a:latin typeface="Segoe UI"/>
              </a:rPr>
              <a:t>removed</a:t>
            </a:r>
          </a:p>
          <a:p>
            <a:r>
              <a:rPr sz="950">
                <a:solidFill>
                  <a:srgbClr val="141B33"/>
                </a:solidFill>
                <a:latin typeface="Segoe UI"/>
              </a:rPr>
              <a:t>model + web</a:t>
            </a:r>
          </a:p>
        </p:txBody>
      </p:sp>
      <p:sp>
        <p:nvSpPr>
          <p:cNvPr id="49" name="Shape"/>
          <p:cNvSpPr/>
          <p:nvPr/>
        </p:nvSpPr>
        <p:spPr>
          <a:xfrm>
            <a:off x="548640" y="5687568"/>
            <a:ext cx="11094720" cy="9525"/>
          </a:xfrm>
          <a:prstGeom prst="rect">
            <a:avLst/>
          </a:prstGeom>
          <a:solidFill>
            <a:srgbClr val="E1E7F4"/>
          </a:solidFill>
        </p:spPr>
        <p:txBody>
          <a:bodyPr/>
          <a:lstStyle/>
          <a:p>
            <a:endParaRPr/>
          </a:p>
        </p:txBody>
      </p:sp>
      <p:sp>
        <p:nvSpPr>
          <p:cNvPr id="50"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learn.microsoft.com/azure/foundry/agents/concepts/hosted-agents</a:t>
            </a:r>
          </a:p>
          <a:p>
            <a:endParaRPr sz="900">
              <a:solidFill>
                <a:srgbClr val="44495B"/>
              </a:solidFill>
              <a:latin typeface="Segoe UI"/>
            </a:endParaRPr>
          </a:p>
        </p:txBody>
      </p:sp>
      <p:sp>
        <p:nvSpPr>
          <p:cNvPr id="51"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4   ·   A G E N T S   A N D   S D K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Publishing a hosted agent to Teams and Microsoft 365</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What is generally available today, and how a private-networked agent reaches Microsoft 365 channels.</a:t>
            </a:r>
          </a:p>
          <a:p>
            <a:endParaRPr sz="1200">
              <a:solidFill>
                <a:srgbClr val="44495B"/>
              </a:solidFill>
              <a:latin typeface="Segoe UI"/>
            </a:endParaRPr>
          </a:p>
        </p:txBody>
      </p:sp>
      <p:sp>
        <p:nvSpPr>
          <p:cNvPr id="50"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 — concepts/hosted-agents · how-to/publish-copilot-virtual-network</a:t>
            </a:r>
          </a:p>
          <a:p>
            <a:endParaRPr sz="900">
              <a:solidFill>
                <a:srgbClr val="44495B"/>
              </a:solidFill>
              <a:latin typeface="Segoe UI"/>
            </a:endParaRPr>
          </a:p>
        </p:txBody>
      </p:sp>
      <p:sp>
        <p:nvSpPr>
          <p:cNvPr id="51"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16</a:t>
            </a:r>
          </a:p>
        </p:txBody>
      </p:sp>
      <p:sp>
        <p:nvSpPr>
          <p:cNvPr id="52" name="TextBox 51"/>
          <p:cNvSpPr txBox="1"/>
          <p:nvPr/>
        </p:nvSpPr>
        <p:spPr>
          <a:xfrm>
            <a:off x="457200" y="1243584"/>
            <a:ext cx="5486400" cy="219456"/>
          </a:xfrm>
          <a:prstGeom prst="rect">
            <a:avLst/>
          </a:prstGeom>
          <a:noFill/>
        </p:spPr>
        <p:txBody>
          <a:bodyPr wrap="square" lIns="0" tIns="0" rIns="0" bIns="0" anchor="t">
            <a:spAutoFit/>
          </a:bodyPr>
          <a:lstStyle/>
          <a:p>
            <a:pPr algn="l">
              <a:lnSpc>
                <a:spcPct val="112000"/>
              </a:lnSpc>
            </a:pPr>
            <a:r>
              <a:rPr sz="800" b="1" i="0">
                <a:solidFill>
                  <a:srgbClr val="008577"/>
                </a:solidFill>
                <a:latin typeface="Segoe UI"/>
                <a:cs typeface="Segoe UI"/>
              </a:rPr>
              <a:t>H O S T E D   A G E N T   C A P A B I L I T I E S</a:t>
            </a:r>
          </a:p>
        </p:txBody>
      </p:sp>
      <p:sp>
        <p:nvSpPr>
          <p:cNvPr id="53" name="Rectangle 52"/>
          <p:cNvSpPr/>
          <p:nvPr/>
        </p:nvSpPr>
        <p:spPr>
          <a:xfrm>
            <a:off x="548640" y="1481328"/>
            <a:ext cx="5230368" cy="292608"/>
          </a:xfrm>
          <a:prstGeom prst="rect">
            <a:avLst/>
          </a:prstGeom>
          <a:solidFill>
            <a:srgbClr val="101A3C"/>
          </a:solidFill>
          <a:ln>
            <a:noFill/>
          </a:ln>
          <a:effectLst/>
        </p:spPr>
        <p:txBody>
          <a:bodyPr wrap="square" rtlCol="0" anchor="ctr"/>
          <a:lstStyle/>
          <a:p>
            <a:pPr algn="ctr"/>
            <a:endParaRPr/>
          </a:p>
        </p:txBody>
      </p:sp>
      <p:sp>
        <p:nvSpPr>
          <p:cNvPr id="54" name="TextBox 53"/>
          <p:cNvSpPr txBox="1"/>
          <p:nvPr/>
        </p:nvSpPr>
        <p:spPr>
          <a:xfrm>
            <a:off x="676656" y="1549908"/>
            <a:ext cx="3566160" cy="182880"/>
          </a:xfrm>
          <a:prstGeom prst="rect">
            <a:avLst/>
          </a:prstGeom>
          <a:noFill/>
        </p:spPr>
        <p:txBody>
          <a:bodyPr wrap="none" lIns="0" tIns="0" rIns="0" bIns="0" anchor="t">
            <a:spAutoFit/>
          </a:bodyPr>
          <a:lstStyle/>
          <a:p>
            <a:pPr algn="l">
              <a:lnSpc>
                <a:spcPct val="112000"/>
              </a:lnSpc>
            </a:pPr>
            <a:r>
              <a:rPr sz="850" b="1" i="0">
                <a:solidFill>
                  <a:srgbClr val="FFFFFF"/>
                </a:solidFill>
                <a:latin typeface="Segoe UI"/>
                <a:cs typeface="Segoe UI"/>
              </a:rPr>
              <a:t>Capability</a:t>
            </a:r>
          </a:p>
        </p:txBody>
      </p:sp>
      <p:sp>
        <p:nvSpPr>
          <p:cNvPr id="55" name="TextBox 54"/>
          <p:cNvSpPr txBox="1"/>
          <p:nvPr/>
        </p:nvSpPr>
        <p:spPr>
          <a:xfrm>
            <a:off x="4773168" y="1549908"/>
            <a:ext cx="914400" cy="182880"/>
          </a:xfrm>
          <a:prstGeom prst="rect">
            <a:avLst/>
          </a:prstGeom>
          <a:noFill/>
        </p:spPr>
        <p:txBody>
          <a:bodyPr wrap="none" lIns="0" tIns="0" rIns="0" bIns="0" anchor="t">
            <a:spAutoFit/>
          </a:bodyPr>
          <a:lstStyle/>
          <a:p>
            <a:pPr algn="l">
              <a:lnSpc>
                <a:spcPct val="112000"/>
              </a:lnSpc>
            </a:pPr>
            <a:r>
              <a:rPr sz="850" b="1" i="0">
                <a:solidFill>
                  <a:srgbClr val="FFFFFF"/>
                </a:solidFill>
                <a:latin typeface="Segoe UI"/>
                <a:cs typeface="Segoe UI"/>
              </a:rPr>
              <a:t>Status</a:t>
            </a:r>
          </a:p>
        </p:txBody>
      </p:sp>
      <p:sp>
        <p:nvSpPr>
          <p:cNvPr id="56" name="Rectangle 55"/>
          <p:cNvSpPr/>
          <p:nvPr/>
        </p:nvSpPr>
        <p:spPr>
          <a:xfrm>
            <a:off x="548640" y="1773936"/>
            <a:ext cx="5230368" cy="306324"/>
          </a:xfrm>
          <a:prstGeom prst="rect">
            <a:avLst/>
          </a:prstGeom>
          <a:solidFill>
            <a:srgbClr val="F6F8FD"/>
          </a:solidFill>
          <a:ln>
            <a:noFill/>
          </a:ln>
          <a:effectLst/>
        </p:spPr>
        <p:txBody>
          <a:bodyPr wrap="square" rtlCol="0" anchor="ctr"/>
          <a:lstStyle/>
          <a:p>
            <a:pPr algn="ctr"/>
            <a:endParaRPr/>
          </a:p>
        </p:txBody>
      </p:sp>
      <p:sp>
        <p:nvSpPr>
          <p:cNvPr id="57" name="TextBox 56"/>
          <p:cNvSpPr txBox="1"/>
          <p:nvPr/>
        </p:nvSpPr>
        <p:spPr>
          <a:xfrm>
            <a:off x="676656" y="1773936"/>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Managed container runtime · per-session isolated sandbox</a:t>
            </a:r>
          </a:p>
        </p:txBody>
      </p:sp>
      <p:sp>
        <p:nvSpPr>
          <p:cNvPr id="58" name="TextBox 57"/>
          <p:cNvSpPr txBox="1"/>
          <p:nvPr/>
        </p:nvSpPr>
        <p:spPr>
          <a:xfrm>
            <a:off x="4773168" y="1773936"/>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59" name="Connector 58"/>
          <p:cNvCxnSpPr/>
          <p:nvPr/>
        </p:nvCxnSpPr>
        <p:spPr>
          <a:xfrm>
            <a:off x="548640" y="2080260"/>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676656" y="2080260"/>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Responses · Invocations · Invocations over WebSocket</a:t>
            </a:r>
          </a:p>
        </p:txBody>
      </p:sp>
      <p:sp>
        <p:nvSpPr>
          <p:cNvPr id="61" name="TextBox 60"/>
          <p:cNvSpPr txBox="1"/>
          <p:nvPr/>
        </p:nvSpPr>
        <p:spPr>
          <a:xfrm>
            <a:off x="4773168" y="2080260"/>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62" name="Connector 61"/>
          <p:cNvCxnSpPr/>
          <p:nvPr/>
        </p:nvCxnSpPr>
        <p:spPr>
          <a:xfrm>
            <a:off x="548640" y="2386584"/>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548640" y="2386584"/>
            <a:ext cx="5230368" cy="306324"/>
          </a:xfrm>
          <a:prstGeom prst="rect">
            <a:avLst/>
          </a:prstGeom>
          <a:solidFill>
            <a:srgbClr val="F6F8FD"/>
          </a:solidFill>
          <a:ln>
            <a:noFill/>
          </a:ln>
          <a:effectLst/>
        </p:spPr>
        <p:txBody>
          <a:bodyPr wrap="square" rtlCol="0" anchor="ctr"/>
          <a:lstStyle/>
          <a:p>
            <a:pPr algn="ctr"/>
            <a:endParaRPr/>
          </a:p>
        </p:txBody>
      </p:sp>
      <p:sp>
        <p:nvSpPr>
          <p:cNvPr id="64" name="TextBox 63"/>
          <p:cNvSpPr txBox="1"/>
          <p:nvPr/>
        </p:nvSpPr>
        <p:spPr>
          <a:xfrm>
            <a:off x="676656" y="2386584"/>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Activity protocol for Teams and Microsoft 365</a:t>
            </a:r>
          </a:p>
        </p:txBody>
      </p:sp>
      <p:sp>
        <p:nvSpPr>
          <p:cNvPr id="65" name="TextBox 64"/>
          <p:cNvSpPr txBox="1"/>
          <p:nvPr/>
        </p:nvSpPr>
        <p:spPr>
          <a:xfrm>
            <a:off x="4773168" y="2386584"/>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66" name="Connector 65"/>
          <p:cNvCxnSpPr/>
          <p:nvPr/>
        </p:nvCxnSpPr>
        <p:spPr>
          <a:xfrm>
            <a:off x="548640" y="2692908"/>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76656" y="2692908"/>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Agent-to-agent (A2A) v1.0 — v0.3 remains preview</a:t>
            </a:r>
          </a:p>
        </p:txBody>
      </p:sp>
      <p:sp>
        <p:nvSpPr>
          <p:cNvPr id="68" name="TextBox 67"/>
          <p:cNvSpPr txBox="1"/>
          <p:nvPr/>
        </p:nvSpPr>
        <p:spPr>
          <a:xfrm>
            <a:off x="4773168" y="2692908"/>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69" name="Connector 68"/>
          <p:cNvCxnSpPr/>
          <p:nvPr/>
        </p:nvCxnSpPr>
        <p:spPr>
          <a:xfrm>
            <a:off x="548640" y="2999232"/>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548640" y="2999232"/>
            <a:ext cx="5230368" cy="306324"/>
          </a:xfrm>
          <a:prstGeom prst="rect">
            <a:avLst/>
          </a:prstGeom>
          <a:solidFill>
            <a:srgbClr val="F6F8FD"/>
          </a:solidFill>
          <a:ln>
            <a:noFill/>
          </a:ln>
          <a:effectLst/>
        </p:spPr>
        <p:txBody>
          <a:bodyPr wrap="square" rtlCol="0" anchor="ctr"/>
          <a:lstStyle/>
          <a:p>
            <a:pPr algn="ctr"/>
            <a:endParaRPr/>
          </a:p>
        </p:txBody>
      </p:sp>
      <p:sp>
        <p:nvSpPr>
          <p:cNvPr id="71" name="TextBox 70"/>
          <p:cNvSpPr txBox="1"/>
          <p:nvPr/>
        </p:nvSpPr>
        <p:spPr>
          <a:xfrm>
            <a:off x="676656" y="2999232"/>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Sessions, conversations and durable state store</a:t>
            </a:r>
          </a:p>
        </p:txBody>
      </p:sp>
      <p:sp>
        <p:nvSpPr>
          <p:cNvPr id="72" name="TextBox 71"/>
          <p:cNvSpPr txBox="1"/>
          <p:nvPr/>
        </p:nvSpPr>
        <p:spPr>
          <a:xfrm>
            <a:off x="4773168" y="2999232"/>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73" name="Connector 72"/>
          <p:cNvCxnSpPr/>
          <p:nvPr/>
        </p:nvCxnSpPr>
        <p:spPr>
          <a:xfrm>
            <a:off x="548640" y="3305556"/>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676656" y="3305556"/>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Private networking and customer-provided virtual network</a:t>
            </a:r>
          </a:p>
        </p:txBody>
      </p:sp>
      <p:sp>
        <p:nvSpPr>
          <p:cNvPr id="75" name="TextBox 74"/>
          <p:cNvSpPr txBox="1"/>
          <p:nvPr/>
        </p:nvSpPr>
        <p:spPr>
          <a:xfrm>
            <a:off x="4773168" y="3305556"/>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76" name="Connector 75"/>
          <p:cNvCxnSpPr/>
          <p:nvPr/>
        </p:nvCxnSpPr>
        <p:spPr>
          <a:xfrm>
            <a:off x="548640" y="3611880"/>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77" name="Rectangle 76"/>
          <p:cNvSpPr/>
          <p:nvPr/>
        </p:nvSpPr>
        <p:spPr>
          <a:xfrm>
            <a:off x="548640" y="3611880"/>
            <a:ext cx="5230368" cy="306324"/>
          </a:xfrm>
          <a:prstGeom prst="rect">
            <a:avLst/>
          </a:prstGeom>
          <a:solidFill>
            <a:srgbClr val="F6F8FD"/>
          </a:solidFill>
          <a:ln>
            <a:noFill/>
          </a:ln>
          <a:effectLst/>
        </p:spPr>
        <p:txBody>
          <a:bodyPr wrap="square" rtlCol="0" anchor="ctr"/>
          <a:lstStyle/>
          <a:p>
            <a:pPr algn="ctr"/>
            <a:endParaRPr/>
          </a:p>
        </p:txBody>
      </p:sp>
      <p:sp>
        <p:nvSpPr>
          <p:cNvPr id="78" name="TextBox 77"/>
          <p:cNvSpPr txBox="1"/>
          <p:nvPr/>
        </p:nvSpPr>
        <p:spPr>
          <a:xfrm>
            <a:off x="676656" y="3611880"/>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Network-secured Azure Container Registry for the image</a:t>
            </a:r>
          </a:p>
        </p:txBody>
      </p:sp>
      <p:sp>
        <p:nvSpPr>
          <p:cNvPr id="79" name="TextBox 78"/>
          <p:cNvSpPr txBox="1"/>
          <p:nvPr/>
        </p:nvSpPr>
        <p:spPr>
          <a:xfrm>
            <a:off x="4773168" y="3611880"/>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80" name="Connector 79"/>
          <p:cNvCxnSpPr/>
          <p:nvPr/>
        </p:nvCxnSpPr>
        <p:spPr>
          <a:xfrm>
            <a:off x="548640" y="3918204"/>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76656" y="3918204"/>
            <a:ext cx="4059936" cy="306324"/>
          </a:xfrm>
          <a:prstGeom prst="rect">
            <a:avLst/>
          </a:prstGeom>
          <a:noFill/>
        </p:spPr>
        <p:txBody>
          <a:bodyPr wrap="square" lIns="0" tIns="0" rIns="0" bIns="0" anchor="ctr">
            <a:spAutoFit/>
          </a:bodyPr>
          <a:lstStyle/>
          <a:p>
            <a:pPr algn="l">
              <a:lnSpc>
                <a:spcPct val="106000"/>
              </a:lnSpc>
            </a:pPr>
            <a:r>
              <a:rPr sz="800" b="0" i="0">
                <a:solidFill>
                  <a:srgbClr val="44495B"/>
                </a:solidFill>
                <a:latin typeface="Segoe UI"/>
                <a:cs typeface="Segoe UI"/>
              </a:rPr>
              <a:t>Resilient execution for long-running work</a:t>
            </a:r>
          </a:p>
        </p:txBody>
      </p:sp>
      <p:sp>
        <p:nvSpPr>
          <p:cNvPr id="82" name="TextBox 81"/>
          <p:cNvSpPr txBox="1"/>
          <p:nvPr/>
        </p:nvSpPr>
        <p:spPr>
          <a:xfrm>
            <a:off x="4773168" y="3918204"/>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Preview</a:t>
            </a:r>
          </a:p>
        </p:txBody>
      </p:sp>
      <p:cxnSp>
        <p:nvCxnSpPr>
          <p:cNvPr id="83" name="Connector 82"/>
          <p:cNvCxnSpPr/>
          <p:nvPr/>
        </p:nvCxnSpPr>
        <p:spPr>
          <a:xfrm>
            <a:off x="548640" y="4224528"/>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548640" y="4224528"/>
            <a:ext cx="5230368" cy="306324"/>
          </a:xfrm>
          <a:prstGeom prst="rect">
            <a:avLst/>
          </a:prstGeom>
          <a:solidFill>
            <a:srgbClr val="F6F8FD"/>
          </a:solidFill>
          <a:ln>
            <a:noFill/>
          </a:ln>
          <a:effectLst/>
        </p:spPr>
        <p:txBody>
          <a:bodyPr wrap="square" rtlCol="0" anchor="ctr"/>
          <a:lstStyle/>
          <a:p>
            <a:pPr algn="ctr"/>
            <a:endParaRPr/>
          </a:p>
        </p:txBody>
      </p:sp>
      <p:sp>
        <p:nvSpPr>
          <p:cNvPr id="85" name="TextBox 84"/>
          <p:cNvSpPr txBox="1"/>
          <p:nvPr/>
        </p:nvSpPr>
        <p:spPr>
          <a:xfrm>
            <a:off x="676656" y="4224528"/>
            <a:ext cx="4059936" cy="306324"/>
          </a:xfrm>
          <a:prstGeom prst="rect">
            <a:avLst/>
          </a:prstGeom>
          <a:noFill/>
        </p:spPr>
        <p:txBody>
          <a:bodyPr wrap="square" lIns="0" tIns="0" rIns="0" bIns="0" anchor="ctr">
            <a:spAutoFit/>
          </a:bodyPr>
          <a:lstStyle/>
          <a:p>
            <a:pPr algn="l">
              <a:lnSpc>
                <a:spcPct val="106000"/>
              </a:lnSpc>
            </a:pPr>
            <a:r>
              <a:rPr sz="800" b="0" i="0">
                <a:solidFill>
                  <a:srgbClr val="44495B"/>
                </a:solidFill>
                <a:latin typeface="Segoe UI"/>
                <a:cs typeface="Segoe UI"/>
              </a:rPr>
              <a:t>Agent Optimizer</a:t>
            </a:r>
          </a:p>
        </p:txBody>
      </p:sp>
      <p:sp>
        <p:nvSpPr>
          <p:cNvPr id="86" name="TextBox 85"/>
          <p:cNvSpPr txBox="1"/>
          <p:nvPr/>
        </p:nvSpPr>
        <p:spPr>
          <a:xfrm>
            <a:off x="4773168" y="4224528"/>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Preview</a:t>
            </a:r>
          </a:p>
        </p:txBody>
      </p:sp>
      <p:cxnSp>
        <p:nvCxnSpPr>
          <p:cNvPr id="87" name="Connector 86"/>
          <p:cNvCxnSpPr/>
          <p:nvPr/>
        </p:nvCxnSpPr>
        <p:spPr>
          <a:xfrm>
            <a:off x="548640" y="4530852"/>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548640" y="4663440"/>
            <a:ext cx="5230368" cy="896112"/>
          </a:xfrm>
          <a:prstGeom prst="rect">
            <a:avLst/>
          </a:prstGeom>
          <a:solidFill>
            <a:srgbClr val="EBEFF7"/>
          </a:solidFill>
          <a:ln>
            <a:noFill/>
          </a:ln>
          <a:effectLst/>
        </p:spPr>
        <p:txBody>
          <a:bodyPr wrap="square" rtlCol="0" anchor="ctr"/>
          <a:lstStyle/>
          <a:p>
            <a:pPr algn="ctr"/>
            <a:endParaRPr/>
          </a:p>
        </p:txBody>
      </p:sp>
      <p:sp>
        <p:nvSpPr>
          <p:cNvPr id="89" name="Rectangle 88"/>
          <p:cNvSpPr/>
          <p:nvPr/>
        </p:nvSpPr>
        <p:spPr>
          <a:xfrm>
            <a:off x="548640" y="4663440"/>
            <a:ext cx="41148" cy="896112"/>
          </a:xfrm>
          <a:prstGeom prst="rect">
            <a:avLst/>
          </a:prstGeom>
          <a:solidFill>
            <a:srgbClr val="00B39F"/>
          </a:solidFill>
          <a:ln>
            <a:noFill/>
          </a:ln>
          <a:effectLst/>
        </p:spPr>
        <p:txBody>
          <a:bodyPr wrap="square" rtlCol="0" anchor="ctr"/>
          <a:lstStyle/>
          <a:p>
            <a:pPr algn="ctr"/>
            <a:endParaRPr/>
          </a:p>
        </p:txBody>
      </p:sp>
      <p:sp>
        <p:nvSpPr>
          <p:cNvPr id="90" name="TextBox 89"/>
          <p:cNvSpPr txBox="1"/>
          <p:nvPr/>
        </p:nvSpPr>
        <p:spPr>
          <a:xfrm>
            <a:off x="786384" y="4773168"/>
            <a:ext cx="4809744" cy="694944"/>
          </a:xfrm>
          <a:prstGeom prst="rect">
            <a:avLst/>
          </a:prstGeom>
          <a:noFill/>
        </p:spPr>
        <p:txBody>
          <a:bodyPr wrap="square" lIns="0" tIns="0" rIns="0" bIns="0" anchor="t">
            <a:spAutoFit/>
          </a:bodyPr>
          <a:lstStyle/>
          <a:p>
            <a:pPr algn="l">
              <a:lnSpc>
                <a:spcPct val="120000"/>
              </a:lnSpc>
            </a:pPr>
            <a:r>
              <a:rPr sz="850" b="0" i="0">
                <a:solidFill>
                  <a:srgbClr val="101A3C"/>
                </a:solidFill>
                <a:latin typeface="Segoe UI"/>
                <a:cs typeface="Segoe UI"/>
              </a:rPr>
              <a:t>Every hosted agent gets its own Microsoft Entra agent identity and a stable endpoint at deploy time — publishing is a separate, optional step. Sandbox compute follows the session, not the request: it is released after the idle timeout and the session’s $HOME and files are restored when it resumes.</a:t>
            </a:r>
          </a:p>
        </p:txBody>
      </p:sp>
      <p:sp>
        <p:nvSpPr>
          <p:cNvPr id="91" name="TextBox 90"/>
          <p:cNvSpPr txBox="1"/>
          <p:nvPr/>
        </p:nvSpPr>
        <p:spPr>
          <a:xfrm>
            <a:off x="6217920" y="1243584"/>
            <a:ext cx="5486400" cy="219456"/>
          </a:xfrm>
          <a:prstGeom prst="rect">
            <a:avLst/>
          </a:prstGeom>
          <a:noFill/>
        </p:spPr>
        <p:txBody>
          <a:bodyPr wrap="square" lIns="0" tIns="0" rIns="0" bIns="0" anchor="t">
            <a:spAutoFit/>
          </a:bodyPr>
          <a:lstStyle/>
          <a:p>
            <a:pPr algn="l">
              <a:lnSpc>
                <a:spcPct val="112000"/>
              </a:lnSpc>
            </a:pPr>
            <a:r>
              <a:rPr sz="800" b="1" i="0">
                <a:solidFill>
                  <a:srgbClr val="008577"/>
                </a:solidFill>
                <a:latin typeface="Segoe UI"/>
                <a:cs typeface="Segoe UI"/>
              </a:rPr>
              <a:t>R E A C H I N G   M I C R O S O F T   3 6 5   F R O M   A   P R I V A T E   N E T W O R K</a:t>
            </a:r>
          </a:p>
        </p:txBody>
      </p:sp>
      <p:sp>
        <p:nvSpPr>
          <p:cNvPr id="92" name="Rectangle 91"/>
          <p:cNvSpPr/>
          <p:nvPr/>
        </p:nvSpPr>
        <p:spPr>
          <a:xfrm>
            <a:off x="6309360" y="1481328"/>
            <a:ext cx="5330952" cy="402336"/>
          </a:xfrm>
          <a:prstGeom prst="rect">
            <a:avLst/>
          </a:prstGeom>
          <a:solidFill>
            <a:srgbClr val="EBEFF7"/>
          </a:solidFill>
          <a:ln w="9525">
            <a:solidFill>
              <a:srgbClr val="E1E7F4"/>
            </a:solidFill>
          </a:ln>
          <a:effectLst/>
        </p:spPr>
        <p:txBody>
          <a:bodyPr wrap="square" lIns="73152" tIns="18288" rIns="73152" bIns="18288" rtlCol="0" anchor="ctr"/>
          <a:lstStyle/>
          <a:p>
            <a:pPr algn="ctr">
              <a:lnSpc>
                <a:spcPct val="116000"/>
              </a:lnSpc>
            </a:pPr>
            <a:r>
              <a:rPr sz="950" b="1">
                <a:solidFill>
                  <a:srgbClr val="101A3C"/>
                </a:solidFill>
                <a:latin typeface="Segoe UI"/>
                <a:cs typeface="Segoe UI"/>
              </a:rPr>
              <a:t>Microsoft 365 Copilot and Microsoft Teams</a:t>
            </a:r>
          </a:p>
        </p:txBody>
      </p:sp>
      <p:cxnSp>
        <p:nvCxnSpPr>
          <p:cNvPr id="93" name="Connector 92"/>
          <p:cNvCxnSpPr/>
          <p:nvPr/>
        </p:nvCxnSpPr>
        <p:spPr>
          <a:xfrm>
            <a:off x="8974836" y="1883664"/>
            <a:ext cx="0" cy="36576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4" name="Oval 93"/>
          <p:cNvSpPr/>
          <p:nvPr/>
        </p:nvSpPr>
        <p:spPr>
          <a:xfrm>
            <a:off x="8874252" y="1965960"/>
            <a:ext cx="201168" cy="201168"/>
          </a:xfrm>
          <a:prstGeom prst="ellipse">
            <a:avLst/>
          </a:prstGeom>
          <a:solidFill>
            <a:srgbClr val="00B39F"/>
          </a:solidFill>
          <a:ln w="15875">
            <a:solidFill>
              <a:srgbClr val="FFFFFF"/>
            </a:solidFill>
          </a:ln>
          <a:effectLst/>
        </p:spPr>
        <p:txBody>
          <a:bodyPr lIns="0" tIns="18288" rIns="0" bIns="18288" rtlCol="0" anchor="ctr"/>
          <a:lstStyle/>
          <a:p>
            <a:pPr algn="ctr">
              <a:lnSpc>
                <a:spcPct val="116000"/>
              </a:lnSpc>
            </a:pPr>
            <a:r>
              <a:rPr sz="800" b="1">
                <a:solidFill>
                  <a:srgbClr val="FFFFFF"/>
                </a:solidFill>
                <a:latin typeface="Segoe UI"/>
                <a:cs typeface="Segoe UI"/>
              </a:rPr>
              <a:t>1</a:t>
            </a:r>
          </a:p>
        </p:txBody>
      </p:sp>
      <p:sp>
        <p:nvSpPr>
          <p:cNvPr id="95" name="TextBox 94"/>
          <p:cNvSpPr txBox="1"/>
          <p:nvPr/>
        </p:nvSpPr>
        <p:spPr>
          <a:xfrm>
            <a:off x="9157716" y="1956816"/>
            <a:ext cx="3108960" cy="219456"/>
          </a:xfrm>
          <a:prstGeom prst="rect">
            <a:avLst/>
          </a:prstGeom>
          <a:noFill/>
        </p:spPr>
        <p:txBody>
          <a:bodyPr wrap="square" lIns="0" tIns="0" rIns="0" bIns="0" anchor="ctr">
            <a:spAutoFit/>
          </a:bodyPr>
          <a:lstStyle/>
          <a:p>
            <a:pPr algn="l">
              <a:lnSpc>
                <a:spcPct val="112000"/>
              </a:lnSpc>
            </a:pPr>
            <a:r>
              <a:rPr sz="750" b="0" i="0">
                <a:solidFill>
                  <a:srgbClr val="44495B"/>
                </a:solidFill>
                <a:latin typeface="Segoe UI"/>
                <a:cs typeface="Segoe UI"/>
              </a:rPr>
              <a:t>activity sent over the public internet</a:t>
            </a:r>
          </a:p>
        </p:txBody>
      </p:sp>
      <p:sp>
        <p:nvSpPr>
          <p:cNvPr id="96" name="Rectangle 95"/>
          <p:cNvSpPr/>
          <p:nvPr/>
        </p:nvSpPr>
        <p:spPr>
          <a:xfrm>
            <a:off x="6309360" y="2249424"/>
            <a:ext cx="5330952" cy="566928"/>
          </a:xfrm>
          <a:prstGeom prst="rect">
            <a:avLst/>
          </a:prstGeom>
          <a:solidFill>
            <a:srgbClr val="0B1229"/>
          </a:solidFill>
          <a:ln>
            <a:noFill/>
          </a:ln>
          <a:effectLst/>
        </p:spPr>
        <p:txBody>
          <a:bodyPr wrap="square" lIns="73152" tIns="18288" rIns="73152" bIns="18288" rtlCol="0" anchor="ctr"/>
          <a:lstStyle/>
          <a:p>
            <a:pPr algn="ctr">
              <a:lnSpc>
                <a:spcPct val="124000"/>
              </a:lnSpc>
            </a:pPr>
            <a:r>
              <a:rPr sz="900" b="1">
                <a:solidFill>
                  <a:srgbClr val="FFFFFF"/>
                </a:solidFill>
                <a:latin typeface="Segoe UI"/>
                <a:cs typeface="Segoe UI"/>
              </a:rPr>
              <a:t>Activity Protocol route — source-IP filtered public service endpoint</a:t>
            </a:r>
          </a:p>
          <a:p>
            <a:pPr algn="ctr">
              <a:lnSpc>
                <a:spcPct val="124000"/>
              </a:lnSpc>
            </a:pPr>
            <a:r>
              <a:rPr sz="750" b="0">
                <a:solidFill>
                  <a:srgbClr val="B9C2D6"/>
                </a:solidFill>
                <a:latin typeface="Segoe UI"/>
                <a:cs typeface="Segoe UI"/>
              </a:rPr>
              <a:t>Foundry terminates TLS, maintains the Bot Service and Microsoft 365 source ranges, and fails closed</a:t>
            </a:r>
          </a:p>
        </p:txBody>
      </p:sp>
      <p:cxnSp>
        <p:nvCxnSpPr>
          <p:cNvPr id="97" name="Connector 96"/>
          <p:cNvCxnSpPr/>
          <p:nvPr/>
        </p:nvCxnSpPr>
        <p:spPr>
          <a:xfrm>
            <a:off x="8974836" y="2816352"/>
            <a:ext cx="0" cy="36576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8" name="Oval 97"/>
          <p:cNvSpPr/>
          <p:nvPr/>
        </p:nvSpPr>
        <p:spPr>
          <a:xfrm>
            <a:off x="8874252" y="2898648"/>
            <a:ext cx="201168" cy="201168"/>
          </a:xfrm>
          <a:prstGeom prst="ellipse">
            <a:avLst/>
          </a:prstGeom>
          <a:solidFill>
            <a:srgbClr val="00B39F"/>
          </a:solidFill>
          <a:ln w="15875">
            <a:solidFill>
              <a:srgbClr val="FFFFFF"/>
            </a:solidFill>
          </a:ln>
          <a:effectLst/>
        </p:spPr>
        <p:txBody>
          <a:bodyPr lIns="0" tIns="18288" rIns="0" bIns="18288" rtlCol="0" anchor="ctr"/>
          <a:lstStyle/>
          <a:p>
            <a:pPr algn="ctr">
              <a:lnSpc>
                <a:spcPct val="116000"/>
              </a:lnSpc>
            </a:pPr>
            <a:r>
              <a:rPr sz="800" b="1">
                <a:solidFill>
                  <a:srgbClr val="FFFFFF"/>
                </a:solidFill>
                <a:latin typeface="Segoe UI"/>
                <a:cs typeface="Segoe UI"/>
              </a:rPr>
              <a:t>2</a:t>
            </a:r>
          </a:p>
        </p:txBody>
      </p:sp>
      <p:sp>
        <p:nvSpPr>
          <p:cNvPr id="99" name="TextBox 98"/>
          <p:cNvSpPr txBox="1"/>
          <p:nvPr/>
        </p:nvSpPr>
        <p:spPr>
          <a:xfrm>
            <a:off x="9157716" y="2889504"/>
            <a:ext cx="3108960" cy="219456"/>
          </a:xfrm>
          <a:prstGeom prst="rect">
            <a:avLst/>
          </a:prstGeom>
          <a:noFill/>
        </p:spPr>
        <p:txBody>
          <a:bodyPr wrap="square" lIns="0" tIns="0" rIns="0" bIns="0" anchor="ctr">
            <a:spAutoFit/>
          </a:bodyPr>
          <a:lstStyle/>
          <a:p>
            <a:pPr algn="l">
              <a:lnSpc>
                <a:spcPct val="112000"/>
              </a:lnSpc>
            </a:pPr>
            <a:r>
              <a:rPr sz="750" b="0" i="0">
                <a:solidFill>
                  <a:srgbClr val="44495B"/>
                </a:solidFill>
                <a:latin typeface="Segoe UI"/>
                <a:cs typeface="Segoe UI"/>
              </a:rPr>
              <a:t>Bot Service or Entra authorization applied</a:t>
            </a:r>
          </a:p>
        </p:txBody>
      </p:sp>
      <p:sp>
        <p:nvSpPr>
          <p:cNvPr id="100" name="Rectangle 99"/>
          <p:cNvSpPr/>
          <p:nvPr/>
        </p:nvSpPr>
        <p:spPr>
          <a:xfrm>
            <a:off x="6309360" y="3182112"/>
            <a:ext cx="5330952" cy="1152144"/>
          </a:xfrm>
          <a:prstGeom prst="rect">
            <a:avLst/>
          </a:prstGeom>
          <a:noFill/>
          <a:ln w="9525">
            <a:solidFill>
              <a:srgbClr val="44495B"/>
            </a:solidFill>
            <a:prstDash val="dash"/>
          </a:ln>
          <a:effectLst/>
        </p:spPr>
        <p:txBody>
          <a:bodyPr wrap="square" rtlCol="0" anchor="ctr"/>
          <a:lstStyle/>
          <a:p>
            <a:pPr algn="ctr"/>
            <a:endParaRPr/>
          </a:p>
        </p:txBody>
      </p:sp>
      <p:sp>
        <p:nvSpPr>
          <p:cNvPr id="101" name="TextBox 100"/>
          <p:cNvSpPr txBox="1"/>
          <p:nvPr/>
        </p:nvSpPr>
        <p:spPr>
          <a:xfrm>
            <a:off x="6437376" y="3246120"/>
            <a:ext cx="4572000" cy="164592"/>
          </a:xfrm>
          <a:prstGeom prst="rect">
            <a:avLst/>
          </a:prstGeom>
          <a:noFill/>
        </p:spPr>
        <p:txBody>
          <a:bodyPr wrap="square" lIns="0" tIns="0" rIns="0" bIns="0" anchor="t">
            <a:spAutoFit/>
          </a:bodyPr>
          <a:lstStyle/>
          <a:p>
            <a:pPr algn="l">
              <a:lnSpc>
                <a:spcPct val="112000"/>
              </a:lnSpc>
            </a:pPr>
            <a:r>
              <a:rPr sz="750" b="1" i="0">
                <a:solidFill>
                  <a:srgbClr val="44495B"/>
                </a:solidFill>
                <a:latin typeface="Segoe UI"/>
                <a:cs typeface="Segoe UI"/>
              </a:rPr>
              <a:t>F O U N D R Y   P R O J E C T   ·   P U B L I C   N E T W O R K   A C C E S S   D I S A B L E D</a:t>
            </a:r>
          </a:p>
        </p:txBody>
      </p:sp>
      <p:sp>
        <p:nvSpPr>
          <p:cNvPr id="102" name="Rectangle 101"/>
          <p:cNvSpPr/>
          <p:nvPr/>
        </p:nvSpPr>
        <p:spPr>
          <a:xfrm>
            <a:off x="6473952" y="3493008"/>
            <a:ext cx="2231136" cy="676656"/>
          </a:xfrm>
          <a:prstGeom prst="rect">
            <a:avLst/>
          </a:prstGeom>
          <a:solidFill>
            <a:srgbClr val="101A3C"/>
          </a:solidFill>
          <a:ln>
            <a:noFill/>
          </a:ln>
          <a:effectLst/>
        </p:spPr>
        <p:txBody>
          <a:bodyPr wrap="square" lIns="73152" tIns="18288" rIns="73152" bIns="18288" rtlCol="0" anchor="ctr"/>
          <a:lstStyle/>
          <a:p>
            <a:pPr algn="ctr">
              <a:lnSpc>
                <a:spcPct val="122000"/>
              </a:lnSpc>
            </a:pPr>
            <a:r>
              <a:rPr sz="950" b="1">
                <a:solidFill>
                  <a:srgbClr val="FFFFFF"/>
                </a:solidFill>
                <a:latin typeface="Segoe UI"/>
                <a:cs typeface="Segoe UI"/>
              </a:rPr>
              <a:t>Hosted agent</a:t>
            </a:r>
          </a:p>
          <a:p>
            <a:pPr algn="ctr">
              <a:lnSpc>
                <a:spcPct val="122000"/>
              </a:lnSpc>
            </a:pPr>
            <a:r>
              <a:rPr sz="750" b="0">
                <a:solidFill>
                  <a:srgbClr val="00B39F"/>
                </a:solidFill>
                <a:latin typeface="Segoe UI"/>
                <a:cs typeface="Segoe UI"/>
              </a:rPr>
              <a:t>active version</a:t>
            </a:r>
          </a:p>
        </p:txBody>
      </p:sp>
      <p:sp>
        <p:nvSpPr>
          <p:cNvPr id="103" name="Rectangle 102"/>
          <p:cNvSpPr/>
          <p:nvPr/>
        </p:nvSpPr>
        <p:spPr>
          <a:xfrm>
            <a:off x="8869680" y="3493008"/>
            <a:ext cx="2606040" cy="676656"/>
          </a:xfrm>
          <a:prstGeom prst="rect">
            <a:avLst/>
          </a:prstGeom>
          <a:solidFill>
            <a:srgbClr val="FFFFFF"/>
          </a:solidFill>
          <a:ln w="9525">
            <a:solidFill>
              <a:srgbClr val="E1E7F4"/>
            </a:solidFill>
          </a:ln>
          <a:effectLst/>
        </p:spPr>
        <p:txBody>
          <a:bodyPr wrap="square" lIns="73152" tIns="18288" rIns="73152" bIns="18288" rtlCol="0" anchor="ctr"/>
          <a:lstStyle/>
          <a:p>
            <a:pPr algn="ctr">
              <a:lnSpc>
                <a:spcPct val="118000"/>
              </a:lnSpc>
            </a:pPr>
            <a:r>
              <a:rPr sz="800" b="1">
                <a:solidFill>
                  <a:srgbClr val="101A3C"/>
                </a:solidFill>
                <a:latin typeface="Segoe UI"/>
                <a:cs typeface="Segoe UI"/>
              </a:rPr>
              <a:t>Responses · Invocations · A2A · MCP</a:t>
            </a:r>
          </a:p>
          <a:p>
            <a:pPr algn="ctr">
              <a:lnSpc>
                <a:spcPct val="118000"/>
              </a:lnSpc>
            </a:pPr>
            <a:r>
              <a:rPr sz="750" b="0">
                <a:solidFill>
                  <a:srgbClr val="44495B"/>
                </a:solidFill>
                <a:latin typeface="Segoe UI"/>
                <a:cs typeface="Segoe UI"/>
              </a:rPr>
              <a:t>and the management APIs — reachable</a:t>
            </a:r>
          </a:p>
          <a:p>
            <a:pPr algn="ctr">
              <a:lnSpc>
                <a:spcPct val="118000"/>
              </a:lnSpc>
            </a:pPr>
            <a:r>
              <a:rPr sz="750" b="0">
                <a:solidFill>
                  <a:srgbClr val="44495B"/>
                </a:solidFill>
                <a:latin typeface="Segoe UI"/>
                <a:cs typeface="Segoe UI"/>
              </a:rPr>
              <a:t>only over the private endpoint</a:t>
            </a:r>
          </a:p>
        </p:txBody>
      </p:sp>
      <p:cxnSp>
        <p:nvCxnSpPr>
          <p:cNvPr id="104" name="Connector 103"/>
          <p:cNvCxnSpPr/>
          <p:nvPr/>
        </p:nvCxnSpPr>
        <p:spPr>
          <a:xfrm>
            <a:off x="8705088" y="3831336"/>
            <a:ext cx="164592" cy="0"/>
          </a:xfrm>
          <a:prstGeom prst="line">
            <a:avLst/>
          </a:prstGeom>
          <a:ln w="13970">
            <a:solidFill>
              <a:srgbClr val="E1E7F4"/>
            </a:solidFill>
            <a:prstDash val="dash"/>
          </a:ln>
          <a:effectLst/>
        </p:spPr>
        <p:style>
          <a:lnRef idx="2">
            <a:schemeClr val="accent1"/>
          </a:lnRef>
          <a:fillRef idx="0">
            <a:schemeClr val="accent1"/>
          </a:fillRef>
          <a:effectRef idx="1">
            <a:schemeClr val="accent1"/>
          </a:effectRef>
          <a:fontRef idx="minor">
            <a:schemeClr val="tx1"/>
          </a:fontRef>
        </p:style>
      </p:cxnSp>
      <p:sp>
        <p:nvSpPr>
          <p:cNvPr id="105" name="Rectangle 104"/>
          <p:cNvSpPr/>
          <p:nvPr/>
        </p:nvSpPr>
        <p:spPr>
          <a:xfrm>
            <a:off x="6309360" y="4443984"/>
            <a:ext cx="5330952" cy="402336"/>
          </a:xfrm>
          <a:prstGeom prst="rect">
            <a:avLst/>
          </a:prstGeom>
          <a:solidFill>
            <a:srgbClr val="0B1229"/>
          </a:solidFill>
          <a:ln>
            <a:noFill/>
          </a:ln>
          <a:effectLst/>
        </p:spPr>
        <p:txBody>
          <a:bodyPr wrap="square" rtlCol="0" anchor="ctr"/>
          <a:lstStyle/>
          <a:p>
            <a:pPr algn="ctr"/>
            <a:endParaRPr/>
          </a:p>
        </p:txBody>
      </p:sp>
      <p:sp>
        <p:nvSpPr>
          <p:cNvPr id="106" name="TextBox 105"/>
          <p:cNvSpPr txBox="1"/>
          <p:nvPr/>
        </p:nvSpPr>
        <p:spPr>
          <a:xfrm>
            <a:off x="6510528" y="4517136"/>
            <a:ext cx="4965192" cy="274320"/>
          </a:xfrm>
          <a:prstGeom prst="rect">
            <a:avLst/>
          </a:prstGeom>
          <a:noFill/>
        </p:spPr>
        <p:txBody>
          <a:bodyPr wrap="none" lIns="0" tIns="0" rIns="0" bIns="0" anchor="t">
            <a:spAutoFit/>
          </a:bodyPr>
          <a:lstStyle/>
          <a:p>
            <a:pPr algn="l">
              <a:lnSpc>
                <a:spcPct val="122000"/>
              </a:lnSpc>
            </a:pPr>
            <a:r>
              <a:rPr sz="750" b="0" i="0">
                <a:solidFill>
                  <a:srgbClr val="D6DEEE"/>
                </a:solidFill>
                <a:latin typeface="Consolas"/>
                <a:cs typeface="Consolas"/>
              </a:rPr>
              <a:t>"activity": { "enable_m365_public_endpoint": true }</a:t>
            </a:r>
          </a:p>
          <a:p>
            <a:pPr algn="l">
              <a:lnSpc>
                <a:spcPct val="122000"/>
              </a:lnSpc>
            </a:pPr>
            <a:r>
              <a:rPr sz="750" b="0" i="0">
                <a:solidFill>
                  <a:srgbClr val="D6DEEE"/>
                </a:solidFill>
                <a:latin typeface="Consolas"/>
                <a:cs typeface="Consolas"/>
              </a:rPr>
              <a:t>keep BotServiceRbac or BotServiceTenant in authorization_schemes</a:t>
            </a:r>
          </a:p>
        </p:txBody>
      </p:sp>
      <p:sp>
        <p:nvSpPr>
          <p:cNvPr id="107" name="Rectangle 106"/>
          <p:cNvSpPr/>
          <p:nvPr/>
        </p:nvSpPr>
        <p:spPr>
          <a:xfrm>
            <a:off x="6309360" y="4956048"/>
            <a:ext cx="2596896" cy="694944"/>
          </a:xfrm>
          <a:prstGeom prst="rect">
            <a:avLst/>
          </a:prstGeom>
          <a:solidFill>
            <a:srgbClr val="F6F8FD"/>
          </a:solidFill>
          <a:ln w="9525">
            <a:solidFill>
              <a:srgbClr val="E1E7F4"/>
            </a:solidFill>
          </a:ln>
          <a:effectLst/>
        </p:spPr>
        <p:txBody>
          <a:bodyPr wrap="square" rtlCol="0" anchor="ctr"/>
          <a:lstStyle/>
          <a:p>
            <a:pPr algn="ctr"/>
            <a:endParaRPr/>
          </a:p>
        </p:txBody>
      </p:sp>
      <p:sp>
        <p:nvSpPr>
          <p:cNvPr id="108" name="Rectangle 107"/>
          <p:cNvSpPr/>
          <p:nvPr/>
        </p:nvSpPr>
        <p:spPr>
          <a:xfrm>
            <a:off x="6309360" y="4956048"/>
            <a:ext cx="2596896" cy="41148"/>
          </a:xfrm>
          <a:prstGeom prst="rect">
            <a:avLst/>
          </a:prstGeom>
          <a:solidFill>
            <a:srgbClr val="00B39F"/>
          </a:solidFill>
          <a:ln>
            <a:noFill/>
          </a:ln>
          <a:effectLst/>
        </p:spPr>
        <p:txBody>
          <a:bodyPr wrap="square" rtlCol="0" anchor="ctr"/>
          <a:lstStyle/>
          <a:p>
            <a:pPr algn="ctr"/>
            <a:endParaRPr/>
          </a:p>
        </p:txBody>
      </p:sp>
      <p:sp>
        <p:nvSpPr>
          <p:cNvPr id="109" name="TextBox 108"/>
          <p:cNvSpPr txBox="1"/>
          <p:nvPr/>
        </p:nvSpPr>
        <p:spPr>
          <a:xfrm>
            <a:off x="6455664" y="5074920"/>
            <a:ext cx="2304288" cy="164592"/>
          </a:xfrm>
          <a:prstGeom prst="rect">
            <a:avLst/>
          </a:prstGeom>
          <a:noFill/>
        </p:spPr>
        <p:txBody>
          <a:bodyPr wrap="square" lIns="0" tIns="0" rIns="0" bIns="0" anchor="t">
            <a:spAutoFit/>
          </a:bodyPr>
          <a:lstStyle/>
          <a:p>
            <a:pPr algn="l">
              <a:lnSpc>
                <a:spcPct val="112000"/>
              </a:lnSpc>
            </a:pPr>
            <a:r>
              <a:rPr sz="850" b="1" i="0">
                <a:solidFill>
                  <a:srgbClr val="101A3C"/>
                </a:solidFill>
                <a:latin typeface="Segoe UI"/>
                <a:cs typeface="Segoe UI"/>
              </a:rPr>
              <a:t>Reachability, not authorization</a:t>
            </a:r>
          </a:p>
        </p:txBody>
      </p:sp>
      <p:sp>
        <p:nvSpPr>
          <p:cNvPr id="110" name="TextBox 109"/>
          <p:cNvSpPr txBox="1"/>
          <p:nvPr/>
        </p:nvSpPr>
        <p:spPr>
          <a:xfrm>
            <a:off x="6455664" y="5266944"/>
            <a:ext cx="2304288" cy="365760"/>
          </a:xfrm>
          <a:prstGeom prst="rect">
            <a:avLst/>
          </a:prstGeom>
          <a:noFill/>
        </p:spPr>
        <p:txBody>
          <a:bodyPr wrap="square" lIns="0" tIns="0" rIns="0" bIns="0" anchor="t">
            <a:spAutoFit/>
          </a:bodyPr>
          <a:lstStyle/>
          <a:p>
            <a:pPr algn="l">
              <a:lnSpc>
                <a:spcPct val="114000"/>
              </a:lnSpc>
            </a:pPr>
            <a:r>
              <a:rPr sz="750" b="0" i="0">
                <a:solidFill>
                  <a:srgbClr val="44495B"/>
                </a:solidFill>
                <a:latin typeface="Segoe UI"/>
                <a:cs typeface="Segoe UI"/>
              </a:rPr>
              <a:t>Source-IP filtering is defence in depth. A request from an allowed range must still pass token validation and tenant or role checks.</a:t>
            </a:r>
          </a:p>
        </p:txBody>
      </p:sp>
      <p:sp>
        <p:nvSpPr>
          <p:cNvPr id="111" name="Rectangle 110"/>
          <p:cNvSpPr/>
          <p:nvPr/>
        </p:nvSpPr>
        <p:spPr>
          <a:xfrm>
            <a:off x="9043416" y="4956048"/>
            <a:ext cx="2596896" cy="694944"/>
          </a:xfrm>
          <a:prstGeom prst="rect">
            <a:avLst/>
          </a:prstGeom>
          <a:solidFill>
            <a:srgbClr val="F6F8FD"/>
          </a:solidFill>
          <a:ln w="9525">
            <a:solidFill>
              <a:srgbClr val="E1E7F4"/>
            </a:solidFill>
          </a:ln>
          <a:effectLst/>
        </p:spPr>
        <p:txBody>
          <a:bodyPr wrap="square" rtlCol="0" anchor="ctr"/>
          <a:lstStyle/>
          <a:p>
            <a:pPr algn="ctr"/>
            <a:endParaRPr/>
          </a:p>
        </p:txBody>
      </p:sp>
      <p:sp>
        <p:nvSpPr>
          <p:cNvPr id="112" name="Rectangle 111"/>
          <p:cNvSpPr/>
          <p:nvPr/>
        </p:nvSpPr>
        <p:spPr>
          <a:xfrm>
            <a:off x="9043416" y="4956048"/>
            <a:ext cx="2596896" cy="41148"/>
          </a:xfrm>
          <a:prstGeom prst="rect">
            <a:avLst/>
          </a:prstGeom>
          <a:solidFill>
            <a:srgbClr val="00B39F"/>
          </a:solidFill>
          <a:ln>
            <a:noFill/>
          </a:ln>
          <a:effectLst/>
        </p:spPr>
        <p:txBody>
          <a:bodyPr wrap="square" rtlCol="0" anchor="ctr"/>
          <a:lstStyle/>
          <a:p>
            <a:pPr algn="ctr"/>
            <a:endParaRPr/>
          </a:p>
        </p:txBody>
      </p:sp>
      <p:sp>
        <p:nvSpPr>
          <p:cNvPr id="113" name="TextBox 112"/>
          <p:cNvSpPr txBox="1"/>
          <p:nvPr/>
        </p:nvSpPr>
        <p:spPr>
          <a:xfrm>
            <a:off x="9189720" y="5074920"/>
            <a:ext cx="2304288" cy="164592"/>
          </a:xfrm>
          <a:prstGeom prst="rect">
            <a:avLst/>
          </a:prstGeom>
          <a:noFill/>
        </p:spPr>
        <p:txBody>
          <a:bodyPr wrap="square" lIns="0" tIns="0" rIns="0" bIns="0" anchor="t">
            <a:spAutoFit/>
          </a:bodyPr>
          <a:lstStyle/>
          <a:p>
            <a:pPr algn="l">
              <a:lnSpc>
                <a:spcPct val="112000"/>
              </a:lnSpc>
            </a:pPr>
            <a:r>
              <a:rPr sz="850" b="1" i="0">
                <a:solidFill>
                  <a:srgbClr val="101A3C"/>
                </a:solidFill>
                <a:latin typeface="Segoe UI"/>
                <a:cs typeface="Segoe UI"/>
              </a:rPr>
              <a:t>What it does not change</a:t>
            </a:r>
          </a:p>
        </p:txBody>
      </p:sp>
      <p:sp>
        <p:nvSpPr>
          <p:cNvPr id="114" name="TextBox 113"/>
          <p:cNvSpPr txBox="1"/>
          <p:nvPr/>
        </p:nvSpPr>
        <p:spPr>
          <a:xfrm>
            <a:off x="9189720" y="5266944"/>
            <a:ext cx="2304288" cy="365760"/>
          </a:xfrm>
          <a:prstGeom prst="rect">
            <a:avLst/>
          </a:prstGeom>
          <a:noFill/>
        </p:spPr>
        <p:txBody>
          <a:bodyPr wrap="square" lIns="0" tIns="0" rIns="0" bIns="0" anchor="t">
            <a:spAutoFit/>
          </a:bodyPr>
          <a:lstStyle/>
          <a:p>
            <a:pPr algn="l">
              <a:lnSpc>
                <a:spcPct val="114000"/>
              </a:lnSpc>
            </a:pPr>
            <a:r>
              <a:rPr sz="750" b="0" i="0">
                <a:solidFill>
                  <a:srgbClr val="44495B"/>
                </a:solidFill>
                <a:latin typeface="Segoe UI"/>
                <a:cs typeface="Segoe UI"/>
              </a:rPr>
              <a:t>Teams and Microsoft 365 stay public-network services, outbound egress rules are unchanged, and published agents carry no streaming.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4   ·   A G E N T S   A N D   S D K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Foundry Agent Service vs Microsoft Agent Framework</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One is an open-source SDK you host; the other is the managed runtime — hosted agents bridge them.</a:t>
            </a:r>
          </a:p>
          <a:p>
            <a:endParaRPr sz="1200">
              <a:solidFill>
                <a:srgbClr val="44495B"/>
              </a:solidFill>
              <a:latin typeface="Segoe UI"/>
            </a:endParaRPr>
          </a:p>
        </p:txBody>
      </p:sp>
      <p:sp>
        <p:nvSpPr>
          <p:cNvPr id="5" name="Shape"/>
          <p:cNvSpPr/>
          <p:nvPr/>
        </p:nvSpPr>
        <p:spPr>
          <a:xfrm>
            <a:off x="548640" y="1417320"/>
            <a:ext cx="11094720" cy="309372"/>
          </a:xfrm>
          <a:prstGeom prst="rect">
            <a:avLst/>
          </a:prstGeom>
          <a:solidFill>
            <a:srgbClr val="101A3C"/>
          </a:solidFill>
        </p:spPr>
        <p:txBody>
          <a:bodyPr/>
          <a:lstStyle/>
          <a:p>
            <a:endParaRPr/>
          </a:p>
        </p:txBody>
      </p:sp>
      <p:sp>
        <p:nvSpPr>
          <p:cNvPr id="6" name="TextBox"/>
          <p:cNvSpPr txBox="1"/>
          <p:nvPr/>
        </p:nvSpPr>
        <p:spPr>
          <a:xfrm>
            <a:off x="2221992" y="1431036"/>
            <a:ext cx="4696968" cy="426720"/>
          </a:xfrm>
          <a:prstGeom prst="rect">
            <a:avLst/>
          </a:prstGeom>
        </p:spPr>
        <p:txBody>
          <a:bodyPr anchor="ctr"/>
          <a:lstStyle/>
          <a:p>
            <a:r>
              <a:rPr sz="950" b="1">
                <a:solidFill>
                  <a:srgbClr val="808080"/>
                </a:solidFill>
                <a:latin typeface="Segoe UI"/>
              </a:rPr>
              <a:t>Microsoft Agent Framework</a:t>
            </a:r>
          </a:p>
          <a:p>
            <a:endParaRPr sz="950" b="1">
              <a:solidFill>
                <a:srgbClr val="808080"/>
              </a:solidFill>
              <a:latin typeface="Segoe UI"/>
            </a:endParaRPr>
          </a:p>
        </p:txBody>
      </p:sp>
      <p:sp>
        <p:nvSpPr>
          <p:cNvPr id="7" name="TextBox"/>
          <p:cNvSpPr txBox="1"/>
          <p:nvPr/>
        </p:nvSpPr>
        <p:spPr>
          <a:xfrm>
            <a:off x="6937248" y="1431036"/>
            <a:ext cx="4696968" cy="426720"/>
          </a:xfrm>
          <a:prstGeom prst="rect">
            <a:avLst/>
          </a:prstGeom>
        </p:spPr>
        <p:txBody>
          <a:bodyPr anchor="ctr"/>
          <a:lstStyle/>
          <a:p>
            <a:r>
              <a:rPr sz="950" b="1">
                <a:solidFill>
                  <a:srgbClr val="808080"/>
                </a:solidFill>
                <a:latin typeface="Segoe UI"/>
              </a:rPr>
              <a:t>Foundry Agent Service</a:t>
            </a:r>
          </a:p>
          <a:p>
            <a:endParaRPr sz="950" b="1">
              <a:solidFill>
                <a:srgbClr val="808080"/>
              </a:solidFill>
              <a:latin typeface="Segoe UI"/>
            </a:endParaRPr>
          </a:p>
        </p:txBody>
      </p:sp>
      <p:sp>
        <p:nvSpPr>
          <p:cNvPr id="8" name="Shape"/>
          <p:cNvSpPr/>
          <p:nvPr/>
        </p:nvSpPr>
        <p:spPr>
          <a:xfrm>
            <a:off x="548640" y="1849374"/>
            <a:ext cx="11094720" cy="309372"/>
          </a:xfrm>
          <a:prstGeom prst="rect">
            <a:avLst/>
          </a:prstGeom>
          <a:solidFill>
            <a:srgbClr val="FFFFFF"/>
          </a:solidFill>
          <a:ln w="9525">
            <a:solidFill>
              <a:srgbClr val="E1E7F4"/>
            </a:solidFill>
          </a:ln>
        </p:spPr>
        <p:txBody>
          <a:bodyPr/>
          <a:lstStyle/>
          <a:p>
            <a:endParaRPr/>
          </a:p>
        </p:txBody>
      </p:sp>
      <p:sp>
        <p:nvSpPr>
          <p:cNvPr id="9" name="TextBox"/>
          <p:cNvSpPr txBox="1"/>
          <p:nvPr/>
        </p:nvSpPr>
        <p:spPr>
          <a:xfrm>
            <a:off x="557784" y="1740408"/>
            <a:ext cx="1645920" cy="426720"/>
          </a:xfrm>
          <a:prstGeom prst="rect">
            <a:avLst/>
          </a:prstGeom>
        </p:spPr>
        <p:txBody>
          <a:bodyPr anchor="ctr"/>
          <a:lstStyle/>
          <a:p>
            <a:r>
              <a:rPr sz="950">
                <a:solidFill>
                  <a:srgbClr val="141B33"/>
                </a:solidFill>
                <a:latin typeface="Segoe UI"/>
              </a:rPr>
              <a:t>What it is</a:t>
            </a:r>
          </a:p>
          <a:p>
            <a:endParaRPr sz="950">
              <a:solidFill>
                <a:srgbClr val="141B33"/>
              </a:solidFill>
              <a:latin typeface="Segoe UI"/>
            </a:endParaRPr>
          </a:p>
        </p:txBody>
      </p:sp>
      <p:sp>
        <p:nvSpPr>
          <p:cNvPr id="10" name="TextBox"/>
          <p:cNvSpPr txBox="1"/>
          <p:nvPr/>
        </p:nvSpPr>
        <p:spPr>
          <a:xfrm>
            <a:off x="2221992" y="1740408"/>
            <a:ext cx="4696968" cy="426720"/>
          </a:xfrm>
          <a:prstGeom prst="rect">
            <a:avLst/>
          </a:prstGeom>
        </p:spPr>
        <p:txBody>
          <a:bodyPr anchor="ctr"/>
          <a:lstStyle/>
          <a:p>
            <a:r>
              <a:rPr sz="950">
                <a:solidFill>
                  <a:srgbClr val="141B33"/>
                </a:solidFill>
                <a:latin typeface="Segoe UI"/>
              </a:rPr>
              <a:t>Open-source SDK that you host</a:t>
            </a:r>
          </a:p>
          <a:p>
            <a:endParaRPr sz="950">
              <a:solidFill>
                <a:srgbClr val="141B33"/>
              </a:solidFill>
              <a:latin typeface="Segoe UI"/>
            </a:endParaRPr>
          </a:p>
        </p:txBody>
      </p:sp>
      <p:sp>
        <p:nvSpPr>
          <p:cNvPr id="11" name="TextBox"/>
          <p:cNvSpPr txBox="1"/>
          <p:nvPr/>
        </p:nvSpPr>
        <p:spPr>
          <a:xfrm>
            <a:off x="6937248" y="1740408"/>
            <a:ext cx="4696968" cy="426720"/>
          </a:xfrm>
          <a:prstGeom prst="rect">
            <a:avLst/>
          </a:prstGeom>
        </p:spPr>
        <p:txBody>
          <a:bodyPr anchor="ctr"/>
          <a:lstStyle/>
          <a:p>
            <a:r>
              <a:rPr sz="950">
                <a:solidFill>
                  <a:srgbClr val="141B33"/>
                </a:solidFill>
                <a:latin typeface="Segoe UI"/>
              </a:rPr>
              <a:t>Managed platform for building, deploying and scaling agents</a:t>
            </a:r>
          </a:p>
          <a:p>
            <a:endParaRPr sz="950">
              <a:solidFill>
                <a:srgbClr val="141B33"/>
              </a:solidFill>
              <a:latin typeface="Segoe UI"/>
            </a:endParaRPr>
          </a:p>
        </p:txBody>
      </p:sp>
      <p:sp>
        <p:nvSpPr>
          <p:cNvPr id="12" name="Shape"/>
          <p:cNvSpPr/>
          <p:nvPr/>
        </p:nvSpPr>
        <p:spPr>
          <a:xfrm>
            <a:off x="548640" y="2158746"/>
            <a:ext cx="11094720" cy="454152"/>
          </a:xfrm>
          <a:prstGeom prst="rect">
            <a:avLst/>
          </a:prstGeom>
          <a:solidFill>
            <a:srgbClr val="F6F8FD"/>
          </a:solidFill>
          <a:ln w="9525">
            <a:solidFill>
              <a:srgbClr val="E1E7F4"/>
            </a:solidFill>
          </a:ln>
        </p:spPr>
        <p:txBody>
          <a:bodyPr/>
          <a:lstStyle/>
          <a:p>
            <a:endParaRPr/>
          </a:p>
        </p:txBody>
      </p:sp>
      <p:sp>
        <p:nvSpPr>
          <p:cNvPr id="13" name="TextBox"/>
          <p:cNvSpPr txBox="1"/>
          <p:nvPr/>
        </p:nvSpPr>
        <p:spPr>
          <a:xfrm>
            <a:off x="557784" y="2049780"/>
            <a:ext cx="1645920" cy="426720"/>
          </a:xfrm>
          <a:prstGeom prst="rect">
            <a:avLst/>
          </a:prstGeom>
        </p:spPr>
        <p:txBody>
          <a:bodyPr anchor="ctr"/>
          <a:lstStyle/>
          <a:p>
            <a:r>
              <a:rPr sz="950">
                <a:solidFill>
                  <a:srgbClr val="141B33"/>
                </a:solidFill>
                <a:latin typeface="Segoe UI"/>
              </a:rPr>
              <a:t>Status</a:t>
            </a:r>
          </a:p>
          <a:p>
            <a:endParaRPr sz="950">
              <a:solidFill>
                <a:srgbClr val="141B33"/>
              </a:solidFill>
              <a:latin typeface="Segoe UI"/>
            </a:endParaRPr>
          </a:p>
        </p:txBody>
      </p:sp>
      <p:sp>
        <p:nvSpPr>
          <p:cNvPr id="14" name="TextBox"/>
          <p:cNvSpPr txBox="1"/>
          <p:nvPr/>
        </p:nvSpPr>
        <p:spPr>
          <a:xfrm>
            <a:off x="2221992" y="2049780"/>
            <a:ext cx="4696968" cy="426720"/>
          </a:xfrm>
          <a:prstGeom prst="rect">
            <a:avLst/>
          </a:prstGeom>
        </p:spPr>
        <p:txBody>
          <a:bodyPr anchor="ctr"/>
          <a:lstStyle/>
          <a:p>
            <a:r>
              <a:rPr sz="950">
                <a:solidFill>
                  <a:srgbClr val="141B33"/>
                </a:solidFill>
                <a:latin typeface="Segoe UI"/>
              </a:rPr>
              <a:t>1.0 GA 3 Apr 2026 for .NET and Python; Go preview.</a:t>
            </a:r>
          </a:p>
          <a:p>
            <a:r>
              <a:rPr sz="950">
                <a:solidFill>
                  <a:srgbClr val="141B33"/>
                </a:solidFill>
                <a:latin typeface="Segoe UI"/>
              </a:rPr>
              <a:t>Current releases python-1.19.0 and dotnet-1.22.0</a:t>
            </a:r>
          </a:p>
        </p:txBody>
      </p:sp>
      <p:sp>
        <p:nvSpPr>
          <p:cNvPr id="15" name="TextBox"/>
          <p:cNvSpPr txBox="1"/>
          <p:nvPr/>
        </p:nvSpPr>
        <p:spPr>
          <a:xfrm>
            <a:off x="6937248" y="2049780"/>
            <a:ext cx="4696968" cy="426720"/>
          </a:xfrm>
          <a:prstGeom prst="rect">
            <a:avLst/>
          </a:prstGeom>
        </p:spPr>
        <p:txBody>
          <a:bodyPr anchor="ctr"/>
          <a:lstStyle/>
          <a:p>
            <a:r>
              <a:rPr sz="950">
                <a:solidFill>
                  <a:srgbClr val="141B33"/>
                </a:solidFill>
                <a:latin typeface="Segoe UI"/>
              </a:rPr>
              <a:t>GA. Hosted agents GA 9 Jul 2026; Toolboxes GA Jul 2026</a:t>
            </a:r>
          </a:p>
          <a:p>
            <a:endParaRPr sz="950">
              <a:solidFill>
                <a:srgbClr val="141B33"/>
              </a:solidFill>
              <a:latin typeface="Segoe UI"/>
            </a:endParaRPr>
          </a:p>
        </p:txBody>
      </p:sp>
      <p:sp>
        <p:nvSpPr>
          <p:cNvPr id="16" name="Shape"/>
          <p:cNvSpPr/>
          <p:nvPr/>
        </p:nvSpPr>
        <p:spPr>
          <a:xfrm>
            <a:off x="548640" y="2490216"/>
            <a:ext cx="11094720" cy="309372"/>
          </a:xfrm>
          <a:prstGeom prst="rect">
            <a:avLst/>
          </a:prstGeom>
          <a:solidFill>
            <a:srgbClr val="FFFFFF"/>
          </a:solidFill>
          <a:ln w="9525">
            <a:solidFill>
              <a:srgbClr val="E1E7F4"/>
            </a:solidFill>
          </a:ln>
        </p:spPr>
        <p:txBody>
          <a:bodyPr/>
          <a:lstStyle/>
          <a:p>
            <a:endParaRPr/>
          </a:p>
        </p:txBody>
      </p:sp>
      <p:sp>
        <p:nvSpPr>
          <p:cNvPr id="17" name="TextBox"/>
          <p:cNvSpPr txBox="1"/>
          <p:nvPr/>
        </p:nvSpPr>
        <p:spPr>
          <a:xfrm>
            <a:off x="557784" y="2503932"/>
            <a:ext cx="1645920" cy="426720"/>
          </a:xfrm>
          <a:prstGeom prst="rect">
            <a:avLst/>
          </a:prstGeom>
        </p:spPr>
        <p:txBody>
          <a:bodyPr anchor="ctr"/>
          <a:lstStyle/>
          <a:p>
            <a:r>
              <a:rPr sz="950">
                <a:solidFill>
                  <a:srgbClr val="141B33"/>
                </a:solidFill>
                <a:latin typeface="Segoe UI"/>
              </a:rPr>
              <a:t>Runtime</a:t>
            </a:r>
          </a:p>
          <a:p>
            <a:endParaRPr sz="950">
              <a:solidFill>
                <a:srgbClr val="141B33"/>
              </a:solidFill>
              <a:latin typeface="Segoe UI"/>
            </a:endParaRPr>
          </a:p>
        </p:txBody>
      </p:sp>
      <p:sp>
        <p:nvSpPr>
          <p:cNvPr id="18" name="TextBox"/>
          <p:cNvSpPr txBox="1"/>
          <p:nvPr/>
        </p:nvSpPr>
        <p:spPr>
          <a:xfrm>
            <a:off x="2221992" y="2503932"/>
            <a:ext cx="4696968" cy="426720"/>
          </a:xfrm>
          <a:prstGeom prst="rect">
            <a:avLst/>
          </a:prstGeom>
        </p:spPr>
        <p:txBody>
          <a:bodyPr anchor="ctr"/>
          <a:lstStyle/>
          <a:p>
            <a:r>
              <a:rPr sz="950">
                <a:solidFill>
                  <a:srgbClr val="141B33"/>
                </a:solidFill>
                <a:latin typeface="Segoe UI"/>
              </a:rPr>
              <a:t>Your process, on your own host</a:t>
            </a:r>
          </a:p>
          <a:p>
            <a:endParaRPr sz="950">
              <a:solidFill>
                <a:srgbClr val="141B33"/>
              </a:solidFill>
              <a:latin typeface="Segoe UI"/>
            </a:endParaRPr>
          </a:p>
        </p:txBody>
      </p:sp>
      <p:sp>
        <p:nvSpPr>
          <p:cNvPr id="19" name="TextBox"/>
          <p:cNvSpPr txBox="1"/>
          <p:nvPr/>
        </p:nvSpPr>
        <p:spPr>
          <a:xfrm>
            <a:off x="6937248" y="2503932"/>
            <a:ext cx="4696968" cy="426720"/>
          </a:xfrm>
          <a:prstGeom prst="rect">
            <a:avLst/>
          </a:prstGeom>
        </p:spPr>
        <p:txBody>
          <a:bodyPr anchor="ctr"/>
          <a:lstStyle/>
          <a:p>
            <a:r>
              <a:rPr sz="950">
                <a:solidFill>
                  <a:srgbClr val="141B33"/>
                </a:solidFill>
                <a:latin typeface="Segoe UI"/>
              </a:rPr>
              <a:t>Foundry-managed agent runtime; per-session VM-isolated sandbox</a:t>
            </a:r>
          </a:p>
          <a:p>
            <a:endParaRPr sz="950">
              <a:solidFill>
                <a:srgbClr val="141B33"/>
              </a:solidFill>
              <a:latin typeface="Segoe UI"/>
            </a:endParaRPr>
          </a:p>
        </p:txBody>
      </p:sp>
      <p:sp>
        <p:nvSpPr>
          <p:cNvPr id="20" name="Shape"/>
          <p:cNvSpPr/>
          <p:nvPr/>
        </p:nvSpPr>
        <p:spPr>
          <a:xfrm>
            <a:off x="548640" y="2922270"/>
            <a:ext cx="11094720" cy="454152"/>
          </a:xfrm>
          <a:prstGeom prst="rect">
            <a:avLst/>
          </a:prstGeom>
          <a:solidFill>
            <a:srgbClr val="F6F8FD"/>
          </a:solidFill>
          <a:ln w="9525">
            <a:solidFill>
              <a:srgbClr val="E1E7F4"/>
            </a:solidFill>
          </a:ln>
        </p:spPr>
        <p:txBody>
          <a:bodyPr/>
          <a:lstStyle/>
          <a:p>
            <a:endParaRPr/>
          </a:p>
        </p:txBody>
      </p:sp>
      <p:sp>
        <p:nvSpPr>
          <p:cNvPr id="21" name="TextBox"/>
          <p:cNvSpPr txBox="1"/>
          <p:nvPr/>
        </p:nvSpPr>
        <p:spPr>
          <a:xfrm>
            <a:off x="557784" y="2813304"/>
            <a:ext cx="1645920" cy="426720"/>
          </a:xfrm>
          <a:prstGeom prst="rect">
            <a:avLst/>
          </a:prstGeom>
        </p:spPr>
        <p:txBody>
          <a:bodyPr anchor="ctr"/>
          <a:lstStyle/>
          <a:p>
            <a:r>
              <a:rPr sz="950">
                <a:solidFill>
                  <a:srgbClr val="141B33"/>
                </a:solidFill>
                <a:latin typeface="Segoe UI"/>
              </a:rPr>
              <a:t>Packages</a:t>
            </a:r>
          </a:p>
          <a:p>
            <a:endParaRPr sz="950">
              <a:solidFill>
                <a:srgbClr val="141B33"/>
              </a:solidFill>
              <a:latin typeface="Segoe UI"/>
            </a:endParaRPr>
          </a:p>
        </p:txBody>
      </p:sp>
      <p:sp>
        <p:nvSpPr>
          <p:cNvPr id="22" name="TextBox"/>
          <p:cNvSpPr txBox="1"/>
          <p:nvPr/>
        </p:nvSpPr>
        <p:spPr>
          <a:xfrm>
            <a:off x="2221992" y="2813304"/>
            <a:ext cx="4696968" cy="426720"/>
          </a:xfrm>
          <a:prstGeom prst="rect">
            <a:avLst/>
          </a:prstGeom>
        </p:spPr>
        <p:txBody>
          <a:bodyPr anchor="ctr"/>
          <a:lstStyle/>
          <a:p>
            <a:r>
              <a:rPr sz="950">
                <a:solidFill>
                  <a:srgbClr val="141B33"/>
                </a:solidFill>
                <a:latin typeface="Segoe UI"/>
              </a:rPr>
              <a:t>pip install agent-framework; Microsoft.Agents.AI and</a:t>
            </a:r>
          </a:p>
          <a:p>
            <a:r>
              <a:rPr sz="950">
                <a:solidFill>
                  <a:srgbClr val="141B33"/>
                </a:solidFill>
                <a:latin typeface="Segoe UI"/>
              </a:rPr>
              <a:t>Microsoft.Agents.AI.Foundry on NuGet</a:t>
            </a:r>
          </a:p>
        </p:txBody>
      </p:sp>
      <p:sp>
        <p:nvSpPr>
          <p:cNvPr id="23" name="TextBox"/>
          <p:cNvSpPr txBox="1"/>
          <p:nvPr/>
        </p:nvSpPr>
        <p:spPr>
          <a:xfrm>
            <a:off x="6937248" y="2813304"/>
            <a:ext cx="4696968" cy="426720"/>
          </a:xfrm>
          <a:prstGeom prst="rect">
            <a:avLst/>
          </a:prstGeom>
        </p:spPr>
        <p:txBody>
          <a:bodyPr anchor="ctr"/>
          <a:lstStyle/>
          <a:p>
            <a:r>
              <a:rPr sz="950">
                <a:solidFill>
                  <a:srgbClr val="141B33"/>
                </a:solidFill>
                <a:latin typeface="Segoe UI"/>
              </a:rPr>
              <a:t>azure-ai-projects, plus the agentserver protocol libraries</a:t>
            </a:r>
          </a:p>
          <a:p>
            <a:endParaRPr sz="950">
              <a:solidFill>
                <a:srgbClr val="141B33"/>
              </a:solidFill>
              <a:latin typeface="Segoe UI"/>
            </a:endParaRPr>
          </a:p>
        </p:txBody>
      </p:sp>
      <p:sp>
        <p:nvSpPr>
          <p:cNvPr id="24" name="Shape"/>
          <p:cNvSpPr/>
          <p:nvPr/>
        </p:nvSpPr>
        <p:spPr>
          <a:xfrm>
            <a:off x="548640" y="3253740"/>
            <a:ext cx="11094720" cy="454152"/>
          </a:xfrm>
          <a:prstGeom prst="rect">
            <a:avLst/>
          </a:prstGeom>
          <a:solidFill>
            <a:srgbClr val="FFFFFF"/>
          </a:solidFill>
          <a:ln w="9525">
            <a:solidFill>
              <a:srgbClr val="E1E7F4"/>
            </a:solidFill>
          </a:ln>
        </p:spPr>
        <p:txBody>
          <a:bodyPr/>
          <a:lstStyle/>
          <a:p>
            <a:endParaRPr/>
          </a:p>
        </p:txBody>
      </p:sp>
      <p:sp>
        <p:nvSpPr>
          <p:cNvPr id="25" name="TextBox"/>
          <p:cNvSpPr txBox="1"/>
          <p:nvPr/>
        </p:nvSpPr>
        <p:spPr>
          <a:xfrm>
            <a:off x="557784" y="3267456"/>
            <a:ext cx="1645920" cy="426720"/>
          </a:xfrm>
          <a:prstGeom prst="rect">
            <a:avLst/>
          </a:prstGeom>
        </p:spPr>
        <p:txBody>
          <a:bodyPr anchor="ctr"/>
          <a:lstStyle/>
          <a:p>
            <a:r>
              <a:rPr sz="950">
                <a:solidFill>
                  <a:srgbClr val="141B33"/>
                </a:solidFill>
                <a:latin typeface="Segoe UI"/>
              </a:rPr>
              <a:t>Primitives</a:t>
            </a:r>
          </a:p>
          <a:p>
            <a:endParaRPr sz="950">
              <a:solidFill>
                <a:srgbClr val="141B33"/>
              </a:solidFill>
              <a:latin typeface="Segoe UI"/>
            </a:endParaRPr>
          </a:p>
        </p:txBody>
      </p:sp>
      <p:sp>
        <p:nvSpPr>
          <p:cNvPr id="26" name="TextBox"/>
          <p:cNvSpPr txBox="1"/>
          <p:nvPr/>
        </p:nvSpPr>
        <p:spPr>
          <a:xfrm>
            <a:off x="2221992" y="3267456"/>
            <a:ext cx="4696968" cy="426720"/>
          </a:xfrm>
          <a:prstGeom prst="rect">
            <a:avLst/>
          </a:prstGeom>
        </p:spPr>
        <p:txBody>
          <a:bodyPr anchor="ctr"/>
          <a:lstStyle/>
          <a:p>
            <a:r>
              <a:rPr sz="950">
                <a:solidFill>
                  <a:srgbClr val="141B33"/>
                </a:solidFill>
                <a:latin typeface="Segoe UI"/>
              </a:rPr>
              <a:t>Agent / AIAgent, agent session, context providers, middleware,</a:t>
            </a:r>
          </a:p>
          <a:p>
            <a:r>
              <a:rPr sz="950">
                <a:solidFill>
                  <a:srgbClr val="141B33"/>
                </a:solidFill>
                <a:latin typeface="Segoe UI"/>
              </a:rPr>
              <a:t>MCP clients, workflows, Harness Agent</a:t>
            </a:r>
          </a:p>
        </p:txBody>
      </p:sp>
      <p:sp>
        <p:nvSpPr>
          <p:cNvPr id="27" name="TextBox"/>
          <p:cNvSpPr txBox="1"/>
          <p:nvPr/>
        </p:nvSpPr>
        <p:spPr>
          <a:xfrm>
            <a:off x="6937248" y="3267456"/>
            <a:ext cx="4696968" cy="426720"/>
          </a:xfrm>
          <a:prstGeom prst="rect">
            <a:avLst/>
          </a:prstGeom>
        </p:spPr>
        <p:txBody>
          <a:bodyPr anchor="ctr"/>
          <a:lstStyle/>
          <a:p>
            <a:r>
              <a:rPr sz="950">
                <a:solidFill>
                  <a:srgbClr val="141B33"/>
                </a:solidFill>
                <a:latin typeface="Segoe UI"/>
              </a:rPr>
              <a:t>Prompt agents, hosted agents, conversations, toolboxes and</a:t>
            </a:r>
          </a:p>
          <a:p>
            <a:r>
              <a:rPr sz="950">
                <a:solidFill>
                  <a:srgbClr val="141B33"/>
                </a:solidFill>
                <a:latin typeface="Segoe UI"/>
              </a:rPr>
              <a:t>memory stores (preview)</a:t>
            </a:r>
          </a:p>
        </p:txBody>
      </p:sp>
      <p:sp>
        <p:nvSpPr>
          <p:cNvPr id="28" name="Shape"/>
          <p:cNvSpPr/>
          <p:nvPr/>
        </p:nvSpPr>
        <p:spPr>
          <a:xfrm>
            <a:off x="548640" y="3707892"/>
            <a:ext cx="11094720" cy="454152"/>
          </a:xfrm>
          <a:prstGeom prst="rect">
            <a:avLst/>
          </a:prstGeom>
          <a:solidFill>
            <a:srgbClr val="F6F8FD"/>
          </a:solidFill>
          <a:ln w="9525">
            <a:solidFill>
              <a:srgbClr val="E1E7F4"/>
            </a:solidFill>
          </a:ln>
        </p:spPr>
        <p:txBody>
          <a:bodyPr/>
          <a:lstStyle/>
          <a:p>
            <a:endParaRPr/>
          </a:p>
        </p:txBody>
      </p:sp>
      <p:sp>
        <p:nvSpPr>
          <p:cNvPr id="29" name="TextBox"/>
          <p:cNvSpPr txBox="1"/>
          <p:nvPr/>
        </p:nvSpPr>
        <p:spPr>
          <a:xfrm>
            <a:off x="557784" y="3721608"/>
            <a:ext cx="1645920" cy="426720"/>
          </a:xfrm>
          <a:prstGeom prst="rect">
            <a:avLst/>
          </a:prstGeom>
        </p:spPr>
        <p:txBody>
          <a:bodyPr anchor="ctr"/>
          <a:lstStyle/>
          <a:p>
            <a:r>
              <a:rPr sz="950">
                <a:solidFill>
                  <a:srgbClr val="141B33"/>
                </a:solidFill>
                <a:latin typeface="Segoe UI"/>
              </a:rPr>
              <a:t>Orchestration</a:t>
            </a:r>
          </a:p>
          <a:p>
            <a:endParaRPr sz="950">
              <a:solidFill>
                <a:srgbClr val="141B33"/>
              </a:solidFill>
              <a:latin typeface="Segoe UI"/>
            </a:endParaRPr>
          </a:p>
        </p:txBody>
      </p:sp>
      <p:sp>
        <p:nvSpPr>
          <p:cNvPr id="30" name="TextBox"/>
          <p:cNvSpPr txBox="1"/>
          <p:nvPr/>
        </p:nvSpPr>
        <p:spPr>
          <a:xfrm>
            <a:off x="2221992" y="3721608"/>
            <a:ext cx="4696968" cy="426720"/>
          </a:xfrm>
          <a:prstGeom prst="rect">
            <a:avLst/>
          </a:prstGeom>
        </p:spPr>
        <p:txBody>
          <a:bodyPr anchor="ctr"/>
          <a:lstStyle/>
          <a:p>
            <a:r>
              <a:rPr sz="950">
                <a:solidFill>
                  <a:srgbClr val="141B33"/>
                </a:solidFill>
                <a:latin typeface="Segoe UI"/>
              </a:rPr>
              <a:t>Sequential, Concurrent, Handoff, Group Chat and Magentic, with</a:t>
            </a:r>
          </a:p>
          <a:p>
            <a:r>
              <a:rPr sz="950">
                <a:solidFill>
                  <a:srgbClr val="141B33"/>
                </a:solidFill>
                <a:latin typeface="Segoe UI"/>
              </a:rPr>
              <a:t>checkpointing, human-in-the-loop and pause or resume</a:t>
            </a:r>
          </a:p>
        </p:txBody>
      </p:sp>
      <p:sp>
        <p:nvSpPr>
          <p:cNvPr id="31" name="TextBox"/>
          <p:cNvSpPr txBox="1"/>
          <p:nvPr/>
        </p:nvSpPr>
        <p:spPr>
          <a:xfrm>
            <a:off x="6937248" y="3721608"/>
            <a:ext cx="4696968" cy="426720"/>
          </a:xfrm>
          <a:prstGeom prst="rect">
            <a:avLst/>
          </a:prstGeom>
        </p:spPr>
        <p:txBody>
          <a:bodyPr anchor="ctr"/>
          <a:lstStyle/>
          <a:p>
            <a:r>
              <a:rPr sz="950">
                <a:solidFill>
                  <a:srgbClr val="141B33"/>
                </a:solidFill>
                <a:latin typeface="Segoe UI"/>
              </a:rPr>
              <a:t>The agent runtime; A2A; workflow agents as an</a:t>
            </a:r>
          </a:p>
          <a:p>
            <a:r>
              <a:rPr sz="950">
                <a:solidFill>
                  <a:srgbClr val="141B33"/>
                </a:solidFill>
                <a:latin typeface="Segoe UI"/>
              </a:rPr>
              <a:t>asset type</a:t>
            </a:r>
          </a:p>
        </p:txBody>
      </p:sp>
      <p:sp>
        <p:nvSpPr>
          <p:cNvPr id="32" name="Shape"/>
          <p:cNvSpPr/>
          <p:nvPr/>
        </p:nvSpPr>
        <p:spPr>
          <a:xfrm>
            <a:off x="548640" y="4162044"/>
            <a:ext cx="11094720" cy="454152"/>
          </a:xfrm>
          <a:prstGeom prst="rect">
            <a:avLst/>
          </a:prstGeom>
          <a:solidFill>
            <a:srgbClr val="FFFFFF"/>
          </a:solidFill>
          <a:ln w="9525">
            <a:solidFill>
              <a:srgbClr val="E1E7F4"/>
            </a:solidFill>
          </a:ln>
        </p:spPr>
        <p:txBody>
          <a:bodyPr/>
          <a:lstStyle/>
          <a:p>
            <a:endParaRPr/>
          </a:p>
        </p:txBody>
      </p:sp>
      <p:sp>
        <p:nvSpPr>
          <p:cNvPr id="33" name="TextBox"/>
          <p:cNvSpPr txBox="1"/>
          <p:nvPr/>
        </p:nvSpPr>
        <p:spPr>
          <a:xfrm>
            <a:off x="557784" y="4175760"/>
            <a:ext cx="1645920" cy="426720"/>
          </a:xfrm>
          <a:prstGeom prst="rect">
            <a:avLst/>
          </a:prstGeom>
        </p:spPr>
        <p:txBody>
          <a:bodyPr anchor="ctr"/>
          <a:lstStyle/>
          <a:p>
            <a:r>
              <a:rPr sz="950">
                <a:solidFill>
                  <a:srgbClr val="141B33"/>
                </a:solidFill>
                <a:latin typeface="Segoe UI"/>
              </a:rPr>
              <a:t>Identity and</a:t>
            </a:r>
          </a:p>
          <a:p>
            <a:r>
              <a:rPr sz="950">
                <a:solidFill>
                  <a:srgbClr val="141B33"/>
                </a:solidFill>
                <a:latin typeface="Segoe UI"/>
              </a:rPr>
              <a:t>tracing</a:t>
            </a:r>
          </a:p>
        </p:txBody>
      </p:sp>
      <p:sp>
        <p:nvSpPr>
          <p:cNvPr id="34" name="TextBox"/>
          <p:cNvSpPr txBox="1"/>
          <p:nvPr/>
        </p:nvSpPr>
        <p:spPr>
          <a:xfrm>
            <a:off x="2221992" y="4175760"/>
            <a:ext cx="4696968" cy="426720"/>
          </a:xfrm>
          <a:prstGeom prst="rect">
            <a:avLst/>
          </a:prstGeom>
        </p:spPr>
        <p:txBody>
          <a:bodyPr anchor="ctr"/>
          <a:lstStyle/>
          <a:p>
            <a:r>
              <a:rPr sz="950">
                <a:solidFill>
                  <a:srgbClr val="141B33"/>
                </a:solidFill>
                <a:latin typeface="Segoe UI"/>
              </a:rPr>
              <a:t>Your application's identity; OpenTelemetry built in and you</a:t>
            </a:r>
          </a:p>
          <a:p>
            <a:r>
              <a:rPr sz="950">
                <a:solidFill>
                  <a:srgbClr val="141B33"/>
                </a:solidFill>
                <a:latin typeface="Segoe UI"/>
              </a:rPr>
              <a:t>choose the exporter</a:t>
            </a:r>
          </a:p>
        </p:txBody>
      </p:sp>
      <p:sp>
        <p:nvSpPr>
          <p:cNvPr id="35" name="TextBox"/>
          <p:cNvSpPr txBox="1"/>
          <p:nvPr/>
        </p:nvSpPr>
        <p:spPr>
          <a:xfrm>
            <a:off x="6937248" y="4175760"/>
            <a:ext cx="4696968" cy="426720"/>
          </a:xfrm>
          <a:prstGeom prst="rect">
            <a:avLst/>
          </a:prstGeom>
        </p:spPr>
        <p:txBody>
          <a:bodyPr anchor="ctr"/>
          <a:lstStyle/>
          <a:p>
            <a:r>
              <a:rPr sz="950">
                <a:solidFill>
                  <a:srgbClr val="141B33"/>
                </a:solidFill>
                <a:latin typeface="Segoe UI"/>
              </a:rPr>
              <a:t>A per-agent Entra agent identity; server-side traces with the</a:t>
            </a:r>
          </a:p>
          <a:p>
            <a:r>
              <a:rPr sz="950">
                <a:solidFill>
                  <a:srgbClr val="141B33"/>
                </a:solidFill>
                <a:latin typeface="Segoe UI"/>
              </a:rPr>
              <a:t>App Insights connection injected</a:t>
            </a:r>
          </a:p>
        </p:txBody>
      </p:sp>
      <p:sp>
        <p:nvSpPr>
          <p:cNvPr id="36" name="TextBox"/>
          <p:cNvSpPr txBox="1"/>
          <p:nvPr/>
        </p:nvSpPr>
        <p:spPr>
          <a:xfrm>
            <a:off x="457200" y="4594860"/>
            <a:ext cx="5669280" cy="411480"/>
          </a:xfrm>
          <a:prstGeom prst="rect">
            <a:avLst/>
          </a:prstGeom>
        </p:spPr>
        <p:txBody>
          <a:bodyPr anchor="ctr"/>
          <a:lstStyle/>
          <a:p>
            <a:r>
              <a:rPr sz="900" b="1">
                <a:solidFill>
                  <a:srgbClr val="008577"/>
                </a:solidFill>
                <a:latin typeface="Segoe UI"/>
              </a:rPr>
              <a:t>H O W   T H E Y   M E E T</a:t>
            </a:r>
          </a:p>
          <a:p>
            <a:endParaRPr sz="900" b="1">
              <a:solidFill>
                <a:srgbClr val="008577"/>
              </a:solidFill>
              <a:latin typeface="Segoe UI"/>
            </a:endParaRPr>
          </a:p>
        </p:txBody>
      </p:sp>
      <p:sp>
        <p:nvSpPr>
          <p:cNvPr id="37" name="TextBox"/>
          <p:cNvSpPr txBox="1"/>
          <p:nvPr/>
        </p:nvSpPr>
        <p:spPr>
          <a:xfrm>
            <a:off x="1874520" y="4594860"/>
            <a:ext cx="5669280" cy="411480"/>
          </a:xfrm>
          <a:prstGeom prst="rect">
            <a:avLst/>
          </a:prstGeom>
        </p:spPr>
        <p:txBody>
          <a:bodyPr anchor="ctr"/>
          <a:lstStyle/>
          <a:p>
            <a:r>
              <a:rPr sz="900">
                <a:solidFill>
                  <a:srgbClr val="44495B"/>
                </a:solidFill>
                <a:latin typeface="Segoe UI"/>
              </a:rPr>
              <a:t>Foundry Hosted Agent Integration — Preview</a:t>
            </a:r>
          </a:p>
          <a:p>
            <a:endParaRPr sz="900">
              <a:solidFill>
                <a:srgbClr val="44495B"/>
              </a:solidFill>
              <a:latin typeface="Segoe UI"/>
            </a:endParaRPr>
          </a:p>
        </p:txBody>
      </p:sp>
      <p:sp>
        <p:nvSpPr>
          <p:cNvPr id="38" name="Shape"/>
          <p:cNvSpPr/>
          <p:nvPr/>
        </p:nvSpPr>
        <p:spPr>
          <a:xfrm>
            <a:off x="548640" y="4864608"/>
            <a:ext cx="2540508" cy="420624"/>
          </a:xfrm>
          <a:prstGeom prst="rect">
            <a:avLst/>
          </a:prstGeom>
          <a:solidFill>
            <a:srgbClr val="101A3C"/>
          </a:solidFill>
        </p:spPr>
        <p:txBody>
          <a:bodyPr anchor="ctr"/>
          <a:lstStyle/>
          <a:p>
            <a:pPr algn="ctr"/>
            <a:r>
              <a:rPr sz="900">
                <a:solidFill>
                  <a:srgbClr val="FFFFFF"/>
                </a:solidFill>
                <a:latin typeface="Segoe UI"/>
              </a:rPr>
              <a:t>Agent Framework code</a:t>
            </a:r>
          </a:p>
        </p:txBody>
      </p:sp>
      <p:sp>
        <p:nvSpPr>
          <p:cNvPr id="39" name="Shape"/>
          <p:cNvSpPr/>
          <p:nvPr/>
        </p:nvSpPr>
        <p:spPr>
          <a:xfrm>
            <a:off x="3144012" y="4974336"/>
            <a:ext cx="201168" cy="201168"/>
          </a:xfrm>
          <a:prstGeom prst="rightArrow">
            <a:avLst/>
          </a:prstGeom>
          <a:solidFill>
            <a:srgbClr val="00B39F"/>
          </a:solidFill>
        </p:spPr>
        <p:txBody>
          <a:bodyPr/>
          <a:lstStyle/>
          <a:p>
            <a:endParaRPr/>
          </a:p>
        </p:txBody>
      </p:sp>
      <p:sp>
        <p:nvSpPr>
          <p:cNvPr id="40" name="Shape"/>
          <p:cNvSpPr/>
          <p:nvPr/>
        </p:nvSpPr>
        <p:spPr>
          <a:xfrm>
            <a:off x="3400044" y="4864608"/>
            <a:ext cx="2540508" cy="420624"/>
          </a:xfrm>
          <a:prstGeom prst="rect">
            <a:avLst/>
          </a:prstGeom>
          <a:solidFill>
            <a:srgbClr val="101A3C"/>
          </a:solidFill>
        </p:spPr>
        <p:txBody>
          <a:bodyPr anchor="ctr"/>
          <a:lstStyle/>
          <a:p>
            <a:pPr algn="ctr"/>
            <a:r>
              <a:rPr sz="900">
                <a:solidFill>
                  <a:srgbClr val="FFFFFF"/>
                </a:solidFill>
                <a:latin typeface="Segoe UI"/>
              </a:rPr>
              <a:t>Container image</a:t>
            </a:r>
          </a:p>
        </p:txBody>
      </p:sp>
      <p:sp>
        <p:nvSpPr>
          <p:cNvPr id="41" name="Shape"/>
          <p:cNvSpPr/>
          <p:nvPr/>
        </p:nvSpPr>
        <p:spPr>
          <a:xfrm>
            <a:off x="5995416" y="4974336"/>
            <a:ext cx="201168" cy="201168"/>
          </a:xfrm>
          <a:prstGeom prst="rightArrow">
            <a:avLst/>
          </a:prstGeom>
          <a:solidFill>
            <a:srgbClr val="00B39F"/>
          </a:solidFill>
        </p:spPr>
        <p:txBody>
          <a:bodyPr/>
          <a:lstStyle/>
          <a:p>
            <a:endParaRPr/>
          </a:p>
        </p:txBody>
      </p:sp>
      <p:sp>
        <p:nvSpPr>
          <p:cNvPr id="42" name="Shape"/>
          <p:cNvSpPr/>
          <p:nvPr/>
        </p:nvSpPr>
        <p:spPr>
          <a:xfrm>
            <a:off x="6251448" y="4864608"/>
            <a:ext cx="2540508" cy="420624"/>
          </a:xfrm>
          <a:prstGeom prst="rect">
            <a:avLst/>
          </a:prstGeom>
          <a:solidFill>
            <a:srgbClr val="101A3C"/>
          </a:solidFill>
        </p:spPr>
        <p:txBody>
          <a:bodyPr anchor="ctr"/>
          <a:lstStyle/>
          <a:p>
            <a:pPr algn="ctr"/>
            <a:r>
              <a:rPr sz="900">
                <a:solidFill>
                  <a:srgbClr val="FFFFFF"/>
                </a:solidFill>
                <a:latin typeface="Segoe UI"/>
              </a:rPr>
              <a:t>Foundry hosted agent or Azure Durable Functions</a:t>
            </a:r>
          </a:p>
        </p:txBody>
      </p:sp>
      <p:sp>
        <p:nvSpPr>
          <p:cNvPr id="43" name="Shape"/>
          <p:cNvSpPr/>
          <p:nvPr/>
        </p:nvSpPr>
        <p:spPr>
          <a:xfrm>
            <a:off x="8846820" y="4974336"/>
            <a:ext cx="201168" cy="201168"/>
          </a:xfrm>
          <a:prstGeom prst="rightArrow">
            <a:avLst/>
          </a:prstGeom>
          <a:solidFill>
            <a:srgbClr val="00B39F"/>
          </a:solidFill>
        </p:spPr>
        <p:txBody>
          <a:bodyPr/>
          <a:lstStyle/>
          <a:p>
            <a:endParaRPr/>
          </a:p>
        </p:txBody>
      </p:sp>
      <p:sp>
        <p:nvSpPr>
          <p:cNvPr id="44" name="Shape"/>
          <p:cNvSpPr/>
          <p:nvPr/>
        </p:nvSpPr>
        <p:spPr>
          <a:xfrm>
            <a:off x="9102852" y="4864608"/>
            <a:ext cx="2540508" cy="420624"/>
          </a:xfrm>
          <a:prstGeom prst="rect">
            <a:avLst/>
          </a:prstGeom>
          <a:solidFill>
            <a:srgbClr val="00B39F"/>
          </a:solidFill>
        </p:spPr>
        <p:txBody>
          <a:bodyPr anchor="ctr"/>
          <a:lstStyle/>
          <a:p>
            <a:pPr algn="ctr"/>
            <a:r>
              <a:rPr sz="900">
                <a:solidFill>
                  <a:srgbClr val="0B1229"/>
                </a:solidFill>
                <a:latin typeface="Segoe UI"/>
              </a:rPr>
              <a:t>Managed endpoint, identity and scaling</a:t>
            </a:r>
          </a:p>
        </p:txBody>
      </p:sp>
      <p:sp>
        <p:nvSpPr>
          <p:cNvPr id="45" name="Shape"/>
          <p:cNvSpPr/>
          <p:nvPr/>
        </p:nvSpPr>
        <p:spPr>
          <a:xfrm>
            <a:off x="548640" y="5687568"/>
            <a:ext cx="11094720" cy="9525"/>
          </a:xfrm>
          <a:prstGeom prst="rect">
            <a:avLst/>
          </a:prstGeom>
          <a:solidFill>
            <a:srgbClr val="E1E7F4"/>
          </a:solidFill>
        </p:spPr>
        <p:txBody>
          <a:bodyPr/>
          <a:lstStyle/>
          <a:p>
            <a:endParaRPr/>
          </a:p>
        </p:txBody>
      </p:sp>
      <p:sp>
        <p:nvSpPr>
          <p:cNvPr id="46"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learn.microsoft.com/en-us/agent-framework/overview/</a:t>
            </a:r>
          </a:p>
          <a:p>
            <a:endParaRPr sz="900">
              <a:solidFill>
                <a:srgbClr val="44495B"/>
              </a:solidFill>
              <a:latin typeface="Segoe UI"/>
            </a:endParaRPr>
          </a:p>
        </p:txBody>
      </p:sp>
      <p:sp>
        <p:nvSpPr>
          <p:cNvPr id="47"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4   ·   A G E N T S   A N D   S D K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Routines: running an agent without a person</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One trigger, one agent. Foundry owns the scheduler, the event listener, the identity and the run history.</a:t>
            </a:r>
          </a:p>
          <a:p>
            <a:endParaRPr sz="1200">
              <a:solidFill>
                <a:srgbClr val="44495B"/>
              </a:solidFill>
              <a:latin typeface="Segoe UI"/>
            </a:endParaRPr>
          </a:p>
        </p:txBody>
      </p:sp>
      <p:sp>
        <p:nvSpPr>
          <p:cNvPr id="46"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 — concepts/routines · how-to/use-routines</a:t>
            </a:r>
          </a:p>
          <a:p>
            <a:endParaRPr sz="900">
              <a:solidFill>
                <a:srgbClr val="44495B"/>
              </a:solidFill>
              <a:latin typeface="Segoe UI"/>
            </a:endParaRPr>
          </a:p>
        </p:txBody>
      </p:sp>
      <p:sp>
        <p:nvSpPr>
          <p:cNvPr id="47"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18</a:t>
            </a:r>
          </a:p>
        </p:txBody>
      </p:sp>
      <p:sp>
        <p:nvSpPr>
          <p:cNvPr id="48" name="TextBox 47"/>
          <p:cNvSpPr txBox="1"/>
          <p:nvPr/>
        </p:nvSpPr>
        <p:spPr>
          <a:xfrm>
            <a:off x="457200" y="1243584"/>
            <a:ext cx="5943600" cy="219456"/>
          </a:xfrm>
          <a:prstGeom prst="rect">
            <a:avLst/>
          </a:prstGeom>
          <a:noFill/>
        </p:spPr>
        <p:txBody>
          <a:bodyPr wrap="square" lIns="0" tIns="0" rIns="0" bIns="0" anchor="t">
            <a:spAutoFit/>
          </a:bodyPr>
          <a:lstStyle/>
          <a:p>
            <a:pPr algn="l">
              <a:lnSpc>
                <a:spcPct val="112000"/>
              </a:lnSpc>
            </a:pPr>
            <a:r>
              <a:rPr sz="800" b="1" i="0">
                <a:solidFill>
                  <a:srgbClr val="008577"/>
                </a:solidFill>
                <a:latin typeface="Segoe UI"/>
                <a:cs typeface="Segoe UI"/>
              </a:rPr>
              <a:t>O N E   T R I G G E R ,   O N E   A C T I O N</a:t>
            </a:r>
          </a:p>
        </p:txBody>
      </p:sp>
      <p:sp>
        <p:nvSpPr>
          <p:cNvPr id="49" name="Rectangle 48"/>
          <p:cNvSpPr/>
          <p:nvPr/>
        </p:nvSpPr>
        <p:spPr>
          <a:xfrm>
            <a:off x="548640" y="1517904"/>
            <a:ext cx="2395728" cy="585216"/>
          </a:xfrm>
          <a:prstGeom prst="rect">
            <a:avLst/>
          </a:prstGeom>
          <a:solidFill>
            <a:srgbClr val="F6F8FD"/>
          </a:solidFill>
          <a:ln w="9525">
            <a:solidFill>
              <a:srgbClr val="E1E7F4"/>
            </a:solidFill>
          </a:ln>
          <a:effectLst/>
        </p:spPr>
        <p:txBody>
          <a:bodyPr wrap="square" rtlCol="0" anchor="ctr"/>
          <a:lstStyle/>
          <a:p>
            <a:pPr algn="ctr"/>
            <a:endParaRPr/>
          </a:p>
        </p:txBody>
      </p:sp>
      <p:sp>
        <p:nvSpPr>
          <p:cNvPr id="50" name="Rectangle 49"/>
          <p:cNvSpPr/>
          <p:nvPr/>
        </p:nvSpPr>
        <p:spPr>
          <a:xfrm>
            <a:off x="548640" y="1517904"/>
            <a:ext cx="41148" cy="585216"/>
          </a:xfrm>
          <a:prstGeom prst="rect">
            <a:avLst/>
          </a:prstGeom>
          <a:solidFill>
            <a:srgbClr val="00B39F"/>
          </a:solidFill>
          <a:ln>
            <a:noFill/>
          </a:ln>
          <a:effectLst/>
        </p:spPr>
        <p:txBody>
          <a:bodyPr wrap="square" rtlCol="0" anchor="ctr"/>
          <a:lstStyle/>
          <a:p>
            <a:pPr algn="ctr"/>
            <a:endParaRPr/>
          </a:p>
        </p:txBody>
      </p:sp>
      <p:sp>
        <p:nvSpPr>
          <p:cNvPr id="51" name="TextBox 50"/>
          <p:cNvSpPr txBox="1"/>
          <p:nvPr/>
        </p:nvSpPr>
        <p:spPr>
          <a:xfrm>
            <a:off x="713232" y="1600200"/>
            <a:ext cx="2103120" cy="164592"/>
          </a:xfrm>
          <a:prstGeom prst="rect">
            <a:avLst/>
          </a:prstGeom>
          <a:noFill/>
        </p:spPr>
        <p:txBody>
          <a:bodyPr wrap="square" lIns="0" tIns="0" rIns="0" bIns="0" anchor="t">
            <a:spAutoFit/>
          </a:bodyPr>
          <a:lstStyle/>
          <a:p>
            <a:pPr algn="l">
              <a:lnSpc>
                <a:spcPct val="112000"/>
              </a:lnSpc>
            </a:pPr>
            <a:r>
              <a:rPr sz="950" b="1" i="0">
                <a:solidFill>
                  <a:srgbClr val="101A3C"/>
                </a:solidFill>
                <a:latin typeface="Segoe UI"/>
                <a:cs typeface="Segoe UI"/>
              </a:rPr>
              <a:t>Timer</a:t>
            </a:r>
          </a:p>
        </p:txBody>
      </p:sp>
      <p:sp>
        <p:nvSpPr>
          <p:cNvPr id="52" name="TextBox 51"/>
          <p:cNvSpPr txBox="1"/>
          <p:nvPr/>
        </p:nvSpPr>
        <p:spPr>
          <a:xfrm>
            <a:off x="713232" y="1783080"/>
            <a:ext cx="2103120" cy="274320"/>
          </a:xfrm>
          <a:prstGeom prst="rect">
            <a:avLst/>
          </a:prstGeom>
          <a:noFill/>
        </p:spPr>
        <p:txBody>
          <a:bodyPr wrap="square" lIns="0" tIns="0" rIns="0" bIns="0" anchor="t">
            <a:spAutoFit/>
          </a:bodyPr>
          <a:lstStyle/>
          <a:p>
            <a:pPr algn="l">
              <a:lnSpc>
                <a:spcPct val="114000"/>
              </a:lnSpc>
            </a:pPr>
            <a:r>
              <a:rPr sz="750" b="0" i="0">
                <a:solidFill>
                  <a:srgbClr val="44495B"/>
                </a:solidFill>
                <a:latin typeface="Segoe UI"/>
                <a:cs typeface="Segoe UI"/>
              </a:rPr>
              <a:t>once at a date and time;</a:t>
            </a:r>
          </a:p>
          <a:p>
            <a:pPr algn="l">
              <a:lnSpc>
                <a:spcPct val="114000"/>
              </a:lnSpc>
            </a:pPr>
            <a:r>
              <a:rPr sz="750" b="0" i="0">
                <a:solidFill>
                  <a:srgbClr val="44495B"/>
                </a:solidFill>
                <a:latin typeface="Segoe UI"/>
                <a:cs typeface="Segoe UI"/>
              </a:rPr>
              <a:t>the routine then goes inactive</a:t>
            </a:r>
          </a:p>
        </p:txBody>
      </p:sp>
      <p:sp>
        <p:nvSpPr>
          <p:cNvPr id="53" name="Rectangle 52"/>
          <p:cNvSpPr/>
          <p:nvPr/>
        </p:nvSpPr>
        <p:spPr>
          <a:xfrm>
            <a:off x="548640" y="2176272"/>
            <a:ext cx="2395728" cy="585216"/>
          </a:xfrm>
          <a:prstGeom prst="rect">
            <a:avLst/>
          </a:prstGeom>
          <a:solidFill>
            <a:srgbClr val="F6F8FD"/>
          </a:solidFill>
          <a:ln w="9525">
            <a:solidFill>
              <a:srgbClr val="E1E7F4"/>
            </a:solidFill>
          </a:ln>
          <a:effectLst/>
        </p:spPr>
        <p:txBody>
          <a:bodyPr wrap="square" rtlCol="0" anchor="ctr"/>
          <a:lstStyle/>
          <a:p>
            <a:pPr algn="ctr"/>
            <a:endParaRPr/>
          </a:p>
        </p:txBody>
      </p:sp>
      <p:sp>
        <p:nvSpPr>
          <p:cNvPr id="54" name="Rectangle 53"/>
          <p:cNvSpPr/>
          <p:nvPr/>
        </p:nvSpPr>
        <p:spPr>
          <a:xfrm>
            <a:off x="548640" y="2176272"/>
            <a:ext cx="41148" cy="585216"/>
          </a:xfrm>
          <a:prstGeom prst="rect">
            <a:avLst/>
          </a:prstGeom>
          <a:solidFill>
            <a:srgbClr val="00B39F"/>
          </a:solidFill>
          <a:ln>
            <a:noFill/>
          </a:ln>
          <a:effectLst/>
        </p:spPr>
        <p:txBody>
          <a:bodyPr wrap="square" rtlCol="0" anchor="ctr"/>
          <a:lstStyle/>
          <a:p>
            <a:pPr algn="ctr"/>
            <a:endParaRPr/>
          </a:p>
        </p:txBody>
      </p:sp>
      <p:sp>
        <p:nvSpPr>
          <p:cNvPr id="55" name="TextBox 54"/>
          <p:cNvSpPr txBox="1"/>
          <p:nvPr/>
        </p:nvSpPr>
        <p:spPr>
          <a:xfrm>
            <a:off x="713232" y="2258568"/>
            <a:ext cx="2103120" cy="164592"/>
          </a:xfrm>
          <a:prstGeom prst="rect">
            <a:avLst/>
          </a:prstGeom>
          <a:noFill/>
        </p:spPr>
        <p:txBody>
          <a:bodyPr wrap="square" lIns="0" tIns="0" rIns="0" bIns="0" anchor="t">
            <a:spAutoFit/>
          </a:bodyPr>
          <a:lstStyle/>
          <a:p>
            <a:pPr algn="l">
              <a:lnSpc>
                <a:spcPct val="112000"/>
              </a:lnSpc>
            </a:pPr>
            <a:r>
              <a:rPr sz="950" b="1" i="0">
                <a:solidFill>
                  <a:srgbClr val="101A3C"/>
                </a:solidFill>
                <a:latin typeface="Segoe UI"/>
                <a:cs typeface="Segoe UI"/>
              </a:rPr>
              <a:t>Recurring</a:t>
            </a:r>
          </a:p>
        </p:txBody>
      </p:sp>
      <p:sp>
        <p:nvSpPr>
          <p:cNvPr id="56" name="TextBox 55"/>
          <p:cNvSpPr txBox="1"/>
          <p:nvPr/>
        </p:nvSpPr>
        <p:spPr>
          <a:xfrm>
            <a:off x="713232" y="2441448"/>
            <a:ext cx="2103120" cy="274320"/>
          </a:xfrm>
          <a:prstGeom prst="rect">
            <a:avLst/>
          </a:prstGeom>
          <a:noFill/>
        </p:spPr>
        <p:txBody>
          <a:bodyPr wrap="square" lIns="0" tIns="0" rIns="0" bIns="0" anchor="t">
            <a:spAutoFit/>
          </a:bodyPr>
          <a:lstStyle/>
          <a:p>
            <a:pPr algn="l">
              <a:lnSpc>
                <a:spcPct val="114000"/>
              </a:lnSpc>
            </a:pPr>
            <a:r>
              <a:rPr sz="750" b="0" i="0">
                <a:solidFill>
                  <a:srgbClr val="44495B"/>
                </a:solidFill>
                <a:latin typeface="Segoe UI"/>
                <a:cs typeface="Segoe UI"/>
              </a:rPr>
              <a:t>cron schedule;</a:t>
            </a:r>
          </a:p>
          <a:p>
            <a:pPr algn="l">
              <a:lnSpc>
                <a:spcPct val="114000"/>
              </a:lnSpc>
            </a:pPr>
            <a:r>
              <a:rPr sz="750" b="0" i="0">
                <a:solidFill>
                  <a:srgbClr val="44495B"/>
                </a:solidFill>
                <a:latin typeface="Segoe UI"/>
                <a:cs typeface="Segoe UI"/>
              </a:rPr>
              <a:t>minimum interval five minutes</a:t>
            </a:r>
          </a:p>
        </p:txBody>
      </p:sp>
      <p:sp>
        <p:nvSpPr>
          <p:cNvPr id="57" name="Rectangle 56"/>
          <p:cNvSpPr/>
          <p:nvPr/>
        </p:nvSpPr>
        <p:spPr>
          <a:xfrm>
            <a:off x="548640" y="2834639"/>
            <a:ext cx="2395728" cy="585216"/>
          </a:xfrm>
          <a:prstGeom prst="rect">
            <a:avLst/>
          </a:prstGeom>
          <a:solidFill>
            <a:srgbClr val="F6F8FD"/>
          </a:solidFill>
          <a:ln w="9525">
            <a:solidFill>
              <a:srgbClr val="E1E7F4"/>
            </a:solidFill>
          </a:ln>
          <a:effectLst/>
        </p:spPr>
        <p:txBody>
          <a:bodyPr wrap="square" rtlCol="0" anchor="ctr"/>
          <a:lstStyle/>
          <a:p>
            <a:pPr algn="ctr"/>
            <a:endParaRPr/>
          </a:p>
        </p:txBody>
      </p:sp>
      <p:sp>
        <p:nvSpPr>
          <p:cNvPr id="58" name="Rectangle 57"/>
          <p:cNvSpPr/>
          <p:nvPr/>
        </p:nvSpPr>
        <p:spPr>
          <a:xfrm>
            <a:off x="548640" y="2834639"/>
            <a:ext cx="41148" cy="585216"/>
          </a:xfrm>
          <a:prstGeom prst="rect">
            <a:avLst/>
          </a:prstGeom>
          <a:solidFill>
            <a:srgbClr val="00B39F"/>
          </a:solidFill>
          <a:ln>
            <a:noFill/>
          </a:ln>
          <a:effectLst/>
        </p:spPr>
        <p:txBody>
          <a:bodyPr wrap="square" rtlCol="0" anchor="ctr"/>
          <a:lstStyle/>
          <a:p>
            <a:pPr algn="ctr"/>
            <a:endParaRPr/>
          </a:p>
        </p:txBody>
      </p:sp>
      <p:sp>
        <p:nvSpPr>
          <p:cNvPr id="59" name="TextBox 58"/>
          <p:cNvSpPr txBox="1"/>
          <p:nvPr/>
        </p:nvSpPr>
        <p:spPr>
          <a:xfrm>
            <a:off x="713232" y="2916935"/>
            <a:ext cx="2103120" cy="164592"/>
          </a:xfrm>
          <a:prstGeom prst="rect">
            <a:avLst/>
          </a:prstGeom>
          <a:noFill/>
        </p:spPr>
        <p:txBody>
          <a:bodyPr wrap="square" lIns="0" tIns="0" rIns="0" bIns="0" anchor="t">
            <a:spAutoFit/>
          </a:bodyPr>
          <a:lstStyle/>
          <a:p>
            <a:pPr algn="l">
              <a:lnSpc>
                <a:spcPct val="112000"/>
              </a:lnSpc>
            </a:pPr>
            <a:r>
              <a:rPr sz="950" b="1" i="0">
                <a:solidFill>
                  <a:srgbClr val="101A3C"/>
                </a:solidFill>
                <a:latin typeface="Segoe UI"/>
                <a:cs typeface="Segoe UI"/>
              </a:rPr>
              <a:t>Event</a:t>
            </a:r>
          </a:p>
        </p:txBody>
      </p:sp>
      <p:sp>
        <p:nvSpPr>
          <p:cNvPr id="60" name="TextBox 59"/>
          <p:cNvSpPr txBox="1"/>
          <p:nvPr/>
        </p:nvSpPr>
        <p:spPr>
          <a:xfrm>
            <a:off x="713232" y="3099815"/>
            <a:ext cx="2103120" cy="274320"/>
          </a:xfrm>
          <a:prstGeom prst="rect">
            <a:avLst/>
          </a:prstGeom>
          <a:noFill/>
        </p:spPr>
        <p:txBody>
          <a:bodyPr wrap="square" lIns="0" tIns="0" rIns="0" bIns="0" anchor="t">
            <a:spAutoFit/>
          </a:bodyPr>
          <a:lstStyle/>
          <a:p>
            <a:pPr algn="l">
              <a:lnSpc>
                <a:spcPct val="114000"/>
              </a:lnSpc>
            </a:pPr>
            <a:r>
              <a:rPr sz="750" b="0" i="0">
                <a:solidFill>
                  <a:srgbClr val="44495B"/>
                </a:solidFill>
                <a:latin typeface="Segoe UI"/>
                <a:cs typeface="Segoe UI"/>
              </a:rPr>
              <a:t>GitHub issue opened or closed;</a:t>
            </a:r>
          </a:p>
          <a:p>
            <a:pPr algn="l">
              <a:lnSpc>
                <a:spcPct val="114000"/>
              </a:lnSpc>
            </a:pPr>
            <a:r>
              <a:rPr sz="750" b="0" i="0">
                <a:solidFill>
                  <a:srgbClr val="44495B"/>
                </a:solidFill>
                <a:latin typeface="Segoe UI"/>
                <a:cs typeface="Segoe UI"/>
              </a:rPr>
              <a:t>message in a Teams channel</a:t>
            </a:r>
          </a:p>
        </p:txBody>
      </p:sp>
      <p:cxnSp>
        <p:nvCxnSpPr>
          <p:cNvPr id="61" name="Connector 60"/>
          <p:cNvCxnSpPr/>
          <p:nvPr/>
        </p:nvCxnSpPr>
        <p:spPr>
          <a:xfrm>
            <a:off x="2944368" y="2103120"/>
            <a:ext cx="438912" cy="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3383280" y="1773936"/>
            <a:ext cx="2103120" cy="658368"/>
          </a:xfrm>
          <a:prstGeom prst="rect">
            <a:avLst/>
          </a:prstGeom>
          <a:solidFill>
            <a:srgbClr val="101A3C"/>
          </a:solidFill>
          <a:ln>
            <a:noFill/>
          </a:ln>
          <a:effectLst/>
        </p:spPr>
        <p:txBody>
          <a:bodyPr wrap="square" lIns="73152" tIns="18288" rIns="73152" bIns="18288" rtlCol="0" anchor="ctr"/>
          <a:lstStyle/>
          <a:p>
            <a:pPr algn="ctr">
              <a:lnSpc>
                <a:spcPct val="126000"/>
              </a:lnSpc>
            </a:pPr>
            <a:r>
              <a:rPr sz="1050" b="1">
                <a:solidFill>
                  <a:srgbClr val="FFFFFF"/>
                </a:solidFill>
                <a:latin typeface="Segoe UI"/>
                <a:cs typeface="Segoe UI"/>
              </a:rPr>
              <a:t>One agent</a:t>
            </a:r>
          </a:p>
          <a:p>
            <a:pPr algn="ctr">
              <a:lnSpc>
                <a:spcPct val="126000"/>
              </a:lnSpc>
            </a:pPr>
            <a:r>
              <a:rPr sz="800" b="0">
                <a:solidFill>
                  <a:srgbClr val="00B39F"/>
                </a:solidFill>
                <a:latin typeface="Segoe UI"/>
                <a:cs typeface="Segoe UI"/>
              </a:rPr>
              <a:t>prompt or hosted</a:t>
            </a:r>
          </a:p>
        </p:txBody>
      </p:sp>
      <p:sp>
        <p:nvSpPr>
          <p:cNvPr id="63" name="TextBox 62"/>
          <p:cNvSpPr txBox="1"/>
          <p:nvPr/>
        </p:nvSpPr>
        <p:spPr>
          <a:xfrm>
            <a:off x="3383280" y="2487168"/>
            <a:ext cx="2103120" cy="274320"/>
          </a:xfrm>
          <a:prstGeom prst="rect">
            <a:avLst/>
          </a:prstGeom>
          <a:noFill/>
        </p:spPr>
        <p:txBody>
          <a:bodyPr wrap="square" lIns="0" tIns="0" rIns="0" bIns="0" anchor="t">
            <a:spAutoFit/>
          </a:bodyPr>
          <a:lstStyle/>
          <a:p>
            <a:pPr algn="ctr">
              <a:lnSpc>
                <a:spcPct val="116000"/>
              </a:lnSpc>
            </a:pPr>
            <a:r>
              <a:rPr sz="750" b="0" i="0">
                <a:solidFill>
                  <a:srgbClr val="44495B"/>
                </a:solidFill>
                <a:latin typeface="Segoe UI"/>
                <a:cs typeface="Segoe UI"/>
              </a:rPr>
              <a:t>Responses API or Invocations API;</a:t>
            </a:r>
          </a:p>
          <a:p>
            <a:pPr algn="ctr">
              <a:lnSpc>
                <a:spcPct val="116000"/>
              </a:lnSpc>
            </a:pPr>
            <a:r>
              <a:rPr sz="750" b="0" i="0">
                <a:solidFill>
                  <a:srgbClr val="44495B"/>
                </a:solidFill>
                <a:latin typeface="Segoe UI"/>
                <a:cs typeface="Segoe UI"/>
              </a:rPr>
              <a:t>the agent protocol must match.</a:t>
            </a:r>
          </a:p>
        </p:txBody>
      </p:sp>
      <p:cxnSp>
        <p:nvCxnSpPr>
          <p:cNvPr id="64" name="Connector 63"/>
          <p:cNvCxnSpPr/>
          <p:nvPr/>
        </p:nvCxnSpPr>
        <p:spPr>
          <a:xfrm>
            <a:off x="5486400" y="2103120"/>
            <a:ext cx="438912" cy="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5925312" y="1773936"/>
            <a:ext cx="2103120" cy="658368"/>
          </a:xfrm>
          <a:prstGeom prst="rect">
            <a:avLst/>
          </a:prstGeom>
          <a:solidFill>
            <a:srgbClr val="FFFFFF"/>
          </a:solidFill>
          <a:ln w="9525">
            <a:solidFill>
              <a:srgbClr val="E1E7F4"/>
            </a:solidFill>
          </a:ln>
          <a:effectLst/>
        </p:spPr>
        <p:txBody>
          <a:bodyPr wrap="square" lIns="73152" tIns="18288" rIns="73152" bIns="18288" rtlCol="0" anchor="ctr"/>
          <a:lstStyle/>
          <a:p>
            <a:pPr algn="ctr">
              <a:lnSpc>
                <a:spcPct val="124000"/>
              </a:lnSpc>
            </a:pPr>
            <a:r>
              <a:rPr sz="1000" b="1">
                <a:solidFill>
                  <a:srgbClr val="101A3C"/>
                </a:solidFill>
                <a:latin typeface="Segoe UI"/>
                <a:cs typeface="Segoe UI"/>
              </a:rPr>
              <a:t>Run history</a:t>
            </a:r>
          </a:p>
          <a:p>
            <a:pPr algn="ctr">
              <a:lnSpc>
                <a:spcPct val="124000"/>
              </a:lnSpc>
            </a:pPr>
            <a:r>
              <a:rPr sz="750" b="0">
                <a:solidFill>
                  <a:srgbClr val="44495B"/>
                </a:solidFill>
                <a:latin typeface="Segoe UI"/>
                <a:cs typeface="Segoe UI"/>
              </a:rPr>
              <a:t>input · output · status · trace</a:t>
            </a:r>
          </a:p>
        </p:txBody>
      </p:sp>
      <p:sp>
        <p:nvSpPr>
          <p:cNvPr id="66" name="Rectangle 65"/>
          <p:cNvSpPr/>
          <p:nvPr/>
        </p:nvSpPr>
        <p:spPr>
          <a:xfrm>
            <a:off x="548640" y="3529584"/>
            <a:ext cx="7479792" cy="566928"/>
          </a:xfrm>
          <a:prstGeom prst="rect">
            <a:avLst/>
          </a:prstGeom>
          <a:solidFill>
            <a:srgbClr val="EBEFF7"/>
          </a:solidFill>
          <a:ln>
            <a:noFill/>
          </a:ln>
          <a:effectLst/>
        </p:spPr>
        <p:txBody>
          <a:bodyPr wrap="square" rtlCol="0" anchor="ctr"/>
          <a:lstStyle/>
          <a:p>
            <a:pPr algn="ctr"/>
            <a:endParaRPr/>
          </a:p>
        </p:txBody>
      </p:sp>
      <p:sp>
        <p:nvSpPr>
          <p:cNvPr id="67" name="Rectangle 66"/>
          <p:cNvSpPr/>
          <p:nvPr/>
        </p:nvSpPr>
        <p:spPr>
          <a:xfrm>
            <a:off x="548640" y="3529584"/>
            <a:ext cx="41148" cy="566928"/>
          </a:xfrm>
          <a:prstGeom prst="rect">
            <a:avLst/>
          </a:prstGeom>
          <a:solidFill>
            <a:srgbClr val="00B39F"/>
          </a:solidFill>
          <a:ln>
            <a:noFill/>
          </a:ln>
          <a:effectLst/>
        </p:spPr>
        <p:txBody>
          <a:bodyPr wrap="square" rtlCol="0" anchor="ctr"/>
          <a:lstStyle/>
          <a:p>
            <a:pPr algn="ctr"/>
            <a:endParaRPr/>
          </a:p>
        </p:txBody>
      </p:sp>
      <p:sp>
        <p:nvSpPr>
          <p:cNvPr id="68" name="TextBox 67"/>
          <p:cNvSpPr txBox="1"/>
          <p:nvPr/>
        </p:nvSpPr>
        <p:spPr>
          <a:xfrm>
            <a:off x="786384" y="3639312"/>
            <a:ext cx="7040880" cy="402336"/>
          </a:xfrm>
          <a:prstGeom prst="rect">
            <a:avLst/>
          </a:prstGeom>
          <a:noFill/>
        </p:spPr>
        <p:txBody>
          <a:bodyPr wrap="square" lIns="0" tIns="0" rIns="0" bIns="0" anchor="t">
            <a:spAutoFit/>
          </a:bodyPr>
          <a:lstStyle/>
          <a:p>
            <a:pPr algn="l">
              <a:lnSpc>
                <a:spcPct val="120000"/>
              </a:lnSpc>
            </a:pPr>
            <a:r>
              <a:rPr sz="850" b="0" i="0">
                <a:solidFill>
                  <a:srgbClr val="101A3C"/>
                </a:solidFill>
                <a:latin typeface="Segoe UI"/>
                <a:cs typeface="Segoe UI"/>
              </a:rPr>
              <a:t>Routines reuse the agent’s existing invocation path, so they inherit the project’s network configuration and the same tools, model and tracing the agent already uses.</a:t>
            </a:r>
          </a:p>
        </p:txBody>
      </p:sp>
      <p:sp>
        <p:nvSpPr>
          <p:cNvPr id="69" name="TextBox 68"/>
          <p:cNvSpPr txBox="1"/>
          <p:nvPr/>
        </p:nvSpPr>
        <p:spPr>
          <a:xfrm>
            <a:off x="457200" y="4261104"/>
            <a:ext cx="5943600" cy="219456"/>
          </a:xfrm>
          <a:prstGeom prst="rect">
            <a:avLst/>
          </a:prstGeom>
          <a:noFill/>
        </p:spPr>
        <p:txBody>
          <a:bodyPr wrap="square" lIns="0" tIns="0" rIns="0" bIns="0" anchor="t">
            <a:spAutoFit/>
          </a:bodyPr>
          <a:lstStyle/>
          <a:p>
            <a:pPr algn="l">
              <a:lnSpc>
                <a:spcPct val="112000"/>
              </a:lnSpc>
            </a:pPr>
            <a:r>
              <a:rPr sz="800" b="1" i="0">
                <a:solidFill>
                  <a:srgbClr val="008577"/>
                </a:solidFill>
                <a:latin typeface="Segoe UI"/>
                <a:cs typeface="Segoe UI"/>
              </a:rPr>
              <a:t>I D E N T I T Y   A N D   L I M I T S</a:t>
            </a:r>
          </a:p>
        </p:txBody>
      </p:sp>
      <p:sp>
        <p:nvSpPr>
          <p:cNvPr id="70" name="Rectangle 69"/>
          <p:cNvSpPr/>
          <p:nvPr/>
        </p:nvSpPr>
        <p:spPr>
          <a:xfrm>
            <a:off x="548640" y="4517136"/>
            <a:ext cx="7479792" cy="347472"/>
          </a:xfrm>
          <a:prstGeom prst="rect">
            <a:avLst/>
          </a:prstGeom>
          <a:solidFill>
            <a:srgbClr val="F6F8FD"/>
          </a:solidFill>
          <a:ln w="9525">
            <a:solidFill>
              <a:srgbClr val="E1E7F4"/>
            </a:solidFill>
          </a:ln>
          <a:effectLst/>
        </p:spPr>
        <p:txBody>
          <a:bodyPr wrap="square" rtlCol="0" anchor="ctr"/>
          <a:lstStyle/>
          <a:p>
            <a:pPr algn="ctr"/>
            <a:endParaRPr/>
          </a:p>
        </p:txBody>
      </p:sp>
      <p:sp>
        <p:nvSpPr>
          <p:cNvPr id="71" name="TextBox 70"/>
          <p:cNvSpPr txBox="1"/>
          <p:nvPr/>
        </p:nvSpPr>
        <p:spPr>
          <a:xfrm>
            <a:off x="713232" y="4544568"/>
            <a:ext cx="1572768" cy="292608"/>
          </a:xfrm>
          <a:prstGeom prst="rect">
            <a:avLst/>
          </a:prstGeom>
          <a:noFill/>
        </p:spPr>
        <p:txBody>
          <a:bodyPr wrap="square" lIns="0" tIns="0" rIns="0" bIns="0" anchor="ctr">
            <a:spAutoFit/>
          </a:bodyPr>
          <a:lstStyle/>
          <a:p>
            <a:pPr algn="l">
              <a:lnSpc>
                <a:spcPct val="106000"/>
              </a:lnSpc>
            </a:pPr>
            <a:r>
              <a:rPr sz="850" b="1" i="0">
                <a:solidFill>
                  <a:srgbClr val="101A3C"/>
                </a:solidFill>
                <a:latin typeface="Segoe UI"/>
                <a:cs typeface="Segoe UI"/>
              </a:rPr>
              <a:t>Dispatch identity</a:t>
            </a:r>
          </a:p>
        </p:txBody>
      </p:sp>
      <p:sp>
        <p:nvSpPr>
          <p:cNvPr id="72" name="TextBox 71"/>
          <p:cNvSpPr txBox="1"/>
          <p:nvPr/>
        </p:nvSpPr>
        <p:spPr>
          <a:xfrm>
            <a:off x="2395728" y="4544568"/>
            <a:ext cx="5486400" cy="292608"/>
          </a:xfrm>
          <a:prstGeom prst="rect">
            <a:avLst/>
          </a:prstGeom>
          <a:noFill/>
        </p:spPr>
        <p:txBody>
          <a:bodyPr wrap="square" lIns="0" tIns="0" rIns="0" bIns="0" anchor="ctr">
            <a:spAutoFit/>
          </a:bodyPr>
          <a:lstStyle/>
          <a:p>
            <a:pPr algn="l">
              <a:lnSpc>
                <a:spcPct val="112000"/>
              </a:lnSpc>
            </a:pPr>
            <a:r>
              <a:rPr sz="750" b="0" i="0">
                <a:solidFill>
                  <a:srgbClr val="44495B"/>
                </a:solidFill>
                <a:latin typeface="Segoe UI"/>
                <a:cs typeface="Segoe UI"/>
              </a:rPr>
              <a:t>Agent identity by default. Creator identity is a create-time opt-in and is fixed — delete and recreate to change it.</a:t>
            </a:r>
          </a:p>
        </p:txBody>
      </p:sp>
      <p:sp>
        <p:nvSpPr>
          <p:cNvPr id="73" name="Rectangle 72"/>
          <p:cNvSpPr/>
          <p:nvPr/>
        </p:nvSpPr>
        <p:spPr>
          <a:xfrm>
            <a:off x="548640" y="4901184"/>
            <a:ext cx="7479792" cy="347472"/>
          </a:xfrm>
          <a:prstGeom prst="rect">
            <a:avLst/>
          </a:prstGeom>
          <a:solidFill>
            <a:srgbClr val="FFFFFF"/>
          </a:solidFill>
          <a:ln w="9525">
            <a:solidFill>
              <a:srgbClr val="E1E7F4"/>
            </a:solidFill>
          </a:ln>
          <a:effectLst/>
        </p:spPr>
        <p:txBody>
          <a:bodyPr wrap="square" rtlCol="0" anchor="ctr"/>
          <a:lstStyle/>
          <a:p>
            <a:pPr algn="ctr"/>
            <a:endParaRPr/>
          </a:p>
        </p:txBody>
      </p:sp>
      <p:sp>
        <p:nvSpPr>
          <p:cNvPr id="74" name="TextBox 73"/>
          <p:cNvSpPr txBox="1"/>
          <p:nvPr/>
        </p:nvSpPr>
        <p:spPr>
          <a:xfrm>
            <a:off x="713232" y="4928616"/>
            <a:ext cx="1572768" cy="292608"/>
          </a:xfrm>
          <a:prstGeom prst="rect">
            <a:avLst/>
          </a:prstGeom>
          <a:noFill/>
        </p:spPr>
        <p:txBody>
          <a:bodyPr wrap="square" lIns="0" tIns="0" rIns="0" bIns="0" anchor="ctr">
            <a:spAutoFit/>
          </a:bodyPr>
          <a:lstStyle/>
          <a:p>
            <a:pPr algn="l">
              <a:lnSpc>
                <a:spcPct val="106000"/>
              </a:lnSpc>
            </a:pPr>
            <a:r>
              <a:rPr sz="850" b="1" i="0">
                <a:solidFill>
                  <a:srgbClr val="101A3C"/>
                </a:solidFill>
                <a:latin typeface="Segoe UI"/>
                <a:cs typeface="Segoe UI"/>
              </a:rPr>
              <a:t>Not supported</a:t>
            </a:r>
          </a:p>
        </p:txBody>
      </p:sp>
      <p:sp>
        <p:nvSpPr>
          <p:cNvPr id="75" name="TextBox 74"/>
          <p:cNvSpPr txBox="1"/>
          <p:nvPr/>
        </p:nvSpPr>
        <p:spPr>
          <a:xfrm>
            <a:off x="2395728" y="4928616"/>
            <a:ext cx="5486400" cy="292608"/>
          </a:xfrm>
          <a:prstGeom prst="rect">
            <a:avLst/>
          </a:prstGeom>
          <a:noFill/>
        </p:spPr>
        <p:txBody>
          <a:bodyPr wrap="square" lIns="0" tIns="0" rIns="0" bIns="0" anchor="ctr">
            <a:spAutoFit/>
          </a:bodyPr>
          <a:lstStyle/>
          <a:p>
            <a:pPr algn="l">
              <a:lnSpc>
                <a:spcPct val="112000"/>
              </a:lnSpc>
            </a:pPr>
            <a:r>
              <a:rPr sz="750" b="0" i="0">
                <a:solidFill>
                  <a:srgbClr val="44495B"/>
                </a:solidFill>
                <a:latin typeface="Segoe UI"/>
                <a:cs typeface="Segoe UI"/>
              </a:rPr>
              <a:t>Workflow agents · customer-managed keys · UK West, Switzerland West, Japan West, UAE North, Norway East.</a:t>
            </a:r>
          </a:p>
        </p:txBody>
      </p:sp>
      <p:sp>
        <p:nvSpPr>
          <p:cNvPr id="76" name="Rectangle 75"/>
          <p:cNvSpPr/>
          <p:nvPr/>
        </p:nvSpPr>
        <p:spPr>
          <a:xfrm>
            <a:off x="548640" y="5285232"/>
            <a:ext cx="7479792" cy="347472"/>
          </a:xfrm>
          <a:prstGeom prst="rect">
            <a:avLst/>
          </a:prstGeom>
          <a:solidFill>
            <a:srgbClr val="F6F8FD"/>
          </a:solidFill>
          <a:ln w="9525">
            <a:solidFill>
              <a:srgbClr val="E1E7F4"/>
            </a:solidFill>
          </a:ln>
          <a:effectLst/>
        </p:spPr>
        <p:txBody>
          <a:bodyPr wrap="square" rtlCol="0" anchor="ctr"/>
          <a:lstStyle/>
          <a:p>
            <a:pPr algn="ctr"/>
            <a:endParaRPr/>
          </a:p>
        </p:txBody>
      </p:sp>
      <p:sp>
        <p:nvSpPr>
          <p:cNvPr id="77" name="TextBox 76"/>
          <p:cNvSpPr txBox="1"/>
          <p:nvPr/>
        </p:nvSpPr>
        <p:spPr>
          <a:xfrm>
            <a:off x="713232" y="5312664"/>
            <a:ext cx="1572768" cy="292608"/>
          </a:xfrm>
          <a:prstGeom prst="rect">
            <a:avLst/>
          </a:prstGeom>
          <a:noFill/>
        </p:spPr>
        <p:txBody>
          <a:bodyPr wrap="square" lIns="0" tIns="0" rIns="0" bIns="0" anchor="ctr">
            <a:spAutoFit/>
          </a:bodyPr>
          <a:lstStyle/>
          <a:p>
            <a:pPr algn="l">
              <a:lnSpc>
                <a:spcPct val="106000"/>
              </a:lnSpc>
            </a:pPr>
            <a:r>
              <a:rPr sz="850" b="1" i="0">
                <a:solidFill>
                  <a:srgbClr val="101A3C"/>
                </a:solidFill>
                <a:latin typeface="Segoe UI"/>
                <a:cs typeface="Segoe UI"/>
              </a:rPr>
              <a:t>Delivery</a:t>
            </a:r>
          </a:p>
        </p:txBody>
      </p:sp>
      <p:sp>
        <p:nvSpPr>
          <p:cNvPr id="78" name="TextBox 77"/>
          <p:cNvSpPr txBox="1"/>
          <p:nvPr/>
        </p:nvSpPr>
        <p:spPr>
          <a:xfrm>
            <a:off x="2395728" y="5312664"/>
            <a:ext cx="5486400" cy="292608"/>
          </a:xfrm>
          <a:prstGeom prst="rect">
            <a:avLst/>
          </a:prstGeom>
          <a:noFill/>
        </p:spPr>
        <p:txBody>
          <a:bodyPr wrap="square" lIns="0" tIns="0" rIns="0" bIns="0" anchor="ctr">
            <a:spAutoFit/>
          </a:bodyPr>
          <a:lstStyle/>
          <a:p>
            <a:pPr algn="l">
              <a:lnSpc>
                <a:spcPct val="112000"/>
              </a:lnSpc>
            </a:pPr>
            <a:r>
              <a:rPr sz="750" b="0" i="0">
                <a:solidFill>
                  <a:srgbClr val="44495B"/>
                </a:solidFill>
                <a:latin typeface="Segoe UI"/>
                <a:cs typeface="Segoe UI"/>
              </a:rPr>
              <a:t>Five-minute minimum schedule interval; 30-second timeout per attempt and three delivery attempts.</a:t>
            </a:r>
          </a:p>
        </p:txBody>
      </p:sp>
      <p:sp>
        <p:nvSpPr>
          <p:cNvPr id="79" name="TextBox 78"/>
          <p:cNvSpPr txBox="1"/>
          <p:nvPr/>
        </p:nvSpPr>
        <p:spPr>
          <a:xfrm>
            <a:off x="8156448" y="1243584"/>
            <a:ext cx="3657600" cy="219456"/>
          </a:xfrm>
          <a:prstGeom prst="rect">
            <a:avLst/>
          </a:prstGeom>
          <a:noFill/>
        </p:spPr>
        <p:txBody>
          <a:bodyPr wrap="square" lIns="0" tIns="0" rIns="0" bIns="0" anchor="t">
            <a:spAutoFit/>
          </a:bodyPr>
          <a:lstStyle/>
          <a:p>
            <a:pPr algn="l">
              <a:lnSpc>
                <a:spcPct val="112000"/>
              </a:lnSpc>
            </a:pPr>
            <a:r>
              <a:rPr sz="800" b="1" i="0">
                <a:solidFill>
                  <a:srgbClr val="008577"/>
                </a:solidFill>
                <a:latin typeface="Segoe UI"/>
                <a:cs typeface="Segoe UI"/>
              </a:rPr>
              <a:t>R O U T I N E S   O R   A   W O R K F L O W ?</a:t>
            </a:r>
          </a:p>
        </p:txBody>
      </p:sp>
      <p:sp>
        <p:nvSpPr>
          <p:cNvPr id="80" name="Rectangle 79"/>
          <p:cNvSpPr/>
          <p:nvPr/>
        </p:nvSpPr>
        <p:spPr>
          <a:xfrm>
            <a:off x="8247888" y="1517904"/>
            <a:ext cx="3392424" cy="310896"/>
          </a:xfrm>
          <a:prstGeom prst="rect">
            <a:avLst/>
          </a:prstGeom>
          <a:solidFill>
            <a:srgbClr val="101A3C"/>
          </a:solidFill>
          <a:ln>
            <a:noFill/>
          </a:ln>
          <a:effectLst/>
        </p:spPr>
        <p:txBody>
          <a:bodyPr wrap="square" rtlCol="0" anchor="ctr"/>
          <a:lstStyle/>
          <a:p>
            <a:pPr algn="ctr"/>
            <a:endParaRPr/>
          </a:p>
        </p:txBody>
      </p:sp>
      <p:sp>
        <p:nvSpPr>
          <p:cNvPr id="81" name="TextBox 80"/>
          <p:cNvSpPr txBox="1"/>
          <p:nvPr/>
        </p:nvSpPr>
        <p:spPr>
          <a:xfrm>
            <a:off x="9116567" y="1591056"/>
            <a:ext cx="1207008" cy="182880"/>
          </a:xfrm>
          <a:prstGeom prst="rect">
            <a:avLst/>
          </a:prstGeom>
          <a:noFill/>
        </p:spPr>
        <p:txBody>
          <a:bodyPr wrap="none" lIns="0" tIns="0" rIns="0" bIns="0" anchor="t">
            <a:spAutoFit/>
          </a:bodyPr>
          <a:lstStyle/>
          <a:p>
            <a:pPr algn="l">
              <a:lnSpc>
                <a:spcPct val="112000"/>
              </a:lnSpc>
            </a:pPr>
            <a:r>
              <a:rPr sz="850" b="1" i="0">
                <a:solidFill>
                  <a:srgbClr val="FFFFFF"/>
                </a:solidFill>
                <a:latin typeface="Segoe UI"/>
                <a:cs typeface="Segoe UI"/>
              </a:rPr>
              <a:t>Routine</a:t>
            </a:r>
          </a:p>
        </p:txBody>
      </p:sp>
      <p:sp>
        <p:nvSpPr>
          <p:cNvPr id="82" name="TextBox 81"/>
          <p:cNvSpPr txBox="1"/>
          <p:nvPr/>
        </p:nvSpPr>
        <p:spPr>
          <a:xfrm>
            <a:off x="10396728" y="1591056"/>
            <a:ext cx="1152144" cy="182880"/>
          </a:xfrm>
          <a:prstGeom prst="rect">
            <a:avLst/>
          </a:prstGeom>
          <a:noFill/>
        </p:spPr>
        <p:txBody>
          <a:bodyPr wrap="none" lIns="0" tIns="0" rIns="0" bIns="0" anchor="t">
            <a:spAutoFit/>
          </a:bodyPr>
          <a:lstStyle/>
          <a:p>
            <a:pPr algn="l">
              <a:lnSpc>
                <a:spcPct val="112000"/>
              </a:lnSpc>
            </a:pPr>
            <a:r>
              <a:rPr sz="850" b="1" i="0">
                <a:solidFill>
                  <a:srgbClr val="FFFFFF"/>
                </a:solidFill>
                <a:latin typeface="Segoe UI"/>
                <a:cs typeface="Segoe UI"/>
              </a:rPr>
              <a:t>Workflow</a:t>
            </a:r>
          </a:p>
        </p:txBody>
      </p:sp>
      <p:sp>
        <p:nvSpPr>
          <p:cNvPr id="83" name="Rectangle 82"/>
          <p:cNvSpPr/>
          <p:nvPr/>
        </p:nvSpPr>
        <p:spPr>
          <a:xfrm>
            <a:off x="8247888" y="1828800"/>
            <a:ext cx="3392424" cy="457200"/>
          </a:xfrm>
          <a:prstGeom prst="rect">
            <a:avLst/>
          </a:prstGeom>
          <a:solidFill>
            <a:srgbClr val="F6F8FD"/>
          </a:solidFill>
          <a:ln>
            <a:noFill/>
          </a:ln>
          <a:effectLst/>
        </p:spPr>
        <p:txBody>
          <a:bodyPr wrap="square" rtlCol="0" anchor="ctr"/>
          <a:lstStyle/>
          <a:p>
            <a:pPr algn="ctr"/>
            <a:endParaRPr/>
          </a:p>
        </p:txBody>
      </p:sp>
      <p:sp>
        <p:nvSpPr>
          <p:cNvPr id="84" name="TextBox 83"/>
          <p:cNvSpPr txBox="1"/>
          <p:nvPr/>
        </p:nvSpPr>
        <p:spPr>
          <a:xfrm>
            <a:off x="8357615" y="1856231"/>
            <a:ext cx="685800" cy="402336"/>
          </a:xfrm>
          <a:prstGeom prst="rect">
            <a:avLst/>
          </a:prstGeom>
          <a:noFill/>
        </p:spPr>
        <p:txBody>
          <a:bodyPr wrap="square" lIns="0" tIns="0" rIns="0" bIns="0" anchor="ctr">
            <a:spAutoFit/>
          </a:bodyPr>
          <a:lstStyle/>
          <a:p>
            <a:pPr algn="l">
              <a:lnSpc>
                <a:spcPct val="110000"/>
              </a:lnSpc>
            </a:pPr>
            <a:r>
              <a:rPr sz="750" b="1" i="0">
                <a:solidFill>
                  <a:srgbClr val="008577"/>
                </a:solidFill>
                <a:latin typeface="Segoe UI"/>
                <a:cs typeface="Segoe UI"/>
              </a:rPr>
              <a:t>Question</a:t>
            </a:r>
          </a:p>
        </p:txBody>
      </p:sp>
      <p:sp>
        <p:nvSpPr>
          <p:cNvPr id="85" name="TextBox 84"/>
          <p:cNvSpPr txBox="1"/>
          <p:nvPr/>
        </p:nvSpPr>
        <p:spPr>
          <a:xfrm>
            <a:off x="9116567" y="1856231"/>
            <a:ext cx="1207008" cy="402336"/>
          </a:xfrm>
          <a:prstGeom prst="rect">
            <a:avLst/>
          </a:prstGeom>
          <a:noFill/>
        </p:spPr>
        <p:txBody>
          <a:bodyPr wrap="square" lIns="0" tIns="0" rIns="0" bIns="0" anchor="ctr">
            <a:spAutoFit/>
          </a:bodyPr>
          <a:lstStyle/>
          <a:p>
            <a:pPr algn="l">
              <a:lnSpc>
                <a:spcPct val="114000"/>
              </a:lnSpc>
            </a:pPr>
            <a:r>
              <a:rPr sz="750" b="0" i="0">
                <a:solidFill>
                  <a:srgbClr val="101A3C"/>
                </a:solidFill>
                <a:latin typeface="Segoe UI"/>
                <a:cs typeface="Segoe UI"/>
              </a:rPr>
              <a:t>When should</a:t>
            </a:r>
          </a:p>
          <a:p>
            <a:pPr algn="l">
              <a:lnSpc>
                <a:spcPct val="114000"/>
              </a:lnSpc>
            </a:pPr>
            <a:r>
              <a:rPr sz="750" b="0" i="0">
                <a:solidFill>
                  <a:srgbClr val="101A3C"/>
                </a:solidFill>
                <a:latin typeface="Segoe UI"/>
                <a:cs typeface="Segoe UI"/>
              </a:rPr>
              <a:t>my agent run?</a:t>
            </a:r>
          </a:p>
        </p:txBody>
      </p:sp>
      <p:sp>
        <p:nvSpPr>
          <p:cNvPr id="86" name="TextBox 85"/>
          <p:cNvSpPr txBox="1"/>
          <p:nvPr/>
        </p:nvSpPr>
        <p:spPr>
          <a:xfrm>
            <a:off x="10396728" y="1856231"/>
            <a:ext cx="1152144" cy="402336"/>
          </a:xfrm>
          <a:prstGeom prst="rect">
            <a:avLst/>
          </a:prstGeom>
          <a:noFill/>
        </p:spPr>
        <p:txBody>
          <a:bodyPr wrap="square" lIns="0" tIns="0" rIns="0" bIns="0" anchor="ctr">
            <a:spAutoFit/>
          </a:bodyPr>
          <a:lstStyle/>
          <a:p>
            <a:pPr algn="l">
              <a:lnSpc>
                <a:spcPct val="114000"/>
              </a:lnSpc>
            </a:pPr>
            <a:r>
              <a:rPr sz="750" b="0" i="0">
                <a:solidFill>
                  <a:srgbClr val="44495B"/>
                </a:solidFill>
                <a:latin typeface="Segoe UI"/>
                <a:cs typeface="Segoe UI"/>
              </a:rPr>
              <a:t>How do steps and</a:t>
            </a:r>
          </a:p>
          <a:p>
            <a:pPr algn="l">
              <a:lnSpc>
                <a:spcPct val="114000"/>
              </a:lnSpc>
            </a:pPr>
            <a:r>
              <a:rPr sz="750" b="0" i="0">
                <a:solidFill>
                  <a:srgbClr val="44495B"/>
                </a:solidFill>
                <a:latin typeface="Segoe UI"/>
                <a:cs typeface="Segoe UI"/>
              </a:rPr>
              <a:t>agents connect?</a:t>
            </a:r>
          </a:p>
        </p:txBody>
      </p:sp>
      <p:cxnSp>
        <p:nvCxnSpPr>
          <p:cNvPr id="87" name="Connector 86"/>
          <p:cNvCxnSpPr/>
          <p:nvPr/>
        </p:nvCxnSpPr>
        <p:spPr>
          <a:xfrm>
            <a:off x="8247888" y="2286000"/>
            <a:ext cx="33924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8357615" y="2313432"/>
            <a:ext cx="685800" cy="402336"/>
          </a:xfrm>
          <a:prstGeom prst="rect">
            <a:avLst/>
          </a:prstGeom>
          <a:noFill/>
        </p:spPr>
        <p:txBody>
          <a:bodyPr wrap="square" lIns="0" tIns="0" rIns="0" bIns="0" anchor="ctr">
            <a:spAutoFit/>
          </a:bodyPr>
          <a:lstStyle/>
          <a:p>
            <a:pPr algn="l">
              <a:lnSpc>
                <a:spcPct val="110000"/>
              </a:lnSpc>
            </a:pPr>
            <a:r>
              <a:rPr sz="750" b="1" i="0">
                <a:solidFill>
                  <a:srgbClr val="008577"/>
                </a:solidFill>
                <a:latin typeface="Segoe UI"/>
                <a:cs typeface="Segoe UI"/>
              </a:rPr>
              <a:t>Model</a:t>
            </a:r>
          </a:p>
        </p:txBody>
      </p:sp>
      <p:sp>
        <p:nvSpPr>
          <p:cNvPr id="89" name="TextBox 88"/>
          <p:cNvSpPr txBox="1"/>
          <p:nvPr/>
        </p:nvSpPr>
        <p:spPr>
          <a:xfrm>
            <a:off x="9116567" y="2313432"/>
            <a:ext cx="1207008" cy="402336"/>
          </a:xfrm>
          <a:prstGeom prst="rect">
            <a:avLst/>
          </a:prstGeom>
          <a:noFill/>
        </p:spPr>
        <p:txBody>
          <a:bodyPr wrap="square" lIns="0" tIns="0" rIns="0" bIns="0" anchor="ctr">
            <a:spAutoFit/>
          </a:bodyPr>
          <a:lstStyle/>
          <a:p>
            <a:pPr algn="l">
              <a:lnSpc>
                <a:spcPct val="114000"/>
              </a:lnSpc>
            </a:pPr>
            <a:r>
              <a:rPr sz="750" b="0" i="0">
                <a:solidFill>
                  <a:srgbClr val="101A3C"/>
                </a:solidFill>
                <a:latin typeface="Segoe UI"/>
                <a:cs typeface="Segoe UI"/>
              </a:rPr>
              <a:t>Trigger to agent</a:t>
            </a:r>
          </a:p>
        </p:txBody>
      </p:sp>
      <p:sp>
        <p:nvSpPr>
          <p:cNvPr id="90" name="TextBox 89"/>
          <p:cNvSpPr txBox="1"/>
          <p:nvPr/>
        </p:nvSpPr>
        <p:spPr>
          <a:xfrm>
            <a:off x="10396728" y="2313432"/>
            <a:ext cx="1152144" cy="402336"/>
          </a:xfrm>
          <a:prstGeom prst="rect">
            <a:avLst/>
          </a:prstGeom>
          <a:noFill/>
        </p:spPr>
        <p:txBody>
          <a:bodyPr wrap="square" lIns="0" tIns="0" rIns="0" bIns="0" anchor="ctr">
            <a:spAutoFit/>
          </a:bodyPr>
          <a:lstStyle/>
          <a:p>
            <a:pPr algn="l">
              <a:lnSpc>
                <a:spcPct val="114000"/>
              </a:lnSpc>
            </a:pPr>
            <a:r>
              <a:rPr sz="750" b="0" i="0">
                <a:solidFill>
                  <a:srgbClr val="44495B"/>
                </a:solidFill>
                <a:latin typeface="Segoe UI"/>
                <a:cs typeface="Segoe UI"/>
              </a:rPr>
              <a:t>Graph of nodes,</a:t>
            </a:r>
          </a:p>
          <a:p>
            <a:pPr algn="l">
              <a:lnSpc>
                <a:spcPct val="114000"/>
              </a:lnSpc>
            </a:pPr>
            <a:r>
              <a:rPr sz="750" b="0" i="0">
                <a:solidFill>
                  <a:srgbClr val="44495B"/>
                </a:solidFill>
                <a:latin typeface="Segoe UI"/>
                <a:cs typeface="Segoe UI"/>
              </a:rPr>
              <a:t>edges and state</a:t>
            </a:r>
          </a:p>
        </p:txBody>
      </p:sp>
      <p:cxnSp>
        <p:nvCxnSpPr>
          <p:cNvPr id="91" name="Connector 90"/>
          <p:cNvCxnSpPr/>
          <p:nvPr/>
        </p:nvCxnSpPr>
        <p:spPr>
          <a:xfrm>
            <a:off x="8247888" y="2743200"/>
            <a:ext cx="33924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8247888" y="2743200"/>
            <a:ext cx="3392424" cy="310896"/>
          </a:xfrm>
          <a:prstGeom prst="rect">
            <a:avLst/>
          </a:prstGeom>
          <a:solidFill>
            <a:srgbClr val="F6F8FD"/>
          </a:solidFill>
          <a:ln>
            <a:noFill/>
          </a:ln>
          <a:effectLst/>
        </p:spPr>
        <p:txBody>
          <a:bodyPr wrap="square" rtlCol="0" anchor="ctr"/>
          <a:lstStyle/>
          <a:p>
            <a:pPr algn="ctr"/>
            <a:endParaRPr/>
          </a:p>
        </p:txBody>
      </p:sp>
      <p:sp>
        <p:nvSpPr>
          <p:cNvPr id="93" name="TextBox 92"/>
          <p:cNvSpPr txBox="1"/>
          <p:nvPr/>
        </p:nvSpPr>
        <p:spPr>
          <a:xfrm>
            <a:off x="8357615" y="2770632"/>
            <a:ext cx="685800" cy="256032"/>
          </a:xfrm>
          <a:prstGeom prst="rect">
            <a:avLst/>
          </a:prstGeom>
          <a:noFill/>
        </p:spPr>
        <p:txBody>
          <a:bodyPr wrap="square" lIns="0" tIns="0" rIns="0" bIns="0" anchor="ctr">
            <a:spAutoFit/>
          </a:bodyPr>
          <a:lstStyle/>
          <a:p>
            <a:pPr algn="l">
              <a:lnSpc>
                <a:spcPct val="110000"/>
              </a:lnSpc>
            </a:pPr>
            <a:r>
              <a:rPr sz="750" b="1" i="0">
                <a:solidFill>
                  <a:srgbClr val="008577"/>
                </a:solidFill>
                <a:latin typeface="Segoe UI"/>
                <a:cs typeface="Segoe UI"/>
              </a:rPr>
              <a:t>Agents</a:t>
            </a:r>
          </a:p>
        </p:txBody>
      </p:sp>
      <p:sp>
        <p:nvSpPr>
          <p:cNvPr id="94" name="TextBox 93"/>
          <p:cNvSpPr txBox="1"/>
          <p:nvPr/>
        </p:nvSpPr>
        <p:spPr>
          <a:xfrm>
            <a:off x="9116567" y="2770632"/>
            <a:ext cx="1207008" cy="256032"/>
          </a:xfrm>
          <a:prstGeom prst="rect">
            <a:avLst/>
          </a:prstGeom>
          <a:noFill/>
        </p:spPr>
        <p:txBody>
          <a:bodyPr wrap="square" lIns="0" tIns="0" rIns="0" bIns="0" anchor="ctr">
            <a:spAutoFit/>
          </a:bodyPr>
          <a:lstStyle/>
          <a:p>
            <a:pPr algn="l">
              <a:lnSpc>
                <a:spcPct val="114000"/>
              </a:lnSpc>
            </a:pPr>
            <a:r>
              <a:rPr sz="750" b="0" i="0">
                <a:solidFill>
                  <a:srgbClr val="101A3C"/>
                </a:solidFill>
                <a:latin typeface="Segoe UI"/>
                <a:cs typeface="Segoe UI"/>
              </a:rPr>
              <a:t>One</a:t>
            </a:r>
          </a:p>
        </p:txBody>
      </p:sp>
      <p:sp>
        <p:nvSpPr>
          <p:cNvPr id="95" name="TextBox 94"/>
          <p:cNvSpPr txBox="1"/>
          <p:nvPr/>
        </p:nvSpPr>
        <p:spPr>
          <a:xfrm>
            <a:off x="10396728" y="2770632"/>
            <a:ext cx="1152144" cy="256032"/>
          </a:xfrm>
          <a:prstGeom prst="rect">
            <a:avLst/>
          </a:prstGeom>
          <a:noFill/>
        </p:spPr>
        <p:txBody>
          <a:bodyPr wrap="square" lIns="0" tIns="0" rIns="0" bIns="0" anchor="ctr">
            <a:spAutoFit/>
          </a:bodyPr>
          <a:lstStyle/>
          <a:p>
            <a:pPr algn="l">
              <a:lnSpc>
                <a:spcPct val="114000"/>
              </a:lnSpc>
            </a:pPr>
            <a:r>
              <a:rPr sz="750" b="0" i="0">
                <a:solidFill>
                  <a:srgbClr val="44495B"/>
                </a:solidFill>
                <a:latin typeface="Segoe UI"/>
                <a:cs typeface="Segoe UI"/>
              </a:rPr>
              <a:t>Many</a:t>
            </a:r>
          </a:p>
        </p:txBody>
      </p:sp>
      <p:cxnSp>
        <p:nvCxnSpPr>
          <p:cNvPr id="96" name="Connector 95"/>
          <p:cNvCxnSpPr/>
          <p:nvPr/>
        </p:nvCxnSpPr>
        <p:spPr>
          <a:xfrm>
            <a:off x="8247888" y="3054096"/>
            <a:ext cx="33924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8357615" y="3081527"/>
            <a:ext cx="685800" cy="402336"/>
          </a:xfrm>
          <a:prstGeom prst="rect">
            <a:avLst/>
          </a:prstGeom>
          <a:noFill/>
        </p:spPr>
        <p:txBody>
          <a:bodyPr wrap="square" lIns="0" tIns="0" rIns="0" bIns="0" anchor="ctr">
            <a:spAutoFit/>
          </a:bodyPr>
          <a:lstStyle/>
          <a:p>
            <a:pPr algn="l">
              <a:lnSpc>
                <a:spcPct val="110000"/>
              </a:lnSpc>
            </a:pPr>
            <a:r>
              <a:rPr sz="750" b="1" i="0">
                <a:solidFill>
                  <a:srgbClr val="008577"/>
                </a:solidFill>
                <a:latin typeface="Segoe UI"/>
                <a:cs typeface="Segoe UI"/>
              </a:rPr>
              <a:t>Best for</a:t>
            </a:r>
          </a:p>
        </p:txBody>
      </p:sp>
      <p:sp>
        <p:nvSpPr>
          <p:cNvPr id="98" name="TextBox 97"/>
          <p:cNvSpPr txBox="1"/>
          <p:nvPr/>
        </p:nvSpPr>
        <p:spPr>
          <a:xfrm>
            <a:off x="9116567" y="3081527"/>
            <a:ext cx="1207008" cy="402336"/>
          </a:xfrm>
          <a:prstGeom prst="rect">
            <a:avLst/>
          </a:prstGeom>
          <a:noFill/>
        </p:spPr>
        <p:txBody>
          <a:bodyPr wrap="square" lIns="0" tIns="0" rIns="0" bIns="0" anchor="ctr">
            <a:spAutoFit/>
          </a:bodyPr>
          <a:lstStyle/>
          <a:p>
            <a:pPr algn="l">
              <a:lnSpc>
                <a:spcPct val="114000"/>
              </a:lnSpc>
            </a:pPr>
            <a:r>
              <a:rPr sz="750" b="0" i="0">
                <a:solidFill>
                  <a:srgbClr val="101A3C"/>
                </a:solidFill>
                <a:latin typeface="Segoe UI"/>
                <a:cs typeface="Segoe UI"/>
              </a:rPr>
              <a:t>Timers, schedules,</a:t>
            </a:r>
          </a:p>
          <a:p>
            <a:pPr algn="l">
              <a:lnSpc>
                <a:spcPct val="114000"/>
              </a:lnSpc>
            </a:pPr>
            <a:r>
              <a:rPr sz="750" b="0" i="0">
                <a:solidFill>
                  <a:srgbClr val="101A3C"/>
                </a:solidFill>
                <a:latin typeface="Segoe UI"/>
                <a:cs typeface="Segoe UI"/>
              </a:rPr>
              <a:t>lightweight automation</a:t>
            </a:r>
          </a:p>
        </p:txBody>
      </p:sp>
      <p:sp>
        <p:nvSpPr>
          <p:cNvPr id="99" name="TextBox 98"/>
          <p:cNvSpPr txBox="1"/>
          <p:nvPr/>
        </p:nvSpPr>
        <p:spPr>
          <a:xfrm>
            <a:off x="10396728" y="3081527"/>
            <a:ext cx="1152144" cy="402336"/>
          </a:xfrm>
          <a:prstGeom prst="rect">
            <a:avLst/>
          </a:prstGeom>
          <a:noFill/>
        </p:spPr>
        <p:txBody>
          <a:bodyPr wrap="square" lIns="0" tIns="0" rIns="0" bIns="0" anchor="ctr">
            <a:spAutoFit/>
          </a:bodyPr>
          <a:lstStyle/>
          <a:p>
            <a:pPr algn="l">
              <a:lnSpc>
                <a:spcPct val="114000"/>
              </a:lnSpc>
            </a:pPr>
            <a:r>
              <a:rPr sz="750" b="0" i="0">
                <a:solidFill>
                  <a:srgbClr val="44495B"/>
                </a:solidFill>
                <a:latin typeface="Segoe UI"/>
                <a:cs typeface="Segoe UI"/>
              </a:rPr>
              <a:t>Branching, approvals,</a:t>
            </a:r>
          </a:p>
          <a:p>
            <a:pPr algn="l">
              <a:lnSpc>
                <a:spcPct val="114000"/>
              </a:lnSpc>
            </a:pPr>
            <a:r>
              <a:rPr sz="750" b="0" i="0">
                <a:solidFill>
                  <a:srgbClr val="44495B"/>
                </a:solidFill>
                <a:latin typeface="Segoe UI"/>
                <a:cs typeface="Segoe UI"/>
              </a:rPr>
              <a:t>multi-step processes</a:t>
            </a:r>
          </a:p>
        </p:txBody>
      </p:sp>
      <p:cxnSp>
        <p:nvCxnSpPr>
          <p:cNvPr id="100" name="Connector 99"/>
          <p:cNvCxnSpPr/>
          <p:nvPr/>
        </p:nvCxnSpPr>
        <p:spPr>
          <a:xfrm>
            <a:off x="8247888" y="3511296"/>
            <a:ext cx="33924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01" name="Rectangle 100"/>
          <p:cNvSpPr/>
          <p:nvPr/>
        </p:nvSpPr>
        <p:spPr>
          <a:xfrm>
            <a:off x="8247888" y="3657600"/>
            <a:ext cx="3392424" cy="640080"/>
          </a:xfrm>
          <a:prstGeom prst="rect">
            <a:avLst/>
          </a:prstGeom>
          <a:solidFill>
            <a:srgbClr val="EBEFF7"/>
          </a:solidFill>
          <a:ln>
            <a:noFill/>
          </a:ln>
          <a:effectLst/>
        </p:spPr>
        <p:txBody>
          <a:bodyPr wrap="square" rtlCol="0" anchor="ctr"/>
          <a:lstStyle/>
          <a:p>
            <a:pPr algn="ctr"/>
            <a:endParaRPr/>
          </a:p>
        </p:txBody>
      </p:sp>
      <p:sp>
        <p:nvSpPr>
          <p:cNvPr id="102" name="Rectangle 101"/>
          <p:cNvSpPr/>
          <p:nvPr/>
        </p:nvSpPr>
        <p:spPr>
          <a:xfrm>
            <a:off x="8247888" y="3657600"/>
            <a:ext cx="41148" cy="640080"/>
          </a:xfrm>
          <a:prstGeom prst="rect">
            <a:avLst/>
          </a:prstGeom>
          <a:solidFill>
            <a:srgbClr val="00B39F"/>
          </a:solidFill>
          <a:ln>
            <a:noFill/>
          </a:ln>
          <a:effectLst/>
        </p:spPr>
        <p:txBody>
          <a:bodyPr wrap="square" rtlCol="0" anchor="ctr"/>
          <a:lstStyle/>
          <a:p>
            <a:pPr algn="ctr"/>
            <a:endParaRPr/>
          </a:p>
        </p:txBody>
      </p:sp>
      <p:sp>
        <p:nvSpPr>
          <p:cNvPr id="103" name="TextBox 102"/>
          <p:cNvSpPr txBox="1"/>
          <p:nvPr/>
        </p:nvSpPr>
        <p:spPr>
          <a:xfrm>
            <a:off x="8467344" y="3758183"/>
            <a:ext cx="3008376" cy="457200"/>
          </a:xfrm>
          <a:prstGeom prst="rect">
            <a:avLst/>
          </a:prstGeom>
          <a:noFill/>
        </p:spPr>
        <p:txBody>
          <a:bodyPr wrap="square" lIns="0" tIns="0" rIns="0" bIns="0" anchor="t">
            <a:spAutoFit/>
          </a:bodyPr>
          <a:lstStyle/>
          <a:p>
            <a:pPr algn="l">
              <a:lnSpc>
                <a:spcPct val="118000"/>
              </a:lnSpc>
            </a:pPr>
            <a:r>
              <a:rPr sz="800" b="0" i="0">
                <a:solidFill>
                  <a:srgbClr val="101A3C"/>
                </a:solidFill>
                <a:latin typeface="Segoe UI"/>
                <a:cs typeface="Segoe UI"/>
              </a:rPr>
              <a:t>Use a routine when the automation is simply “run this agent when something happens”. Move to a workflow when it needs coordination beyond one agent.</a:t>
            </a:r>
          </a:p>
        </p:txBody>
      </p:sp>
      <p:sp>
        <p:nvSpPr>
          <p:cNvPr id="104" name="TextBox 103"/>
          <p:cNvSpPr txBox="1"/>
          <p:nvPr/>
        </p:nvSpPr>
        <p:spPr>
          <a:xfrm>
            <a:off x="8156448" y="4882896"/>
            <a:ext cx="3657600" cy="219456"/>
          </a:xfrm>
          <a:prstGeom prst="rect">
            <a:avLst/>
          </a:prstGeom>
          <a:noFill/>
        </p:spPr>
        <p:txBody>
          <a:bodyPr wrap="square" lIns="0" tIns="0" rIns="0" bIns="0" anchor="t">
            <a:spAutoFit/>
          </a:bodyPr>
          <a:lstStyle/>
          <a:p>
            <a:pPr algn="l">
              <a:lnSpc>
                <a:spcPct val="112000"/>
              </a:lnSpc>
            </a:pPr>
            <a:r>
              <a:rPr sz="800" b="1" i="0">
                <a:solidFill>
                  <a:srgbClr val="008577"/>
                </a:solidFill>
                <a:latin typeface="Segoe UI"/>
                <a:cs typeface="Segoe UI"/>
              </a:rPr>
              <a:t>A G E N T - S C H E D U L E D   F O L L O W - U P</a:t>
            </a:r>
          </a:p>
        </p:txBody>
      </p:sp>
      <p:sp>
        <p:nvSpPr>
          <p:cNvPr id="105" name="Rectangle 104"/>
          <p:cNvSpPr/>
          <p:nvPr/>
        </p:nvSpPr>
        <p:spPr>
          <a:xfrm>
            <a:off x="8247888" y="5138928"/>
            <a:ext cx="3392424" cy="512064"/>
          </a:xfrm>
          <a:prstGeom prst="rect">
            <a:avLst/>
          </a:prstGeom>
          <a:solidFill>
            <a:srgbClr val="FFFFFF"/>
          </a:solidFill>
          <a:ln w="9525">
            <a:solidFill>
              <a:srgbClr val="E1E7F4"/>
            </a:solidFill>
          </a:ln>
          <a:effectLst/>
        </p:spPr>
        <p:txBody>
          <a:bodyPr wrap="square" rtlCol="0" anchor="ctr"/>
          <a:lstStyle/>
          <a:p>
            <a:pPr algn="ctr"/>
            <a:endParaRPr/>
          </a:p>
        </p:txBody>
      </p:sp>
      <p:sp>
        <p:nvSpPr>
          <p:cNvPr id="106" name="TextBox 105"/>
          <p:cNvSpPr txBox="1"/>
          <p:nvPr/>
        </p:nvSpPr>
        <p:spPr>
          <a:xfrm>
            <a:off x="8412480" y="5230368"/>
            <a:ext cx="3063240" cy="365760"/>
          </a:xfrm>
          <a:prstGeom prst="rect">
            <a:avLst/>
          </a:prstGeom>
          <a:noFill/>
        </p:spPr>
        <p:txBody>
          <a:bodyPr wrap="square" lIns="0" tIns="0" rIns="0" bIns="0" anchor="t">
            <a:spAutoFit/>
          </a:bodyPr>
          <a:lstStyle/>
          <a:p>
            <a:pPr algn="l">
              <a:lnSpc>
                <a:spcPct val="116000"/>
              </a:lnSpc>
            </a:pPr>
            <a:r>
              <a:rPr sz="750" b="0" i="0">
                <a:solidFill>
                  <a:srgbClr val="44495B"/>
                </a:solidFill>
                <a:latin typeface="Segoe UI"/>
                <a:cs typeface="Segoe UI"/>
              </a:rPr>
              <a:t>A hosted agent can also schedule itself with the reminder tool*, re-invoked on the same conversation after a delay.</a:t>
            </a:r>
          </a:p>
        </p:txBody>
      </p:sp>
      <p:sp>
        <p:nvSpPr>
          <p:cNvPr id="107" name="TextBox 106"/>
          <p:cNvSpPr txBox="1"/>
          <p:nvPr/>
        </p:nvSpPr>
        <p:spPr>
          <a:xfrm>
            <a:off x="8247888" y="5705856"/>
            <a:ext cx="3383280" cy="182880"/>
          </a:xfrm>
          <a:prstGeom prst="rect">
            <a:avLst/>
          </a:prstGeom>
          <a:noFill/>
        </p:spPr>
        <p:txBody>
          <a:bodyPr wrap="square" lIns="0" tIns="0" rIns="0" bIns="0" anchor="t">
            <a:spAutoFit/>
          </a:bodyPr>
          <a:lstStyle/>
          <a:p>
            <a:pPr algn="l">
              <a:lnSpc>
                <a:spcPct val="112000"/>
              </a:lnSpc>
            </a:pPr>
            <a:r>
              <a:rPr sz="750" b="0" i="1">
                <a:solidFill>
                  <a:srgbClr val="44495B"/>
                </a:solidFill>
                <a:latin typeface="Segoe UI"/>
                <a:cs typeface="Segoe UI"/>
              </a:rPr>
              <a:t>* preview — no service level agreement.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4   ·   A G E N T S   A N D   S D K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Long-running agents*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Hosted agents that survive the request: work continues in the background, outlives a crash and can wait for a human.</a:t>
            </a:r>
          </a:p>
          <a:p>
            <a:endParaRPr sz="1200">
              <a:solidFill>
                <a:srgbClr val="44495B"/>
              </a:solidFill>
              <a:latin typeface="Segoe UI"/>
            </a:endParaRPr>
          </a:p>
        </p:txBody>
      </p:sp>
      <p:sp>
        <p:nvSpPr>
          <p:cNvPr id="42" name="Shape"/>
          <p:cNvSpPr/>
          <p:nvPr/>
        </p:nvSpPr>
        <p:spPr>
          <a:xfrm>
            <a:off x="548640" y="5687568"/>
            <a:ext cx="11094720" cy="9525"/>
          </a:xfrm>
          <a:prstGeom prst="rect">
            <a:avLst/>
          </a:prstGeom>
          <a:solidFill>
            <a:srgbClr val="E1E7F4"/>
          </a:solidFill>
        </p:spPr>
        <p:txBody>
          <a:bodyPr/>
          <a:lstStyle/>
          <a:p>
            <a:endParaRPr/>
          </a:p>
        </p:txBody>
      </p:sp>
      <p:sp>
        <p:nvSpPr>
          <p:cNvPr id="43"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learn.microsoft.com/azure/foundry/agents/concepts/long-running-agent-resilience</a:t>
            </a:r>
          </a:p>
          <a:p>
            <a:endParaRPr sz="900">
              <a:solidFill>
                <a:srgbClr val="44495B"/>
              </a:solidFill>
              <a:latin typeface="Segoe UI"/>
            </a:endParaRPr>
          </a:p>
        </p:txBody>
      </p:sp>
      <p:sp>
        <p:nvSpPr>
          <p:cNvPr id="44"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19</a:t>
            </a:r>
          </a:p>
        </p:txBody>
      </p:sp>
      <p:sp>
        <p:nvSpPr>
          <p:cNvPr id="45" name="TextBox 44"/>
          <p:cNvSpPr txBox="1"/>
          <p:nvPr/>
        </p:nvSpPr>
        <p:spPr>
          <a:xfrm>
            <a:off x="548640" y="1298448"/>
            <a:ext cx="3977639"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WHY THEY MATTER</a:t>
            </a:r>
          </a:p>
        </p:txBody>
      </p:sp>
      <p:sp>
        <p:nvSpPr>
          <p:cNvPr id="46" name="Rectangle 45"/>
          <p:cNvSpPr/>
          <p:nvPr/>
        </p:nvSpPr>
        <p:spPr>
          <a:xfrm>
            <a:off x="548640" y="1554480"/>
            <a:ext cx="3977639" cy="1417320"/>
          </a:xfrm>
          <a:prstGeom prst="rect">
            <a:avLst/>
          </a:prstGeom>
          <a:solidFill>
            <a:srgbClr val="F6F8FD"/>
          </a:solidFill>
          <a:ln w="9525">
            <a:solidFill>
              <a:srgbClr val="E1E7F4"/>
            </a:solidFill>
          </a:ln>
          <a:effectLst/>
        </p:spPr>
        <p:txBody>
          <a:bodyPr rtlCol="0" anchor="ctr"/>
          <a:lstStyle/>
          <a:p>
            <a:pPr algn="ctr"/>
            <a:endParaRPr/>
          </a:p>
        </p:txBody>
      </p:sp>
      <p:sp>
        <p:nvSpPr>
          <p:cNvPr id="47" name="TextBox 46"/>
          <p:cNvSpPr txBox="1"/>
          <p:nvPr/>
        </p:nvSpPr>
        <p:spPr>
          <a:xfrm>
            <a:off x="548640" y="1572768"/>
            <a:ext cx="3977639" cy="1380744"/>
          </a:xfrm>
          <a:prstGeom prst="rect">
            <a:avLst/>
          </a:prstGeom>
          <a:noFill/>
        </p:spPr>
        <p:txBody>
          <a:bodyPr wrap="square" lIns="73152" tIns="27432" rIns="73152" bIns="27432" anchor="t">
            <a:spAutoFit/>
          </a:bodyPr>
          <a:lstStyle/>
          <a:p>
            <a:pPr algn="l"/>
            <a:r>
              <a:rPr sz="850" b="1">
                <a:solidFill>
                  <a:srgbClr val="141B33"/>
                </a:solidFill>
                <a:latin typeface="Segoe UI"/>
              </a:rPr>
              <a:t>A normal agent turn lives as long as the HTTP request.</a:t>
            </a:r>
          </a:p>
          <a:p>
            <a:pPr algn="l">
              <a:spcBef>
                <a:spcPts val="300"/>
              </a:spcBef>
            </a:pPr>
            <a:r>
              <a:rPr sz="850" b="0">
                <a:solidFill>
                  <a:srgbClr val="141B33"/>
                </a:solidFill>
                <a:latin typeface="Segoe UI"/>
              </a:rPr>
              <a:t>If the client disconnects or the container restarts, the work is gone. That rules out tasks that take hours, wait for an approval, or must not be lost half-way.</a:t>
            </a:r>
          </a:p>
          <a:p>
            <a:pPr algn="l">
              <a:spcBef>
                <a:spcPts val="300"/>
              </a:spcBef>
            </a:pPr>
            <a:r>
              <a:rPr sz="850" b="1">
                <a:solidFill>
                  <a:srgbClr val="141B33"/>
                </a:solidFill>
                <a:latin typeface="Segoe UI"/>
              </a:rPr>
              <a:t>Long-running agents add durability to a hosted agent: </a:t>
            </a:r>
            <a:r>
              <a:rPr sz="850" b="0">
                <a:solidFill>
                  <a:srgbClr val="141B33"/>
                </a:solidFill>
                <a:latin typeface="Segoe UI"/>
              </a:rPr>
              <a:t>the work has its own identity, its input is persisted, and the platform detects a lost process and re-enters the handler.</a:t>
            </a:r>
          </a:p>
        </p:txBody>
      </p:sp>
      <p:sp>
        <p:nvSpPr>
          <p:cNvPr id="48" name="TextBox 47"/>
          <p:cNvSpPr txBox="1"/>
          <p:nvPr/>
        </p:nvSpPr>
        <p:spPr>
          <a:xfrm>
            <a:off x="548640" y="3108960"/>
            <a:ext cx="3977639"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COMPARED WITH THE OTHER AGENT TYPES</a:t>
            </a:r>
          </a:p>
        </p:txBody>
      </p:sp>
      <p:sp>
        <p:nvSpPr>
          <p:cNvPr id="49" name="Rectangle 48"/>
          <p:cNvSpPr/>
          <p:nvPr/>
        </p:nvSpPr>
        <p:spPr>
          <a:xfrm>
            <a:off x="548640" y="3364991"/>
            <a:ext cx="3977639" cy="274320"/>
          </a:xfrm>
          <a:prstGeom prst="rect">
            <a:avLst/>
          </a:prstGeom>
          <a:solidFill>
            <a:srgbClr val="101A3C"/>
          </a:solidFill>
          <a:ln>
            <a:noFill/>
          </a:ln>
          <a:effectLst/>
        </p:spPr>
        <p:txBody>
          <a:bodyPr rtlCol="0" anchor="ctr"/>
          <a:lstStyle/>
          <a:p>
            <a:pPr algn="ctr"/>
            <a:endParaRPr/>
          </a:p>
        </p:txBody>
      </p:sp>
      <p:sp>
        <p:nvSpPr>
          <p:cNvPr id="50" name="TextBox 49"/>
          <p:cNvSpPr txBox="1"/>
          <p:nvPr/>
        </p:nvSpPr>
        <p:spPr>
          <a:xfrm>
            <a:off x="548640" y="3364991"/>
            <a:ext cx="1143000" cy="274320"/>
          </a:xfrm>
          <a:prstGeom prst="rect">
            <a:avLst/>
          </a:prstGeom>
          <a:noFill/>
        </p:spPr>
        <p:txBody>
          <a:bodyPr wrap="square" lIns="73152" tIns="27432" rIns="73152" bIns="27432" anchor="ctr">
            <a:spAutoFit/>
          </a:bodyPr>
          <a:lstStyle/>
          <a:p>
            <a:pPr algn="l"/>
            <a:endParaRPr/>
          </a:p>
        </p:txBody>
      </p:sp>
      <p:sp>
        <p:nvSpPr>
          <p:cNvPr id="51" name="TextBox 50"/>
          <p:cNvSpPr txBox="1"/>
          <p:nvPr/>
        </p:nvSpPr>
        <p:spPr>
          <a:xfrm>
            <a:off x="1691640" y="3364991"/>
            <a:ext cx="914400" cy="274320"/>
          </a:xfrm>
          <a:prstGeom prst="rect">
            <a:avLst/>
          </a:prstGeom>
          <a:noFill/>
        </p:spPr>
        <p:txBody>
          <a:bodyPr wrap="square" lIns="73152" tIns="27432" rIns="73152" bIns="27432" anchor="ctr">
            <a:spAutoFit/>
          </a:bodyPr>
          <a:lstStyle/>
          <a:p>
            <a:pPr algn="ctr"/>
            <a:r>
              <a:rPr sz="750" b="1">
                <a:solidFill>
                  <a:srgbClr val="FFFFFF"/>
                </a:solidFill>
                <a:latin typeface="Segoe UI"/>
              </a:rPr>
              <a:t>Prompt agent</a:t>
            </a:r>
          </a:p>
        </p:txBody>
      </p:sp>
      <p:sp>
        <p:nvSpPr>
          <p:cNvPr id="52" name="TextBox 51"/>
          <p:cNvSpPr txBox="1"/>
          <p:nvPr/>
        </p:nvSpPr>
        <p:spPr>
          <a:xfrm>
            <a:off x="2606040" y="3364991"/>
            <a:ext cx="914400" cy="274320"/>
          </a:xfrm>
          <a:prstGeom prst="rect">
            <a:avLst/>
          </a:prstGeom>
          <a:noFill/>
        </p:spPr>
        <p:txBody>
          <a:bodyPr wrap="square" lIns="73152" tIns="27432" rIns="73152" bIns="27432" anchor="ctr">
            <a:spAutoFit/>
          </a:bodyPr>
          <a:lstStyle/>
          <a:p>
            <a:pPr algn="ctr"/>
            <a:r>
              <a:rPr sz="750" b="1">
                <a:solidFill>
                  <a:srgbClr val="FFFFFF"/>
                </a:solidFill>
                <a:latin typeface="Segoe UI"/>
              </a:rPr>
              <a:t>Hosted agent</a:t>
            </a:r>
          </a:p>
        </p:txBody>
      </p:sp>
      <p:sp>
        <p:nvSpPr>
          <p:cNvPr id="53" name="TextBox 52"/>
          <p:cNvSpPr txBox="1"/>
          <p:nvPr/>
        </p:nvSpPr>
        <p:spPr>
          <a:xfrm>
            <a:off x="3520440" y="3364991"/>
            <a:ext cx="1005840" cy="274320"/>
          </a:xfrm>
          <a:prstGeom prst="rect">
            <a:avLst/>
          </a:prstGeom>
          <a:noFill/>
        </p:spPr>
        <p:txBody>
          <a:bodyPr wrap="square" lIns="73152" tIns="27432" rIns="73152" bIns="27432" anchor="ctr">
            <a:spAutoFit/>
          </a:bodyPr>
          <a:lstStyle/>
          <a:p>
            <a:pPr algn="ctr"/>
            <a:r>
              <a:rPr sz="750" b="1">
                <a:solidFill>
                  <a:srgbClr val="FFFFFF"/>
                </a:solidFill>
                <a:latin typeface="Segoe UI"/>
              </a:rPr>
              <a:t>Long-running*</a:t>
            </a:r>
          </a:p>
        </p:txBody>
      </p:sp>
      <p:sp>
        <p:nvSpPr>
          <p:cNvPr id="54" name="Rectangle 53"/>
          <p:cNvSpPr/>
          <p:nvPr/>
        </p:nvSpPr>
        <p:spPr>
          <a:xfrm>
            <a:off x="548640" y="3639311"/>
            <a:ext cx="3977639" cy="256032"/>
          </a:xfrm>
          <a:prstGeom prst="rect">
            <a:avLst/>
          </a:prstGeom>
          <a:solidFill>
            <a:srgbClr val="FFFFFF"/>
          </a:solidFill>
          <a:ln w="6350">
            <a:solidFill>
              <a:srgbClr val="E1E7F4"/>
            </a:solidFill>
          </a:ln>
          <a:effectLst/>
        </p:spPr>
        <p:txBody>
          <a:bodyPr rtlCol="0" anchor="ctr"/>
          <a:lstStyle/>
          <a:p>
            <a:pPr algn="ctr"/>
            <a:endParaRPr/>
          </a:p>
        </p:txBody>
      </p:sp>
      <p:sp>
        <p:nvSpPr>
          <p:cNvPr id="55" name="TextBox 54"/>
          <p:cNvSpPr txBox="1"/>
          <p:nvPr/>
        </p:nvSpPr>
        <p:spPr>
          <a:xfrm>
            <a:off x="548640" y="3639311"/>
            <a:ext cx="1143000" cy="256032"/>
          </a:xfrm>
          <a:prstGeom prst="rect">
            <a:avLst/>
          </a:prstGeom>
          <a:noFill/>
        </p:spPr>
        <p:txBody>
          <a:bodyPr wrap="square" lIns="73152" tIns="27432" rIns="73152" bIns="27432" anchor="ctr">
            <a:spAutoFit/>
          </a:bodyPr>
          <a:lstStyle/>
          <a:p>
            <a:pPr algn="l"/>
            <a:r>
              <a:rPr sz="750" b="1">
                <a:solidFill>
                  <a:srgbClr val="141B33"/>
                </a:solidFill>
                <a:latin typeface="Segoe UI"/>
              </a:rPr>
              <a:t>Runs</a:t>
            </a:r>
          </a:p>
        </p:txBody>
      </p:sp>
      <p:sp>
        <p:nvSpPr>
          <p:cNvPr id="56" name="TextBox 55"/>
          <p:cNvSpPr txBox="1"/>
          <p:nvPr/>
        </p:nvSpPr>
        <p:spPr>
          <a:xfrm>
            <a:off x="1691640" y="3639311"/>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managed by Foundry</a:t>
            </a:r>
          </a:p>
        </p:txBody>
      </p:sp>
      <p:sp>
        <p:nvSpPr>
          <p:cNvPr id="57" name="TextBox 56"/>
          <p:cNvSpPr txBox="1"/>
          <p:nvPr/>
        </p:nvSpPr>
        <p:spPr>
          <a:xfrm>
            <a:off x="2606040" y="3639311"/>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your container</a:t>
            </a:r>
          </a:p>
        </p:txBody>
      </p:sp>
      <p:sp>
        <p:nvSpPr>
          <p:cNvPr id="58" name="TextBox 57"/>
          <p:cNvSpPr txBox="1"/>
          <p:nvPr/>
        </p:nvSpPr>
        <p:spPr>
          <a:xfrm>
            <a:off x="3520440" y="3639311"/>
            <a:ext cx="1005840" cy="256032"/>
          </a:xfrm>
          <a:prstGeom prst="rect">
            <a:avLst/>
          </a:prstGeom>
          <a:noFill/>
        </p:spPr>
        <p:txBody>
          <a:bodyPr wrap="square" lIns="73152" tIns="27432" rIns="73152" bIns="27432" anchor="ctr">
            <a:spAutoFit/>
          </a:bodyPr>
          <a:lstStyle/>
          <a:p>
            <a:pPr algn="ctr"/>
            <a:r>
              <a:rPr sz="750" b="1">
                <a:solidFill>
                  <a:srgbClr val="008173"/>
                </a:solidFill>
                <a:latin typeface="Segoe UI"/>
              </a:rPr>
              <a:t>your container</a:t>
            </a:r>
          </a:p>
        </p:txBody>
      </p:sp>
      <p:sp>
        <p:nvSpPr>
          <p:cNvPr id="59" name="Rectangle 58"/>
          <p:cNvSpPr/>
          <p:nvPr/>
        </p:nvSpPr>
        <p:spPr>
          <a:xfrm>
            <a:off x="548640" y="3895344"/>
            <a:ext cx="3977639" cy="256032"/>
          </a:xfrm>
          <a:prstGeom prst="rect">
            <a:avLst/>
          </a:prstGeom>
          <a:solidFill>
            <a:srgbClr val="F6F8FD"/>
          </a:solidFill>
          <a:ln w="6350">
            <a:solidFill>
              <a:srgbClr val="E1E7F4"/>
            </a:solidFill>
          </a:ln>
          <a:effectLst/>
        </p:spPr>
        <p:txBody>
          <a:bodyPr rtlCol="0" anchor="ctr"/>
          <a:lstStyle/>
          <a:p>
            <a:pPr algn="ctr"/>
            <a:endParaRPr/>
          </a:p>
        </p:txBody>
      </p:sp>
      <p:sp>
        <p:nvSpPr>
          <p:cNvPr id="60" name="TextBox 59"/>
          <p:cNvSpPr txBox="1"/>
          <p:nvPr/>
        </p:nvSpPr>
        <p:spPr>
          <a:xfrm>
            <a:off x="548640" y="3895344"/>
            <a:ext cx="1143000" cy="256032"/>
          </a:xfrm>
          <a:prstGeom prst="rect">
            <a:avLst/>
          </a:prstGeom>
          <a:noFill/>
        </p:spPr>
        <p:txBody>
          <a:bodyPr wrap="square" lIns="73152" tIns="27432" rIns="73152" bIns="27432" anchor="ctr">
            <a:spAutoFit/>
          </a:bodyPr>
          <a:lstStyle/>
          <a:p>
            <a:pPr algn="l"/>
            <a:r>
              <a:rPr sz="750" b="1">
                <a:solidFill>
                  <a:srgbClr val="141B33"/>
                </a:solidFill>
                <a:latin typeface="Segoe UI"/>
              </a:rPr>
              <a:t>Turn lifetime</a:t>
            </a:r>
          </a:p>
        </p:txBody>
      </p:sp>
      <p:sp>
        <p:nvSpPr>
          <p:cNvPr id="61" name="TextBox 60"/>
          <p:cNvSpPr txBox="1"/>
          <p:nvPr/>
        </p:nvSpPr>
        <p:spPr>
          <a:xfrm>
            <a:off x="1691640" y="3895344"/>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the request</a:t>
            </a:r>
          </a:p>
        </p:txBody>
      </p:sp>
      <p:sp>
        <p:nvSpPr>
          <p:cNvPr id="62" name="TextBox 61"/>
          <p:cNvSpPr txBox="1"/>
          <p:nvPr/>
        </p:nvSpPr>
        <p:spPr>
          <a:xfrm>
            <a:off x="2606040" y="3895344"/>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the request</a:t>
            </a:r>
          </a:p>
        </p:txBody>
      </p:sp>
      <p:sp>
        <p:nvSpPr>
          <p:cNvPr id="63" name="TextBox 62"/>
          <p:cNvSpPr txBox="1"/>
          <p:nvPr/>
        </p:nvSpPr>
        <p:spPr>
          <a:xfrm>
            <a:off x="3520440" y="3895344"/>
            <a:ext cx="1005840" cy="256032"/>
          </a:xfrm>
          <a:prstGeom prst="rect">
            <a:avLst/>
          </a:prstGeom>
          <a:noFill/>
        </p:spPr>
        <p:txBody>
          <a:bodyPr wrap="square" lIns="73152" tIns="27432" rIns="73152" bIns="27432" anchor="ctr">
            <a:spAutoFit/>
          </a:bodyPr>
          <a:lstStyle/>
          <a:p>
            <a:pPr algn="ctr"/>
            <a:r>
              <a:rPr sz="750" b="1">
                <a:solidFill>
                  <a:srgbClr val="008173"/>
                </a:solidFill>
                <a:latin typeface="Segoe UI"/>
              </a:rPr>
              <a:t>hours or days</a:t>
            </a:r>
          </a:p>
        </p:txBody>
      </p:sp>
      <p:sp>
        <p:nvSpPr>
          <p:cNvPr id="64" name="Rectangle 63"/>
          <p:cNvSpPr/>
          <p:nvPr/>
        </p:nvSpPr>
        <p:spPr>
          <a:xfrm>
            <a:off x="548640" y="4151376"/>
            <a:ext cx="3977639" cy="256032"/>
          </a:xfrm>
          <a:prstGeom prst="rect">
            <a:avLst/>
          </a:prstGeom>
          <a:solidFill>
            <a:srgbClr val="FFFFFF"/>
          </a:solidFill>
          <a:ln w="6350">
            <a:solidFill>
              <a:srgbClr val="E1E7F4"/>
            </a:solidFill>
          </a:ln>
          <a:effectLst/>
        </p:spPr>
        <p:txBody>
          <a:bodyPr rtlCol="0" anchor="ctr"/>
          <a:lstStyle/>
          <a:p>
            <a:pPr algn="ctr"/>
            <a:endParaRPr/>
          </a:p>
        </p:txBody>
      </p:sp>
      <p:sp>
        <p:nvSpPr>
          <p:cNvPr id="65" name="TextBox 64"/>
          <p:cNvSpPr txBox="1"/>
          <p:nvPr/>
        </p:nvSpPr>
        <p:spPr>
          <a:xfrm>
            <a:off x="548640" y="4151376"/>
            <a:ext cx="1143000" cy="256032"/>
          </a:xfrm>
          <a:prstGeom prst="rect">
            <a:avLst/>
          </a:prstGeom>
          <a:noFill/>
        </p:spPr>
        <p:txBody>
          <a:bodyPr wrap="square" lIns="73152" tIns="27432" rIns="73152" bIns="27432" anchor="ctr">
            <a:spAutoFit/>
          </a:bodyPr>
          <a:lstStyle/>
          <a:p>
            <a:pPr algn="l"/>
            <a:r>
              <a:rPr sz="750" b="1">
                <a:solidFill>
                  <a:srgbClr val="141B33"/>
                </a:solidFill>
                <a:latin typeface="Segoe UI"/>
              </a:rPr>
              <a:t>Survives a crash</a:t>
            </a:r>
          </a:p>
        </p:txBody>
      </p:sp>
      <p:sp>
        <p:nvSpPr>
          <p:cNvPr id="66" name="TextBox 65"/>
          <p:cNvSpPr txBox="1"/>
          <p:nvPr/>
        </p:nvSpPr>
        <p:spPr>
          <a:xfrm>
            <a:off x="1691640" y="4151376"/>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a:t>
            </a:r>
          </a:p>
        </p:txBody>
      </p:sp>
      <p:sp>
        <p:nvSpPr>
          <p:cNvPr id="67" name="TextBox 66"/>
          <p:cNvSpPr txBox="1"/>
          <p:nvPr/>
        </p:nvSpPr>
        <p:spPr>
          <a:xfrm>
            <a:off x="2606040" y="4151376"/>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a:t>
            </a:r>
          </a:p>
        </p:txBody>
      </p:sp>
      <p:sp>
        <p:nvSpPr>
          <p:cNvPr id="68" name="TextBox 67"/>
          <p:cNvSpPr txBox="1"/>
          <p:nvPr/>
        </p:nvSpPr>
        <p:spPr>
          <a:xfrm>
            <a:off x="3520440" y="4151376"/>
            <a:ext cx="1005840" cy="256032"/>
          </a:xfrm>
          <a:prstGeom prst="rect">
            <a:avLst/>
          </a:prstGeom>
          <a:noFill/>
        </p:spPr>
        <p:txBody>
          <a:bodyPr wrap="square" lIns="73152" tIns="27432" rIns="73152" bIns="27432" anchor="ctr">
            <a:spAutoFit/>
          </a:bodyPr>
          <a:lstStyle/>
          <a:p>
            <a:pPr algn="ctr"/>
            <a:r>
              <a:rPr sz="750" b="1">
                <a:solidFill>
                  <a:srgbClr val="008173"/>
                </a:solidFill>
                <a:latin typeface="Segoe UI"/>
              </a:rPr>
              <a:t>yes, re-entered</a:t>
            </a:r>
          </a:p>
        </p:txBody>
      </p:sp>
      <p:sp>
        <p:nvSpPr>
          <p:cNvPr id="69" name="Rectangle 68"/>
          <p:cNvSpPr/>
          <p:nvPr/>
        </p:nvSpPr>
        <p:spPr>
          <a:xfrm>
            <a:off x="548640" y="4407408"/>
            <a:ext cx="3977639" cy="256032"/>
          </a:xfrm>
          <a:prstGeom prst="rect">
            <a:avLst/>
          </a:prstGeom>
          <a:solidFill>
            <a:srgbClr val="F6F8FD"/>
          </a:solidFill>
          <a:ln w="6350">
            <a:solidFill>
              <a:srgbClr val="E1E7F4"/>
            </a:solidFill>
          </a:ln>
          <a:effectLst/>
        </p:spPr>
        <p:txBody>
          <a:bodyPr rtlCol="0" anchor="ctr"/>
          <a:lstStyle/>
          <a:p>
            <a:pPr algn="ctr"/>
            <a:endParaRPr/>
          </a:p>
        </p:txBody>
      </p:sp>
      <p:sp>
        <p:nvSpPr>
          <p:cNvPr id="70" name="TextBox 69"/>
          <p:cNvSpPr txBox="1"/>
          <p:nvPr/>
        </p:nvSpPr>
        <p:spPr>
          <a:xfrm>
            <a:off x="548640" y="4407408"/>
            <a:ext cx="1143000" cy="256032"/>
          </a:xfrm>
          <a:prstGeom prst="rect">
            <a:avLst/>
          </a:prstGeom>
          <a:noFill/>
        </p:spPr>
        <p:txBody>
          <a:bodyPr wrap="square" lIns="73152" tIns="27432" rIns="73152" bIns="27432" anchor="ctr">
            <a:spAutoFit/>
          </a:bodyPr>
          <a:lstStyle/>
          <a:p>
            <a:pPr algn="l"/>
            <a:r>
              <a:rPr sz="750" b="1">
                <a:solidFill>
                  <a:srgbClr val="141B33"/>
                </a:solidFill>
                <a:latin typeface="Segoe UI"/>
              </a:rPr>
              <a:t>Waits for a human</a:t>
            </a:r>
          </a:p>
        </p:txBody>
      </p:sp>
      <p:sp>
        <p:nvSpPr>
          <p:cNvPr id="71" name="TextBox 70"/>
          <p:cNvSpPr txBox="1"/>
          <p:nvPr/>
        </p:nvSpPr>
        <p:spPr>
          <a:xfrm>
            <a:off x="1691640" y="4407408"/>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a:t>
            </a:r>
          </a:p>
        </p:txBody>
      </p:sp>
      <p:sp>
        <p:nvSpPr>
          <p:cNvPr id="72" name="TextBox 71"/>
          <p:cNvSpPr txBox="1"/>
          <p:nvPr/>
        </p:nvSpPr>
        <p:spPr>
          <a:xfrm>
            <a:off x="2606040" y="4407408"/>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a:t>
            </a:r>
          </a:p>
        </p:txBody>
      </p:sp>
      <p:sp>
        <p:nvSpPr>
          <p:cNvPr id="73" name="TextBox 72"/>
          <p:cNvSpPr txBox="1"/>
          <p:nvPr/>
        </p:nvSpPr>
        <p:spPr>
          <a:xfrm>
            <a:off x="3520440" y="4407408"/>
            <a:ext cx="1005840" cy="256032"/>
          </a:xfrm>
          <a:prstGeom prst="rect">
            <a:avLst/>
          </a:prstGeom>
          <a:noFill/>
        </p:spPr>
        <p:txBody>
          <a:bodyPr wrap="square" lIns="73152" tIns="27432" rIns="73152" bIns="27432" anchor="ctr">
            <a:spAutoFit/>
          </a:bodyPr>
          <a:lstStyle/>
          <a:p>
            <a:pPr algn="ctr"/>
            <a:r>
              <a:rPr sz="750" b="1">
                <a:solidFill>
                  <a:srgbClr val="008173"/>
                </a:solidFill>
                <a:latin typeface="Segoe UI"/>
              </a:rPr>
              <a:t>suspended task</a:t>
            </a:r>
          </a:p>
        </p:txBody>
      </p:sp>
      <p:sp>
        <p:nvSpPr>
          <p:cNvPr id="74" name="Rectangle 73"/>
          <p:cNvSpPr/>
          <p:nvPr/>
        </p:nvSpPr>
        <p:spPr>
          <a:xfrm>
            <a:off x="548640" y="4663440"/>
            <a:ext cx="3977639" cy="256032"/>
          </a:xfrm>
          <a:prstGeom prst="rect">
            <a:avLst/>
          </a:prstGeom>
          <a:solidFill>
            <a:srgbClr val="FFFFFF"/>
          </a:solidFill>
          <a:ln w="6350">
            <a:solidFill>
              <a:srgbClr val="E1E7F4"/>
            </a:solidFill>
          </a:ln>
          <a:effectLst/>
        </p:spPr>
        <p:txBody>
          <a:bodyPr rtlCol="0" anchor="ctr"/>
          <a:lstStyle/>
          <a:p>
            <a:pPr algn="ctr"/>
            <a:endParaRPr/>
          </a:p>
        </p:txBody>
      </p:sp>
      <p:sp>
        <p:nvSpPr>
          <p:cNvPr id="75" name="TextBox 74"/>
          <p:cNvSpPr txBox="1"/>
          <p:nvPr/>
        </p:nvSpPr>
        <p:spPr>
          <a:xfrm>
            <a:off x="548640" y="4663440"/>
            <a:ext cx="1143000" cy="256032"/>
          </a:xfrm>
          <a:prstGeom prst="rect">
            <a:avLst/>
          </a:prstGeom>
          <a:noFill/>
        </p:spPr>
        <p:txBody>
          <a:bodyPr wrap="square" lIns="73152" tIns="27432" rIns="73152" bIns="27432" anchor="ctr">
            <a:spAutoFit/>
          </a:bodyPr>
          <a:lstStyle/>
          <a:p>
            <a:pPr algn="l"/>
            <a:r>
              <a:rPr sz="750" b="1">
                <a:solidFill>
                  <a:srgbClr val="141B33"/>
                </a:solidFill>
                <a:latin typeface="Segoe UI"/>
              </a:rPr>
              <a:t>Steering</a:t>
            </a:r>
          </a:p>
        </p:txBody>
      </p:sp>
      <p:sp>
        <p:nvSpPr>
          <p:cNvPr id="76" name="TextBox 75"/>
          <p:cNvSpPr txBox="1"/>
          <p:nvPr/>
        </p:nvSpPr>
        <p:spPr>
          <a:xfrm>
            <a:off x="1691640" y="4663440"/>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a:t>
            </a:r>
          </a:p>
        </p:txBody>
      </p:sp>
      <p:sp>
        <p:nvSpPr>
          <p:cNvPr id="77" name="TextBox 76"/>
          <p:cNvSpPr txBox="1"/>
          <p:nvPr/>
        </p:nvSpPr>
        <p:spPr>
          <a:xfrm>
            <a:off x="2606040" y="4663440"/>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a:t>
            </a:r>
          </a:p>
        </p:txBody>
      </p:sp>
      <p:sp>
        <p:nvSpPr>
          <p:cNvPr id="78" name="TextBox 77"/>
          <p:cNvSpPr txBox="1"/>
          <p:nvPr/>
        </p:nvSpPr>
        <p:spPr>
          <a:xfrm>
            <a:off x="3520440" y="4663440"/>
            <a:ext cx="1005840" cy="256032"/>
          </a:xfrm>
          <a:prstGeom prst="rect">
            <a:avLst/>
          </a:prstGeom>
          <a:noFill/>
        </p:spPr>
        <p:txBody>
          <a:bodyPr wrap="square" lIns="73152" tIns="27432" rIns="73152" bIns="27432" anchor="ctr">
            <a:spAutoFit/>
          </a:bodyPr>
          <a:lstStyle/>
          <a:p>
            <a:pPr algn="ctr"/>
            <a:r>
              <a:rPr sz="750" b="1">
                <a:solidFill>
                  <a:srgbClr val="008173"/>
                </a:solidFill>
                <a:latin typeface="Segoe UI"/>
              </a:rPr>
              <a:t>queued turn</a:t>
            </a:r>
          </a:p>
        </p:txBody>
      </p:sp>
      <p:sp>
        <p:nvSpPr>
          <p:cNvPr id="79" name="TextBox 78"/>
          <p:cNvSpPr txBox="1"/>
          <p:nvPr/>
        </p:nvSpPr>
        <p:spPr>
          <a:xfrm>
            <a:off x="4754880" y="1298448"/>
            <a:ext cx="37033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HOW A RESILIENT TASK SURVIVES A CRASH</a:t>
            </a:r>
          </a:p>
        </p:txBody>
      </p:sp>
      <p:sp>
        <p:nvSpPr>
          <p:cNvPr id="80" name="Rectangle 79"/>
          <p:cNvSpPr/>
          <p:nvPr/>
        </p:nvSpPr>
        <p:spPr>
          <a:xfrm>
            <a:off x="4754880" y="1572768"/>
            <a:ext cx="1691640" cy="603504"/>
          </a:xfrm>
          <a:prstGeom prst="rect">
            <a:avLst/>
          </a:prstGeom>
          <a:solidFill>
            <a:srgbClr val="FFFFFF"/>
          </a:solidFill>
          <a:ln w="9525">
            <a:solidFill>
              <a:srgbClr val="E1E7F4"/>
            </a:solidFill>
          </a:ln>
          <a:effectLst/>
        </p:spPr>
        <p:txBody>
          <a:bodyPr rtlCol="0" anchor="ctr"/>
          <a:lstStyle/>
          <a:p>
            <a:pPr algn="ctr"/>
            <a:endParaRPr/>
          </a:p>
        </p:txBody>
      </p:sp>
      <p:sp>
        <p:nvSpPr>
          <p:cNvPr id="81" name="TextBox 80"/>
          <p:cNvSpPr txBox="1"/>
          <p:nvPr/>
        </p:nvSpPr>
        <p:spPr>
          <a:xfrm>
            <a:off x="4956048" y="1572768"/>
            <a:ext cx="1472184" cy="603504"/>
          </a:xfrm>
          <a:prstGeom prst="rect">
            <a:avLst/>
          </a:prstGeom>
          <a:noFill/>
        </p:spPr>
        <p:txBody>
          <a:bodyPr wrap="square" lIns="73152" tIns="27432" rIns="73152" bIns="27432" anchor="ctr">
            <a:spAutoFit/>
          </a:bodyPr>
          <a:lstStyle/>
          <a:p>
            <a:pPr algn="l"/>
            <a:r>
              <a:rPr sz="800" b="1">
                <a:solidFill>
                  <a:srgbClr val="141B33"/>
                </a:solidFill>
                <a:latin typeface="Segoe UI"/>
              </a:rPr>
              <a:t>Work arrives</a:t>
            </a:r>
          </a:p>
          <a:p>
            <a:pPr algn="l"/>
            <a:r>
              <a:rPr sz="800" b="0">
                <a:solidFill>
                  <a:srgbClr val="141B33"/>
                </a:solidFill>
                <a:latin typeface="Segoe UI"/>
              </a:rPr>
              <a:t>with its own work identity</a:t>
            </a:r>
          </a:p>
        </p:txBody>
      </p:sp>
      <p:sp>
        <p:nvSpPr>
          <p:cNvPr id="82" name="Oval 81"/>
          <p:cNvSpPr/>
          <p:nvPr/>
        </p:nvSpPr>
        <p:spPr>
          <a:xfrm>
            <a:off x="4663440" y="1499616"/>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1</a:t>
            </a:r>
          </a:p>
        </p:txBody>
      </p:sp>
      <p:sp>
        <p:nvSpPr>
          <p:cNvPr id="83" name="Rectangle 82"/>
          <p:cNvSpPr/>
          <p:nvPr/>
        </p:nvSpPr>
        <p:spPr>
          <a:xfrm>
            <a:off x="6766560" y="1572768"/>
            <a:ext cx="1691640" cy="603504"/>
          </a:xfrm>
          <a:prstGeom prst="rect">
            <a:avLst/>
          </a:prstGeom>
          <a:solidFill>
            <a:srgbClr val="FFFFFF"/>
          </a:solidFill>
          <a:ln w="9525">
            <a:solidFill>
              <a:srgbClr val="E1E7F4"/>
            </a:solidFill>
          </a:ln>
          <a:effectLst/>
        </p:spPr>
        <p:txBody>
          <a:bodyPr rtlCol="0" anchor="ctr"/>
          <a:lstStyle/>
          <a:p>
            <a:pPr algn="ctr"/>
            <a:endParaRPr/>
          </a:p>
        </p:txBody>
      </p:sp>
      <p:sp>
        <p:nvSpPr>
          <p:cNvPr id="84" name="TextBox 83"/>
          <p:cNvSpPr txBox="1"/>
          <p:nvPr/>
        </p:nvSpPr>
        <p:spPr>
          <a:xfrm>
            <a:off x="6967728" y="1572768"/>
            <a:ext cx="1472184" cy="603504"/>
          </a:xfrm>
          <a:prstGeom prst="rect">
            <a:avLst/>
          </a:prstGeom>
          <a:noFill/>
        </p:spPr>
        <p:txBody>
          <a:bodyPr wrap="square" lIns="73152" tIns="27432" rIns="73152" bIns="27432" anchor="ctr">
            <a:spAutoFit/>
          </a:bodyPr>
          <a:lstStyle/>
          <a:p>
            <a:pPr algn="l"/>
            <a:r>
              <a:rPr sz="800" b="1">
                <a:solidFill>
                  <a:srgbClr val="141B33"/>
                </a:solidFill>
                <a:latin typeface="Segoe UI"/>
              </a:rPr>
              <a:t>Input persisted</a:t>
            </a:r>
          </a:p>
          <a:p>
            <a:pPr algn="l"/>
            <a:r>
              <a:rPr sz="800" b="0">
                <a:solidFill>
                  <a:srgbClr val="141B33"/>
                </a:solidFill>
                <a:latin typeface="Segoe UI"/>
              </a:rPr>
              <a:t>the runtime takes a lease on the work</a:t>
            </a:r>
          </a:p>
        </p:txBody>
      </p:sp>
      <p:sp>
        <p:nvSpPr>
          <p:cNvPr id="85" name="Oval 84"/>
          <p:cNvSpPr/>
          <p:nvPr/>
        </p:nvSpPr>
        <p:spPr>
          <a:xfrm>
            <a:off x="6675120" y="1499616"/>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2</a:t>
            </a:r>
          </a:p>
        </p:txBody>
      </p:sp>
      <p:sp>
        <p:nvSpPr>
          <p:cNvPr id="86" name="Rectangle 85"/>
          <p:cNvSpPr/>
          <p:nvPr/>
        </p:nvSpPr>
        <p:spPr>
          <a:xfrm>
            <a:off x="6766560" y="2414015"/>
            <a:ext cx="1691640" cy="603504"/>
          </a:xfrm>
          <a:prstGeom prst="rect">
            <a:avLst/>
          </a:prstGeom>
          <a:solidFill>
            <a:srgbClr val="FFFFFF"/>
          </a:solidFill>
          <a:ln w="9525">
            <a:solidFill>
              <a:srgbClr val="E1E7F4"/>
            </a:solidFill>
          </a:ln>
          <a:effectLst/>
        </p:spPr>
        <p:txBody>
          <a:bodyPr rtlCol="0" anchor="ctr"/>
          <a:lstStyle/>
          <a:p>
            <a:pPr algn="ctr"/>
            <a:endParaRPr/>
          </a:p>
        </p:txBody>
      </p:sp>
      <p:sp>
        <p:nvSpPr>
          <p:cNvPr id="87" name="TextBox 86"/>
          <p:cNvSpPr txBox="1"/>
          <p:nvPr/>
        </p:nvSpPr>
        <p:spPr>
          <a:xfrm>
            <a:off x="6967728" y="2414015"/>
            <a:ext cx="1472184" cy="603504"/>
          </a:xfrm>
          <a:prstGeom prst="rect">
            <a:avLst/>
          </a:prstGeom>
          <a:noFill/>
        </p:spPr>
        <p:txBody>
          <a:bodyPr wrap="square" lIns="73152" tIns="27432" rIns="73152" bIns="27432" anchor="ctr">
            <a:spAutoFit/>
          </a:bodyPr>
          <a:lstStyle/>
          <a:p>
            <a:pPr algn="l"/>
            <a:r>
              <a:rPr sz="800" b="1">
                <a:solidFill>
                  <a:srgbClr val="141B33"/>
                </a:solidFill>
                <a:latin typeface="Segoe UI"/>
              </a:rPr>
              <a:t>Handler runs</a:t>
            </a:r>
          </a:p>
          <a:p>
            <a:pPr algn="l"/>
            <a:r>
              <a:rPr sz="800" b="0">
                <a:solidFill>
                  <a:srgbClr val="141B33"/>
                </a:solidFill>
                <a:latin typeface="Segoe UI"/>
              </a:rPr>
              <a:t>writes checkpoints to the store</a:t>
            </a:r>
          </a:p>
        </p:txBody>
      </p:sp>
      <p:sp>
        <p:nvSpPr>
          <p:cNvPr id="88" name="Oval 87"/>
          <p:cNvSpPr/>
          <p:nvPr/>
        </p:nvSpPr>
        <p:spPr>
          <a:xfrm>
            <a:off x="6675120" y="2340863"/>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3</a:t>
            </a:r>
          </a:p>
        </p:txBody>
      </p:sp>
      <p:sp>
        <p:nvSpPr>
          <p:cNvPr id="89" name="Rectangle 88"/>
          <p:cNvSpPr/>
          <p:nvPr/>
        </p:nvSpPr>
        <p:spPr>
          <a:xfrm>
            <a:off x="6766560" y="3255263"/>
            <a:ext cx="1691640" cy="603504"/>
          </a:xfrm>
          <a:prstGeom prst="rect">
            <a:avLst/>
          </a:prstGeom>
          <a:solidFill>
            <a:srgbClr val="EBEFF7"/>
          </a:solidFill>
          <a:ln w="9525">
            <a:solidFill>
              <a:srgbClr val="E1E7F4"/>
            </a:solidFill>
          </a:ln>
          <a:effectLst/>
        </p:spPr>
        <p:txBody>
          <a:bodyPr rtlCol="0" anchor="ctr"/>
          <a:lstStyle/>
          <a:p>
            <a:pPr algn="ctr"/>
            <a:endParaRPr/>
          </a:p>
        </p:txBody>
      </p:sp>
      <p:sp>
        <p:nvSpPr>
          <p:cNvPr id="90" name="TextBox 89"/>
          <p:cNvSpPr txBox="1"/>
          <p:nvPr/>
        </p:nvSpPr>
        <p:spPr>
          <a:xfrm>
            <a:off x="6967728" y="3255263"/>
            <a:ext cx="1472184" cy="603504"/>
          </a:xfrm>
          <a:prstGeom prst="rect">
            <a:avLst/>
          </a:prstGeom>
          <a:noFill/>
        </p:spPr>
        <p:txBody>
          <a:bodyPr wrap="square" lIns="73152" tIns="27432" rIns="73152" bIns="27432" anchor="ctr">
            <a:spAutoFit/>
          </a:bodyPr>
          <a:lstStyle/>
          <a:p>
            <a:pPr algn="l"/>
            <a:r>
              <a:rPr sz="800" b="1">
                <a:solidFill>
                  <a:srgbClr val="141B33"/>
                </a:solidFill>
                <a:latin typeface="Segoe UI"/>
              </a:rPr>
              <a:t>Process is lost</a:t>
            </a:r>
          </a:p>
          <a:p>
            <a:pPr algn="l"/>
            <a:r>
              <a:rPr sz="800" b="0">
                <a:solidFill>
                  <a:srgbClr val="141B33"/>
                </a:solidFill>
                <a:latin typeface="Segoe UI"/>
              </a:rPr>
              <a:t>the lease expires</a:t>
            </a:r>
          </a:p>
        </p:txBody>
      </p:sp>
      <p:sp>
        <p:nvSpPr>
          <p:cNvPr id="91" name="Oval 90"/>
          <p:cNvSpPr/>
          <p:nvPr/>
        </p:nvSpPr>
        <p:spPr>
          <a:xfrm>
            <a:off x="6675120" y="3182111"/>
            <a:ext cx="256032" cy="256032"/>
          </a:xfrm>
          <a:prstGeom prst="ellipse">
            <a:avLst/>
          </a:prstGeom>
          <a:solidFill>
            <a:srgbClr val="101A3C"/>
          </a:solidFill>
          <a:ln>
            <a:noFill/>
          </a:ln>
          <a:effectLst/>
        </p:spPr>
        <p:txBody>
          <a:bodyPr lIns="0" tIns="0" rIns="0" bIns="0" rtlCol="0" anchor="ctr"/>
          <a:lstStyle/>
          <a:p>
            <a:pPr algn="ctr"/>
            <a:r>
              <a:rPr sz="850" b="1">
                <a:solidFill>
                  <a:srgbClr val="FFFFFF"/>
                </a:solidFill>
                <a:latin typeface="Segoe UI"/>
              </a:rPr>
              <a:t>4</a:t>
            </a:r>
          </a:p>
        </p:txBody>
      </p:sp>
      <p:sp>
        <p:nvSpPr>
          <p:cNvPr id="92" name="Rectangle 91"/>
          <p:cNvSpPr/>
          <p:nvPr/>
        </p:nvSpPr>
        <p:spPr>
          <a:xfrm>
            <a:off x="4754880" y="3255263"/>
            <a:ext cx="1691640" cy="603504"/>
          </a:xfrm>
          <a:prstGeom prst="rect">
            <a:avLst/>
          </a:prstGeom>
          <a:solidFill>
            <a:srgbClr val="EBEFF7"/>
          </a:solidFill>
          <a:ln w="9525">
            <a:solidFill>
              <a:srgbClr val="E1E7F4"/>
            </a:solidFill>
          </a:ln>
          <a:effectLst/>
        </p:spPr>
        <p:txBody>
          <a:bodyPr rtlCol="0" anchor="ctr"/>
          <a:lstStyle/>
          <a:p>
            <a:pPr algn="ctr"/>
            <a:endParaRPr/>
          </a:p>
        </p:txBody>
      </p:sp>
      <p:sp>
        <p:nvSpPr>
          <p:cNvPr id="93" name="TextBox 92"/>
          <p:cNvSpPr txBox="1"/>
          <p:nvPr/>
        </p:nvSpPr>
        <p:spPr>
          <a:xfrm>
            <a:off x="4956048" y="3255263"/>
            <a:ext cx="1472184" cy="603504"/>
          </a:xfrm>
          <a:prstGeom prst="rect">
            <a:avLst/>
          </a:prstGeom>
          <a:noFill/>
        </p:spPr>
        <p:txBody>
          <a:bodyPr wrap="square" lIns="73152" tIns="27432" rIns="73152" bIns="27432" anchor="ctr">
            <a:spAutoFit/>
          </a:bodyPr>
          <a:lstStyle/>
          <a:p>
            <a:pPr algn="l"/>
            <a:r>
              <a:rPr sz="800" b="1">
                <a:solidFill>
                  <a:srgbClr val="141B33"/>
                </a:solidFill>
                <a:latin typeface="Segoe UI"/>
              </a:rPr>
              <a:t>Process reclaims</a:t>
            </a:r>
          </a:p>
          <a:p>
            <a:pPr algn="l"/>
            <a:r>
              <a:rPr sz="800" b="0">
                <a:solidFill>
                  <a:srgbClr val="141B33"/>
                </a:solidFill>
                <a:latin typeface="Segoe UI"/>
              </a:rPr>
              <a:t>the same work record</a:t>
            </a:r>
          </a:p>
        </p:txBody>
      </p:sp>
      <p:sp>
        <p:nvSpPr>
          <p:cNvPr id="94" name="Oval 93"/>
          <p:cNvSpPr/>
          <p:nvPr/>
        </p:nvSpPr>
        <p:spPr>
          <a:xfrm>
            <a:off x="4663440" y="3182111"/>
            <a:ext cx="256032" cy="256032"/>
          </a:xfrm>
          <a:prstGeom prst="ellipse">
            <a:avLst/>
          </a:prstGeom>
          <a:solidFill>
            <a:srgbClr val="101A3C"/>
          </a:solidFill>
          <a:ln>
            <a:noFill/>
          </a:ln>
          <a:effectLst/>
        </p:spPr>
        <p:txBody>
          <a:bodyPr lIns="0" tIns="0" rIns="0" bIns="0" rtlCol="0" anchor="ctr"/>
          <a:lstStyle/>
          <a:p>
            <a:pPr algn="ctr"/>
            <a:r>
              <a:rPr sz="850" b="1">
                <a:solidFill>
                  <a:srgbClr val="FFFFFF"/>
                </a:solidFill>
                <a:latin typeface="Segoe UI"/>
              </a:rPr>
              <a:t>5</a:t>
            </a:r>
          </a:p>
        </p:txBody>
      </p:sp>
      <p:sp>
        <p:nvSpPr>
          <p:cNvPr id="95" name="Rectangle 94"/>
          <p:cNvSpPr/>
          <p:nvPr/>
        </p:nvSpPr>
        <p:spPr>
          <a:xfrm>
            <a:off x="4754880" y="2414015"/>
            <a:ext cx="1691640" cy="603504"/>
          </a:xfrm>
          <a:prstGeom prst="rect">
            <a:avLst/>
          </a:prstGeom>
          <a:solidFill>
            <a:srgbClr val="EBEFF7"/>
          </a:solidFill>
          <a:ln w="9525">
            <a:solidFill>
              <a:srgbClr val="E1E7F4"/>
            </a:solidFill>
          </a:ln>
          <a:effectLst/>
        </p:spPr>
        <p:txBody>
          <a:bodyPr rtlCol="0" anchor="ctr"/>
          <a:lstStyle/>
          <a:p>
            <a:pPr algn="ctr"/>
            <a:endParaRPr/>
          </a:p>
        </p:txBody>
      </p:sp>
      <p:sp>
        <p:nvSpPr>
          <p:cNvPr id="96" name="TextBox 95"/>
          <p:cNvSpPr txBox="1"/>
          <p:nvPr/>
        </p:nvSpPr>
        <p:spPr>
          <a:xfrm>
            <a:off x="4956048" y="2414015"/>
            <a:ext cx="1472184" cy="603504"/>
          </a:xfrm>
          <a:prstGeom prst="rect">
            <a:avLst/>
          </a:prstGeom>
          <a:noFill/>
        </p:spPr>
        <p:txBody>
          <a:bodyPr wrap="square" lIns="73152" tIns="27432" rIns="73152" bIns="27432" anchor="ctr">
            <a:spAutoFit/>
          </a:bodyPr>
          <a:lstStyle/>
          <a:p>
            <a:pPr algn="l"/>
            <a:r>
              <a:rPr sz="800" b="1">
                <a:solidFill>
                  <a:srgbClr val="141B33"/>
                </a:solidFill>
                <a:latin typeface="Segoe UI"/>
              </a:rPr>
              <a:t>Handler re-entered</a:t>
            </a:r>
          </a:p>
          <a:p>
            <a:pPr algn="l"/>
            <a:r>
              <a:rPr sz="800" b="0">
                <a:solidFill>
                  <a:srgbClr val="141B33"/>
                </a:solidFill>
                <a:latin typeface="Segoe UI"/>
              </a:rPr>
              <a:t>skips work already checkpointed</a:t>
            </a:r>
          </a:p>
        </p:txBody>
      </p:sp>
      <p:sp>
        <p:nvSpPr>
          <p:cNvPr id="97" name="Oval 96"/>
          <p:cNvSpPr/>
          <p:nvPr/>
        </p:nvSpPr>
        <p:spPr>
          <a:xfrm>
            <a:off x="4663440" y="2340863"/>
            <a:ext cx="256032" cy="256032"/>
          </a:xfrm>
          <a:prstGeom prst="ellipse">
            <a:avLst/>
          </a:prstGeom>
          <a:solidFill>
            <a:srgbClr val="101A3C"/>
          </a:solidFill>
          <a:ln>
            <a:noFill/>
          </a:ln>
          <a:effectLst/>
        </p:spPr>
        <p:txBody>
          <a:bodyPr lIns="0" tIns="0" rIns="0" bIns="0" rtlCol="0" anchor="ctr"/>
          <a:lstStyle/>
          <a:p>
            <a:pPr algn="ctr"/>
            <a:r>
              <a:rPr sz="850" b="1">
                <a:solidFill>
                  <a:srgbClr val="FFFFFF"/>
                </a:solidFill>
                <a:latin typeface="Segoe UI"/>
              </a:rPr>
              <a:t>6</a:t>
            </a:r>
          </a:p>
        </p:txBody>
      </p:sp>
      <p:cxnSp>
        <p:nvCxnSpPr>
          <p:cNvPr id="98" name="Connector 97"/>
          <p:cNvCxnSpPr/>
          <p:nvPr/>
        </p:nvCxnSpPr>
        <p:spPr>
          <a:xfrm>
            <a:off x="6446520" y="1856231"/>
            <a:ext cx="32004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7612380" y="2139696"/>
            <a:ext cx="0" cy="274319"/>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7612380" y="2980944"/>
            <a:ext cx="0" cy="27432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a:off x="6446520" y="3538727"/>
            <a:ext cx="32004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5600700" y="2980944"/>
            <a:ext cx="0" cy="274319"/>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5600700" y="2139696"/>
            <a:ext cx="0" cy="274319"/>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4754880" y="3877055"/>
            <a:ext cx="3703320" cy="457200"/>
          </a:xfrm>
          <a:prstGeom prst="rect">
            <a:avLst/>
          </a:prstGeom>
          <a:noFill/>
        </p:spPr>
        <p:txBody>
          <a:bodyPr wrap="square" lIns="73152" tIns="27432" rIns="73152" bIns="27432" anchor="t">
            <a:spAutoFit/>
          </a:bodyPr>
          <a:lstStyle/>
          <a:p>
            <a:pPr algn="l"/>
            <a:r>
              <a:rPr sz="800" b="1">
                <a:solidFill>
                  <a:srgbClr val="141B33"/>
                </a:solidFill>
                <a:latin typeface="Segoe UI"/>
              </a:rPr>
              <a:t>Recovery is not a retry and not a replay: </a:t>
            </a:r>
            <a:r>
              <a:rPr sz="800" b="0">
                <a:solidFill>
                  <a:srgbClr val="141B33"/>
                </a:solidFill>
                <a:latin typeface="Segoe UI"/>
              </a:rPr>
              <a:t>the handler restarts from the top and skips finished steps using its checkpoints — so every step must be safe to run again.</a:t>
            </a:r>
          </a:p>
        </p:txBody>
      </p:sp>
      <p:sp>
        <p:nvSpPr>
          <p:cNvPr id="105" name="TextBox 104"/>
          <p:cNvSpPr txBox="1"/>
          <p:nvPr/>
        </p:nvSpPr>
        <p:spPr>
          <a:xfrm>
            <a:off x="8732520" y="1298448"/>
            <a:ext cx="2907792"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WHAT YOU GET</a:t>
            </a:r>
          </a:p>
        </p:txBody>
      </p:sp>
      <p:sp>
        <p:nvSpPr>
          <p:cNvPr id="106" name="Rectangle 105"/>
          <p:cNvSpPr/>
          <p:nvPr/>
        </p:nvSpPr>
        <p:spPr>
          <a:xfrm>
            <a:off x="8732520" y="1554480"/>
            <a:ext cx="2907792" cy="457200"/>
          </a:xfrm>
          <a:prstGeom prst="rect">
            <a:avLst/>
          </a:prstGeom>
          <a:solidFill>
            <a:srgbClr val="FFFFFF"/>
          </a:solidFill>
          <a:ln w="9525">
            <a:solidFill>
              <a:srgbClr val="E1E7F4"/>
            </a:solidFill>
          </a:ln>
          <a:effectLst/>
        </p:spPr>
        <p:txBody>
          <a:bodyPr rtlCol="0" anchor="ctr"/>
          <a:lstStyle/>
          <a:p>
            <a:pPr algn="ctr"/>
            <a:endParaRPr/>
          </a:p>
        </p:txBody>
      </p:sp>
      <p:sp>
        <p:nvSpPr>
          <p:cNvPr id="107" name="Rectangle 106"/>
          <p:cNvSpPr/>
          <p:nvPr/>
        </p:nvSpPr>
        <p:spPr>
          <a:xfrm>
            <a:off x="8732520" y="1554480"/>
            <a:ext cx="45720" cy="457200"/>
          </a:xfrm>
          <a:prstGeom prst="rect">
            <a:avLst/>
          </a:prstGeom>
          <a:solidFill>
            <a:srgbClr val="00B39F"/>
          </a:solidFill>
          <a:ln>
            <a:noFill/>
          </a:ln>
          <a:effectLst/>
        </p:spPr>
        <p:txBody>
          <a:bodyPr rtlCol="0" anchor="ctr"/>
          <a:lstStyle/>
          <a:p>
            <a:pPr algn="ctr"/>
            <a:endParaRPr/>
          </a:p>
        </p:txBody>
      </p:sp>
      <p:sp>
        <p:nvSpPr>
          <p:cNvPr id="108" name="TextBox 107"/>
          <p:cNvSpPr txBox="1"/>
          <p:nvPr/>
        </p:nvSpPr>
        <p:spPr>
          <a:xfrm>
            <a:off x="8787384" y="1554480"/>
            <a:ext cx="2834640" cy="457200"/>
          </a:xfrm>
          <a:prstGeom prst="rect">
            <a:avLst/>
          </a:prstGeom>
          <a:noFill/>
        </p:spPr>
        <p:txBody>
          <a:bodyPr wrap="square" lIns="73152" tIns="27432" rIns="73152" bIns="27432" anchor="ctr">
            <a:spAutoFit/>
          </a:bodyPr>
          <a:lstStyle/>
          <a:p>
            <a:pPr algn="l"/>
            <a:r>
              <a:rPr sz="750" b="1">
                <a:solidFill>
                  <a:srgbClr val="141B33"/>
                </a:solidFill>
                <a:latin typeface="Segoe UI"/>
              </a:rPr>
              <a:t>Background execution</a:t>
            </a:r>
          </a:p>
          <a:p>
            <a:pPr algn="l"/>
            <a:r>
              <a:rPr sz="750" b="0">
                <a:solidFill>
                  <a:srgbClr val="141B33"/>
                </a:solidFill>
                <a:latin typeface="Segoe UI"/>
              </a:rPr>
              <a:t>start work, disconnect, poll or reconnect later</a:t>
            </a:r>
          </a:p>
        </p:txBody>
      </p:sp>
      <p:sp>
        <p:nvSpPr>
          <p:cNvPr id="109" name="Rectangle 108"/>
          <p:cNvSpPr/>
          <p:nvPr/>
        </p:nvSpPr>
        <p:spPr>
          <a:xfrm>
            <a:off x="8732520" y="2066543"/>
            <a:ext cx="2907792" cy="457200"/>
          </a:xfrm>
          <a:prstGeom prst="rect">
            <a:avLst/>
          </a:prstGeom>
          <a:solidFill>
            <a:srgbClr val="FFFFFF"/>
          </a:solidFill>
          <a:ln w="9525">
            <a:solidFill>
              <a:srgbClr val="E1E7F4"/>
            </a:solidFill>
          </a:ln>
          <a:effectLst/>
        </p:spPr>
        <p:txBody>
          <a:bodyPr rtlCol="0" anchor="ctr"/>
          <a:lstStyle/>
          <a:p>
            <a:pPr algn="ctr"/>
            <a:endParaRPr/>
          </a:p>
        </p:txBody>
      </p:sp>
      <p:sp>
        <p:nvSpPr>
          <p:cNvPr id="110" name="Rectangle 109"/>
          <p:cNvSpPr/>
          <p:nvPr/>
        </p:nvSpPr>
        <p:spPr>
          <a:xfrm>
            <a:off x="8732520" y="2066543"/>
            <a:ext cx="45720" cy="457200"/>
          </a:xfrm>
          <a:prstGeom prst="rect">
            <a:avLst/>
          </a:prstGeom>
          <a:solidFill>
            <a:srgbClr val="00B39F"/>
          </a:solidFill>
          <a:ln>
            <a:noFill/>
          </a:ln>
          <a:effectLst/>
        </p:spPr>
        <p:txBody>
          <a:bodyPr rtlCol="0" anchor="ctr"/>
          <a:lstStyle/>
          <a:p>
            <a:pPr algn="ctr"/>
            <a:endParaRPr/>
          </a:p>
        </p:txBody>
      </p:sp>
      <p:sp>
        <p:nvSpPr>
          <p:cNvPr id="111" name="TextBox 110"/>
          <p:cNvSpPr txBox="1"/>
          <p:nvPr/>
        </p:nvSpPr>
        <p:spPr>
          <a:xfrm>
            <a:off x="8787384" y="2066543"/>
            <a:ext cx="2834640" cy="457200"/>
          </a:xfrm>
          <a:prstGeom prst="rect">
            <a:avLst/>
          </a:prstGeom>
          <a:noFill/>
        </p:spPr>
        <p:txBody>
          <a:bodyPr wrap="square" lIns="73152" tIns="27432" rIns="73152" bIns="27432" anchor="ctr">
            <a:spAutoFit/>
          </a:bodyPr>
          <a:lstStyle/>
          <a:p>
            <a:pPr algn="l"/>
            <a:r>
              <a:rPr sz="750" b="1">
                <a:solidFill>
                  <a:srgbClr val="141B33"/>
                </a:solidFill>
                <a:latin typeface="Segoe UI"/>
              </a:rPr>
              <a:t>Crash recovery</a:t>
            </a:r>
          </a:p>
          <a:p>
            <a:pPr algn="l"/>
            <a:r>
              <a:rPr sz="750" b="0">
                <a:solidFill>
                  <a:srgbClr val="141B33"/>
                </a:solidFill>
                <a:latin typeface="Segoe UI"/>
              </a:rPr>
              <a:t>durable work identity, lease and re-entry</a:t>
            </a:r>
          </a:p>
        </p:txBody>
      </p:sp>
      <p:sp>
        <p:nvSpPr>
          <p:cNvPr id="112" name="Rectangle 111"/>
          <p:cNvSpPr/>
          <p:nvPr/>
        </p:nvSpPr>
        <p:spPr>
          <a:xfrm>
            <a:off x="8732520" y="2578608"/>
            <a:ext cx="2907792" cy="457200"/>
          </a:xfrm>
          <a:prstGeom prst="rect">
            <a:avLst/>
          </a:prstGeom>
          <a:solidFill>
            <a:srgbClr val="FFFFFF"/>
          </a:solidFill>
          <a:ln w="9525">
            <a:solidFill>
              <a:srgbClr val="E1E7F4"/>
            </a:solidFill>
          </a:ln>
          <a:effectLst/>
        </p:spPr>
        <p:txBody>
          <a:bodyPr rtlCol="0" anchor="ctr"/>
          <a:lstStyle/>
          <a:p>
            <a:pPr algn="ctr"/>
            <a:endParaRPr/>
          </a:p>
        </p:txBody>
      </p:sp>
      <p:sp>
        <p:nvSpPr>
          <p:cNvPr id="113" name="Rectangle 112"/>
          <p:cNvSpPr/>
          <p:nvPr/>
        </p:nvSpPr>
        <p:spPr>
          <a:xfrm>
            <a:off x="8732520" y="2578608"/>
            <a:ext cx="45720" cy="457200"/>
          </a:xfrm>
          <a:prstGeom prst="rect">
            <a:avLst/>
          </a:prstGeom>
          <a:solidFill>
            <a:srgbClr val="00B39F"/>
          </a:solidFill>
          <a:ln>
            <a:noFill/>
          </a:ln>
          <a:effectLst/>
        </p:spPr>
        <p:txBody>
          <a:bodyPr rtlCol="0" anchor="ctr"/>
          <a:lstStyle/>
          <a:p>
            <a:pPr algn="ctr"/>
            <a:endParaRPr/>
          </a:p>
        </p:txBody>
      </p:sp>
      <p:sp>
        <p:nvSpPr>
          <p:cNvPr id="114" name="TextBox 113"/>
          <p:cNvSpPr txBox="1"/>
          <p:nvPr/>
        </p:nvSpPr>
        <p:spPr>
          <a:xfrm>
            <a:off x="8787384" y="2578608"/>
            <a:ext cx="2834640" cy="457200"/>
          </a:xfrm>
          <a:prstGeom prst="rect">
            <a:avLst/>
          </a:prstGeom>
          <a:noFill/>
        </p:spPr>
        <p:txBody>
          <a:bodyPr wrap="square" lIns="73152" tIns="27432" rIns="73152" bIns="27432" anchor="ctr">
            <a:spAutoFit/>
          </a:bodyPr>
          <a:lstStyle/>
          <a:p>
            <a:pPr algn="l"/>
            <a:r>
              <a:rPr sz="750" b="1">
                <a:solidFill>
                  <a:srgbClr val="141B33"/>
                </a:solidFill>
                <a:latin typeface="Segoe UI"/>
              </a:rPr>
              <a:t>Human in the loop</a:t>
            </a:r>
          </a:p>
          <a:p>
            <a:pPr algn="l"/>
            <a:r>
              <a:rPr sz="750" b="0">
                <a:solidFill>
                  <a:srgbClr val="141B33"/>
                </a:solidFill>
                <a:latin typeface="Segoe UI"/>
              </a:rPr>
              <a:t>a task suspends under one identity for hours or days and resumes on the next input</a:t>
            </a:r>
          </a:p>
        </p:txBody>
      </p:sp>
      <p:sp>
        <p:nvSpPr>
          <p:cNvPr id="115" name="Rectangle 114"/>
          <p:cNvSpPr/>
          <p:nvPr/>
        </p:nvSpPr>
        <p:spPr>
          <a:xfrm>
            <a:off x="8732520" y="3090672"/>
            <a:ext cx="2907792" cy="457200"/>
          </a:xfrm>
          <a:prstGeom prst="rect">
            <a:avLst/>
          </a:prstGeom>
          <a:solidFill>
            <a:srgbClr val="FFFFFF"/>
          </a:solidFill>
          <a:ln w="9525">
            <a:solidFill>
              <a:srgbClr val="E1E7F4"/>
            </a:solidFill>
          </a:ln>
          <a:effectLst/>
        </p:spPr>
        <p:txBody>
          <a:bodyPr rtlCol="0" anchor="ctr"/>
          <a:lstStyle/>
          <a:p>
            <a:pPr algn="ctr"/>
            <a:endParaRPr/>
          </a:p>
        </p:txBody>
      </p:sp>
      <p:sp>
        <p:nvSpPr>
          <p:cNvPr id="116" name="Rectangle 115"/>
          <p:cNvSpPr/>
          <p:nvPr/>
        </p:nvSpPr>
        <p:spPr>
          <a:xfrm>
            <a:off x="8732520" y="3090672"/>
            <a:ext cx="45720" cy="457200"/>
          </a:xfrm>
          <a:prstGeom prst="rect">
            <a:avLst/>
          </a:prstGeom>
          <a:solidFill>
            <a:srgbClr val="00B39F"/>
          </a:solidFill>
          <a:ln>
            <a:noFill/>
          </a:ln>
          <a:effectLst/>
        </p:spPr>
        <p:txBody>
          <a:bodyPr rtlCol="0" anchor="ctr"/>
          <a:lstStyle/>
          <a:p>
            <a:pPr algn="ctr"/>
            <a:endParaRPr/>
          </a:p>
        </p:txBody>
      </p:sp>
      <p:sp>
        <p:nvSpPr>
          <p:cNvPr id="117" name="TextBox 116"/>
          <p:cNvSpPr txBox="1"/>
          <p:nvPr/>
        </p:nvSpPr>
        <p:spPr>
          <a:xfrm>
            <a:off x="8787384" y="3090672"/>
            <a:ext cx="2834640" cy="457200"/>
          </a:xfrm>
          <a:prstGeom prst="rect">
            <a:avLst/>
          </a:prstGeom>
          <a:noFill/>
        </p:spPr>
        <p:txBody>
          <a:bodyPr wrap="square" lIns="73152" tIns="27432" rIns="73152" bIns="27432" anchor="ctr">
            <a:spAutoFit/>
          </a:bodyPr>
          <a:lstStyle/>
          <a:p>
            <a:pPr algn="l"/>
            <a:r>
              <a:rPr sz="750" b="1">
                <a:solidFill>
                  <a:srgbClr val="141B33"/>
                </a:solidFill>
                <a:latin typeface="Segoe UI"/>
              </a:rPr>
              <a:t>Steering</a:t>
            </a:r>
          </a:p>
          <a:p>
            <a:pPr algn="l"/>
            <a:r>
              <a:rPr sz="750" b="0">
                <a:solidFill>
                  <a:srgbClr val="141B33"/>
                </a:solidFill>
                <a:latin typeface="Segoe UI"/>
              </a:rPr>
              <a:t>a new instruction while the task runs is queued and the current turn is cancelled gracefully</a:t>
            </a:r>
          </a:p>
        </p:txBody>
      </p:sp>
      <p:sp>
        <p:nvSpPr>
          <p:cNvPr id="118" name="Rectangle 117"/>
          <p:cNvSpPr/>
          <p:nvPr/>
        </p:nvSpPr>
        <p:spPr>
          <a:xfrm>
            <a:off x="8732520" y="3602736"/>
            <a:ext cx="2907792" cy="457200"/>
          </a:xfrm>
          <a:prstGeom prst="rect">
            <a:avLst/>
          </a:prstGeom>
          <a:solidFill>
            <a:srgbClr val="FFFFFF"/>
          </a:solidFill>
          <a:ln w="9525">
            <a:solidFill>
              <a:srgbClr val="E1E7F4"/>
            </a:solidFill>
          </a:ln>
          <a:effectLst/>
        </p:spPr>
        <p:txBody>
          <a:bodyPr rtlCol="0" anchor="ctr"/>
          <a:lstStyle/>
          <a:p>
            <a:pPr algn="ctr"/>
            <a:endParaRPr/>
          </a:p>
        </p:txBody>
      </p:sp>
      <p:sp>
        <p:nvSpPr>
          <p:cNvPr id="119" name="Rectangle 118"/>
          <p:cNvSpPr/>
          <p:nvPr/>
        </p:nvSpPr>
        <p:spPr>
          <a:xfrm>
            <a:off x="8732520" y="3602736"/>
            <a:ext cx="45720" cy="457200"/>
          </a:xfrm>
          <a:prstGeom prst="rect">
            <a:avLst/>
          </a:prstGeom>
          <a:solidFill>
            <a:srgbClr val="00B39F"/>
          </a:solidFill>
          <a:ln>
            <a:noFill/>
          </a:ln>
          <a:effectLst/>
        </p:spPr>
        <p:txBody>
          <a:bodyPr rtlCol="0" anchor="ctr"/>
          <a:lstStyle/>
          <a:p>
            <a:pPr algn="ctr"/>
            <a:endParaRPr/>
          </a:p>
        </p:txBody>
      </p:sp>
      <p:sp>
        <p:nvSpPr>
          <p:cNvPr id="120" name="TextBox 119"/>
          <p:cNvSpPr txBox="1"/>
          <p:nvPr/>
        </p:nvSpPr>
        <p:spPr>
          <a:xfrm>
            <a:off x="8787384" y="3602736"/>
            <a:ext cx="2834640" cy="457200"/>
          </a:xfrm>
          <a:prstGeom prst="rect">
            <a:avLst/>
          </a:prstGeom>
          <a:noFill/>
        </p:spPr>
        <p:txBody>
          <a:bodyPr wrap="square" lIns="73152" tIns="27432" rIns="73152" bIns="27432" anchor="ctr">
            <a:spAutoFit/>
          </a:bodyPr>
          <a:lstStyle/>
          <a:p>
            <a:pPr algn="l"/>
            <a:r>
              <a:rPr sz="750" b="1">
                <a:solidFill>
                  <a:srgbClr val="141B33"/>
                </a:solidFill>
                <a:latin typeface="Segoe UI"/>
              </a:rPr>
              <a:t>Durable state</a:t>
            </a:r>
          </a:p>
          <a:p>
            <a:pPr algn="l"/>
            <a:r>
              <a:rPr sz="750" b="0">
                <a:solidFill>
                  <a:srgbClr val="141B33"/>
                </a:solidFill>
                <a:latin typeface="Segoe UI"/>
              </a:rPr>
              <a:t>a server-backed state store; LangGraph and Agent Framework checkpointers can use it</a:t>
            </a:r>
          </a:p>
        </p:txBody>
      </p:sp>
      <p:sp>
        <p:nvSpPr>
          <p:cNvPr id="121" name="Rectangle 120"/>
          <p:cNvSpPr/>
          <p:nvPr/>
        </p:nvSpPr>
        <p:spPr>
          <a:xfrm>
            <a:off x="8732520" y="4169663"/>
            <a:ext cx="2907792" cy="896112"/>
          </a:xfrm>
          <a:prstGeom prst="rect">
            <a:avLst/>
          </a:prstGeom>
          <a:solidFill>
            <a:srgbClr val="0B1229"/>
          </a:solidFill>
          <a:ln>
            <a:noFill/>
          </a:ln>
          <a:effectLst/>
        </p:spPr>
        <p:txBody>
          <a:bodyPr rtlCol="0" anchor="ctr"/>
          <a:lstStyle/>
          <a:p>
            <a:pPr algn="ctr"/>
            <a:endParaRPr/>
          </a:p>
        </p:txBody>
      </p:sp>
      <p:sp>
        <p:nvSpPr>
          <p:cNvPr id="122" name="TextBox 121"/>
          <p:cNvSpPr txBox="1"/>
          <p:nvPr/>
        </p:nvSpPr>
        <p:spPr>
          <a:xfrm>
            <a:off x="8732520" y="4169663"/>
            <a:ext cx="2907792" cy="896112"/>
          </a:xfrm>
          <a:prstGeom prst="rect">
            <a:avLst/>
          </a:prstGeom>
          <a:noFill/>
        </p:spPr>
        <p:txBody>
          <a:bodyPr wrap="square" lIns="73152" tIns="27432" rIns="73152" bIns="27432" anchor="ctr">
            <a:spAutoFit/>
          </a:bodyPr>
          <a:lstStyle/>
          <a:p>
            <a:pPr algn="l"/>
            <a:r>
              <a:rPr sz="750" b="1">
                <a:solidFill>
                  <a:srgbClr val="FFFFFF"/>
                </a:solidFill>
                <a:latin typeface="Segoe UI"/>
              </a:rPr>
              <a:t>Use them when</a:t>
            </a:r>
          </a:p>
          <a:p>
            <a:pPr algn="l">
              <a:spcBef>
                <a:spcPts val="100"/>
              </a:spcBef>
            </a:pPr>
            <a:r>
              <a:rPr sz="750" b="0">
                <a:solidFill>
                  <a:srgbClr val="FFFFFF"/>
                </a:solidFill>
                <a:latin typeface="Segoe UI"/>
              </a:rPr>
              <a:t>• approvals or reviews sit inside the flow</a:t>
            </a:r>
          </a:p>
          <a:p>
            <a:pPr algn="l">
              <a:spcBef>
                <a:spcPts val="100"/>
              </a:spcBef>
            </a:pPr>
            <a:r>
              <a:rPr sz="750" b="0">
                <a:solidFill>
                  <a:srgbClr val="FFFFFF"/>
                </a:solidFill>
                <a:latin typeface="Segoe UI"/>
              </a:rPr>
              <a:t>• a job takes longer than a request may live</a:t>
            </a:r>
          </a:p>
          <a:p>
            <a:pPr algn="l">
              <a:spcBef>
                <a:spcPts val="100"/>
              </a:spcBef>
            </a:pPr>
            <a:r>
              <a:rPr sz="750" b="0">
                <a:solidFill>
                  <a:srgbClr val="FFFFFF"/>
                </a:solidFill>
                <a:latin typeface="Segoe UI"/>
              </a:rPr>
              <a:t>• losing the work half-way is not acceptable</a:t>
            </a:r>
          </a:p>
          <a:p>
            <a:pPr algn="l">
              <a:spcBef>
                <a:spcPts val="100"/>
              </a:spcBef>
            </a:pPr>
            <a:r>
              <a:rPr sz="750" b="0">
                <a:solidFill>
                  <a:srgbClr val="FFFFFF"/>
                </a:solidFill>
                <a:latin typeface="Segoe UI"/>
              </a:rPr>
              <a:t>Not for fan-out, timers or child workflows — use a workflow engine.</a:t>
            </a:r>
          </a:p>
        </p:txBody>
      </p:sp>
      <p:sp>
        <p:nvSpPr>
          <p:cNvPr id="123" name="TextBox 122"/>
          <p:cNvSpPr txBox="1"/>
          <p:nvPr/>
        </p:nvSpPr>
        <p:spPr>
          <a:xfrm>
            <a:off x="548640" y="5504688"/>
            <a:ext cx="91440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 Available for hosted agents through the agent server libraries (Python generally available, .NET preview).</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5   ·   C O N T R O L   P L A N E</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Foundry Control Plane: the four pillars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Visibility, governance and control for every agent, model and tool in your Foundry estate — observe, evaluate, protect, govern.</a:t>
            </a:r>
          </a:p>
          <a:p>
            <a:endParaRPr sz="1200">
              <a:solidFill>
                <a:srgbClr val="44495B"/>
              </a:solidFill>
              <a:latin typeface="Segoe UI"/>
            </a:endParaRPr>
          </a:p>
        </p:txBody>
      </p:sp>
      <p:sp>
        <p:nvSpPr>
          <p:cNvPr id="39" name="Shape"/>
          <p:cNvSpPr/>
          <p:nvPr/>
        </p:nvSpPr>
        <p:spPr>
          <a:xfrm>
            <a:off x="548640" y="5687568"/>
            <a:ext cx="11094720" cy="9525"/>
          </a:xfrm>
          <a:prstGeom prst="rect">
            <a:avLst/>
          </a:prstGeom>
          <a:solidFill>
            <a:srgbClr val="E1E7F4"/>
          </a:solidFill>
        </p:spPr>
        <p:txBody>
          <a:bodyPr/>
          <a:lstStyle/>
          <a:p>
            <a:endParaRPr/>
          </a:p>
        </p:txBody>
      </p:sp>
      <p:sp>
        <p:nvSpPr>
          <p:cNvPr id="40"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learn.microsoft.com/azure/foundry/control-plane/overview · concepts/capability-reference</a:t>
            </a:r>
          </a:p>
          <a:p>
            <a:endParaRPr sz="900">
              <a:solidFill>
                <a:srgbClr val="44495B"/>
              </a:solidFill>
              <a:latin typeface="Segoe UI"/>
            </a:endParaRPr>
          </a:p>
        </p:txBody>
      </p:sp>
      <p:sp>
        <p:nvSpPr>
          <p:cNvPr id="41"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20</a:t>
            </a:r>
          </a:p>
        </p:txBody>
      </p:sp>
      <p:sp>
        <p:nvSpPr>
          <p:cNvPr id="42" name="Rectangle 41"/>
          <p:cNvSpPr/>
          <p:nvPr/>
        </p:nvSpPr>
        <p:spPr>
          <a:xfrm>
            <a:off x="548640" y="1298448"/>
            <a:ext cx="11091672" cy="457200"/>
          </a:xfrm>
          <a:prstGeom prst="rect">
            <a:avLst/>
          </a:prstGeom>
          <a:solidFill>
            <a:srgbClr val="0B1229"/>
          </a:solidFill>
          <a:ln>
            <a:noFill/>
          </a:ln>
          <a:effectLst/>
        </p:spPr>
        <p:txBody>
          <a:bodyPr rtlCol="0" anchor="ctr"/>
          <a:lstStyle/>
          <a:p>
            <a:pPr algn="ctr"/>
            <a:endParaRPr/>
          </a:p>
        </p:txBody>
      </p:sp>
      <p:sp>
        <p:nvSpPr>
          <p:cNvPr id="43" name="TextBox 42"/>
          <p:cNvSpPr txBox="1"/>
          <p:nvPr/>
        </p:nvSpPr>
        <p:spPr>
          <a:xfrm>
            <a:off x="548640" y="1298448"/>
            <a:ext cx="11091672" cy="457200"/>
          </a:xfrm>
          <a:prstGeom prst="rect">
            <a:avLst/>
          </a:prstGeom>
          <a:noFill/>
        </p:spPr>
        <p:txBody>
          <a:bodyPr wrap="square" lIns="73152" tIns="27432" rIns="73152" bIns="27432" anchor="ctr">
            <a:spAutoFit/>
          </a:bodyPr>
          <a:lstStyle/>
          <a:p>
            <a:pPr algn="ctr"/>
            <a:r>
              <a:rPr sz="850" b="1">
                <a:solidFill>
                  <a:srgbClr val="FFFFFF"/>
                </a:solidFill>
                <a:latin typeface="Segoe UI"/>
              </a:rPr>
              <a:t>Foundry Control Plane  </a:t>
            </a:r>
            <a:r>
              <a:rPr sz="850" b="0">
                <a:solidFill>
                  <a:srgbClr val="FFFFFF"/>
                </a:solidFill>
                <a:latin typeface="Segoe UI"/>
              </a:rPr>
              <a:t>one management layer across agents (prompt, workflow, hosted, Azure SRE Agent, Logic Apps agent loops, registered custom agents), model deployments and tools — reached from the Operate view in the Foundry portal</a:t>
            </a:r>
          </a:p>
        </p:txBody>
      </p:sp>
      <p:sp>
        <p:nvSpPr>
          <p:cNvPr id="44" name="Rectangle 43"/>
          <p:cNvSpPr/>
          <p:nvPr/>
        </p:nvSpPr>
        <p:spPr>
          <a:xfrm>
            <a:off x="548640" y="1865376"/>
            <a:ext cx="2670048" cy="2697480"/>
          </a:xfrm>
          <a:prstGeom prst="rect">
            <a:avLst/>
          </a:prstGeom>
          <a:solidFill>
            <a:srgbClr val="F6F8FD"/>
          </a:solidFill>
          <a:ln w="9525">
            <a:solidFill>
              <a:srgbClr val="E1E7F4"/>
            </a:solidFill>
          </a:ln>
          <a:effectLst/>
        </p:spPr>
        <p:txBody>
          <a:bodyPr rtlCol="0" anchor="ctr"/>
          <a:lstStyle/>
          <a:p>
            <a:pPr algn="ctr"/>
            <a:endParaRPr/>
          </a:p>
        </p:txBody>
      </p:sp>
      <p:sp>
        <p:nvSpPr>
          <p:cNvPr id="45" name="Rectangle 44"/>
          <p:cNvSpPr/>
          <p:nvPr/>
        </p:nvSpPr>
        <p:spPr>
          <a:xfrm>
            <a:off x="548640" y="1865376"/>
            <a:ext cx="2670048" cy="475488"/>
          </a:xfrm>
          <a:prstGeom prst="rect">
            <a:avLst/>
          </a:prstGeom>
          <a:solidFill>
            <a:srgbClr val="101A3C"/>
          </a:solidFill>
          <a:ln>
            <a:noFill/>
          </a:ln>
          <a:effectLst/>
        </p:spPr>
        <p:txBody>
          <a:bodyPr rtlCol="0" anchor="ctr"/>
          <a:lstStyle/>
          <a:p>
            <a:pPr algn="ctr"/>
            <a:endParaRPr/>
          </a:p>
        </p:txBody>
      </p:sp>
      <p:sp>
        <p:nvSpPr>
          <p:cNvPr id="46" name="TextBox 45"/>
          <p:cNvSpPr txBox="1"/>
          <p:nvPr/>
        </p:nvSpPr>
        <p:spPr>
          <a:xfrm>
            <a:off x="548640" y="1865376"/>
            <a:ext cx="2670048" cy="475488"/>
          </a:xfrm>
          <a:prstGeom prst="rect">
            <a:avLst/>
          </a:prstGeom>
          <a:noFill/>
        </p:spPr>
        <p:txBody>
          <a:bodyPr wrap="square" lIns="73152" tIns="27432" rIns="73152" bIns="27432" anchor="ctr">
            <a:spAutoFit/>
          </a:bodyPr>
          <a:lstStyle/>
          <a:p>
            <a:pPr algn="ctr"/>
            <a:r>
              <a:rPr sz="950" b="1">
                <a:solidFill>
                  <a:srgbClr val="FFFFFF"/>
                </a:solidFill>
                <a:latin typeface="Segoe UI"/>
              </a:rPr>
              <a:t>Observe</a:t>
            </a:r>
          </a:p>
          <a:p>
            <a:pPr algn="ctr"/>
            <a:r>
              <a:rPr sz="950" b="0">
                <a:solidFill>
                  <a:srgbClr val="FFFFFF"/>
                </a:solidFill>
                <a:latin typeface="Segoe UI"/>
              </a:rPr>
              <a:t>see what agents and models do</a:t>
            </a:r>
          </a:p>
        </p:txBody>
      </p:sp>
      <p:sp>
        <p:nvSpPr>
          <p:cNvPr id="47" name="Rectangle 46"/>
          <p:cNvSpPr/>
          <p:nvPr/>
        </p:nvSpPr>
        <p:spPr>
          <a:xfrm>
            <a:off x="621792" y="2395728"/>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48" name="TextBox 47"/>
          <p:cNvSpPr txBox="1"/>
          <p:nvPr/>
        </p:nvSpPr>
        <p:spPr>
          <a:xfrm>
            <a:off x="621792" y="2395728"/>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Tracing</a:t>
            </a:r>
          </a:p>
          <a:p>
            <a:pPr algn="l"/>
            <a:r>
              <a:rPr sz="750" b="0">
                <a:solidFill>
                  <a:srgbClr val="141B33"/>
                </a:solidFill>
                <a:latin typeface="Segoe UI"/>
              </a:rPr>
              <a:t>OpenTelemetry spans from prompt agents, hosted agents and your own code, stored in Application Insights</a:t>
            </a:r>
          </a:p>
        </p:txBody>
      </p:sp>
      <p:sp>
        <p:nvSpPr>
          <p:cNvPr id="49" name="Rectangle 48"/>
          <p:cNvSpPr/>
          <p:nvPr/>
        </p:nvSpPr>
        <p:spPr>
          <a:xfrm>
            <a:off x="621792" y="3108960"/>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50" name="TextBox 49"/>
          <p:cNvSpPr txBox="1"/>
          <p:nvPr/>
        </p:nvSpPr>
        <p:spPr>
          <a:xfrm>
            <a:off x="621792" y="3108960"/>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Monitoring</a:t>
            </a:r>
          </a:p>
          <a:p>
            <a:pPr algn="l"/>
            <a:r>
              <a:rPr sz="750" b="0">
                <a:solidFill>
                  <a:srgbClr val="141B33"/>
                </a:solidFill>
                <a:latin typeface="Segoe UI"/>
              </a:rPr>
              <a:t>agent monitoring dashboard*: tokens, latency, run success · model deployment metrics · diagnostic logs</a:t>
            </a:r>
          </a:p>
        </p:txBody>
      </p:sp>
      <p:sp>
        <p:nvSpPr>
          <p:cNvPr id="51" name="Rectangle 50"/>
          <p:cNvSpPr/>
          <p:nvPr/>
        </p:nvSpPr>
        <p:spPr>
          <a:xfrm>
            <a:off x="621792" y="3822191"/>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52" name="TextBox 51"/>
          <p:cNvSpPr txBox="1"/>
          <p:nvPr/>
        </p:nvSpPr>
        <p:spPr>
          <a:xfrm>
            <a:off x="621792" y="3822191"/>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Fleet inventory</a:t>
            </a:r>
          </a:p>
          <a:p>
            <a:pPr algn="l"/>
            <a:r>
              <a:rPr sz="750" b="0">
                <a:solidFill>
                  <a:srgbClr val="141B33"/>
                </a:solidFill>
                <a:latin typeface="Segoe UI"/>
              </a:rPr>
              <a:t>every agent with status, version, runs, error rate, tokens, estimated cost and its Entra Agent ID</a:t>
            </a:r>
          </a:p>
        </p:txBody>
      </p:sp>
      <p:sp>
        <p:nvSpPr>
          <p:cNvPr id="53" name="TextBox 52"/>
          <p:cNvSpPr txBox="1"/>
          <p:nvPr/>
        </p:nvSpPr>
        <p:spPr>
          <a:xfrm>
            <a:off x="548640" y="4306824"/>
            <a:ext cx="2670048" cy="237744"/>
          </a:xfrm>
          <a:prstGeom prst="rect">
            <a:avLst/>
          </a:prstGeom>
          <a:noFill/>
        </p:spPr>
        <p:txBody>
          <a:bodyPr wrap="square" lIns="73152" tIns="27432" rIns="73152" bIns="27432" anchor="ctr">
            <a:spAutoFit/>
          </a:bodyPr>
          <a:lstStyle/>
          <a:p>
            <a:pPr algn="r"/>
            <a:r>
              <a:rPr sz="750" b="0">
                <a:solidFill>
                  <a:srgbClr val="44495B"/>
                </a:solidFill>
                <a:latin typeface="Segoe UI"/>
              </a:rPr>
              <a:t>→ slide 21</a:t>
            </a:r>
          </a:p>
        </p:txBody>
      </p:sp>
      <p:sp>
        <p:nvSpPr>
          <p:cNvPr id="54" name="Rectangle 53"/>
          <p:cNvSpPr/>
          <p:nvPr/>
        </p:nvSpPr>
        <p:spPr>
          <a:xfrm>
            <a:off x="3355848" y="1865376"/>
            <a:ext cx="2670048" cy="2697480"/>
          </a:xfrm>
          <a:prstGeom prst="rect">
            <a:avLst/>
          </a:prstGeom>
          <a:solidFill>
            <a:srgbClr val="F6F8FD"/>
          </a:solidFill>
          <a:ln w="9525">
            <a:solidFill>
              <a:srgbClr val="E1E7F4"/>
            </a:solidFill>
          </a:ln>
          <a:effectLst/>
        </p:spPr>
        <p:txBody>
          <a:bodyPr rtlCol="0" anchor="ctr"/>
          <a:lstStyle/>
          <a:p>
            <a:pPr algn="ctr"/>
            <a:endParaRPr/>
          </a:p>
        </p:txBody>
      </p:sp>
      <p:sp>
        <p:nvSpPr>
          <p:cNvPr id="55" name="Rectangle 54"/>
          <p:cNvSpPr/>
          <p:nvPr/>
        </p:nvSpPr>
        <p:spPr>
          <a:xfrm>
            <a:off x="3355848" y="1865376"/>
            <a:ext cx="2670048" cy="475488"/>
          </a:xfrm>
          <a:prstGeom prst="rect">
            <a:avLst/>
          </a:prstGeom>
          <a:solidFill>
            <a:srgbClr val="008173"/>
          </a:solidFill>
          <a:ln>
            <a:noFill/>
          </a:ln>
          <a:effectLst/>
        </p:spPr>
        <p:txBody>
          <a:bodyPr rtlCol="0" anchor="ctr"/>
          <a:lstStyle/>
          <a:p>
            <a:pPr algn="ctr"/>
            <a:endParaRPr/>
          </a:p>
        </p:txBody>
      </p:sp>
      <p:sp>
        <p:nvSpPr>
          <p:cNvPr id="56" name="TextBox 55"/>
          <p:cNvSpPr txBox="1"/>
          <p:nvPr/>
        </p:nvSpPr>
        <p:spPr>
          <a:xfrm>
            <a:off x="3355848" y="1865376"/>
            <a:ext cx="2670048" cy="475488"/>
          </a:xfrm>
          <a:prstGeom prst="rect">
            <a:avLst/>
          </a:prstGeom>
          <a:noFill/>
        </p:spPr>
        <p:txBody>
          <a:bodyPr wrap="square" lIns="73152" tIns="27432" rIns="73152" bIns="27432" anchor="ctr">
            <a:spAutoFit/>
          </a:bodyPr>
          <a:lstStyle/>
          <a:p>
            <a:pPr algn="ctr"/>
            <a:r>
              <a:rPr sz="950" b="1">
                <a:solidFill>
                  <a:srgbClr val="FFFFFF"/>
                </a:solidFill>
                <a:latin typeface="Segoe UI"/>
              </a:rPr>
              <a:t>Evaluate</a:t>
            </a:r>
          </a:p>
          <a:p>
            <a:pPr algn="ctr"/>
            <a:r>
              <a:rPr sz="950" b="0">
                <a:solidFill>
                  <a:srgbClr val="FFFFFF"/>
                </a:solidFill>
                <a:latin typeface="Segoe UI"/>
              </a:rPr>
              <a:t>measure quality and safety</a:t>
            </a:r>
          </a:p>
        </p:txBody>
      </p:sp>
      <p:sp>
        <p:nvSpPr>
          <p:cNvPr id="57" name="Rectangle 56"/>
          <p:cNvSpPr/>
          <p:nvPr/>
        </p:nvSpPr>
        <p:spPr>
          <a:xfrm>
            <a:off x="3429000" y="2395728"/>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58" name="TextBox 57"/>
          <p:cNvSpPr txBox="1"/>
          <p:nvPr/>
        </p:nvSpPr>
        <p:spPr>
          <a:xfrm>
            <a:off x="3429000" y="2395728"/>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Evaluations</a:t>
            </a:r>
          </a:p>
          <a:p>
            <a:pPr algn="l"/>
            <a:r>
              <a:rPr sz="750" b="0">
                <a:solidFill>
                  <a:srgbClr val="141B33"/>
                </a:solidFill>
                <a:latin typeface="Segoe UI"/>
              </a:rPr>
              <a:t>built-in, agent and rubric evaluators; custom evaluators; run from portal, SDK or CI/CD</a:t>
            </a:r>
          </a:p>
        </p:txBody>
      </p:sp>
      <p:sp>
        <p:nvSpPr>
          <p:cNvPr id="59" name="Rectangle 58"/>
          <p:cNvSpPr/>
          <p:nvPr/>
        </p:nvSpPr>
        <p:spPr>
          <a:xfrm>
            <a:off x="3429000" y="3108960"/>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60" name="TextBox 59"/>
          <p:cNvSpPr txBox="1"/>
          <p:nvPr/>
        </p:nvSpPr>
        <p:spPr>
          <a:xfrm>
            <a:off x="3429000" y="3108960"/>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Continuous evaluation</a:t>
            </a:r>
          </a:p>
          <a:p>
            <a:pPr algn="l"/>
            <a:r>
              <a:rPr sz="750" b="0">
                <a:solidFill>
                  <a:srgbClr val="141B33"/>
                </a:solidFill>
                <a:latin typeface="Segoe UI"/>
              </a:rPr>
              <a:t>sampled production traffic scored for task adherence, tool-call success, groundedness, data leakage and prompt-injection exposure</a:t>
            </a:r>
          </a:p>
        </p:txBody>
      </p:sp>
      <p:sp>
        <p:nvSpPr>
          <p:cNvPr id="61" name="Rectangle 60"/>
          <p:cNvSpPr/>
          <p:nvPr/>
        </p:nvSpPr>
        <p:spPr>
          <a:xfrm>
            <a:off x="3429000" y="3822191"/>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62" name="TextBox 61"/>
          <p:cNvSpPr txBox="1"/>
          <p:nvPr/>
        </p:nvSpPr>
        <p:spPr>
          <a:xfrm>
            <a:off x="3429000" y="3822191"/>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AI red teaming</a:t>
            </a:r>
          </a:p>
          <a:p>
            <a:pPr algn="l"/>
            <a:r>
              <a:rPr sz="750" b="0">
                <a:solidFill>
                  <a:srgbClr val="141B33"/>
                </a:solidFill>
                <a:latin typeface="Segoe UI"/>
              </a:rPr>
              <a:t>scheduled adversarial scans with the AI Red Teaming Agent · cluster analysis of failures · drift monitoring</a:t>
            </a:r>
          </a:p>
        </p:txBody>
      </p:sp>
      <p:sp>
        <p:nvSpPr>
          <p:cNvPr id="63" name="TextBox 62"/>
          <p:cNvSpPr txBox="1"/>
          <p:nvPr/>
        </p:nvSpPr>
        <p:spPr>
          <a:xfrm>
            <a:off x="3355848" y="4306824"/>
            <a:ext cx="2670048" cy="237744"/>
          </a:xfrm>
          <a:prstGeom prst="rect">
            <a:avLst/>
          </a:prstGeom>
          <a:noFill/>
        </p:spPr>
        <p:txBody>
          <a:bodyPr wrap="square" lIns="73152" tIns="27432" rIns="73152" bIns="27432" anchor="ctr">
            <a:spAutoFit/>
          </a:bodyPr>
          <a:lstStyle/>
          <a:p>
            <a:pPr algn="r"/>
            <a:r>
              <a:rPr sz="750" b="0">
                <a:solidFill>
                  <a:srgbClr val="44495B"/>
                </a:solidFill>
                <a:latin typeface="Segoe UI"/>
              </a:rPr>
              <a:t>→ slide 20</a:t>
            </a:r>
          </a:p>
        </p:txBody>
      </p:sp>
      <p:sp>
        <p:nvSpPr>
          <p:cNvPr id="64" name="Rectangle 63"/>
          <p:cNvSpPr/>
          <p:nvPr/>
        </p:nvSpPr>
        <p:spPr>
          <a:xfrm>
            <a:off x="6163056" y="1865376"/>
            <a:ext cx="2670048" cy="2697480"/>
          </a:xfrm>
          <a:prstGeom prst="rect">
            <a:avLst/>
          </a:prstGeom>
          <a:solidFill>
            <a:srgbClr val="F6F8FD"/>
          </a:solidFill>
          <a:ln w="9525">
            <a:solidFill>
              <a:srgbClr val="E1E7F4"/>
            </a:solidFill>
          </a:ln>
          <a:effectLst/>
        </p:spPr>
        <p:txBody>
          <a:bodyPr rtlCol="0" anchor="ctr"/>
          <a:lstStyle/>
          <a:p>
            <a:pPr algn="ctr"/>
            <a:endParaRPr/>
          </a:p>
        </p:txBody>
      </p:sp>
      <p:sp>
        <p:nvSpPr>
          <p:cNvPr id="65" name="Rectangle 64"/>
          <p:cNvSpPr/>
          <p:nvPr/>
        </p:nvSpPr>
        <p:spPr>
          <a:xfrm>
            <a:off x="6163056" y="1865376"/>
            <a:ext cx="2670048" cy="475488"/>
          </a:xfrm>
          <a:prstGeom prst="rect">
            <a:avLst/>
          </a:prstGeom>
          <a:solidFill>
            <a:srgbClr val="101A3C"/>
          </a:solidFill>
          <a:ln>
            <a:noFill/>
          </a:ln>
          <a:effectLst/>
        </p:spPr>
        <p:txBody>
          <a:bodyPr rtlCol="0" anchor="ctr"/>
          <a:lstStyle/>
          <a:p>
            <a:pPr algn="ctr"/>
            <a:endParaRPr/>
          </a:p>
        </p:txBody>
      </p:sp>
      <p:sp>
        <p:nvSpPr>
          <p:cNvPr id="66" name="TextBox 65"/>
          <p:cNvSpPr txBox="1"/>
          <p:nvPr/>
        </p:nvSpPr>
        <p:spPr>
          <a:xfrm>
            <a:off x="6163056" y="1865376"/>
            <a:ext cx="2670048" cy="475488"/>
          </a:xfrm>
          <a:prstGeom prst="rect">
            <a:avLst/>
          </a:prstGeom>
          <a:noFill/>
        </p:spPr>
        <p:txBody>
          <a:bodyPr wrap="square" lIns="73152" tIns="27432" rIns="73152" bIns="27432" anchor="ctr">
            <a:spAutoFit/>
          </a:bodyPr>
          <a:lstStyle/>
          <a:p>
            <a:pPr algn="ctr"/>
            <a:r>
              <a:rPr sz="950" b="1">
                <a:solidFill>
                  <a:srgbClr val="FFFFFF"/>
                </a:solidFill>
                <a:latin typeface="Segoe UI"/>
              </a:rPr>
              <a:t>Protect</a:t>
            </a:r>
          </a:p>
          <a:p>
            <a:pPr algn="ctr"/>
            <a:r>
              <a:rPr sz="950" b="0">
                <a:solidFill>
                  <a:srgbClr val="FFFFFF"/>
                </a:solidFill>
                <a:latin typeface="Segoe UI"/>
              </a:rPr>
              <a:t>guardrails, identity and network</a:t>
            </a:r>
          </a:p>
        </p:txBody>
      </p:sp>
      <p:sp>
        <p:nvSpPr>
          <p:cNvPr id="67" name="Rectangle 66"/>
          <p:cNvSpPr/>
          <p:nvPr/>
        </p:nvSpPr>
        <p:spPr>
          <a:xfrm>
            <a:off x="6236208" y="2395728"/>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68" name="TextBox 67"/>
          <p:cNvSpPr txBox="1"/>
          <p:nvPr/>
        </p:nvSpPr>
        <p:spPr>
          <a:xfrm>
            <a:off x="6236208" y="2395728"/>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Guardrails and controls</a:t>
            </a:r>
          </a:p>
          <a:p>
            <a:pPr algn="l"/>
            <a:r>
              <a:rPr sz="750" b="0">
                <a:solidFill>
                  <a:srgbClr val="141B33"/>
                </a:solidFill>
                <a:latin typeface="Segoe UI"/>
              </a:rPr>
              <a:t>content filters, Prompt Shields, groundedness, PII, protected material, task adherence at four intervention points</a:t>
            </a:r>
          </a:p>
        </p:txBody>
      </p:sp>
      <p:sp>
        <p:nvSpPr>
          <p:cNvPr id="69" name="Rectangle 68"/>
          <p:cNvSpPr/>
          <p:nvPr/>
        </p:nvSpPr>
        <p:spPr>
          <a:xfrm>
            <a:off x="6236208" y="3108960"/>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70" name="TextBox 69"/>
          <p:cNvSpPr txBox="1"/>
          <p:nvPr/>
        </p:nvSpPr>
        <p:spPr>
          <a:xfrm>
            <a:off x="6236208" y="3108960"/>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Identity</a:t>
            </a:r>
          </a:p>
          <a:p>
            <a:pPr algn="l"/>
            <a:r>
              <a:rPr sz="750" b="0">
                <a:solidFill>
                  <a:srgbClr val="141B33"/>
                </a:solidFill>
                <a:latin typeface="Segoe UI"/>
              </a:rPr>
              <a:t>Microsoft Entra Agent ID for every agent · RBAC · keyless access with managed identities</a:t>
            </a:r>
          </a:p>
        </p:txBody>
      </p:sp>
      <p:sp>
        <p:nvSpPr>
          <p:cNvPr id="71" name="Rectangle 70"/>
          <p:cNvSpPr/>
          <p:nvPr/>
        </p:nvSpPr>
        <p:spPr>
          <a:xfrm>
            <a:off x="6236208" y="3822191"/>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72" name="TextBox 71"/>
          <p:cNvSpPr txBox="1"/>
          <p:nvPr/>
        </p:nvSpPr>
        <p:spPr>
          <a:xfrm>
            <a:off x="6236208" y="3822191"/>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Isolation</a:t>
            </a:r>
          </a:p>
          <a:p>
            <a:pPr algn="l"/>
            <a:r>
              <a:rPr sz="750" b="0">
                <a:solidFill>
                  <a:srgbClr val="141B33"/>
                </a:solidFill>
                <a:latin typeface="Segoe UI"/>
              </a:rPr>
              <a:t>private endpoints, managed or bring-your-own VNet, customer-managed keys · Defender and Purview alerts surfaced here</a:t>
            </a:r>
          </a:p>
        </p:txBody>
      </p:sp>
      <p:sp>
        <p:nvSpPr>
          <p:cNvPr id="73" name="TextBox 72"/>
          <p:cNvSpPr txBox="1"/>
          <p:nvPr/>
        </p:nvSpPr>
        <p:spPr>
          <a:xfrm>
            <a:off x="6163056" y="4306824"/>
            <a:ext cx="2670048" cy="237744"/>
          </a:xfrm>
          <a:prstGeom prst="rect">
            <a:avLst/>
          </a:prstGeom>
          <a:noFill/>
        </p:spPr>
        <p:txBody>
          <a:bodyPr wrap="square" lIns="73152" tIns="27432" rIns="73152" bIns="27432" anchor="ctr">
            <a:spAutoFit/>
          </a:bodyPr>
          <a:lstStyle/>
          <a:p>
            <a:pPr algn="r"/>
            <a:r>
              <a:rPr sz="750" b="0">
                <a:solidFill>
                  <a:srgbClr val="44495B"/>
                </a:solidFill>
                <a:latin typeface="Segoe UI"/>
              </a:rPr>
              <a:t>→ slide 19</a:t>
            </a:r>
          </a:p>
        </p:txBody>
      </p:sp>
      <p:sp>
        <p:nvSpPr>
          <p:cNvPr id="74" name="Rectangle 73"/>
          <p:cNvSpPr/>
          <p:nvPr/>
        </p:nvSpPr>
        <p:spPr>
          <a:xfrm>
            <a:off x="8970264" y="1865376"/>
            <a:ext cx="2670048" cy="2697480"/>
          </a:xfrm>
          <a:prstGeom prst="rect">
            <a:avLst/>
          </a:prstGeom>
          <a:solidFill>
            <a:srgbClr val="F6F8FD"/>
          </a:solidFill>
          <a:ln w="9525">
            <a:solidFill>
              <a:srgbClr val="E1E7F4"/>
            </a:solidFill>
          </a:ln>
          <a:effectLst/>
        </p:spPr>
        <p:txBody>
          <a:bodyPr rtlCol="0" anchor="ctr"/>
          <a:lstStyle/>
          <a:p>
            <a:pPr algn="ctr"/>
            <a:endParaRPr/>
          </a:p>
        </p:txBody>
      </p:sp>
      <p:sp>
        <p:nvSpPr>
          <p:cNvPr id="75" name="Rectangle 74"/>
          <p:cNvSpPr/>
          <p:nvPr/>
        </p:nvSpPr>
        <p:spPr>
          <a:xfrm>
            <a:off x="8970264" y="1865376"/>
            <a:ext cx="2670048" cy="475488"/>
          </a:xfrm>
          <a:prstGeom prst="rect">
            <a:avLst/>
          </a:prstGeom>
          <a:solidFill>
            <a:srgbClr val="008173"/>
          </a:solidFill>
          <a:ln>
            <a:noFill/>
          </a:ln>
          <a:effectLst/>
        </p:spPr>
        <p:txBody>
          <a:bodyPr rtlCol="0" anchor="ctr"/>
          <a:lstStyle/>
          <a:p>
            <a:pPr algn="ctr"/>
            <a:endParaRPr/>
          </a:p>
        </p:txBody>
      </p:sp>
      <p:sp>
        <p:nvSpPr>
          <p:cNvPr id="76" name="TextBox 75"/>
          <p:cNvSpPr txBox="1"/>
          <p:nvPr/>
        </p:nvSpPr>
        <p:spPr>
          <a:xfrm>
            <a:off x="8970264" y="1865376"/>
            <a:ext cx="2670048" cy="475488"/>
          </a:xfrm>
          <a:prstGeom prst="rect">
            <a:avLst/>
          </a:prstGeom>
          <a:noFill/>
        </p:spPr>
        <p:txBody>
          <a:bodyPr wrap="square" lIns="73152" tIns="27432" rIns="73152" bIns="27432" anchor="ctr">
            <a:spAutoFit/>
          </a:bodyPr>
          <a:lstStyle/>
          <a:p>
            <a:pPr algn="ctr"/>
            <a:r>
              <a:rPr sz="950" b="1">
                <a:solidFill>
                  <a:srgbClr val="FFFFFF"/>
                </a:solidFill>
                <a:latin typeface="Segoe UI"/>
              </a:rPr>
              <a:t>Govern</a:t>
            </a:r>
          </a:p>
          <a:p>
            <a:pPr algn="ctr"/>
            <a:r>
              <a:rPr sz="950" b="0">
                <a:solidFill>
                  <a:srgbClr val="FFFFFF"/>
                </a:solidFill>
                <a:latin typeface="Segoe UI"/>
              </a:rPr>
              <a:t>policy, cost and lifecycle</a:t>
            </a:r>
          </a:p>
        </p:txBody>
      </p:sp>
      <p:sp>
        <p:nvSpPr>
          <p:cNvPr id="77" name="Rectangle 76"/>
          <p:cNvSpPr/>
          <p:nvPr/>
        </p:nvSpPr>
        <p:spPr>
          <a:xfrm>
            <a:off x="9043416" y="2395728"/>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78" name="TextBox 77"/>
          <p:cNvSpPr txBox="1"/>
          <p:nvPr/>
        </p:nvSpPr>
        <p:spPr>
          <a:xfrm>
            <a:off x="9043416" y="2395728"/>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Policies</a:t>
            </a:r>
          </a:p>
          <a:p>
            <a:pPr algn="l"/>
            <a:r>
              <a:rPr sz="750" b="0">
                <a:solidFill>
                  <a:srgbClr val="141B33"/>
                </a:solidFill>
                <a:latin typeface="Segoe UI"/>
              </a:rPr>
              <a:t>enterprise-wide guardrail policies, versioned and assignable · Azure Policy · bulk remediation of non-compliant agents</a:t>
            </a:r>
          </a:p>
        </p:txBody>
      </p:sp>
      <p:sp>
        <p:nvSpPr>
          <p:cNvPr id="79" name="Rectangle 78"/>
          <p:cNvSpPr/>
          <p:nvPr/>
        </p:nvSpPr>
        <p:spPr>
          <a:xfrm>
            <a:off x="9043416" y="3108960"/>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80" name="TextBox 79"/>
          <p:cNvSpPr txBox="1"/>
          <p:nvPr/>
        </p:nvSpPr>
        <p:spPr>
          <a:xfrm>
            <a:off x="9043416" y="3108960"/>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Quota and cost</a:t>
            </a:r>
          </a:p>
          <a:p>
            <a:pPr algn="l"/>
            <a:r>
              <a:rPr sz="750" b="0">
                <a:solidFill>
                  <a:srgbClr val="141B33"/>
                </a:solidFill>
                <a:latin typeface="Segoe UI"/>
              </a:rPr>
              <a:t>token quotas and rate limits through the AI gateway · token usage and estimated cost per agent</a:t>
            </a:r>
          </a:p>
        </p:txBody>
      </p:sp>
      <p:sp>
        <p:nvSpPr>
          <p:cNvPr id="81" name="Rectangle 80"/>
          <p:cNvSpPr/>
          <p:nvPr/>
        </p:nvSpPr>
        <p:spPr>
          <a:xfrm>
            <a:off x="9043416" y="3822191"/>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82" name="TextBox 81"/>
          <p:cNvSpPr txBox="1"/>
          <p:nvPr/>
        </p:nvSpPr>
        <p:spPr>
          <a:xfrm>
            <a:off x="9043416" y="3822191"/>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Lifecycle</a:t>
            </a:r>
          </a:p>
          <a:p>
            <a:pPr algn="l"/>
            <a:r>
              <a:rPr sz="750" b="0">
                <a:solidFill>
                  <a:srgbClr val="141B33"/>
                </a:solidFill>
                <a:latin typeface="Segoe UI"/>
              </a:rPr>
              <a:t>start, stop or block agents · Agent 365 registry sync · Reader, Contributor and Owner roles</a:t>
            </a:r>
          </a:p>
        </p:txBody>
      </p:sp>
      <p:sp>
        <p:nvSpPr>
          <p:cNvPr id="83" name="TextBox 82"/>
          <p:cNvSpPr txBox="1"/>
          <p:nvPr/>
        </p:nvSpPr>
        <p:spPr>
          <a:xfrm>
            <a:off x="548640" y="4690872"/>
            <a:ext cx="54864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BUILT ON</a:t>
            </a:r>
          </a:p>
        </p:txBody>
      </p:sp>
      <p:sp>
        <p:nvSpPr>
          <p:cNvPr id="84" name="Rectangle 83"/>
          <p:cNvSpPr/>
          <p:nvPr/>
        </p:nvSpPr>
        <p:spPr>
          <a:xfrm>
            <a:off x="548640" y="4937760"/>
            <a:ext cx="1506147" cy="457200"/>
          </a:xfrm>
          <a:prstGeom prst="rect">
            <a:avLst/>
          </a:prstGeom>
          <a:solidFill>
            <a:srgbClr val="EBEFF7"/>
          </a:solidFill>
          <a:ln>
            <a:noFill/>
          </a:ln>
          <a:effectLst/>
        </p:spPr>
        <p:txBody>
          <a:bodyPr rtlCol="0" anchor="ctr"/>
          <a:lstStyle/>
          <a:p>
            <a:pPr algn="ctr"/>
            <a:endParaRPr/>
          </a:p>
        </p:txBody>
      </p:sp>
      <p:sp>
        <p:nvSpPr>
          <p:cNvPr id="85" name="TextBox 84"/>
          <p:cNvSpPr txBox="1"/>
          <p:nvPr/>
        </p:nvSpPr>
        <p:spPr>
          <a:xfrm>
            <a:off x="548640"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Application Insights</a:t>
            </a:r>
          </a:p>
          <a:p>
            <a:pPr algn="ctr"/>
            <a:r>
              <a:rPr sz="750" b="0">
                <a:solidFill>
                  <a:srgbClr val="141B33"/>
                </a:solidFill>
                <a:latin typeface="Segoe UI"/>
              </a:rPr>
              <a:t>traces, metrics, logs</a:t>
            </a:r>
          </a:p>
        </p:txBody>
      </p:sp>
      <p:sp>
        <p:nvSpPr>
          <p:cNvPr id="86" name="Rectangle 85"/>
          <p:cNvSpPr/>
          <p:nvPr/>
        </p:nvSpPr>
        <p:spPr>
          <a:xfrm>
            <a:off x="2146227" y="4937760"/>
            <a:ext cx="1506147" cy="457200"/>
          </a:xfrm>
          <a:prstGeom prst="rect">
            <a:avLst/>
          </a:prstGeom>
          <a:solidFill>
            <a:srgbClr val="EBEFF7"/>
          </a:solidFill>
          <a:ln>
            <a:noFill/>
          </a:ln>
          <a:effectLst/>
        </p:spPr>
        <p:txBody>
          <a:bodyPr rtlCol="0" anchor="ctr"/>
          <a:lstStyle/>
          <a:p>
            <a:pPr algn="ctr"/>
            <a:endParaRPr/>
          </a:p>
        </p:txBody>
      </p:sp>
      <p:sp>
        <p:nvSpPr>
          <p:cNvPr id="87" name="TextBox 86"/>
          <p:cNvSpPr txBox="1"/>
          <p:nvPr/>
        </p:nvSpPr>
        <p:spPr>
          <a:xfrm>
            <a:off x="2146227"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Microsoft Entra</a:t>
            </a:r>
          </a:p>
          <a:p>
            <a:pPr algn="ctr"/>
            <a:r>
              <a:rPr sz="750" b="0">
                <a:solidFill>
                  <a:srgbClr val="141B33"/>
                </a:solidFill>
                <a:latin typeface="Segoe UI"/>
              </a:rPr>
              <a:t>Agent ID, RBAC</a:t>
            </a:r>
          </a:p>
        </p:txBody>
      </p:sp>
      <p:sp>
        <p:nvSpPr>
          <p:cNvPr id="88" name="Rectangle 87"/>
          <p:cNvSpPr/>
          <p:nvPr/>
        </p:nvSpPr>
        <p:spPr>
          <a:xfrm>
            <a:off x="3743814" y="4937760"/>
            <a:ext cx="1506147" cy="457200"/>
          </a:xfrm>
          <a:prstGeom prst="rect">
            <a:avLst/>
          </a:prstGeom>
          <a:solidFill>
            <a:srgbClr val="EBEFF7"/>
          </a:solidFill>
          <a:ln>
            <a:noFill/>
          </a:ln>
          <a:effectLst/>
        </p:spPr>
        <p:txBody>
          <a:bodyPr rtlCol="0" anchor="ctr"/>
          <a:lstStyle/>
          <a:p>
            <a:pPr algn="ctr"/>
            <a:endParaRPr/>
          </a:p>
        </p:txBody>
      </p:sp>
      <p:sp>
        <p:nvSpPr>
          <p:cNvPr id="89" name="TextBox 88"/>
          <p:cNvSpPr txBox="1"/>
          <p:nvPr/>
        </p:nvSpPr>
        <p:spPr>
          <a:xfrm>
            <a:off x="3743814"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Azure API Management</a:t>
            </a:r>
          </a:p>
          <a:p>
            <a:pPr algn="ctr"/>
            <a:r>
              <a:rPr sz="750" b="0">
                <a:solidFill>
                  <a:srgbClr val="141B33"/>
                </a:solidFill>
                <a:latin typeface="Segoe UI"/>
              </a:rPr>
              <a:t>AI gateway: quotas, limits</a:t>
            </a:r>
          </a:p>
        </p:txBody>
      </p:sp>
      <p:sp>
        <p:nvSpPr>
          <p:cNvPr id="90" name="Rectangle 89"/>
          <p:cNvSpPr/>
          <p:nvPr/>
        </p:nvSpPr>
        <p:spPr>
          <a:xfrm>
            <a:off x="5341402" y="4937760"/>
            <a:ext cx="1506147" cy="457200"/>
          </a:xfrm>
          <a:prstGeom prst="rect">
            <a:avLst/>
          </a:prstGeom>
          <a:solidFill>
            <a:srgbClr val="EBEFF7"/>
          </a:solidFill>
          <a:ln>
            <a:noFill/>
          </a:ln>
          <a:effectLst/>
        </p:spPr>
        <p:txBody>
          <a:bodyPr rtlCol="0" anchor="ctr"/>
          <a:lstStyle/>
          <a:p>
            <a:pPr algn="ctr"/>
            <a:endParaRPr/>
          </a:p>
        </p:txBody>
      </p:sp>
      <p:sp>
        <p:nvSpPr>
          <p:cNvPr id="91" name="TextBox 90"/>
          <p:cNvSpPr txBox="1"/>
          <p:nvPr/>
        </p:nvSpPr>
        <p:spPr>
          <a:xfrm>
            <a:off x="5341402"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Microsoft Defender</a:t>
            </a:r>
          </a:p>
          <a:p>
            <a:pPr algn="ctr"/>
            <a:r>
              <a:rPr sz="750" b="0">
                <a:solidFill>
                  <a:srgbClr val="141B33"/>
                </a:solidFill>
                <a:latin typeface="Segoe UI"/>
              </a:rPr>
              <a:t>threat alerts</a:t>
            </a:r>
          </a:p>
        </p:txBody>
      </p:sp>
      <p:sp>
        <p:nvSpPr>
          <p:cNvPr id="92" name="Rectangle 91"/>
          <p:cNvSpPr/>
          <p:nvPr/>
        </p:nvSpPr>
        <p:spPr>
          <a:xfrm>
            <a:off x="6938989" y="4937760"/>
            <a:ext cx="1506147" cy="457200"/>
          </a:xfrm>
          <a:prstGeom prst="rect">
            <a:avLst/>
          </a:prstGeom>
          <a:solidFill>
            <a:srgbClr val="EBEFF7"/>
          </a:solidFill>
          <a:ln>
            <a:noFill/>
          </a:ln>
          <a:effectLst/>
        </p:spPr>
        <p:txBody>
          <a:bodyPr rtlCol="0" anchor="ctr"/>
          <a:lstStyle/>
          <a:p>
            <a:pPr algn="ctr"/>
            <a:endParaRPr/>
          </a:p>
        </p:txBody>
      </p:sp>
      <p:sp>
        <p:nvSpPr>
          <p:cNvPr id="93" name="TextBox 92"/>
          <p:cNvSpPr txBox="1"/>
          <p:nvPr/>
        </p:nvSpPr>
        <p:spPr>
          <a:xfrm>
            <a:off x="6938989"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Microsoft Purview</a:t>
            </a:r>
          </a:p>
          <a:p>
            <a:pPr algn="ctr"/>
            <a:r>
              <a:rPr sz="750" b="0">
                <a:solidFill>
                  <a:srgbClr val="141B33"/>
                </a:solidFill>
                <a:latin typeface="Segoe UI"/>
              </a:rPr>
              <a:t>data protection alerts</a:t>
            </a:r>
          </a:p>
        </p:txBody>
      </p:sp>
      <p:sp>
        <p:nvSpPr>
          <p:cNvPr id="94" name="Rectangle 93"/>
          <p:cNvSpPr/>
          <p:nvPr/>
        </p:nvSpPr>
        <p:spPr>
          <a:xfrm>
            <a:off x="8536577" y="4937760"/>
            <a:ext cx="1506147" cy="457200"/>
          </a:xfrm>
          <a:prstGeom prst="rect">
            <a:avLst/>
          </a:prstGeom>
          <a:solidFill>
            <a:srgbClr val="EBEFF7"/>
          </a:solidFill>
          <a:ln>
            <a:noFill/>
          </a:ln>
          <a:effectLst/>
        </p:spPr>
        <p:txBody>
          <a:bodyPr rtlCol="0" anchor="ctr"/>
          <a:lstStyle/>
          <a:p>
            <a:pPr algn="ctr"/>
            <a:endParaRPr/>
          </a:p>
        </p:txBody>
      </p:sp>
      <p:sp>
        <p:nvSpPr>
          <p:cNvPr id="95" name="TextBox 94"/>
          <p:cNvSpPr txBox="1"/>
          <p:nvPr/>
        </p:nvSpPr>
        <p:spPr>
          <a:xfrm>
            <a:off x="8536577"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Azure Policy</a:t>
            </a:r>
          </a:p>
          <a:p>
            <a:pPr algn="ctr"/>
            <a:r>
              <a:rPr sz="750" b="0">
                <a:solidFill>
                  <a:srgbClr val="141B33"/>
                </a:solidFill>
                <a:latin typeface="Segoe UI"/>
              </a:rPr>
              <a:t>compliance rules</a:t>
            </a:r>
          </a:p>
        </p:txBody>
      </p:sp>
      <p:sp>
        <p:nvSpPr>
          <p:cNvPr id="96" name="Rectangle 95"/>
          <p:cNvSpPr/>
          <p:nvPr/>
        </p:nvSpPr>
        <p:spPr>
          <a:xfrm>
            <a:off x="10134164" y="4937760"/>
            <a:ext cx="1506147" cy="457200"/>
          </a:xfrm>
          <a:prstGeom prst="rect">
            <a:avLst/>
          </a:prstGeom>
          <a:solidFill>
            <a:srgbClr val="EBEFF7"/>
          </a:solidFill>
          <a:ln>
            <a:noFill/>
          </a:ln>
          <a:effectLst/>
        </p:spPr>
        <p:txBody>
          <a:bodyPr rtlCol="0" anchor="ctr"/>
          <a:lstStyle/>
          <a:p>
            <a:pPr algn="ctr"/>
            <a:endParaRPr/>
          </a:p>
        </p:txBody>
      </p:sp>
      <p:sp>
        <p:nvSpPr>
          <p:cNvPr id="97" name="TextBox 96"/>
          <p:cNvSpPr txBox="1"/>
          <p:nvPr/>
        </p:nvSpPr>
        <p:spPr>
          <a:xfrm>
            <a:off x="10134164"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Microsoft Agent 365</a:t>
            </a:r>
          </a:p>
          <a:p>
            <a:pPr algn="ctr"/>
            <a:r>
              <a:rPr sz="750" b="0">
                <a:solidFill>
                  <a:srgbClr val="141B33"/>
                </a:solidFill>
                <a:latin typeface="Segoe UI"/>
              </a:rPr>
              <a:t>registry, M365 control plane</a:t>
            </a:r>
          </a:p>
        </p:txBody>
      </p:sp>
      <p:sp>
        <p:nvSpPr>
          <p:cNvPr id="98" name="TextBox 97"/>
          <p:cNvSpPr txBox="1"/>
          <p:nvPr/>
        </p:nvSpPr>
        <p:spPr>
          <a:xfrm>
            <a:off x="548640" y="5413248"/>
            <a:ext cx="91440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 Classic agents and Azure OpenAI assistants are not covered by the Control Plane.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5   ·   C O N T R O L   P L A N E</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Guardrails and Azure AI Content Safety</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A guardrail is a named set of controls; each control says which risk to detect, at which intervention point, and what action to take.</a:t>
            </a:r>
          </a:p>
          <a:p>
            <a:endParaRPr sz="1200">
              <a:solidFill>
                <a:srgbClr val="44495B"/>
              </a:solidFill>
              <a:latin typeface="Segoe UI"/>
            </a:endParaRPr>
          </a:p>
        </p:txBody>
      </p:sp>
      <p:sp>
        <p:nvSpPr>
          <p:cNvPr id="34" name="Shape"/>
          <p:cNvSpPr/>
          <p:nvPr/>
        </p:nvSpPr>
        <p:spPr>
          <a:xfrm>
            <a:off x="548640" y="5687568"/>
            <a:ext cx="11094720" cy="9525"/>
          </a:xfrm>
          <a:prstGeom prst="rect">
            <a:avLst/>
          </a:prstGeom>
          <a:solidFill>
            <a:srgbClr val="E1E7F4"/>
          </a:solidFill>
        </p:spPr>
        <p:txBody>
          <a:bodyPr/>
          <a:lstStyle/>
          <a:p>
            <a:endParaRPr/>
          </a:p>
        </p:txBody>
      </p:sp>
      <p:sp>
        <p:nvSpPr>
          <p:cNvPr id="35"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learn.microsoft.com/azure/foundry/guardrails/guardrails-overview · ai-services/content-safety/overview</a:t>
            </a:r>
          </a:p>
          <a:p>
            <a:endParaRPr sz="900">
              <a:solidFill>
                <a:srgbClr val="44495B"/>
              </a:solidFill>
              <a:latin typeface="Segoe UI"/>
            </a:endParaRPr>
          </a:p>
        </p:txBody>
      </p:sp>
      <p:sp>
        <p:nvSpPr>
          <p:cNvPr id="36"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21</a:t>
            </a:r>
          </a:p>
        </p:txBody>
      </p:sp>
      <p:sp>
        <p:nvSpPr>
          <p:cNvPr id="37" name="TextBox 36"/>
          <p:cNvSpPr txBox="1"/>
          <p:nvPr/>
        </p:nvSpPr>
        <p:spPr>
          <a:xfrm>
            <a:off x="548640" y="1298448"/>
            <a:ext cx="82296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WHERE A GUARDRAIL SCANS — THE FOUR INTERVENTION POINTS ON ONE AGENT TURN</a:t>
            </a:r>
          </a:p>
        </p:txBody>
      </p:sp>
      <p:sp>
        <p:nvSpPr>
          <p:cNvPr id="38" name="Rectangle 37"/>
          <p:cNvSpPr/>
          <p:nvPr/>
        </p:nvSpPr>
        <p:spPr>
          <a:xfrm>
            <a:off x="548640" y="1682495"/>
            <a:ext cx="1417320" cy="548640"/>
          </a:xfrm>
          <a:prstGeom prst="rect">
            <a:avLst/>
          </a:prstGeom>
          <a:solidFill>
            <a:srgbClr val="EBEFF7"/>
          </a:solidFill>
          <a:ln>
            <a:noFill/>
          </a:ln>
          <a:effectLst/>
        </p:spPr>
        <p:txBody>
          <a:bodyPr rtlCol="0" anchor="ctr"/>
          <a:lstStyle/>
          <a:p>
            <a:pPr algn="ctr"/>
            <a:endParaRPr/>
          </a:p>
        </p:txBody>
      </p:sp>
      <p:sp>
        <p:nvSpPr>
          <p:cNvPr id="39" name="TextBox 38"/>
          <p:cNvSpPr txBox="1"/>
          <p:nvPr/>
        </p:nvSpPr>
        <p:spPr>
          <a:xfrm>
            <a:off x="548640" y="1682495"/>
            <a:ext cx="1417320" cy="548640"/>
          </a:xfrm>
          <a:prstGeom prst="rect">
            <a:avLst/>
          </a:prstGeom>
          <a:noFill/>
        </p:spPr>
        <p:txBody>
          <a:bodyPr wrap="square" lIns="73152" tIns="27432" rIns="73152" bIns="27432" anchor="ctr">
            <a:spAutoFit/>
          </a:bodyPr>
          <a:lstStyle/>
          <a:p>
            <a:pPr algn="ctr"/>
            <a:r>
              <a:rPr sz="850" b="1">
                <a:solidFill>
                  <a:srgbClr val="141B33"/>
                </a:solidFill>
                <a:latin typeface="Segoe UI"/>
              </a:rPr>
              <a:t>User</a:t>
            </a:r>
          </a:p>
          <a:p>
            <a:pPr algn="ctr"/>
            <a:r>
              <a:rPr sz="850" b="0">
                <a:solidFill>
                  <a:srgbClr val="141B33"/>
                </a:solidFill>
                <a:latin typeface="Segoe UI"/>
              </a:rPr>
              <a:t>prompt in · answer out</a:t>
            </a:r>
          </a:p>
        </p:txBody>
      </p:sp>
      <p:sp>
        <p:nvSpPr>
          <p:cNvPr id="40" name="Rectangle 39"/>
          <p:cNvSpPr/>
          <p:nvPr/>
        </p:nvSpPr>
        <p:spPr>
          <a:xfrm>
            <a:off x="2880360" y="1682495"/>
            <a:ext cx="1417320" cy="548640"/>
          </a:xfrm>
          <a:prstGeom prst="rect">
            <a:avLst/>
          </a:prstGeom>
          <a:solidFill>
            <a:srgbClr val="101A3C"/>
          </a:solidFill>
          <a:ln>
            <a:noFill/>
          </a:ln>
          <a:effectLst/>
        </p:spPr>
        <p:txBody>
          <a:bodyPr rtlCol="0" anchor="ctr"/>
          <a:lstStyle/>
          <a:p>
            <a:pPr algn="ctr"/>
            <a:endParaRPr/>
          </a:p>
        </p:txBody>
      </p:sp>
      <p:sp>
        <p:nvSpPr>
          <p:cNvPr id="41" name="TextBox 40"/>
          <p:cNvSpPr txBox="1"/>
          <p:nvPr/>
        </p:nvSpPr>
        <p:spPr>
          <a:xfrm>
            <a:off x="2880360" y="1682495"/>
            <a:ext cx="1417320" cy="548640"/>
          </a:xfrm>
          <a:prstGeom prst="rect">
            <a:avLst/>
          </a:prstGeom>
          <a:noFill/>
        </p:spPr>
        <p:txBody>
          <a:bodyPr wrap="square" lIns="73152" tIns="27432" rIns="73152" bIns="27432" anchor="ctr">
            <a:spAutoFit/>
          </a:bodyPr>
          <a:lstStyle/>
          <a:p>
            <a:pPr algn="ctr"/>
            <a:r>
              <a:rPr sz="850" b="1">
                <a:solidFill>
                  <a:srgbClr val="FFFFFF"/>
                </a:solidFill>
                <a:latin typeface="Segoe UI"/>
              </a:rPr>
              <a:t>Agent + model</a:t>
            </a:r>
          </a:p>
          <a:p>
            <a:pPr algn="ctr"/>
            <a:r>
              <a:rPr sz="850" b="0">
                <a:solidFill>
                  <a:srgbClr val="FFFFFF"/>
                </a:solidFill>
                <a:latin typeface="Segoe UI"/>
              </a:rPr>
              <a:t>Foundry Agent Service</a:t>
            </a:r>
          </a:p>
        </p:txBody>
      </p:sp>
      <p:sp>
        <p:nvSpPr>
          <p:cNvPr id="42" name="Rectangle 41"/>
          <p:cNvSpPr/>
          <p:nvPr/>
        </p:nvSpPr>
        <p:spPr>
          <a:xfrm>
            <a:off x="5212080" y="1682495"/>
            <a:ext cx="1417320" cy="548640"/>
          </a:xfrm>
          <a:prstGeom prst="rect">
            <a:avLst/>
          </a:prstGeom>
          <a:solidFill>
            <a:srgbClr val="FFFFFF"/>
          </a:solidFill>
          <a:ln w="9525">
            <a:solidFill>
              <a:srgbClr val="E1E7F4"/>
            </a:solidFill>
          </a:ln>
          <a:effectLst/>
        </p:spPr>
        <p:txBody>
          <a:bodyPr rtlCol="0" anchor="ctr"/>
          <a:lstStyle/>
          <a:p>
            <a:pPr algn="ctr"/>
            <a:endParaRPr/>
          </a:p>
        </p:txBody>
      </p:sp>
      <p:sp>
        <p:nvSpPr>
          <p:cNvPr id="43" name="TextBox 42"/>
          <p:cNvSpPr txBox="1"/>
          <p:nvPr/>
        </p:nvSpPr>
        <p:spPr>
          <a:xfrm>
            <a:off x="5212080" y="1682495"/>
            <a:ext cx="1417320" cy="548640"/>
          </a:xfrm>
          <a:prstGeom prst="rect">
            <a:avLst/>
          </a:prstGeom>
          <a:noFill/>
        </p:spPr>
        <p:txBody>
          <a:bodyPr wrap="square" lIns="73152" tIns="27432" rIns="73152" bIns="27432" anchor="ctr">
            <a:spAutoFit/>
          </a:bodyPr>
          <a:lstStyle/>
          <a:p>
            <a:pPr algn="ctr"/>
            <a:r>
              <a:rPr sz="850" b="1">
                <a:solidFill>
                  <a:srgbClr val="141B33"/>
                </a:solidFill>
                <a:latin typeface="Segoe UI"/>
              </a:rPr>
              <a:t>Tool</a:t>
            </a:r>
          </a:p>
          <a:p>
            <a:pPr algn="ctr"/>
            <a:r>
              <a:rPr sz="850" b="0">
                <a:solidFill>
                  <a:srgbClr val="141B33"/>
                </a:solidFill>
                <a:latin typeface="Segoe UI"/>
              </a:rPr>
              <a:t>MCP · OpenAPI · function</a:t>
            </a:r>
          </a:p>
        </p:txBody>
      </p:sp>
      <p:cxnSp>
        <p:nvCxnSpPr>
          <p:cNvPr id="44" name="Connector 43"/>
          <p:cNvCxnSpPr/>
          <p:nvPr/>
        </p:nvCxnSpPr>
        <p:spPr>
          <a:xfrm>
            <a:off x="1965960" y="1847088"/>
            <a:ext cx="914400" cy="0"/>
          </a:xfrm>
          <a:prstGeom prst="line">
            <a:avLst/>
          </a:prstGeom>
          <a:ln w="15875">
            <a:solidFill>
              <a:srgbClr val="101A3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1965960" y="2084831"/>
            <a:ext cx="914400" cy="0"/>
          </a:xfrm>
          <a:prstGeom prst="line">
            <a:avLst/>
          </a:prstGeom>
          <a:ln w="15875">
            <a:solidFill>
              <a:srgbClr val="101A3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297680" y="1847088"/>
            <a:ext cx="914400" cy="0"/>
          </a:xfrm>
          <a:prstGeom prst="line">
            <a:avLst/>
          </a:prstGeom>
          <a:ln w="15875">
            <a:solidFill>
              <a:srgbClr val="101A3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297680" y="2084831"/>
            <a:ext cx="914400" cy="0"/>
          </a:xfrm>
          <a:prstGeom prst="line">
            <a:avLst/>
          </a:prstGeom>
          <a:ln w="15875">
            <a:solidFill>
              <a:srgbClr val="101A3C"/>
            </a:solidFill>
            <a:tailEnd type="triangle" w="sm" len="sm"/>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2286000" y="1709928"/>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1</a:t>
            </a:r>
          </a:p>
        </p:txBody>
      </p:sp>
      <p:sp>
        <p:nvSpPr>
          <p:cNvPr id="49" name="Oval 48"/>
          <p:cNvSpPr/>
          <p:nvPr/>
        </p:nvSpPr>
        <p:spPr>
          <a:xfrm>
            <a:off x="2286000" y="1947672"/>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4</a:t>
            </a:r>
          </a:p>
        </p:txBody>
      </p:sp>
      <p:sp>
        <p:nvSpPr>
          <p:cNvPr id="50" name="Oval 49"/>
          <p:cNvSpPr/>
          <p:nvPr/>
        </p:nvSpPr>
        <p:spPr>
          <a:xfrm>
            <a:off x="4617720" y="1709928"/>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2</a:t>
            </a:r>
          </a:p>
        </p:txBody>
      </p:sp>
      <p:sp>
        <p:nvSpPr>
          <p:cNvPr id="51" name="Oval 50"/>
          <p:cNvSpPr/>
          <p:nvPr/>
        </p:nvSpPr>
        <p:spPr>
          <a:xfrm>
            <a:off x="4617720" y="1947672"/>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3</a:t>
            </a:r>
          </a:p>
        </p:txBody>
      </p:sp>
      <p:sp>
        <p:nvSpPr>
          <p:cNvPr id="52" name="Rectangle 51"/>
          <p:cNvSpPr/>
          <p:nvPr/>
        </p:nvSpPr>
        <p:spPr>
          <a:xfrm>
            <a:off x="548640" y="2432304"/>
            <a:ext cx="1643634" cy="713232"/>
          </a:xfrm>
          <a:prstGeom prst="rect">
            <a:avLst/>
          </a:prstGeom>
          <a:solidFill>
            <a:srgbClr val="F6F8FD"/>
          </a:solidFill>
          <a:ln w="9525">
            <a:solidFill>
              <a:srgbClr val="E1E7F4"/>
            </a:solidFill>
          </a:ln>
          <a:effectLst/>
        </p:spPr>
        <p:txBody>
          <a:bodyPr rtlCol="0" anchor="ctr"/>
          <a:lstStyle/>
          <a:p>
            <a:pPr algn="ctr"/>
            <a:endParaRPr/>
          </a:p>
        </p:txBody>
      </p:sp>
      <p:sp>
        <p:nvSpPr>
          <p:cNvPr id="53" name="Oval 52"/>
          <p:cNvSpPr/>
          <p:nvPr/>
        </p:nvSpPr>
        <p:spPr>
          <a:xfrm>
            <a:off x="621792" y="2505456"/>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1</a:t>
            </a:r>
          </a:p>
        </p:txBody>
      </p:sp>
      <p:sp>
        <p:nvSpPr>
          <p:cNvPr id="54" name="TextBox 53"/>
          <p:cNvSpPr txBox="1"/>
          <p:nvPr/>
        </p:nvSpPr>
        <p:spPr>
          <a:xfrm>
            <a:off x="896112" y="2432304"/>
            <a:ext cx="1277874" cy="713232"/>
          </a:xfrm>
          <a:prstGeom prst="rect">
            <a:avLst/>
          </a:prstGeom>
          <a:noFill/>
        </p:spPr>
        <p:txBody>
          <a:bodyPr wrap="square" lIns="73152" tIns="27432" rIns="73152" bIns="27432" anchor="ctr">
            <a:spAutoFit/>
          </a:bodyPr>
          <a:lstStyle/>
          <a:p>
            <a:pPr algn="l"/>
            <a:r>
              <a:rPr sz="750" b="1">
                <a:solidFill>
                  <a:srgbClr val="141B33"/>
                </a:solidFill>
                <a:latin typeface="Segoe UI"/>
              </a:rPr>
              <a:t>User input</a:t>
            </a:r>
          </a:p>
          <a:p>
            <a:pPr algn="l"/>
            <a:r>
              <a:rPr sz="750" b="0">
                <a:solidFill>
                  <a:srgbClr val="141B33"/>
                </a:solidFill>
                <a:latin typeface="Segoe UI"/>
              </a:rPr>
              <a:t>what the user sends to the agent</a:t>
            </a:r>
          </a:p>
          <a:p>
            <a:pPr algn="l"/>
            <a:r>
              <a:rPr sz="750" b="0">
                <a:solidFill>
                  <a:srgbClr val="141B33"/>
                </a:solidFill>
                <a:latin typeface="Segoe UI"/>
              </a:rPr>
              <a:t>models and agents</a:t>
            </a:r>
          </a:p>
        </p:txBody>
      </p:sp>
      <p:sp>
        <p:nvSpPr>
          <p:cNvPr id="55" name="Rectangle 54"/>
          <p:cNvSpPr/>
          <p:nvPr/>
        </p:nvSpPr>
        <p:spPr>
          <a:xfrm>
            <a:off x="2302002" y="2432304"/>
            <a:ext cx="1643634" cy="713232"/>
          </a:xfrm>
          <a:prstGeom prst="rect">
            <a:avLst/>
          </a:prstGeom>
          <a:solidFill>
            <a:srgbClr val="F6F8FD"/>
          </a:solidFill>
          <a:ln w="9525">
            <a:solidFill>
              <a:srgbClr val="E1E7F4"/>
            </a:solidFill>
          </a:ln>
          <a:effectLst/>
        </p:spPr>
        <p:txBody>
          <a:bodyPr rtlCol="0" anchor="ctr"/>
          <a:lstStyle/>
          <a:p>
            <a:pPr algn="ctr"/>
            <a:endParaRPr/>
          </a:p>
        </p:txBody>
      </p:sp>
      <p:sp>
        <p:nvSpPr>
          <p:cNvPr id="56" name="Oval 55"/>
          <p:cNvSpPr/>
          <p:nvPr/>
        </p:nvSpPr>
        <p:spPr>
          <a:xfrm>
            <a:off x="2375154" y="2505456"/>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2</a:t>
            </a:r>
          </a:p>
        </p:txBody>
      </p:sp>
      <p:sp>
        <p:nvSpPr>
          <p:cNvPr id="57" name="TextBox 56"/>
          <p:cNvSpPr txBox="1"/>
          <p:nvPr/>
        </p:nvSpPr>
        <p:spPr>
          <a:xfrm>
            <a:off x="2649474" y="2432304"/>
            <a:ext cx="1277874" cy="713232"/>
          </a:xfrm>
          <a:prstGeom prst="rect">
            <a:avLst/>
          </a:prstGeom>
          <a:noFill/>
        </p:spPr>
        <p:txBody>
          <a:bodyPr wrap="square" lIns="73152" tIns="27432" rIns="73152" bIns="27432" anchor="ctr">
            <a:spAutoFit/>
          </a:bodyPr>
          <a:lstStyle/>
          <a:p>
            <a:pPr algn="l"/>
            <a:r>
              <a:rPr sz="750" b="1">
                <a:solidFill>
                  <a:srgbClr val="141B33"/>
                </a:solidFill>
                <a:latin typeface="Segoe UI"/>
              </a:rPr>
              <a:t>Tool call*</a:t>
            </a:r>
          </a:p>
          <a:p>
            <a:pPr algn="l"/>
            <a:r>
              <a:rPr sz="750" b="0">
                <a:solidFill>
                  <a:srgbClr val="141B33"/>
                </a:solidFill>
                <a:latin typeface="Segoe UI"/>
              </a:rPr>
              <a:t>what the agent is about to send to a tool</a:t>
            </a:r>
          </a:p>
          <a:p>
            <a:pPr algn="l"/>
            <a:r>
              <a:rPr sz="750" b="0">
                <a:solidFill>
                  <a:srgbClr val="141B33"/>
                </a:solidFill>
                <a:latin typeface="Segoe UI"/>
              </a:rPr>
              <a:t>agents only</a:t>
            </a:r>
          </a:p>
        </p:txBody>
      </p:sp>
      <p:sp>
        <p:nvSpPr>
          <p:cNvPr id="58" name="Rectangle 57"/>
          <p:cNvSpPr/>
          <p:nvPr/>
        </p:nvSpPr>
        <p:spPr>
          <a:xfrm>
            <a:off x="4055363" y="2432304"/>
            <a:ext cx="1643634" cy="713232"/>
          </a:xfrm>
          <a:prstGeom prst="rect">
            <a:avLst/>
          </a:prstGeom>
          <a:solidFill>
            <a:srgbClr val="F6F8FD"/>
          </a:solidFill>
          <a:ln w="9525">
            <a:solidFill>
              <a:srgbClr val="E1E7F4"/>
            </a:solidFill>
          </a:ln>
          <a:effectLst/>
        </p:spPr>
        <p:txBody>
          <a:bodyPr rtlCol="0" anchor="ctr"/>
          <a:lstStyle/>
          <a:p>
            <a:pPr algn="ctr"/>
            <a:endParaRPr/>
          </a:p>
        </p:txBody>
      </p:sp>
      <p:sp>
        <p:nvSpPr>
          <p:cNvPr id="59" name="Oval 58"/>
          <p:cNvSpPr/>
          <p:nvPr/>
        </p:nvSpPr>
        <p:spPr>
          <a:xfrm>
            <a:off x="4128515" y="2505456"/>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3</a:t>
            </a:r>
          </a:p>
        </p:txBody>
      </p:sp>
      <p:sp>
        <p:nvSpPr>
          <p:cNvPr id="60" name="TextBox 59"/>
          <p:cNvSpPr txBox="1"/>
          <p:nvPr/>
        </p:nvSpPr>
        <p:spPr>
          <a:xfrm>
            <a:off x="4402836" y="2432304"/>
            <a:ext cx="1277874" cy="713232"/>
          </a:xfrm>
          <a:prstGeom prst="rect">
            <a:avLst/>
          </a:prstGeom>
          <a:noFill/>
        </p:spPr>
        <p:txBody>
          <a:bodyPr wrap="square" lIns="73152" tIns="27432" rIns="73152" bIns="27432" anchor="ctr">
            <a:spAutoFit/>
          </a:bodyPr>
          <a:lstStyle/>
          <a:p>
            <a:pPr algn="l"/>
            <a:r>
              <a:rPr sz="750" b="1">
                <a:solidFill>
                  <a:srgbClr val="141B33"/>
                </a:solidFill>
                <a:latin typeface="Segoe UI"/>
              </a:rPr>
              <a:t>Tool response*</a:t>
            </a:r>
          </a:p>
          <a:p>
            <a:pPr algn="l"/>
            <a:r>
              <a:rPr sz="750" b="0">
                <a:solidFill>
                  <a:srgbClr val="141B33"/>
                </a:solidFill>
                <a:latin typeface="Segoe UI"/>
              </a:rPr>
              <a:t>what comes back from the tool</a:t>
            </a:r>
          </a:p>
          <a:p>
            <a:pPr algn="l"/>
            <a:r>
              <a:rPr sz="750" b="0">
                <a:solidFill>
                  <a:srgbClr val="141B33"/>
                </a:solidFill>
                <a:latin typeface="Segoe UI"/>
              </a:rPr>
              <a:t>agents only</a:t>
            </a:r>
          </a:p>
        </p:txBody>
      </p:sp>
      <p:sp>
        <p:nvSpPr>
          <p:cNvPr id="61" name="Rectangle 60"/>
          <p:cNvSpPr/>
          <p:nvPr/>
        </p:nvSpPr>
        <p:spPr>
          <a:xfrm>
            <a:off x="5808725" y="2432304"/>
            <a:ext cx="1643634" cy="713232"/>
          </a:xfrm>
          <a:prstGeom prst="rect">
            <a:avLst/>
          </a:prstGeom>
          <a:solidFill>
            <a:srgbClr val="F6F8FD"/>
          </a:solidFill>
          <a:ln w="9525">
            <a:solidFill>
              <a:srgbClr val="E1E7F4"/>
            </a:solidFill>
          </a:ln>
          <a:effectLst/>
        </p:spPr>
        <p:txBody>
          <a:bodyPr rtlCol="0" anchor="ctr"/>
          <a:lstStyle/>
          <a:p>
            <a:pPr algn="ctr"/>
            <a:endParaRPr/>
          </a:p>
        </p:txBody>
      </p:sp>
      <p:sp>
        <p:nvSpPr>
          <p:cNvPr id="62" name="Oval 61"/>
          <p:cNvSpPr/>
          <p:nvPr/>
        </p:nvSpPr>
        <p:spPr>
          <a:xfrm>
            <a:off x="5881877" y="2505456"/>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4</a:t>
            </a:r>
          </a:p>
        </p:txBody>
      </p:sp>
      <p:sp>
        <p:nvSpPr>
          <p:cNvPr id="63" name="TextBox 62"/>
          <p:cNvSpPr txBox="1"/>
          <p:nvPr/>
        </p:nvSpPr>
        <p:spPr>
          <a:xfrm>
            <a:off x="6156197" y="2432304"/>
            <a:ext cx="1277874" cy="713232"/>
          </a:xfrm>
          <a:prstGeom prst="rect">
            <a:avLst/>
          </a:prstGeom>
          <a:noFill/>
        </p:spPr>
        <p:txBody>
          <a:bodyPr wrap="square" lIns="73152" tIns="27432" rIns="73152" bIns="27432" anchor="ctr">
            <a:spAutoFit/>
          </a:bodyPr>
          <a:lstStyle/>
          <a:p>
            <a:pPr algn="l"/>
            <a:r>
              <a:rPr sz="750" b="1">
                <a:solidFill>
                  <a:srgbClr val="141B33"/>
                </a:solidFill>
                <a:latin typeface="Segoe UI"/>
              </a:rPr>
              <a:t>Output</a:t>
            </a:r>
          </a:p>
          <a:p>
            <a:pPr algn="l"/>
            <a:r>
              <a:rPr sz="750" b="0">
                <a:solidFill>
                  <a:srgbClr val="141B33"/>
                </a:solidFill>
                <a:latin typeface="Segoe UI"/>
              </a:rPr>
              <a:t>what the agent returns to the user</a:t>
            </a:r>
          </a:p>
          <a:p>
            <a:pPr algn="l"/>
            <a:r>
              <a:rPr sz="750" b="0">
                <a:solidFill>
                  <a:srgbClr val="141B33"/>
                </a:solidFill>
                <a:latin typeface="Segoe UI"/>
              </a:rPr>
              <a:t>models and agents</a:t>
            </a:r>
          </a:p>
        </p:txBody>
      </p:sp>
      <p:sp>
        <p:nvSpPr>
          <p:cNvPr id="64" name="TextBox 63"/>
          <p:cNvSpPr txBox="1"/>
          <p:nvPr/>
        </p:nvSpPr>
        <p:spPr>
          <a:xfrm>
            <a:off x="548640" y="3328416"/>
            <a:ext cx="69037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A CONTROL = RISK × INTERVENTION POINT × ACTION</a:t>
            </a:r>
          </a:p>
        </p:txBody>
      </p:sp>
      <p:sp>
        <p:nvSpPr>
          <p:cNvPr id="65" name="Rectangle 64"/>
          <p:cNvSpPr/>
          <p:nvPr/>
        </p:nvSpPr>
        <p:spPr>
          <a:xfrm>
            <a:off x="548640" y="3584448"/>
            <a:ext cx="2228088" cy="1719072"/>
          </a:xfrm>
          <a:prstGeom prst="rect">
            <a:avLst/>
          </a:prstGeom>
          <a:solidFill>
            <a:srgbClr val="FFFFFF"/>
          </a:solidFill>
          <a:ln w="9525">
            <a:solidFill>
              <a:srgbClr val="E1E7F4"/>
            </a:solidFill>
          </a:ln>
          <a:effectLst/>
        </p:spPr>
        <p:txBody>
          <a:bodyPr rtlCol="0" anchor="ctr"/>
          <a:lstStyle/>
          <a:p>
            <a:pPr algn="ctr"/>
            <a:endParaRPr/>
          </a:p>
        </p:txBody>
      </p:sp>
      <p:sp>
        <p:nvSpPr>
          <p:cNvPr id="66" name="Rectangle 65"/>
          <p:cNvSpPr/>
          <p:nvPr/>
        </p:nvSpPr>
        <p:spPr>
          <a:xfrm>
            <a:off x="548640" y="3584448"/>
            <a:ext cx="2228088" cy="36576"/>
          </a:xfrm>
          <a:prstGeom prst="rect">
            <a:avLst/>
          </a:prstGeom>
          <a:solidFill>
            <a:srgbClr val="101A3C"/>
          </a:solidFill>
          <a:ln>
            <a:noFill/>
          </a:ln>
          <a:effectLst/>
        </p:spPr>
        <p:txBody>
          <a:bodyPr rtlCol="0" anchor="ctr"/>
          <a:lstStyle/>
          <a:p>
            <a:pPr algn="ctr"/>
            <a:endParaRPr/>
          </a:p>
        </p:txBody>
      </p:sp>
      <p:sp>
        <p:nvSpPr>
          <p:cNvPr id="67" name="TextBox 66"/>
          <p:cNvSpPr txBox="1"/>
          <p:nvPr/>
        </p:nvSpPr>
        <p:spPr>
          <a:xfrm>
            <a:off x="548640" y="3621024"/>
            <a:ext cx="2228088" cy="1664208"/>
          </a:xfrm>
          <a:prstGeom prst="rect">
            <a:avLst/>
          </a:prstGeom>
          <a:noFill/>
        </p:spPr>
        <p:txBody>
          <a:bodyPr wrap="square" lIns="73152" tIns="27432" rIns="73152" bIns="27432" anchor="t">
            <a:spAutoFit/>
          </a:bodyPr>
          <a:lstStyle/>
          <a:p>
            <a:pPr algn="l"/>
            <a:r>
              <a:rPr sz="750" b="1">
                <a:solidFill>
                  <a:srgbClr val="141B33"/>
                </a:solidFill>
                <a:latin typeface="Segoe UI"/>
              </a:rPr>
              <a:t>Risk to detect</a:t>
            </a:r>
          </a:p>
          <a:p>
            <a:pPr algn="l">
              <a:spcBef>
                <a:spcPts val="200"/>
              </a:spcBef>
            </a:pPr>
            <a:r>
              <a:rPr sz="750" b="1">
                <a:solidFill>
                  <a:srgbClr val="141B33"/>
                </a:solidFill>
                <a:latin typeface="Segoe UI"/>
              </a:rPr>
              <a:t>Content harms  </a:t>
            </a:r>
            <a:r>
              <a:rPr sz="750" b="0">
                <a:solidFill>
                  <a:srgbClr val="141B33"/>
                </a:solidFill>
                <a:latin typeface="Segoe UI"/>
              </a:rPr>
              <a:t>hate · sexual · self-harm · violence — severity Low / Medium / High</a:t>
            </a:r>
          </a:p>
          <a:p>
            <a:pPr algn="l">
              <a:spcBef>
                <a:spcPts val="200"/>
              </a:spcBef>
            </a:pPr>
            <a:r>
              <a:rPr sz="750" b="1">
                <a:solidFill>
                  <a:srgbClr val="141B33"/>
                </a:solidFill>
                <a:latin typeface="Segoe UI"/>
              </a:rPr>
              <a:t>Attacks  </a:t>
            </a:r>
            <a:r>
              <a:rPr sz="750" b="0">
                <a:solidFill>
                  <a:srgbClr val="141B33"/>
                </a:solidFill>
                <a:latin typeface="Segoe UI"/>
              </a:rPr>
              <a:t>user prompt attacks · indirect attacks (XPIA) · spotlighting*</a:t>
            </a:r>
          </a:p>
          <a:p>
            <a:pPr algn="l">
              <a:spcBef>
                <a:spcPts val="200"/>
              </a:spcBef>
            </a:pPr>
            <a:r>
              <a:rPr sz="750" b="1">
                <a:solidFill>
                  <a:srgbClr val="141B33"/>
                </a:solidFill>
                <a:latin typeface="Segoe UI"/>
              </a:rPr>
              <a:t>Data and behaviour  </a:t>
            </a:r>
            <a:r>
              <a:rPr sz="750" b="0">
                <a:solidFill>
                  <a:srgbClr val="141B33"/>
                </a:solidFill>
                <a:latin typeface="Segoe UI"/>
              </a:rPr>
              <a:t>protected material (text, code) · PII* · groundedness* · task adherence*</a:t>
            </a:r>
          </a:p>
          <a:p>
            <a:pPr algn="l">
              <a:spcBef>
                <a:spcPts val="200"/>
              </a:spcBef>
            </a:pPr>
            <a:r>
              <a:rPr sz="750" b="1">
                <a:solidFill>
                  <a:srgbClr val="141B33"/>
                </a:solidFill>
                <a:latin typeface="Segoe UI"/>
              </a:rPr>
              <a:t>Hosted agents  </a:t>
            </a:r>
            <a:r>
              <a:rPr sz="750" b="0">
                <a:solidFill>
                  <a:srgbClr val="141B33"/>
                </a:solidFill>
                <a:latin typeface="Segoe UI"/>
              </a:rPr>
              <a:t>network egress controls*</a:t>
            </a:r>
          </a:p>
        </p:txBody>
      </p:sp>
      <p:sp>
        <p:nvSpPr>
          <p:cNvPr id="68" name="Rectangle 67"/>
          <p:cNvSpPr/>
          <p:nvPr/>
        </p:nvSpPr>
        <p:spPr>
          <a:xfrm>
            <a:off x="2886456" y="3584448"/>
            <a:ext cx="2228088" cy="1719072"/>
          </a:xfrm>
          <a:prstGeom prst="rect">
            <a:avLst/>
          </a:prstGeom>
          <a:solidFill>
            <a:srgbClr val="FFFFFF"/>
          </a:solidFill>
          <a:ln w="9525">
            <a:solidFill>
              <a:srgbClr val="E1E7F4"/>
            </a:solidFill>
          </a:ln>
          <a:effectLst/>
        </p:spPr>
        <p:txBody>
          <a:bodyPr rtlCol="0" anchor="ctr"/>
          <a:lstStyle/>
          <a:p>
            <a:pPr algn="ctr"/>
            <a:endParaRPr/>
          </a:p>
        </p:txBody>
      </p:sp>
      <p:sp>
        <p:nvSpPr>
          <p:cNvPr id="69" name="Rectangle 68"/>
          <p:cNvSpPr/>
          <p:nvPr/>
        </p:nvSpPr>
        <p:spPr>
          <a:xfrm>
            <a:off x="2886456" y="3584448"/>
            <a:ext cx="2228088" cy="36576"/>
          </a:xfrm>
          <a:prstGeom prst="rect">
            <a:avLst/>
          </a:prstGeom>
          <a:solidFill>
            <a:srgbClr val="00B39F"/>
          </a:solidFill>
          <a:ln>
            <a:noFill/>
          </a:ln>
          <a:effectLst/>
        </p:spPr>
        <p:txBody>
          <a:bodyPr rtlCol="0" anchor="ctr"/>
          <a:lstStyle/>
          <a:p>
            <a:pPr algn="ctr"/>
            <a:endParaRPr/>
          </a:p>
        </p:txBody>
      </p:sp>
      <p:sp>
        <p:nvSpPr>
          <p:cNvPr id="70" name="TextBox 69"/>
          <p:cNvSpPr txBox="1"/>
          <p:nvPr/>
        </p:nvSpPr>
        <p:spPr>
          <a:xfrm>
            <a:off x="2886456" y="3621024"/>
            <a:ext cx="2228088" cy="1664208"/>
          </a:xfrm>
          <a:prstGeom prst="rect">
            <a:avLst/>
          </a:prstGeom>
          <a:noFill/>
        </p:spPr>
        <p:txBody>
          <a:bodyPr wrap="square" lIns="73152" tIns="27432" rIns="73152" bIns="27432" anchor="t">
            <a:spAutoFit/>
          </a:bodyPr>
          <a:lstStyle/>
          <a:p>
            <a:pPr algn="l"/>
            <a:r>
              <a:rPr sz="750" b="1">
                <a:solidFill>
                  <a:srgbClr val="141B33"/>
                </a:solidFill>
                <a:latin typeface="Segoe UI"/>
              </a:rPr>
              <a:t>Where to scan</a:t>
            </a:r>
          </a:p>
          <a:p>
            <a:pPr algn="l">
              <a:spcBef>
                <a:spcPts val="200"/>
              </a:spcBef>
            </a:pPr>
            <a:r>
              <a:rPr sz="750" b="1">
                <a:solidFill>
                  <a:srgbClr val="141B33"/>
                </a:solidFill>
                <a:latin typeface="Segoe UI"/>
              </a:rPr>
              <a:t>Points 1 and 4  </a:t>
            </a:r>
            <a:r>
              <a:rPr sz="750" b="0">
                <a:solidFill>
                  <a:srgbClr val="141B33"/>
                </a:solidFill>
                <a:latin typeface="Segoe UI"/>
              </a:rPr>
              <a:t>available for model deployments and agents</a:t>
            </a:r>
          </a:p>
          <a:p>
            <a:pPr algn="l">
              <a:spcBef>
                <a:spcPts val="200"/>
              </a:spcBef>
            </a:pPr>
            <a:r>
              <a:rPr sz="750" b="1">
                <a:solidFill>
                  <a:srgbClr val="141B33"/>
                </a:solidFill>
                <a:latin typeface="Segoe UI"/>
              </a:rPr>
              <a:t>Points 2 and 3  </a:t>
            </a:r>
            <a:r>
              <a:rPr sz="750" b="0">
                <a:solidFill>
                  <a:srgbClr val="141B33"/>
                </a:solidFill>
                <a:latin typeface="Segoe UI"/>
              </a:rPr>
              <a:t>agents only, in preview</a:t>
            </a:r>
          </a:p>
          <a:p>
            <a:pPr algn="l">
              <a:spcBef>
                <a:spcPts val="200"/>
              </a:spcBef>
            </a:pPr>
            <a:r>
              <a:rPr sz="750" b="1">
                <a:solidFill>
                  <a:srgbClr val="141B33"/>
                </a:solidFill>
                <a:latin typeface="Segoe UI"/>
              </a:rPr>
              <a:t>Default  </a:t>
            </a:r>
            <a:r>
              <a:rPr sz="750" b="0">
                <a:solidFill>
                  <a:srgbClr val="141B33"/>
                </a:solidFill>
                <a:latin typeface="Segoe UI"/>
              </a:rPr>
              <a:t>every model deployment carries the Microsoft.DefaultV2 guardrail</a:t>
            </a:r>
          </a:p>
          <a:p>
            <a:pPr algn="l">
              <a:spcBef>
                <a:spcPts val="200"/>
              </a:spcBef>
            </a:pPr>
            <a:r>
              <a:rPr sz="750" b="1">
                <a:solidFill>
                  <a:srgbClr val="141B33"/>
                </a:solidFill>
                <a:latin typeface="Segoe UI"/>
              </a:rPr>
              <a:t>Override  </a:t>
            </a:r>
            <a:r>
              <a:rPr sz="750" b="0">
                <a:solidFill>
                  <a:srgbClr val="141B33"/>
                </a:solidFill>
                <a:latin typeface="Segoe UI"/>
              </a:rPr>
              <a:t>a guardrail assigned to an agent fully replaces the model’s guardrail</a:t>
            </a:r>
          </a:p>
        </p:txBody>
      </p:sp>
      <p:sp>
        <p:nvSpPr>
          <p:cNvPr id="71" name="Rectangle 70"/>
          <p:cNvSpPr/>
          <p:nvPr/>
        </p:nvSpPr>
        <p:spPr>
          <a:xfrm>
            <a:off x="5224272" y="3584448"/>
            <a:ext cx="2228088" cy="1719072"/>
          </a:xfrm>
          <a:prstGeom prst="rect">
            <a:avLst/>
          </a:prstGeom>
          <a:solidFill>
            <a:srgbClr val="FFFFFF"/>
          </a:solidFill>
          <a:ln w="9525">
            <a:solidFill>
              <a:srgbClr val="E1E7F4"/>
            </a:solidFill>
          </a:ln>
          <a:effectLst/>
        </p:spPr>
        <p:txBody>
          <a:bodyPr rtlCol="0" anchor="ctr"/>
          <a:lstStyle/>
          <a:p>
            <a:pPr algn="ctr"/>
            <a:endParaRPr/>
          </a:p>
        </p:txBody>
      </p:sp>
      <p:sp>
        <p:nvSpPr>
          <p:cNvPr id="72" name="Rectangle 71"/>
          <p:cNvSpPr/>
          <p:nvPr/>
        </p:nvSpPr>
        <p:spPr>
          <a:xfrm>
            <a:off x="5224272" y="3584448"/>
            <a:ext cx="2228088" cy="36576"/>
          </a:xfrm>
          <a:prstGeom prst="rect">
            <a:avLst/>
          </a:prstGeom>
          <a:solidFill>
            <a:srgbClr val="101A3C"/>
          </a:solidFill>
          <a:ln>
            <a:noFill/>
          </a:ln>
          <a:effectLst/>
        </p:spPr>
        <p:txBody>
          <a:bodyPr rtlCol="0" anchor="ctr"/>
          <a:lstStyle/>
          <a:p>
            <a:pPr algn="ctr"/>
            <a:endParaRPr/>
          </a:p>
        </p:txBody>
      </p:sp>
      <p:sp>
        <p:nvSpPr>
          <p:cNvPr id="73" name="TextBox 72"/>
          <p:cNvSpPr txBox="1"/>
          <p:nvPr/>
        </p:nvSpPr>
        <p:spPr>
          <a:xfrm>
            <a:off x="5224272" y="3621024"/>
            <a:ext cx="2228088" cy="1664208"/>
          </a:xfrm>
          <a:prstGeom prst="rect">
            <a:avLst/>
          </a:prstGeom>
          <a:noFill/>
        </p:spPr>
        <p:txBody>
          <a:bodyPr wrap="square" lIns="73152" tIns="27432" rIns="73152" bIns="27432" anchor="t">
            <a:spAutoFit/>
          </a:bodyPr>
          <a:lstStyle/>
          <a:p>
            <a:pPr algn="l"/>
            <a:r>
              <a:rPr sz="750" b="1">
                <a:solidFill>
                  <a:srgbClr val="141B33"/>
                </a:solidFill>
                <a:latin typeface="Segoe UI"/>
              </a:rPr>
              <a:t>Action to take</a:t>
            </a:r>
          </a:p>
          <a:p>
            <a:pPr algn="l">
              <a:spcBef>
                <a:spcPts val="200"/>
              </a:spcBef>
            </a:pPr>
            <a:r>
              <a:rPr sz="750" b="1">
                <a:solidFill>
                  <a:srgbClr val="141B33"/>
                </a:solidFill>
                <a:latin typeface="Segoe UI"/>
              </a:rPr>
              <a:t>Annotate  </a:t>
            </a:r>
            <a:r>
              <a:rPr sz="750" b="0">
                <a:solidFill>
                  <a:srgbClr val="141B33"/>
                </a:solidFill>
                <a:latin typeface="Segoe UI"/>
              </a:rPr>
              <a:t>flag the finding, let the content through (models only)</a:t>
            </a:r>
          </a:p>
          <a:p>
            <a:pPr algn="l">
              <a:spcBef>
                <a:spcPts val="200"/>
              </a:spcBef>
            </a:pPr>
            <a:r>
              <a:rPr sz="750" b="1">
                <a:solidFill>
                  <a:srgbClr val="141B33"/>
                </a:solidFill>
                <a:latin typeface="Segoe UI"/>
              </a:rPr>
              <a:t>Annotate and block  </a:t>
            </a:r>
            <a:r>
              <a:rPr sz="750" b="0">
                <a:solidFill>
                  <a:srgbClr val="141B33"/>
                </a:solidFill>
                <a:latin typeface="Segoe UI"/>
              </a:rPr>
              <a:t>flag and stop the content at that point</a:t>
            </a:r>
          </a:p>
          <a:p>
            <a:pPr algn="l">
              <a:spcBef>
                <a:spcPts val="200"/>
              </a:spcBef>
            </a:pPr>
            <a:r>
              <a:rPr sz="750" b="1">
                <a:solidFill>
                  <a:srgbClr val="141B33"/>
                </a:solidFill>
                <a:latin typeface="Segoe UI"/>
              </a:rPr>
              <a:t>Scope  </a:t>
            </a:r>
            <a:r>
              <a:rPr sz="750" b="0">
                <a:solidFill>
                  <a:srgbClr val="141B33"/>
                </a:solidFill>
                <a:latin typeface="Segoe UI"/>
              </a:rPr>
              <a:t>Foundry Models sold by Azure and agents in Foundry Agent Service</a:t>
            </a:r>
          </a:p>
          <a:p>
            <a:pPr algn="l">
              <a:spcBef>
                <a:spcPts val="200"/>
              </a:spcBef>
            </a:pPr>
            <a:r>
              <a:rPr sz="750" b="1">
                <a:solidFill>
                  <a:srgbClr val="141B33"/>
                </a:solidFill>
                <a:latin typeface="Segoe UI"/>
              </a:rPr>
              <a:t>Setup  </a:t>
            </a:r>
            <a:r>
              <a:rPr sz="750" b="0">
                <a:solidFill>
                  <a:srgbClr val="141B33"/>
                </a:solidFill>
                <a:latin typeface="Segoe UI"/>
              </a:rPr>
              <a:t>Guided Guardrail Setup* recommends controls</a:t>
            </a:r>
          </a:p>
        </p:txBody>
      </p:sp>
      <p:sp>
        <p:nvSpPr>
          <p:cNvPr id="74" name="TextBox 73"/>
          <p:cNvSpPr txBox="1"/>
          <p:nvPr/>
        </p:nvSpPr>
        <p:spPr>
          <a:xfrm>
            <a:off x="7680960" y="1298448"/>
            <a:ext cx="3959352"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HOW CONTENT SAFETY FITS</a:t>
            </a:r>
          </a:p>
        </p:txBody>
      </p:sp>
      <p:sp>
        <p:nvSpPr>
          <p:cNvPr id="75" name="Rectangle 74"/>
          <p:cNvSpPr/>
          <p:nvPr/>
        </p:nvSpPr>
        <p:spPr>
          <a:xfrm>
            <a:off x="7680960" y="1554480"/>
            <a:ext cx="3959352" cy="1005840"/>
          </a:xfrm>
          <a:prstGeom prst="rect">
            <a:avLst/>
          </a:prstGeom>
          <a:solidFill>
            <a:srgbClr val="0B1229"/>
          </a:solidFill>
          <a:ln>
            <a:noFill/>
          </a:ln>
          <a:effectLst/>
        </p:spPr>
        <p:txBody>
          <a:bodyPr rtlCol="0" anchor="ctr"/>
          <a:lstStyle/>
          <a:p>
            <a:pPr algn="ctr"/>
            <a:endParaRPr/>
          </a:p>
        </p:txBody>
      </p:sp>
      <p:sp>
        <p:nvSpPr>
          <p:cNvPr id="76" name="TextBox 75"/>
          <p:cNvSpPr txBox="1"/>
          <p:nvPr/>
        </p:nvSpPr>
        <p:spPr>
          <a:xfrm>
            <a:off x="7680960" y="1554480"/>
            <a:ext cx="3959352" cy="1005840"/>
          </a:xfrm>
          <a:prstGeom prst="rect">
            <a:avLst/>
          </a:prstGeom>
          <a:noFill/>
        </p:spPr>
        <p:txBody>
          <a:bodyPr wrap="square" lIns="73152" tIns="27432" rIns="73152" bIns="27432" anchor="ctr">
            <a:spAutoFit/>
          </a:bodyPr>
          <a:lstStyle/>
          <a:p>
            <a:pPr algn="l"/>
            <a:r>
              <a:rPr sz="850" b="1">
                <a:solidFill>
                  <a:srgbClr val="FFFFFF"/>
                </a:solidFill>
                <a:latin typeface="Segoe UI"/>
              </a:rPr>
              <a:t>Azure AI Content Safety is the classification engine.</a:t>
            </a:r>
          </a:p>
          <a:p>
            <a:pPr algn="l">
              <a:spcBef>
                <a:spcPts val="300"/>
              </a:spcBef>
            </a:pPr>
            <a:r>
              <a:rPr sz="850" b="0">
                <a:solidFill>
                  <a:srgbClr val="FFFFFF"/>
                </a:solidFill>
                <a:latin typeface="Segoe UI"/>
              </a:rPr>
              <a:t>Guardrails use its models to detect the risks above. You do not call it yourself when you use guardrails — Foundry does, at each intervention point.</a:t>
            </a:r>
          </a:p>
        </p:txBody>
      </p:sp>
      <p:sp>
        <p:nvSpPr>
          <p:cNvPr id="77" name="Rectangle 76"/>
          <p:cNvSpPr/>
          <p:nvPr/>
        </p:nvSpPr>
        <p:spPr>
          <a:xfrm>
            <a:off x="7680960" y="2670048"/>
            <a:ext cx="3959352" cy="1481328"/>
          </a:xfrm>
          <a:prstGeom prst="rect">
            <a:avLst/>
          </a:prstGeom>
          <a:solidFill>
            <a:srgbClr val="F6F8FD"/>
          </a:solidFill>
          <a:ln w="9525">
            <a:solidFill>
              <a:srgbClr val="E1E7F4"/>
            </a:solidFill>
          </a:ln>
          <a:effectLst/>
        </p:spPr>
        <p:txBody>
          <a:bodyPr rtlCol="0" anchor="ctr"/>
          <a:lstStyle/>
          <a:p>
            <a:pPr algn="ctr"/>
            <a:endParaRPr/>
          </a:p>
        </p:txBody>
      </p:sp>
      <p:sp>
        <p:nvSpPr>
          <p:cNvPr id="78" name="Rectangle 77"/>
          <p:cNvSpPr/>
          <p:nvPr/>
        </p:nvSpPr>
        <p:spPr>
          <a:xfrm>
            <a:off x="7680960" y="2670048"/>
            <a:ext cx="45720" cy="1481328"/>
          </a:xfrm>
          <a:prstGeom prst="rect">
            <a:avLst/>
          </a:prstGeom>
          <a:solidFill>
            <a:srgbClr val="00B39F"/>
          </a:solidFill>
          <a:ln>
            <a:noFill/>
          </a:ln>
          <a:effectLst/>
        </p:spPr>
        <p:txBody>
          <a:bodyPr rtlCol="0" anchor="ctr"/>
          <a:lstStyle/>
          <a:p>
            <a:pPr algn="ctr"/>
            <a:endParaRPr/>
          </a:p>
        </p:txBody>
      </p:sp>
      <p:sp>
        <p:nvSpPr>
          <p:cNvPr id="79" name="TextBox 78"/>
          <p:cNvSpPr txBox="1"/>
          <p:nvPr/>
        </p:nvSpPr>
        <p:spPr>
          <a:xfrm>
            <a:off x="7735824" y="2670048"/>
            <a:ext cx="3886200" cy="1481328"/>
          </a:xfrm>
          <a:prstGeom prst="rect">
            <a:avLst/>
          </a:prstGeom>
          <a:noFill/>
        </p:spPr>
        <p:txBody>
          <a:bodyPr wrap="square" lIns="73152" tIns="27432" rIns="73152" bIns="27432" anchor="t">
            <a:spAutoFit/>
          </a:bodyPr>
          <a:lstStyle/>
          <a:p>
            <a:pPr algn="l"/>
            <a:r>
              <a:rPr sz="750" b="1">
                <a:solidFill>
                  <a:srgbClr val="141B33"/>
                </a:solidFill>
                <a:latin typeface="Segoe UI"/>
              </a:rPr>
              <a:t>Call it directly when you need it outside Foundry</a:t>
            </a:r>
          </a:p>
          <a:p>
            <a:pPr algn="l">
              <a:spcBef>
                <a:spcPts val="150"/>
              </a:spcBef>
            </a:pPr>
            <a:r>
              <a:rPr sz="750" b="0">
                <a:solidFill>
                  <a:srgbClr val="141B33"/>
                </a:solidFill>
                <a:latin typeface="Segoe UI"/>
              </a:rPr>
              <a:t>• your own app or pipeline, not a Foundry model or agent</a:t>
            </a:r>
          </a:p>
          <a:p>
            <a:pPr algn="l">
              <a:spcBef>
                <a:spcPts val="150"/>
              </a:spcBef>
            </a:pPr>
            <a:r>
              <a:rPr sz="750" b="0">
                <a:solidFill>
                  <a:srgbClr val="141B33"/>
                </a:solidFill>
                <a:latin typeface="Segoe UI"/>
              </a:rPr>
              <a:t>• text and image analysis with multi-severity scores</a:t>
            </a:r>
          </a:p>
          <a:p>
            <a:pPr algn="l">
              <a:spcBef>
                <a:spcPts val="150"/>
              </a:spcBef>
            </a:pPr>
            <a:r>
              <a:rPr sz="750" b="0">
                <a:solidFill>
                  <a:srgbClr val="141B33"/>
                </a:solidFill>
                <a:latin typeface="Segoe UI"/>
              </a:rPr>
              <a:t>• Prompt Shields for prompt-injection checks on your inputs</a:t>
            </a:r>
          </a:p>
          <a:p>
            <a:pPr algn="l">
              <a:spcBef>
                <a:spcPts val="150"/>
              </a:spcBef>
            </a:pPr>
            <a:r>
              <a:rPr sz="750" b="0">
                <a:solidFill>
                  <a:srgbClr val="141B33"/>
                </a:solidFill>
                <a:latin typeface="Segoe UI"/>
              </a:rPr>
              <a:t>• groundedness detection* against your own sources</a:t>
            </a:r>
          </a:p>
          <a:p>
            <a:pPr algn="l">
              <a:spcBef>
                <a:spcPts val="150"/>
              </a:spcBef>
            </a:pPr>
            <a:r>
              <a:rPr sz="750" b="0">
                <a:solidFill>
                  <a:srgbClr val="141B33"/>
                </a:solidFill>
                <a:latin typeface="Segoe UI"/>
              </a:rPr>
              <a:t>• protected material and task adherence APIs</a:t>
            </a:r>
          </a:p>
          <a:p>
            <a:pPr algn="l">
              <a:spcBef>
                <a:spcPts val="150"/>
              </a:spcBef>
            </a:pPr>
            <a:r>
              <a:rPr sz="750" b="0">
                <a:solidFill>
                  <a:srgbClr val="141B33"/>
                </a:solidFill>
                <a:latin typeface="Segoe UI"/>
              </a:rPr>
              <a:t>• custom categories* and blocklists</a:t>
            </a:r>
          </a:p>
        </p:txBody>
      </p:sp>
      <p:sp>
        <p:nvSpPr>
          <p:cNvPr id="80" name="Rectangle 79"/>
          <p:cNvSpPr/>
          <p:nvPr/>
        </p:nvSpPr>
        <p:spPr>
          <a:xfrm>
            <a:off x="7680960" y="4261104"/>
            <a:ext cx="3959352" cy="896112"/>
          </a:xfrm>
          <a:prstGeom prst="rect">
            <a:avLst/>
          </a:prstGeom>
          <a:solidFill>
            <a:srgbClr val="FFFFFF"/>
          </a:solidFill>
          <a:ln w="9525">
            <a:solidFill>
              <a:srgbClr val="E1E7F4"/>
            </a:solidFill>
          </a:ln>
          <a:effectLst/>
        </p:spPr>
        <p:txBody>
          <a:bodyPr rtlCol="0" anchor="ctr"/>
          <a:lstStyle/>
          <a:p>
            <a:pPr algn="ctr"/>
            <a:endParaRPr/>
          </a:p>
        </p:txBody>
      </p:sp>
      <p:sp>
        <p:nvSpPr>
          <p:cNvPr id="81" name="Rectangle 80"/>
          <p:cNvSpPr/>
          <p:nvPr/>
        </p:nvSpPr>
        <p:spPr>
          <a:xfrm>
            <a:off x="7680960" y="4261104"/>
            <a:ext cx="45720" cy="896112"/>
          </a:xfrm>
          <a:prstGeom prst="rect">
            <a:avLst/>
          </a:prstGeom>
          <a:solidFill>
            <a:srgbClr val="101A3C"/>
          </a:solidFill>
          <a:ln>
            <a:noFill/>
          </a:ln>
          <a:effectLst/>
        </p:spPr>
        <p:txBody>
          <a:bodyPr rtlCol="0" anchor="ctr"/>
          <a:lstStyle/>
          <a:p>
            <a:pPr algn="ctr"/>
            <a:endParaRPr/>
          </a:p>
        </p:txBody>
      </p:sp>
      <p:sp>
        <p:nvSpPr>
          <p:cNvPr id="82" name="TextBox 81"/>
          <p:cNvSpPr txBox="1"/>
          <p:nvPr/>
        </p:nvSpPr>
        <p:spPr>
          <a:xfrm>
            <a:off x="7735824" y="4261104"/>
            <a:ext cx="3886200" cy="896112"/>
          </a:xfrm>
          <a:prstGeom prst="rect">
            <a:avLst/>
          </a:prstGeom>
          <a:noFill/>
        </p:spPr>
        <p:txBody>
          <a:bodyPr wrap="square" lIns="73152" tIns="27432" rIns="73152" bIns="27432" anchor="t">
            <a:spAutoFit/>
          </a:bodyPr>
          <a:lstStyle/>
          <a:p>
            <a:pPr algn="l"/>
            <a:r>
              <a:rPr sz="750" b="1">
                <a:solidFill>
                  <a:srgbClr val="141B33"/>
                </a:solidFill>
                <a:latin typeface="Segoe UI"/>
              </a:rPr>
              <a:t>Rule of thumb</a:t>
            </a:r>
          </a:p>
          <a:p>
            <a:pPr algn="l">
              <a:spcBef>
                <a:spcPts val="150"/>
              </a:spcBef>
            </a:pPr>
            <a:r>
              <a:rPr sz="750" b="0">
                <a:solidFill>
                  <a:srgbClr val="141B33"/>
                </a:solidFill>
                <a:latin typeface="Segoe UI"/>
              </a:rPr>
              <a:t>Model or agent runs in Foundry → configure a guardrail.</a:t>
            </a:r>
          </a:p>
          <a:p>
            <a:pPr algn="l">
              <a:spcBef>
                <a:spcPts val="150"/>
              </a:spcBef>
            </a:pPr>
            <a:r>
              <a:rPr sz="750" b="0">
                <a:solidFill>
                  <a:srgbClr val="141B33"/>
                </a:solidFill>
                <a:latin typeface="Segoe UI"/>
              </a:rPr>
              <a:t>Content lives elsewhere → call Content Safety from code.</a:t>
            </a:r>
          </a:p>
          <a:p>
            <a:pPr algn="l">
              <a:spcBef>
                <a:spcPts val="150"/>
              </a:spcBef>
            </a:pPr>
            <a:r>
              <a:rPr sz="750" b="0">
                <a:solidFill>
                  <a:srgbClr val="141B33"/>
                </a:solidFill>
                <a:latin typeface="Segoe UI"/>
              </a:rPr>
              <a:t>Both use the same classifiers, so results are consistent.</a:t>
            </a:r>
          </a:p>
        </p:txBody>
      </p:sp>
      <p:sp>
        <p:nvSpPr>
          <p:cNvPr id="83" name="TextBox 82"/>
          <p:cNvSpPr txBox="1"/>
          <p:nvPr/>
        </p:nvSpPr>
        <p:spPr>
          <a:xfrm>
            <a:off x="548640" y="5358384"/>
            <a:ext cx="91440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5   ·   C O N T R O L   P L A N E</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Evaluations: how Foundry scores an agent</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Pick what to evaluate, shape it into the evaluation dataset, choose evaluators, and route the scores to where you act on them.</a:t>
            </a:r>
          </a:p>
          <a:p>
            <a:endParaRPr sz="1200">
              <a:solidFill>
                <a:srgbClr val="44495B"/>
              </a:solidFill>
              <a:latin typeface="Segoe UI"/>
            </a:endParaRPr>
          </a:p>
        </p:txBody>
      </p:sp>
      <p:sp>
        <p:nvSpPr>
          <p:cNvPr id="27" name="TextBox"/>
          <p:cNvSpPr txBox="1"/>
          <p:nvPr/>
        </p:nvSpPr>
        <p:spPr>
          <a:xfrm>
            <a:off x="457200" y="5797296"/>
            <a:ext cx="7863840" cy="411480"/>
          </a:xfrm>
          <a:prstGeom prst="rect">
            <a:avLst/>
          </a:prstGeom>
        </p:spPr>
        <p:txBody>
          <a:bodyPr anchor="ctr"/>
          <a:lstStyle/>
          <a:p>
            <a:r>
              <a:rPr sz="900">
                <a:solidFill>
                  <a:srgbClr val="44495B"/>
                </a:solidFill>
                <a:latin typeface="Segoe UI"/>
              </a:rPr>
              <a:t>Source: learn.microsoft.com/azure/foundry/concepts/built-in-evaluators · observability/how-to/cloud-evaluation-targets</a:t>
            </a:r>
          </a:p>
          <a:p>
            <a:endParaRPr sz="900">
              <a:solidFill>
                <a:srgbClr val="44495B"/>
              </a:solidFill>
              <a:latin typeface="Segoe UI"/>
            </a:endParaRPr>
          </a:p>
        </p:txBody>
      </p:sp>
      <p:sp>
        <p:nvSpPr>
          <p:cNvPr id="29" name="Rectangle 28"/>
          <p:cNvSpPr/>
          <p:nvPr/>
        </p:nvSpPr>
        <p:spPr>
          <a:xfrm>
            <a:off x="548640" y="1298448"/>
            <a:ext cx="2514600" cy="457200"/>
          </a:xfrm>
          <a:prstGeom prst="rect">
            <a:avLst/>
          </a:prstGeom>
          <a:solidFill>
            <a:srgbClr val="101A3C"/>
          </a:solidFill>
          <a:ln>
            <a:noFill/>
          </a:ln>
          <a:effectLst/>
        </p:spPr>
        <p:txBody>
          <a:bodyPr rtlCol="0" anchor="ctr"/>
          <a:lstStyle/>
          <a:p>
            <a:pPr algn="ctr"/>
            <a:endParaRPr/>
          </a:p>
        </p:txBody>
      </p:sp>
      <p:sp>
        <p:nvSpPr>
          <p:cNvPr id="30" name="Oval 29"/>
          <p:cNvSpPr/>
          <p:nvPr/>
        </p:nvSpPr>
        <p:spPr>
          <a:xfrm>
            <a:off x="640080" y="1399032"/>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1</a:t>
            </a:r>
          </a:p>
        </p:txBody>
      </p:sp>
      <p:sp>
        <p:nvSpPr>
          <p:cNvPr id="31" name="TextBox 30"/>
          <p:cNvSpPr txBox="1"/>
          <p:nvPr/>
        </p:nvSpPr>
        <p:spPr>
          <a:xfrm>
            <a:off x="914400" y="1298448"/>
            <a:ext cx="2130552" cy="457200"/>
          </a:xfrm>
          <a:prstGeom prst="rect">
            <a:avLst/>
          </a:prstGeom>
          <a:noFill/>
        </p:spPr>
        <p:txBody>
          <a:bodyPr wrap="square" lIns="73152" tIns="27432" rIns="73152" bIns="27432" anchor="ctr">
            <a:spAutoFit/>
          </a:bodyPr>
          <a:lstStyle/>
          <a:p>
            <a:pPr algn="l"/>
            <a:r>
              <a:rPr sz="900" b="1">
                <a:solidFill>
                  <a:srgbClr val="FFFFFF"/>
                </a:solidFill>
                <a:latin typeface="Segoe UI"/>
              </a:rPr>
              <a:t>What to evaluate</a:t>
            </a:r>
          </a:p>
          <a:p>
            <a:pPr algn="l"/>
            <a:r>
              <a:rPr sz="900" b="0">
                <a:solidFill>
                  <a:srgbClr val="FFFFFF"/>
                </a:solidFill>
                <a:latin typeface="Segoe UI"/>
              </a:rPr>
              <a:t>the source</a:t>
            </a:r>
          </a:p>
        </p:txBody>
      </p:sp>
      <p:sp>
        <p:nvSpPr>
          <p:cNvPr id="32" name="Rectangle 31"/>
          <p:cNvSpPr/>
          <p:nvPr/>
        </p:nvSpPr>
        <p:spPr>
          <a:xfrm>
            <a:off x="3282696" y="1298448"/>
            <a:ext cx="2331720" cy="457200"/>
          </a:xfrm>
          <a:prstGeom prst="rect">
            <a:avLst/>
          </a:prstGeom>
          <a:solidFill>
            <a:srgbClr val="101A3C"/>
          </a:solidFill>
          <a:ln>
            <a:noFill/>
          </a:ln>
          <a:effectLst/>
        </p:spPr>
        <p:txBody>
          <a:bodyPr rtlCol="0" anchor="ctr"/>
          <a:lstStyle/>
          <a:p>
            <a:pPr algn="ctr"/>
            <a:endParaRPr/>
          </a:p>
        </p:txBody>
      </p:sp>
      <p:sp>
        <p:nvSpPr>
          <p:cNvPr id="33" name="Oval 32"/>
          <p:cNvSpPr/>
          <p:nvPr/>
        </p:nvSpPr>
        <p:spPr>
          <a:xfrm>
            <a:off x="3374136" y="1399032"/>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2</a:t>
            </a:r>
          </a:p>
        </p:txBody>
      </p:sp>
      <p:sp>
        <p:nvSpPr>
          <p:cNvPr id="34" name="TextBox 33"/>
          <p:cNvSpPr txBox="1"/>
          <p:nvPr/>
        </p:nvSpPr>
        <p:spPr>
          <a:xfrm>
            <a:off x="3648456" y="1298448"/>
            <a:ext cx="1947672" cy="457200"/>
          </a:xfrm>
          <a:prstGeom prst="rect">
            <a:avLst/>
          </a:prstGeom>
          <a:noFill/>
        </p:spPr>
        <p:txBody>
          <a:bodyPr wrap="square" lIns="73152" tIns="27432" rIns="73152" bIns="27432" anchor="ctr">
            <a:spAutoFit/>
          </a:bodyPr>
          <a:lstStyle/>
          <a:p>
            <a:pPr algn="l"/>
            <a:r>
              <a:rPr sz="900" b="1">
                <a:solidFill>
                  <a:srgbClr val="FFFFFF"/>
                </a:solidFill>
                <a:latin typeface="Segoe UI"/>
              </a:rPr>
              <a:t>Evaluation dataset</a:t>
            </a:r>
          </a:p>
          <a:p>
            <a:pPr algn="l"/>
            <a:r>
              <a:rPr sz="900" b="0">
                <a:solidFill>
                  <a:srgbClr val="FFFFFF"/>
                </a:solidFill>
                <a:latin typeface="Segoe UI"/>
              </a:rPr>
              <a:t>the data</a:t>
            </a:r>
          </a:p>
        </p:txBody>
      </p:sp>
      <p:sp>
        <p:nvSpPr>
          <p:cNvPr id="35" name="Rectangle 34"/>
          <p:cNvSpPr/>
          <p:nvPr/>
        </p:nvSpPr>
        <p:spPr>
          <a:xfrm>
            <a:off x="5833872" y="1298448"/>
            <a:ext cx="3246120" cy="457200"/>
          </a:xfrm>
          <a:prstGeom prst="rect">
            <a:avLst/>
          </a:prstGeom>
          <a:solidFill>
            <a:srgbClr val="101A3C"/>
          </a:solidFill>
          <a:ln>
            <a:noFill/>
          </a:ln>
          <a:effectLst/>
        </p:spPr>
        <p:txBody>
          <a:bodyPr rtlCol="0" anchor="ctr"/>
          <a:lstStyle/>
          <a:p>
            <a:pPr algn="ctr"/>
            <a:endParaRPr/>
          </a:p>
        </p:txBody>
      </p:sp>
      <p:sp>
        <p:nvSpPr>
          <p:cNvPr id="36" name="Oval 35"/>
          <p:cNvSpPr/>
          <p:nvPr/>
        </p:nvSpPr>
        <p:spPr>
          <a:xfrm>
            <a:off x="5925312" y="1399032"/>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3</a:t>
            </a:r>
          </a:p>
        </p:txBody>
      </p:sp>
      <p:sp>
        <p:nvSpPr>
          <p:cNvPr id="37" name="TextBox 36"/>
          <p:cNvSpPr txBox="1"/>
          <p:nvPr/>
        </p:nvSpPr>
        <p:spPr>
          <a:xfrm>
            <a:off x="6199632" y="1298448"/>
            <a:ext cx="2862072" cy="457200"/>
          </a:xfrm>
          <a:prstGeom prst="rect">
            <a:avLst/>
          </a:prstGeom>
          <a:noFill/>
        </p:spPr>
        <p:txBody>
          <a:bodyPr wrap="square" lIns="73152" tIns="27432" rIns="73152" bIns="27432" anchor="ctr">
            <a:spAutoFit/>
          </a:bodyPr>
          <a:lstStyle/>
          <a:p>
            <a:pPr algn="l"/>
            <a:r>
              <a:rPr sz="900" b="1">
                <a:solidFill>
                  <a:srgbClr val="FFFFFF"/>
                </a:solidFill>
                <a:latin typeface="Segoe UI"/>
              </a:rPr>
              <a:t>Evaluators</a:t>
            </a:r>
          </a:p>
          <a:p>
            <a:pPr algn="l"/>
            <a:r>
              <a:rPr sz="900" b="0">
                <a:solidFill>
                  <a:srgbClr val="FFFFFF"/>
                </a:solidFill>
                <a:latin typeface="Segoe UI"/>
              </a:rPr>
              <a:t>the judges</a:t>
            </a:r>
          </a:p>
        </p:txBody>
      </p:sp>
      <p:sp>
        <p:nvSpPr>
          <p:cNvPr id="38" name="Rectangle 37"/>
          <p:cNvSpPr/>
          <p:nvPr/>
        </p:nvSpPr>
        <p:spPr>
          <a:xfrm>
            <a:off x="9299448" y="1298448"/>
            <a:ext cx="2331720" cy="457200"/>
          </a:xfrm>
          <a:prstGeom prst="rect">
            <a:avLst/>
          </a:prstGeom>
          <a:solidFill>
            <a:srgbClr val="101A3C"/>
          </a:solidFill>
          <a:ln>
            <a:noFill/>
          </a:ln>
          <a:effectLst/>
        </p:spPr>
        <p:txBody>
          <a:bodyPr rtlCol="0" anchor="ctr"/>
          <a:lstStyle/>
          <a:p>
            <a:pPr algn="ctr"/>
            <a:endParaRPr/>
          </a:p>
        </p:txBody>
      </p:sp>
      <p:sp>
        <p:nvSpPr>
          <p:cNvPr id="39" name="Oval 38"/>
          <p:cNvSpPr/>
          <p:nvPr/>
        </p:nvSpPr>
        <p:spPr>
          <a:xfrm>
            <a:off x="9390888" y="1399032"/>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4</a:t>
            </a:r>
          </a:p>
        </p:txBody>
      </p:sp>
      <p:sp>
        <p:nvSpPr>
          <p:cNvPr id="40" name="TextBox 39"/>
          <p:cNvSpPr txBox="1"/>
          <p:nvPr/>
        </p:nvSpPr>
        <p:spPr>
          <a:xfrm>
            <a:off x="9665208" y="1298448"/>
            <a:ext cx="1947672" cy="457200"/>
          </a:xfrm>
          <a:prstGeom prst="rect">
            <a:avLst/>
          </a:prstGeom>
          <a:noFill/>
        </p:spPr>
        <p:txBody>
          <a:bodyPr wrap="square" lIns="73152" tIns="27432" rIns="73152" bIns="27432" anchor="ctr">
            <a:spAutoFit/>
          </a:bodyPr>
          <a:lstStyle/>
          <a:p>
            <a:pPr algn="l"/>
            <a:r>
              <a:rPr sz="900" b="1">
                <a:solidFill>
                  <a:srgbClr val="FFFFFF"/>
                </a:solidFill>
                <a:latin typeface="Segoe UI"/>
              </a:rPr>
              <a:t>Results</a:t>
            </a:r>
          </a:p>
          <a:p>
            <a:pPr algn="l"/>
            <a:r>
              <a:rPr sz="900" b="0">
                <a:solidFill>
                  <a:srgbClr val="FFFFFF"/>
                </a:solidFill>
                <a:latin typeface="Segoe UI"/>
              </a:rPr>
              <a:t>where you act</a:t>
            </a:r>
          </a:p>
        </p:txBody>
      </p:sp>
      <p:sp>
        <p:nvSpPr>
          <p:cNvPr id="41" name="Right Arrow 40"/>
          <p:cNvSpPr/>
          <p:nvPr/>
        </p:nvSpPr>
        <p:spPr>
          <a:xfrm>
            <a:off x="3081528" y="1426464"/>
            <a:ext cx="182880" cy="201168"/>
          </a:xfrm>
          <a:prstGeom prst="rightArrow">
            <a:avLst/>
          </a:prstGeom>
          <a:solidFill>
            <a:srgbClr val="00B39F"/>
          </a:solidFill>
          <a:ln>
            <a:noFill/>
          </a:ln>
          <a:effectLst/>
        </p:spPr>
        <p:txBody>
          <a:bodyPr rtlCol="0" anchor="ctr"/>
          <a:lstStyle/>
          <a:p>
            <a:pPr algn="ctr"/>
            <a:endParaRPr/>
          </a:p>
        </p:txBody>
      </p:sp>
      <p:sp>
        <p:nvSpPr>
          <p:cNvPr id="42" name="Right Arrow 41"/>
          <p:cNvSpPr/>
          <p:nvPr/>
        </p:nvSpPr>
        <p:spPr>
          <a:xfrm>
            <a:off x="5632703" y="1426464"/>
            <a:ext cx="182880" cy="201168"/>
          </a:xfrm>
          <a:prstGeom prst="rightArrow">
            <a:avLst/>
          </a:prstGeom>
          <a:solidFill>
            <a:srgbClr val="00B39F"/>
          </a:solidFill>
          <a:ln>
            <a:noFill/>
          </a:ln>
          <a:effectLst/>
        </p:spPr>
        <p:txBody>
          <a:bodyPr rtlCol="0" anchor="ctr"/>
          <a:lstStyle/>
          <a:p>
            <a:pPr algn="ctr"/>
            <a:endParaRPr/>
          </a:p>
        </p:txBody>
      </p:sp>
      <p:sp>
        <p:nvSpPr>
          <p:cNvPr id="43" name="Right Arrow 42"/>
          <p:cNvSpPr/>
          <p:nvPr/>
        </p:nvSpPr>
        <p:spPr>
          <a:xfrm>
            <a:off x="9098280" y="1426464"/>
            <a:ext cx="182880" cy="201168"/>
          </a:xfrm>
          <a:prstGeom prst="rightArrow">
            <a:avLst/>
          </a:prstGeom>
          <a:solidFill>
            <a:srgbClr val="00B39F"/>
          </a:solidFill>
          <a:ln>
            <a:noFill/>
          </a:ln>
          <a:effectLst/>
        </p:spPr>
        <p:txBody>
          <a:bodyPr rtlCol="0" anchor="ctr"/>
          <a:lstStyle/>
          <a:p>
            <a:pPr algn="ctr"/>
            <a:endParaRPr/>
          </a:p>
        </p:txBody>
      </p:sp>
      <p:sp>
        <p:nvSpPr>
          <p:cNvPr id="44" name="Rectangle 43"/>
          <p:cNvSpPr/>
          <p:nvPr/>
        </p:nvSpPr>
        <p:spPr>
          <a:xfrm>
            <a:off x="548640" y="1847088"/>
            <a:ext cx="2514600" cy="2880360"/>
          </a:xfrm>
          <a:prstGeom prst="rect">
            <a:avLst/>
          </a:prstGeom>
          <a:solidFill>
            <a:srgbClr val="F6F8FD"/>
          </a:solidFill>
          <a:ln w="9525">
            <a:solidFill>
              <a:srgbClr val="E1E7F4"/>
            </a:solidFill>
          </a:ln>
          <a:effectLst/>
        </p:spPr>
        <p:txBody>
          <a:bodyPr rtlCol="0" anchor="ctr"/>
          <a:lstStyle/>
          <a:p>
            <a:pPr algn="ctr"/>
            <a:endParaRPr/>
          </a:p>
        </p:txBody>
      </p:sp>
      <p:sp>
        <p:nvSpPr>
          <p:cNvPr id="45" name="Rectangle 44"/>
          <p:cNvSpPr/>
          <p:nvPr/>
        </p:nvSpPr>
        <p:spPr>
          <a:xfrm>
            <a:off x="3282696" y="1847088"/>
            <a:ext cx="2331720" cy="2880360"/>
          </a:xfrm>
          <a:prstGeom prst="rect">
            <a:avLst/>
          </a:prstGeom>
          <a:solidFill>
            <a:srgbClr val="F6F8FD"/>
          </a:solidFill>
          <a:ln w="9525">
            <a:solidFill>
              <a:srgbClr val="E1E7F4"/>
            </a:solidFill>
          </a:ln>
          <a:effectLst/>
        </p:spPr>
        <p:txBody>
          <a:bodyPr rtlCol="0" anchor="ctr"/>
          <a:lstStyle/>
          <a:p>
            <a:pPr algn="ctr"/>
            <a:endParaRPr/>
          </a:p>
        </p:txBody>
      </p:sp>
      <p:sp>
        <p:nvSpPr>
          <p:cNvPr id="46" name="Rectangle 45"/>
          <p:cNvSpPr/>
          <p:nvPr/>
        </p:nvSpPr>
        <p:spPr>
          <a:xfrm>
            <a:off x="5833872" y="1847088"/>
            <a:ext cx="3246120" cy="2880360"/>
          </a:xfrm>
          <a:prstGeom prst="rect">
            <a:avLst/>
          </a:prstGeom>
          <a:solidFill>
            <a:srgbClr val="F6F8FD"/>
          </a:solidFill>
          <a:ln w="9525">
            <a:solidFill>
              <a:srgbClr val="E1E7F4"/>
            </a:solidFill>
          </a:ln>
          <a:effectLst/>
        </p:spPr>
        <p:txBody>
          <a:bodyPr rtlCol="0" anchor="ctr"/>
          <a:lstStyle/>
          <a:p>
            <a:pPr algn="ctr"/>
            <a:endParaRPr/>
          </a:p>
        </p:txBody>
      </p:sp>
      <p:sp>
        <p:nvSpPr>
          <p:cNvPr id="47" name="Rectangle 46"/>
          <p:cNvSpPr/>
          <p:nvPr/>
        </p:nvSpPr>
        <p:spPr>
          <a:xfrm>
            <a:off x="9299448" y="1847088"/>
            <a:ext cx="2331720" cy="2880360"/>
          </a:xfrm>
          <a:prstGeom prst="rect">
            <a:avLst/>
          </a:prstGeom>
          <a:solidFill>
            <a:srgbClr val="F6F8FD"/>
          </a:solidFill>
          <a:ln w="9525">
            <a:solidFill>
              <a:srgbClr val="E1E7F4"/>
            </a:solidFill>
          </a:ln>
          <a:effectLst/>
        </p:spPr>
        <p:txBody>
          <a:bodyPr rtlCol="0" anchor="ctr"/>
          <a:lstStyle/>
          <a:p>
            <a:pPr algn="ctr"/>
            <a:endParaRPr/>
          </a:p>
        </p:txBody>
      </p:sp>
      <p:sp>
        <p:nvSpPr>
          <p:cNvPr id="48" name="TextBox 47"/>
          <p:cNvSpPr txBox="1"/>
          <p:nvPr/>
        </p:nvSpPr>
        <p:spPr>
          <a:xfrm>
            <a:off x="585216" y="1920240"/>
            <a:ext cx="2441448" cy="201168"/>
          </a:xfrm>
          <a:prstGeom prst="rect">
            <a:avLst/>
          </a:prstGeom>
          <a:noFill/>
        </p:spPr>
        <p:txBody>
          <a:bodyPr wrap="square" lIns="73152" tIns="27432" rIns="73152" bIns="27432" anchor="ctr">
            <a:spAutoFit/>
          </a:bodyPr>
          <a:lstStyle/>
          <a:p>
            <a:pPr algn="l"/>
            <a:r>
              <a:rPr sz="750" b="1">
                <a:solidFill>
                  <a:srgbClr val="008173"/>
                </a:solidFill>
                <a:latin typeface="Segoe UI"/>
              </a:rPr>
              <a:t>Before release</a:t>
            </a:r>
          </a:p>
        </p:txBody>
      </p:sp>
      <p:sp>
        <p:nvSpPr>
          <p:cNvPr id="49" name="Rectangle 48"/>
          <p:cNvSpPr/>
          <p:nvPr/>
        </p:nvSpPr>
        <p:spPr>
          <a:xfrm>
            <a:off x="621792" y="2108972"/>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50" name="TextBox 49"/>
          <p:cNvSpPr txBox="1"/>
          <p:nvPr/>
        </p:nvSpPr>
        <p:spPr>
          <a:xfrm>
            <a:off x="621792" y="2108972"/>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A live target</a:t>
            </a:r>
            <a:r>
              <a:rPr sz="700" b="0">
                <a:solidFill>
                  <a:srgbClr val="141B33"/>
                </a:solidFill>
                <a:latin typeface="Segoe UI"/>
              </a:rPr>
              <a:t>  a model deployment or an agent — Foundry generates the responses</a:t>
            </a:r>
          </a:p>
        </p:txBody>
      </p:sp>
      <p:sp>
        <p:nvSpPr>
          <p:cNvPr id="51" name="Rectangle 50"/>
          <p:cNvSpPr/>
          <p:nvPr/>
        </p:nvSpPr>
        <p:spPr>
          <a:xfrm>
            <a:off x="621792" y="2415661"/>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52" name="TextBox 51"/>
          <p:cNvSpPr txBox="1"/>
          <p:nvPr/>
        </p:nvSpPr>
        <p:spPr>
          <a:xfrm>
            <a:off x="621792" y="2415661"/>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Your test data</a:t>
            </a:r>
            <a:r>
              <a:rPr sz="700" b="0">
                <a:solidFill>
                  <a:srgbClr val="141B33"/>
                </a:solidFill>
                <a:latin typeface="Segoe UI"/>
              </a:rPr>
              <a:t>  stored prompts and answers, or recorded conversations</a:t>
            </a:r>
          </a:p>
        </p:txBody>
      </p:sp>
      <p:sp>
        <p:nvSpPr>
          <p:cNvPr id="53" name="Rectangle 52"/>
          <p:cNvSpPr/>
          <p:nvPr/>
        </p:nvSpPr>
        <p:spPr>
          <a:xfrm>
            <a:off x="621792" y="2722351"/>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54" name="TextBox 53"/>
          <p:cNvSpPr txBox="1"/>
          <p:nvPr/>
        </p:nvSpPr>
        <p:spPr>
          <a:xfrm>
            <a:off x="621792" y="2722351"/>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Synthetic conversations</a:t>
            </a:r>
            <a:r>
              <a:rPr sz="700" b="0">
                <a:solidFill>
                  <a:srgbClr val="141B33"/>
                </a:solidFill>
                <a:latin typeface="Segoe UI"/>
              </a:rPr>
              <a:t>  generated from a scenario description</a:t>
            </a:r>
          </a:p>
        </p:txBody>
      </p:sp>
      <p:sp>
        <p:nvSpPr>
          <p:cNvPr id="55" name="Rectangle 54"/>
          <p:cNvSpPr/>
          <p:nvPr/>
        </p:nvSpPr>
        <p:spPr>
          <a:xfrm>
            <a:off x="621792" y="3029041"/>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56" name="TextBox 55"/>
          <p:cNvSpPr txBox="1"/>
          <p:nvPr/>
        </p:nvSpPr>
        <p:spPr>
          <a:xfrm>
            <a:off x="621792" y="3029041"/>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Red-team probes</a:t>
            </a:r>
            <a:r>
              <a:rPr sz="700" b="0">
                <a:solidFill>
                  <a:srgbClr val="141B33"/>
                </a:solidFill>
                <a:latin typeface="Segoe UI"/>
              </a:rPr>
              <a:t>  adversarial attacks from the AI Red Teaming Agent</a:t>
            </a:r>
          </a:p>
        </p:txBody>
      </p:sp>
      <p:sp>
        <p:nvSpPr>
          <p:cNvPr id="57" name="TextBox 56"/>
          <p:cNvSpPr txBox="1"/>
          <p:nvPr/>
        </p:nvSpPr>
        <p:spPr>
          <a:xfrm>
            <a:off x="585216" y="3375050"/>
            <a:ext cx="2441448" cy="201168"/>
          </a:xfrm>
          <a:prstGeom prst="rect">
            <a:avLst/>
          </a:prstGeom>
          <a:noFill/>
        </p:spPr>
        <p:txBody>
          <a:bodyPr wrap="square" lIns="73152" tIns="27432" rIns="73152" bIns="27432" anchor="ctr">
            <a:spAutoFit/>
          </a:bodyPr>
          <a:lstStyle/>
          <a:p>
            <a:pPr algn="l"/>
            <a:r>
              <a:rPr sz="750" b="1">
                <a:solidFill>
                  <a:srgbClr val="008173"/>
                </a:solidFill>
                <a:latin typeface="Segoe UI"/>
              </a:rPr>
              <a:t>In production</a:t>
            </a:r>
          </a:p>
        </p:txBody>
      </p:sp>
      <p:sp>
        <p:nvSpPr>
          <p:cNvPr id="58" name="Rectangle 57"/>
          <p:cNvSpPr/>
          <p:nvPr/>
        </p:nvSpPr>
        <p:spPr>
          <a:xfrm>
            <a:off x="621792" y="3563782"/>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59" name="TextBox 58"/>
          <p:cNvSpPr txBox="1"/>
          <p:nvPr/>
        </p:nvSpPr>
        <p:spPr>
          <a:xfrm>
            <a:off x="621792" y="3563782"/>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Traces and response IDs</a:t>
            </a:r>
            <a:r>
              <a:rPr sz="700" b="0">
                <a:solidFill>
                  <a:srgbClr val="141B33"/>
                </a:solidFill>
                <a:latin typeface="Segoe UI"/>
              </a:rPr>
              <a:t>  no dataset needed</a:t>
            </a:r>
          </a:p>
        </p:txBody>
      </p:sp>
      <p:sp>
        <p:nvSpPr>
          <p:cNvPr id="60" name="Rectangle 59"/>
          <p:cNvSpPr/>
          <p:nvPr/>
        </p:nvSpPr>
        <p:spPr>
          <a:xfrm>
            <a:off x="621792" y="3870472"/>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61" name="TextBox 60"/>
          <p:cNvSpPr txBox="1"/>
          <p:nvPr/>
        </p:nvSpPr>
        <p:spPr>
          <a:xfrm>
            <a:off x="621792" y="3870472"/>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Continuous sampling</a:t>
            </a:r>
            <a:r>
              <a:rPr sz="700" b="0">
                <a:solidFill>
                  <a:srgbClr val="141B33"/>
                </a:solidFill>
                <a:latin typeface="Segoe UI"/>
              </a:rPr>
              <a:t>  a share of live traffic, scored as it happens</a:t>
            </a:r>
          </a:p>
        </p:txBody>
      </p:sp>
      <p:sp>
        <p:nvSpPr>
          <p:cNvPr id="62" name="Rectangle 61"/>
          <p:cNvSpPr/>
          <p:nvPr/>
        </p:nvSpPr>
        <p:spPr>
          <a:xfrm>
            <a:off x="621792" y="4177162"/>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63" name="TextBox 62"/>
          <p:cNvSpPr txBox="1"/>
          <p:nvPr/>
        </p:nvSpPr>
        <p:spPr>
          <a:xfrm>
            <a:off x="621792" y="4177162"/>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Scheduled runs</a:t>
            </a:r>
            <a:r>
              <a:rPr sz="700" b="0">
                <a:solidFill>
                  <a:srgbClr val="141B33"/>
                </a:solidFill>
                <a:latin typeface="Segoe UI"/>
              </a:rPr>
              <a:t>  a fixed dataset on a timer, to catch drift</a:t>
            </a:r>
          </a:p>
        </p:txBody>
      </p:sp>
      <p:sp>
        <p:nvSpPr>
          <p:cNvPr id="64" name="TextBox 63"/>
          <p:cNvSpPr txBox="1"/>
          <p:nvPr/>
        </p:nvSpPr>
        <p:spPr>
          <a:xfrm>
            <a:off x="3319272" y="1920240"/>
            <a:ext cx="2258568" cy="201168"/>
          </a:xfrm>
          <a:prstGeom prst="rect">
            <a:avLst/>
          </a:prstGeom>
          <a:noFill/>
        </p:spPr>
        <p:txBody>
          <a:bodyPr wrap="square" lIns="73152" tIns="27432" rIns="73152" bIns="27432" anchor="ctr">
            <a:spAutoFit/>
          </a:bodyPr>
          <a:lstStyle/>
          <a:p>
            <a:pPr algn="l"/>
            <a:r>
              <a:rPr sz="750" b="1">
                <a:solidFill>
                  <a:srgbClr val="008173"/>
                </a:solidFill>
                <a:latin typeface="Segoe UI"/>
              </a:rPr>
              <a:t>One JSONL record per case</a:t>
            </a:r>
          </a:p>
        </p:txBody>
      </p:sp>
      <p:sp>
        <p:nvSpPr>
          <p:cNvPr id="65" name="Rectangle 64"/>
          <p:cNvSpPr/>
          <p:nvPr/>
        </p:nvSpPr>
        <p:spPr>
          <a:xfrm>
            <a:off x="3355848" y="2157984"/>
            <a:ext cx="2185415" cy="329184"/>
          </a:xfrm>
          <a:prstGeom prst="rect">
            <a:avLst/>
          </a:prstGeom>
          <a:solidFill>
            <a:srgbClr val="FFFFFF"/>
          </a:solidFill>
          <a:ln w="9525">
            <a:solidFill>
              <a:srgbClr val="E1E7F4"/>
            </a:solidFill>
          </a:ln>
          <a:effectLst/>
        </p:spPr>
        <p:txBody>
          <a:bodyPr rtlCol="0" anchor="ctr"/>
          <a:lstStyle/>
          <a:p>
            <a:pPr algn="ctr"/>
            <a:endParaRPr/>
          </a:p>
        </p:txBody>
      </p:sp>
      <p:sp>
        <p:nvSpPr>
          <p:cNvPr id="66" name="TextBox 65"/>
          <p:cNvSpPr txBox="1"/>
          <p:nvPr/>
        </p:nvSpPr>
        <p:spPr>
          <a:xfrm>
            <a:off x="3355848" y="2157984"/>
            <a:ext cx="2185415" cy="329184"/>
          </a:xfrm>
          <a:prstGeom prst="rect">
            <a:avLst/>
          </a:prstGeom>
          <a:noFill/>
        </p:spPr>
        <p:txBody>
          <a:bodyPr wrap="square" lIns="73152" tIns="27432" rIns="73152" bIns="27432" anchor="ctr">
            <a:spAutoFit/>
          </a:bodyPr>
          <a:lstStyle/>
          <a:p>
            <a:pPr algn="l"/>
            <a:r>
              <a:rPr sz="700" b="1">
                <a:solidFill>
                  <a:srgbClr val="141B33"/>
                </a:solidFill>
                <a:latin typeface="Segoe UI"/>
              </a:rPr>
              <a:t>messages</a:t>
            </a:r>
          </a:p>
          <a:p>
            <a:pPr algn="l"/>
            <a:r>
              <a:rPr sz="700" b="0">
                <a:solidFill>
                  <a:srgbClr val="141B33"/>
                </a:solidFill>
                <a:latin typeface="Segoe UI"/>
              </a:rPr>
              <a:t>the conversation, incl. tool calls</a:t>
            </a:r>
          </a:p>
        </p:txBody>
      </p:sp>
      <p:sp>
        <p:nvSpPr>
          <p:cNvPr id="67" name="Rectangle 66"/>
          <p:cNvSpPr/>
          <p:nvPr/>
        </p:nvSpPr>
        <p:spPr>
          <a:xfrm>
            <a:off x="3355848" y="2514600"/>
            <a:ext cx="2185415" cy="329184"/>
          </a:xfrm>
          <a:prstGeom prst="rect">
            <a:avLst/>
          </a:prstGeom>
          <a:solidFill>
            <a:srgbClr val="FFFFFF"/>
          </a:solidFill>
          <a:ln w="9525">
            <a:solidFill>
              <a:srgbClr val="E1E7F4"/>
            </a:solidFill>
          </a:ln>
          <a:effectLst/>
        </p:spPr>
        <p:txBody>
          <a:bodyPr rtlCol="0" anchor="ctr"/>
          <a:lstStyle/>
          <a:p>
            <a:pPr algn="ctr"/>
            <a:endParaRPr/>
          </a:p>
        </p:txBody>
      </p:sp>
      <p:sp>
        <p:nvSpPr>
          <p:cNvPr id="68" name="TextBox 67"/>
          <p:cNvSpPr txBox="1"/>
          <p:nvPr/>
        </p:nvSpPr>
        <p:spPr>
          <a:xfrm>
            <a:off x="3355848" y="2514600"/>
            <a:ext cx="2185415" cy="329184"/>
          </a:xfrm>
          <a:prstGeom prst="rect">
            <a:avLst/>
          </a:prstGeom>
          <a:noFill/>
        </p:spPr>
        <p:txBody>
          <a:bodyPr wrap="square" lIns="73152" tIns="27432" rIns="73152" bIns="27432" anchor="ctr">
            <a:spAutoFit/>
          </a:bodyPr>
          <a:lstStyle/>
          <a:p>
            <a:pPr algn="l"/>
            <a:r>
              <a:rPr sz="700" b="1">
                <a:solidFill>
                  <a:srgbClr val="141B33"/>
                </a:solidFill>
                <a:latin typeface="Segoe UI"/>
              </a:rPr>
              <a:t>query · response</a:t>
            </a:r>
          </a:p>
          <a:p>
            <a:pPr algn="l"/>
            <a:r>
              <a:rPr sz="700" b="0">
                <a:solidFill>
                  <a:srgbClr val="141B33"/>
                </a:solidFill>
                <a:latin typeface="Segoe UI"/>
              </a:rPr>
              <a:t>a single turn</a:t>
            </a:r>
          </a:p>
        </p:txBody>
      </p:sp>
      <p:sp>
        <p:nvSpPr>
          <p:cNvPr id="69" name="Rectangle 68"/>
          <p:cNvSpPr/>
          <p:nvPr/>
        </p:nvSpPr>
        <p:spPr>
          <a:xfrm>
            <a:off x="3355848" y="2871216"/>
            <a:ext cx="2185415" cy="329184"/>
          </a:xfrm>
          <a:prstGeom prst="rect">
            <a:avLst/>
          </a:prstGeom>
          <a:solidFill>
            <a:srgbClr val="FFFFFF"/>
          </a:solidFill>
          <a:ln w="9525">
            <a:solidFill>
              <a:srgbClr val="E1E7F4"/>
            </a:solidFill>
          </a:ln>
          <a:effectLst/>
        </p:spPr>
        <p:txBody>
          <a:bodyPr rtlCol="0" anchor="ctr"/>
          <a:lstStyle/>
          <a:p>
            <a:pPr algn="ctr"/>
            <a:endParaRPr/>
          </a:p>
        </p:txBody>
      </p:sp>
      <p:sp>
        <p:nvSpPr>
          <p:cNvPr id="70" name="TextBox 69"/>
          <p:cNvSpPr txBox="1"/>
          <p:nvPr/>
        </p:nvSpPr>
        <p:spPr>
          <a:xfrm>
            <a:off x="3355848" y="2871216"/>
            <a:ext cx="2185415" cy="329184"/>
          </a:xfrm>
          <a:prstGeom prst="rect">
            <a:avLst/>
          </a:prstGeom>
          <a:noFill/>
        </p:spPr>
        <p:txBody>
          <a:bodyPr wrap="square" lIns="73152" tIns="27432" rIns="73152" bIns="27432" anchor="ctr">
            <a:spAutoFit/>
          </a:bodyPr>
          <a:lstStyle/>
          <a:p>
            <a:pPr algn="l"/>
            <a:r>
              <a:rPr sz="700" b="1">
                <a:solidFill>
                  <a:srgbClr val="141B33"/>
                </a:solidFill>
                <a:latin typeface="Segoe UI"/>
              </a:rPr>
              <a:t>ground_truth</a:t>
            </a:r>
          </a:p>
          <a:p>
            <a:pPr algn="l"/>
            <a:r>
              <a:rPr sz="700" b="0">
                <a:solidFill>
                  <a:srgbClr val="141B33"/>
                </a:solidFill>
                <a:latin typeface="Segoe UI"/>
              </a:rPr>
              <a:t>the expected answer</a:t>
            </a:r>
          </a:p>
        </p:txBody>
      </p:sp>
      <p:sp>
        <p:nvSpPr>
          <p:cNvPr id="71" name="Rectangle 70"/>
          <p:cNvSpPr/>
          <p:nvPr/>
        </p:nvSpPr>
        <p:spPr>
          <a:xfrm>
            <a:off x="3355848" y="3227832"/>
            <a:ext cx="2185415" cy="329184"/>
          </a:xfrm>
          <a:prstGeom prst="rect">
            <a:avLst/>
          </a:prstGeom>
          <a:solidFill>
            <a:srgbClr val="FFFFFF"/>
          </a:solidFill>
          <a:ln w="9525">
            <a:solidFill>
              <a:srgbClr val="E1E7F4"/>
            </a:solidFill>
          </a:ln>
          <a:effectLst/>
        </p:spPr>
        <p:txBody>
          <a:bodyPr rtlCol="0" anchor="ctr"/>
          <a:lstStyle/>
          <a:p>
            <a:pPr algn="ctr"/>
            <a:endParaRPr/>
          </a:p>
        </p:txBody>
      </p:sp>
      <p:sp>
        <p:nvSpPr>
          <p:cNvPr id="72" name="TextBox 71"/>
          <p:cNvSpPr txBox="1"/>
          <p:nvPr/>
        </p:nvSpPr>
        <p:spPr>
          <a:xfrm>
            <a:off x="3355848" y="3227832"/>
            <a:ext cx="2185415" cy="329184"/>
          </a:xfrm>
          <a:prstGeom prst="rect">
            <a:avLst/>
          </a:prstGeom>
          <a:noFill/>
        </p:spPr>
        <p:txBody>
          <a:bodyPr wrap="square" lIns="73152" tIns="27432" rIns="73152" bIns="27432" anchor="ctr">
            <a:spAutoFit/>
          </a:bodyPr>
          <a:lstStyle/>
          <a:p>
            <a:pPr algn="l"/>
            <a:r>
              <a:rPr sz="700" b="1">
                <a:solidFill>
                  <a:srgbClr val="141B33"/>
                </a:solidFill>
                <a:latin typeface="Segoe UI"/>
              </a:rPr>
              <a:t>context</a:t>
            </a:r>
          </a:p>
          <a:p>
            <a:pPr algn="l"/>
            <a:r>
              <a:rPr sz="700" b="0">
                <a:solidFill>
                  <a:srgbClr val="141B33"/>
                </a:solidFill>
                <a:latin typeface="Segoe UI"/>
              </a:rPr>
              <a:t>grounding text</a:t>
            </a:r>
          </a:p>
        </p:txBody>
      </p:sp>
      <p:sp>
        <p:nvSpPr>
          <p:cNvPr id="73" name="Rectangle 72"/>
          <p:cNvSpPr/>
          <p:nvPr/>
        </p:nvSpPr>
        <p:spPr>
          <a:xfrm>
            <a:off x="3355848" y="3584448"/>
            <a:ext cx="2185415" cy="329184"/>
          </a:xfrm>
          <a:prstGeom prst="rect">
            <a:avLst/>
          </a:prstGeom>
          <a:solidFill>
            <a:srgbClr val="FFFFFF"/>
          </a:solidFill>
          <a:ln w="9525">
            <a:solidFill>
              <a:srgbClr val="E1E7F4"/>
            </a:solidFill>
          </a:ln>
          <a:effectLst/>
        </p:spPr>
        <p:txBody>
          <a:bodyPr rtlCol="0" anchor="ctr"/>
          <a:lstStyle/>
          <a:p>
            <a:pPr algn="ctr"/>
            <a:endParaRPr/>
          </a:p>
        </p:txBody>
      </p:sp>
      <p:sp>
        <p:nvSpPr>
          <p:cNvPr id="74" name="TextBox 73"/>
          <p:cNvSpPr txBox="1"/>
          <p:nvPr/>
        </p:nvSpPr>
        <p:spPr>
          <a:xfrm>
            <a:off x="3355848" y="3584448"/>
            <a:ext cx="2185415" cy="329184"/>
          </a:xfrm>
          <a:prstGeom prst="rect">
            <a:avLst/>
          </a:prstGeom>
          <a:noFill/>
        </p:spPr>
        <p:txBody>
          <a:bodyPr wrap="square" lIns="73152" tIns="27432" rIns="73152" bIns="27432" anchor="ctr">
            <a:spAutoFit/>
          </a:bodyPr>
          <a:lstStyle/>
          <a:p>
            <a:pPr algn="l"/>
            <a:r>
              <a:rPr sz="700" b="1">
                <a:solidFill>
                  <a:srgbClr val="141B33"/>
                </a:solidFill>
                <a:latin typeface="Segoe UI"/>
              </a:rPr>
              <a:t>tool_definitions</a:t>
            </a:r>
          </a:p>
          <a:p>
            <a:pPr algn="l"/>
            <a:r>
              <a:rPr sz="700" b="0">
                <a:solidFill>
                  <a:srgbClr val="141B33"/>
                </a:solidFill>
                <a:latin typeface="Segoe UI"/>
              </a:rPr>
              <a:t>what the agent could call</a:t>
            </a:r>
          </a:p>
        </p:txBody>
      </p:sp>
      <p:sp>
        <p:nvSpPr>
          <p:cNvPr id="75" name="TextBox 74"/>
          <p:cNvSpPr txBox="1"/>
          <p:nvPr/>
        </p:nvSpPr>
        <p:spPr>
          <a:xfrm>
            <a:off x="3319272" y="3995928"/>
            <a:ext cx="2258568" cy="201168"/>
          </a:xfrm>
          <a:prstGeom prst="rect">
            <a:avLst/>
          </a:prstGeom>
          <a:noFill/>
        </p:spPr>
        <p:txBody>
          <a:bodyPr wrap="square" lIns="73152" tIns="27432" rIns="73152" bIns="27432" anchor="ctr">
            <a:spAutoFit/>
          </a:bodyPr>
          <a:lstStyle/>
          <a:p>
            <a:pPr algn="l"/>
            <a:r>
              <a:rPr sz="750" b="1">
                <a:solidFill>
                  <a:srgbClr val="008173"/>
                </a:solidFill>
                <a:latin typeface="Segoe UI"/>
              </a:rPr>
              <a:t>Two evaluation levels</a:t>
            </a:r>
          </a:p>
        </p:txBody>
      </p:sp>
      <p:sp>
        <p:nvSpPr>
          <p:cNvPr id="76" name="Rectangle 75"/>
          <p:cNvSpPr/>
          <p:nvPr/>
        </p:nvSpPr>
        <p:spPr>
          <a:xfrm>
            <a:off x="3355848" y="4215384"/>
            <a:ext cx="1056131" cy="274320"/>
          </a:xfrm>
          <a:prstGeom prst="rect">
            <a:avLst/>
          </a:prstGeom>
          <a:solidFill>
            <a:srgbClr val="EBEFF7"/>
          </a:solidFill>
          <a:ln>
            <a:noFill/>
          </a:ln>
          <a:effectLst/>
        </p:spPr>
        <p:txBody>
          <a:bodyPr rtlCol="0" anchor="ctr"/>
          <a:lstStyle/>
          <a:p>
            <a:pPr algn="ctr"/>
            <a:endParaRPr/>
          </a:p>
        </p:txBody>
      </p:sp>
      <p:sp>
        <p:nvSpPr>
          <p:cNvPr id="77" name="TextBox 76"/>
          <p:cNvSpPr txBox="1"/>
          <p:nvPr/>
        </p:nvSpPr>
        <p:spPr>
          <a:xfrm>
            <a:off x="3355848" y="4215384"/>
            <a:ext cx="1056131" cy="274320"/>
          </a:xfrm>
          <a:prstGeom prst="rect">
            <a:avLst/>
          </a:prstGeom>
          <a:noFill/>
        </p:spPr>
        <p:txBody>
          <a:bodyPr wrap="square" lIns="73152" tIns="27432" rIns="73152" bIns="27432" anchor="ctr">
            <a:spAutoFit/>
          </a:bodyPr>
          <a:lstStyle/>
          <a:p>
            <a:pPr algn="ctr"/>
            <a:r>
              <a:rPr sz="750" b="0">
                <a:solidFill>
                  <a:srgbClr val="141B33"/>
                </a:solidFill>
                <a:latin typeface="Segoe UI"/>
              </a:rPr>
              <a:t>turn</a:t>
            </a:r>
          </a:p>
        </p:txBody>
      </p:sp>
      <p:sp>
        <p:nvSpPr>
          <p:cNvPr id="78" name="Rectangle 77"/>
          <p:cNvSpPr/>
          <p:nvPr/>
        </p:nvSpPr>
        <p:spPr>
          <a:xfrm>
            <a:off x="4485131" y="4215384"/>
            <a:ext cx="1056131" cy="274320"/>
          </a:xfrm>
          <a:prstGeom prst="rect">
            <a:avLst/>
          </a:prstGeom>
          <a:solidFill>
            <a:srgbClr val="EBEFF7"/>
          </a:solidFill>
          <a:ln>
            <a:noFill/>
          </a:ln>
          <a:effectLst/>
        </p:spPr>
        <p:txBody>
          <a:bodyPr rtlCol="0" anchor="ctr"/>
          <a:lstStyle/>
          <a:p>
            <a:pPr algn="ctr"/>
            <a:endParaRPr/>
          </a:p>
        </p:txBody>
      </p:sp>
      <p:sp>
        <p:nvSpPr>
          <p:cNvPr id="79" name="TextBox 78"/>
          <p:cNvSpPr txBox="1"/>
          <p:nvPr/>
        </p:nvSpPr>
        <p:spPr>
          <a:xfrm>
            <a:off x="4485131" y="4215384"/>
            <a:ext cx="1056131" cy="274320"/>
          </a:xfrm>
          <a:prstGeom prst="rect">
            <a:avLst/>
          </a:prstGeom>
          <a:noFill/>
        </p:spPr>
        <p:txBody>
          <a:bodyPr wrap="square" lIns="73152" tIns="27432" rIns="73152" bIns="27432" anchor="ctr">
            <a:spAutoFit/>
          </a:bodyPr>
          <a:lstStyle/>
          <a:p>
            <a:pPr algn="ctr"/>
            <a:r>
              <a:rPr sz="750" b="0">
                <a:solidFill>
                  <a:srgbClr val="141B33"/>
                </a:solidFill>
                <a:latin typeface="Segoe UI"/>
              </a:rPr>
              <a:t>conversation</a:t>
            </a:r>
          </a:p>
        </p:txBody>
      </p:sp>
      <p:sp>
        <p:nvSpPr>
          <p:cNvPr id="80" name="TextBox 79"/>
          <p:cNvSpPr txBox="1"/>
          <p:nvPr/>
        </p:nvSpPr>
        <p:spPr>
          <a:xfrm>
            <a:off x="3319272" y="4526280"/>
            <a:ext cx="2258568" cy="365760"/>
          </a:xfrm>
          <a:prstGeom prst="rect">
            <a:avLst/>
          </a:prstGeom>
          <a:noFill/>
        </p:spPr>
        <p:txBody>
          <a:bodyPr wrap="square" lIns="73152" tIns="27432" rIns="73152" bIns="27432" anchor="t">
            <a:spAutoFit/>
          </a:bodyPr>
          <a:lstStyle/>
          <a:p>
            <a:pPr algn="l"/>
            <a:r>
              <a:rPr sz="700" b="0">
                <a:solidFill>
                  <a:srgbClr val="44495B"/>
                </a:solidFill>
                <a:latin typeface="Segoe UI"/>
              </a:rPr>
              <a:t>Evaluators in one run must share a level.</a:t>
            </a:r>
          </a:p>
        </p:txBody>
      </p:sp>
      <p:sp>
        <p:nvSpPr>
          <p:cNvPr id="126" name="Rectangle 125"/>
          <p:cNvSpPr/>
          <p:nvPr/>
        </p:nvSpPr>
        <p:spPr>
          <a:xfrm>
            <a:off x="9372600" y="1920240"/>
            <a:ext cx="2185415" cy="402336"/>
          </a:xfrm>
          <a:prstGeom prst="rect">
            <a:avLst/>
          </a:prstGeom>
          <a:solidFill>
            <a:srgbClr val="FFFFFF"/>
          </a:solidFill>
          <a:ln w="9525">
            <a:solidFill>
              <a:srgbClr val="E1E7F4"/>
            </a:solidFill>
          </a:ln>
          <a:effectLst/>
        </p:spPr>
        <p:txBody>
          <a:bodyPr rtlCol="0" anchor="ctr"/>
          <a:lstStyle/>
          <a:p>
            <a:pPr algn="ctr"/>
            <a:endParaRPr/>
          </a:p>
        </p:txBody>
      </p:sp>
      <p:sp>
        <p:nvSpPr>
          <p:cNvPr id="127" name="TextBox 126"/>
          <p:cNvSpPr txBox="1"/>
          <p:nvPr/>
        </p:nvSpPr>
        <p:spPr>
          <a:xfrm>
            <a:off x="9372600" y="1920240"/>
            <a:ext cx="2185415" cy="402336"/>
          </a:xfrm>
          <a:prstGeom prst="rect">
            <a:avLst/>
          </a:prstGeom>
          <a:noFill/>
        </p:spPr>
        <p:txBody>
          <a:bodyPr wrap="square" lIns="73152" tIns="27432" rIns="73152" bIns="27432" anchor="ctr">
            <a:spAutoFit/>
          </a:bodyPr>
          <a:lstStyle/>
          <a:p>
            <a:pPr algn="l"/>
            <a:r>
              <a:rPr sz="700" b="1">
                <a:solidFill>
                  <a:srgbClr val="141B33"/>
                </a:solidFill>
                <a:latin typeface="Segoe UI"/>
              </a:rPr>
              <a:t>Evaluation results</a:t>
            </a:r>
          </a:p>
          <a:p>
            <a:pPr algn="l"/>
            <a:r>
              <a:rPr sz="700" b="0">
                <a:solidFill>
                  <a:srgbClr val="141B33"/>
                </a:solidFill>
                <a:latin typeface="Segoe UI"/>
              </a:rPr>
              <a:t>per-case scores and reasoning in the Foundry portal</a:t>
            </a:r>
          </a:p>
        </p:txBody>
      </p:sp>
      <p:sp>
        <p:nvSpPr>
          <p:cNvPr id="128" name="Rectangle 127"/>
          <p:cNvSpPr/>
          <p:nvPr/>
        </p:nvSpPr>
        <p:spPr>
          <a:xfrm>
            <a:off x="9372600" y="2350008"/>
            <a:ext cx="2185415" cy="402336"/>
          </a:xfrm>
          <a:prstGeom prst="rect">
            <a:avLst/>
          </a:prstGeom>
          <a:solidFill>
            <a:srgbClr val="FFFFFF"/>
          </a:solidFill>
          <a:ln w="9525">
            <a:solidFill>
              <a:srgbClr val="E1E7F4"/>
            </a:solidFill>
          </a:ln>
          <a:effectLst/>
        </p:spPr>
        <p:txBody>
          <a:bodyPr rtlCol="0" anchor="ctr"/>
          <a:lstStyle/>
          <a:p>
            <a:pPr algn="ctr"/>
            <a:endParaRPr/>
          </a:p>
        </p:txBody>
      </p:sp>
      <p:sp>
        <p:nvSpPr>
          <p:cNvPr id="129" name="TextBox 128"/>
          <p:cNvSpPr txBox="1"/>
          <p:nvPr/>
        </p:nvSpPr>
        <p:spPr>
          <a:xfrm>
            <a:off x="9372600" y="2350008"/>
            <a:ext cx="2185415" cy="402336"/>
          </a:xfrm>
          <a:prstGeom prst="rect">
            <a:avLst/>
          </a:prstGeom>
          <a:noFill/>
        </p:spPr>
        <p:txBody>
          <a:bodyPr wrap="square" lIns="73152" tIns="27432" rIns="73152" bIns="27432" anchor="ctr">
            <a:spAutoFit/>
          </a:bodyPr>
          <a:lstStyle/>
          <a:p>
            <a:pPr algn="l"/>
            <a:r>
              <a:rPr sz="700" b="1">
                <a:solidFill>
                  <a:srgbClr val="141B33"/>
                </a:solidFill>
                <a:latin typeface="Segoe UI"/>
              </a:rPr>
              <a:t>Agent monitoring dashboard*</a:t>
            </a:r>
          </a:p>
          <a:p>
            <a:pPr algn="l"/>
            <a:r>
              <a:rPr sz="700" b="0">
                <a:solidFill>
                  <a:srgbClr val="141B33"/>
                </a:solidFill>
                <a:latin typeface="Segoe UI"/>
              </a:rPr>
              <a:t>quality trend next to tokens, latency and run success</a:t>
            </a:r>
          </a:p>
        </p:txBody>
      </p:sp>
      <p:sp>
        <p:nvSpPr>
          <p:cNvPr id="130" name="Rectangle 129"/>
          <p:cNvSpPr/>
          <p:nvPr/>
        </p:nvSpPr>
        <p:spPr>
          <a:xfrm>
            <a:off x="9372600" y="2779776"/>
            <a:ext cx="2185415" cy="402336"/>
          </a:xfrm>
          <a:prstGeom prst="rect">
            <a:avLst/>
          </a:prstGeom>
          <a:solidFill>
            <a:srgbClr val="FFFFFF"/>
          </a:solidFill>
          <a:ln w="9525">
            <a:solidFill>
              <a:srgbClr val="E1E7F4"/>
            </a:solidFill>
          </a:ln>
          <a:effectLst/>
        </p:spPr>
        <p:txBody>
          <a:bodyPr rtlCol="0" anchor="ctr"/>
          <a:lstStyle/>
          <a:p>
            <a:pPr algn="ctr"/>
            <a:endParaRPr/>
          </a:p>
        </p:txBody>
      </p:sp>
      <p:sp>
        <p:nvSpPr>
          <p:cNvPr id="131" name="TextBox 130"/>
          <p:cNvSpPr txBox="1"/>
          <p:nvPr/>
        </p:nvSpPr>
        <p:spPr>
          <a:xfrm>
            <a:off x="9372600" y="2779776"/>
            <a:ext cx="2185415" cy="402336"/>
          </a:xfrm>
          <a:prstGeom prst="rect">
            <a:avLst/>
          </a:prstGeom>
          <a:noFill/>
        </p:spPr>
        <p:txBody>
          <a:bodyPr wrap="square" lIns="73152" tIns="27432" rIns="73152" bIns="27432" anchor="ctr">
            <a:spAutoFit/>
          </a:bodyPr>
          <a:lstStyle/>
          <a:p>
            <a:pPr algn="l"/>
            <a:r>
              <a:rPr sz="700" b="1">
                <a:solidFill>
                  <a:srgbClr val="141B33"/>
                </a:solidFill>
                <a:latin typeface="Segoe UI"/>
              </a:rPr>
              <a:t>Control Plane</a:t>
            </a:r>
          </a:p>
          <a:p>
            <a:pPr algn="l"/>
            <a:r>
              <a:rPr sz="700" b="0">
                <a:solidFill>
                  <a:srgbClr val="141B33"/>
                </a:solidFill>
                <a:latin typeface="Segoe UI"/>
              </a:rPr>
              <a:t>fleet KPIs and compliance posture across agents</a:t>
            </a:r>
          </a:p>
        </p:txBody>
      </p:sp>
      <p:sp>
        <p:nvSpPr>
          <p:cNvPr id="132" name="Rectangle 131"/>
          <p:cNvSpPr/>
          <p:nvPr/>
        </p:nvSpPr>
        <p:spPr>
          <a:xfrm>
            <a:off x="9372600" y="3209544"/>
            <a:ext cx="2185415" cy="402336"/>
          </a:xfrm>
          <a:prstGeom prst="rect">
            <a:avLst/>
          </a:prstGeom>
          <a:solidFill>
            <a:srgbClr val="FFFFFF"/>
          </a:solidFill>
          <a:ln w="9525">
            <a:solidFill>
              <a:srgbClr val="E1E7F4"/>
            </a:solidFill>
          </a:ln>
          <a:effectLst/>
        </p:spPr>
        <p:txBody>
          <a:bodyPr rtlCol="0" anchor="ctr"/>
          <a:lstStyle/>
          <a:p>
            <a:pPr algn="ctr"/>
            <a:endParaRPr/>
          </a:p>
        </p:txBody>
      </p:sp>
      <p:sp>
        <p:nvSpPr>
          <p:cNvPr id="133" name="TextBox 132"/>
          <p:cNvSpPr txBox="1"/>
          <p:nvPr/>
        </p:nvSpPr>
        <p:spPr>
          <a:xfrm>
            <a:off x="9372600" y="3209544"/>
            <a:ext cx="2185415" cy="402336"/>
          </a:xfrm>
          <a:prstGeom prst="rect">
            <a:avLst/>
          </a:prstGeom>
          <a:noFill/>
        </p:spPr>
        <p:txBody>
          <a:bodyPr wrap="square" lIns="73152" tIns="27432" rIns="73152" bIns="27432" anchor="ctr">
            <a:spAutoFit/>
          </a:bodyPr>
          <a:lstStyle/>
          <a:p>
            <a:pPr algn="l"/>
            <a:r>
              <a:rPr sz="700" b="1">
                <a:solidFill>
                  <a:srgbClr val="141B33"/>
                </a:solidFill>
                <a:latin typeface="Segoe UI"/>
              </a:rPr>
              <a:t>Azure Monitor alerts</a:t>
            </a:r>
          </a:p>
          <a:p>
            <a:pPr algn="l"/>
            <a:r>
              <a:rPr sz="700" b="0">
                <a:solidFill>
                  <a:srgbClr val="141B33"/>
                </a:solidFill>
                <a:latin typeface="Segoe UI"/>
              </a:rPr>
              <a:t>act when a score drops below a threshold</a:t>
            </a:r>
          </a:p>
        </p:txBody>
      </p:sp>
      <p:sp>
        <p:nvSpPr>
          <p:cNvPr id="134" name="Rectangle 133"/>
          <p:cNvSpPr/>
          <p:nvPr/>
        </p:nvSpPr>
        <p:spPr>
          <a:xfrm>
            <a:off x="9372600" y="3639311"/>
            <a:ext cx="2185415" cy="402336"/>
          </a:xfrm>
          <a:prstGeom prst="rect">
            <a:avLst/>
          </a:prstGeom>
          <a:solidFill>
            <a:srgbClr val="FFFFFF"/>
          </a:solidFill>
          <a:ln w="9525">
            <a:solidFill>
              <a:srgbClr val="E1E7F4"/>
            </a:solidFill>
          </a:ln>
          <a:effectLst/>
        </p:spPr>
        <p:txBody>
          <a:bodyPr rtlCol="0" anchor="ctr"/>
          <a:lstStyle/>
          <a:p>
            <a:pPr algn="ctr"/>
            <a:endParaRPr/>
          </a:p>
        </p:txBody>
      </p:sp>
      <p:sp>
        <p:nvSpPr>
          <p:cNvPr id="135" name="TextBox 134"/>
          <p:cNvSpPr txBox="1"/>
          <p:nvPr/>
        </p:nvSpPr>
        <p:spPr>
          <a:xfrm>
            <a:off x="9372600" y="3639311"/>
            <a:ext cx="2185415" cy="402336"/>
          </a:xfrm>
          <a:prstGeom prst="rect">
            <a:avLst/>
          </a:prstGeom>
          <a:noFill/>
        </p:spPr>
        <p:txBody>
          <a:bodyPr wrap="square" lIns="73152" tIns="27432" rIns="73152" bIns="27432" anchor="ctr">
            <a:spAutoFit/>
          </a:bodyPr>
          <a:lstStyle/>
          <a:p>
            <a:pPr algn="l"/>
            <a:r>
              <a:rPr sz="700" b="1">
                <a:solidFill>
                  <a:srgbClr val="141B33"/>
                </a:solidFill>
                <a:latin typeface="Segoe UI"/>
              </a:rPr>
              <a:t>Cluster analysis</a:t>
            </a:r>
          </a:p>
          <a:p>
            <a:pPr algn="l"/>
            <a:r>
              <a:rPr sz="700" b="0">
                <a:solidFill>
                  <a:srgbClr val="141B33"/>
                </a:solidFill>
                <a:latin typeface="Segoe UI"/>
              </a:rPr>
              <a:t>group failures to find the root cause</a:t>
            </a:r>
          </a:p>
        </p:txBody>
      </p:sp>
      <p:sp>
        <p:nvSpPr>
          <p:cNvPr id="136" name="Rectangle 135"/>
          <p:cNvSpPr/>
          <p:nvPr/>
        </p:nvSpPr>
        <p:spPr>
          <a:xfrm>
            <a:off x="9372600" y="4069079"/>
            <a:ext cx="2185415" cy="402336"/>
          </a:xfrm>
          <a:prstGeom prst="rect">
            <a:avLst/>
          </a:prstGeom>
          <a:solidFill>
            <a:srgbClr val="FFFFFF"/>
          </a:solidFill>
          <a:ln w="9525">
            <a:solidFill>
              <a:srgbClr val="E1E7F4"/>
            </a:solidFill>
          </a:ln>
          <a:effectLst/>
        </p:spPr>
        <p:txBody>
          <a:bodyPr rtlCol="0" anchor="ctr"/>
          <a:lstStyle/>
          <a:p>
            <a:pPr algn="ctr"/>
            <a:endParaRPr/>
          </a:p>
        </p:txBody>
      </p:sp>
      <p:sp>
        <p:nvSpPr>
          <p:cNvPr id="137" name="TextBox 136"/>
          <p:cNvSpPr txBox="1"/>
          <p:nvPr/>
        </p:nvSpPr>
        <p:spPr>
          <a:xfrm>
            <a:off x="9372600" y="4069079"/>
            <a:ext cx="2185415" cy="402336"/>
          </a:xfrm>
          <a:prstGeom prst="rect">
            <a:avLst/>
          </a:prstGeom>
          <a:noFill/>
        </p:spPr>
        <p:txBody>
          <a:bodyPr wrap="square" lIns="73152" tIns="27432" rIns="73152" bIns="27432" anchor="ctr">
            <a:spAutoFit/>
          </a:bodyPr>
          <a:lstStyle/>
          <a:p>
            <a:pPr algn="l"/>
            <a:r>
              <a:rPr sz="700" b="1">
                <a:solidFill>
                  <a:srgbClr val="141B33"/>
                </a:solidFill>
                <a:latin typeface="Segoe UI"/>
              </a:rPr>
              <a:t>Agent Optimizer*</a:t>
            </a:r>
          </a:p>
          <a:p>
            <a:pPr algn="l"/>
            <a:r>
              <a:rPr sz="700" b="0">
                <a:solidFill>
                  <a:srgbClr val="141B33"/>
                </a:solidFill>
                <a:latin typeface="Segoe UI"/>
              </a:rPr>
              <a:t>turns results into better instructions</a:t>
            </a:r>
          </a:p>
        </p:txBody>
      </p:sp>
      <p:sp>
        <p:nvSpPr>
          <p:cNvPr id="183" name="Rectangle 182"/>
          <p:cNvSpPr/>
          <p:nvPr/>
        </p:nvSpPr>
        <p:spPr>
          <a:xfrm>
            <a:off x="548640" y="4818888"/>
            <a:ext cx="11091672" cy="420624"/>
          </a:xfrm>
          <a:prstGeom prst="rect">
            <a:avLst/>
          </a:prstGeom>
          <a:solidFill>
            <a:srgbClr val="0B1229"/>
          </a:solidFill>
          <a:ln>
            <a:noFill/>
          </a:ln>
          <a:effectLst/>
        </p:spPr>
        <p:txBody>
          <a:bodyPr rtlCol="0" anchor="ctr"/>
          <a:lstStyle/>
          <a:p>
            <a:pPr algn="ctr"/>
            <a:endParaRPr/>
          </a:p>
        </p:txBody>
      </p:sp>
      <p:sp>
        <p:nvSpPr>
          <p:cNvPr id="184" name="TextBox 183"/>
          <p:cNvSpPr txBox="1"/>
          <p:nvPr/>
        </p:nvSpPr>
        <p:spPr>
          <a:xfrm>
            <a:off x="548640" y="4818888"/>
            <a:ext cx="11091672" cy="420624"/>
          </a:xfrm>
          <a:prstGeom prst="rect">
            <a:avLst/>
          </a:prstGeom>
          <a:noFill/>
        </p:spPr>
        <p:txBody>
          <a:bodyPr wrap="square" lIns="73152" tIns="27432" rIns="73152" bIns="27432" anchor="ctr">
            <a:spAutoFit/>
          </a:bodyPr>
          <a:lstStyle/>
          <a:p>
            <a:pPr algn="ctr"/>
            <a:r>
              <a:rPr sz="800" b="1">
                <a:solidFill>
                  <a:srgbClr val="FFFFFF"/>
                </a:solidFill>
                <a:latin typeface="Segoe UI"/>
              </a:rPr>
              <a:t>Same building blocks, three moments  </a:t>
            </a:r>
            <a:r>
              <a:rPr sz="800" b="0">
                <a:solidFill>
                  <a:srgbClr val="FFFFFF"/>
                </a:solidFill>
                <a:latin typeface="Segoe UI"/>
              </a:rPr>
              <a:t>choose a model with benchmarks and your own dataset → test before release with datasets, simulations and red teaming → monitor in production with continuous and scheduled evaluation and alerts</a:t>
            </a:r>
          </a:p>
        </p:txBody>
      </p:sp>
      <p:sp>
        <p:nvSpPr>
          <p:cNvPr id="185" name="TextBox 184"/>
          <p:cNvSpPr txBox="1"/>
          <p:nvPr/>
        </p:nvSpPr>
        <p:spPr>
          <a:xfrm>
            <a:off x="548640" y="5257800"/>
            <a:ext cx="91440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a:t>
            </a:r>
          </a:p>
        </p:txBody>
      </p:sp>
      <p:sp>
        <p:nvSpPr>
          <p:cNvPr id="186" name="TextBox 185"/>
          <p:cNvSpPr txBox="1"/>
          <p:nvPr/>
        </p:nvSpPr>
        <p:spPr>
          <a:xfrm>
            <a:off x="5870448" y="1911095"/>
            <a:ext cx="3172968" cy="164592"/>
          </a:xfrm>
          <a:prstGeom prst="rect">
            <a:avLst/>
          </a:prstGeom>
          <a:noFill/>
        </p:spPr>
        <p:txBody>
          <a:bodyPr wrap="square" lIns="45720" tIns="18288" rIns="45720" bIns="18288" anchor="ctr">
            <a:spAutoFit/>
          </a:bodyPr>
          <a:lstStyle/>
          <a:p>
            <a:pPr algn="l"/>
            <a:r>
              <a:rPr sz="750" b="1">
                <a:solidFill>
                  <a:srgbClr val="008173"/>
                </a:solidFill>
                <a:latin typeface="Segoe UI"/>
              </a:rPr>
              <a:t>Quality</a:t>
            </a:r>
          </a:p>
        </p:txBody>
      </p:sp>
      <p:sp>
        <p:nvSpPr>
          <p:cNvPr id="187" name="Rectangle 186"/>
          <p:cNvSpPr/>
          <p:nvPr/>
        </p:nvSpPr>
        <p:spPr>
          <a:xfrm>
            <a:off x="5907024" y="2084831"/>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188" name="TextBox 187"/>
          <p:cNvSpPr txBox="1"/>
          <p:nvPr/>
        </p:nvSpPr>
        <p:spPr>
          <a:xfrm>
            <a:off x="5907024" y="2084831"/>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Groundedness</a:t>
            </a:r>
          </a:p>
        </p:txBody>
      </p:sp>
      <p:sp>
        <p:nvSpPr>
          <p:cNvPr id="189" name="Rectangle 188"/>
          <p:cNvSpPr/>
          <p:nvPr/>
        </p:nvSpPr>
        <p:spPr>
          <a:xfrm>
            <a:off x="6955536" y="2084831"/>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190" name="TextBox 189"/>
          <p:cNvSpPr txBox="1"/>
          <p:nvPr/>
        </p:nvSpPr>
        <p:spPr>
          <a:xfrm>
            <a:off x="6955536" y="2084831"/>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Relevance</a:t>
            </a:r>
          </a:p>
        </p:txBody>
      </p:sp>
      <p:sp>
        <p:nvSpPr>
          <p:cNvPr id="191" name="Rectangle 190"/>
          <p:cNvSpPr/>
          <p:nvPr/>
        </p:nvSpPr>
        <p:spPr>
          <a:xfrm>
            <a:off x="8004048" y="2084831"/>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192" name="TextBox 191"/>
          <p:cNvSpPr txBox="1"/>
          <p:nvPr/>
        </p:nvSpPr>
        <p:spPr>
          <a:xfrm>
            <a:off x="8004048" y="2084831"/>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Coherence</a:t>
            </a:r>
          </a:p>
        </p:txBody>
      </p:sp>
      <p:sp>
        <p:nvSpPr>
          <p:cNvPr id="193" name="Rectangle 192"/>
          <p:cNvSpPr/>
          <p:nvPr/>
        </p:nvSpPr>
        <p:spPr>
          <a:xfrm>
            <a:off x="5907024" y="2318003"/>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194" name="TextBox 193"/>
          <p:cNvSpPr txBox="1"/>
          <p:nvPr/>
        </p:nvSpPr>
        <p:spPr>
          <a:xfrm>
            <a:off x="5907024" y="2318003"/>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Fluency</a:t>
            </a:r>
          </a:p>
        </p:txBody>
      </p:sp>
      <p:sp>
        <p:nvSpPr>
          <p:cNvPr id="195" name="Rectangle 194"/>
          <p:cNvSpPr/>
          <p:nvPr/>
        </p:nvSpPr>
        <p:spPr>
          <a:xfrm>
            <a:off x="6955536" y="2318003"/>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196" name="TextBox 195"/>
          <p:cNvSpPr txBox="1"/>
          <p:nvPr/>
        </p:nvSpPr>
        <p:spPr>
          <a:xfrm>
            <a:off x="6955536" y="2318003"/>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Retrieval</a:t>
            </a:r>
          </a:p>
        </p:txBody>
      </p:sp>
      <p:sp>
        <p:nvSpPr>
          <p:cNvPr id="197" name="Rectangle 196"/>
          <p:cNvSpPr/>
          <p:nvPr/>
        </p:nvSpPr>
        <p:spPr>
          <a:xfrm>
            <a:off x="8004048" y="2318003"/>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198" name="TextBox 197"/>
          <p:cNvSpPr txBox="1"/>
          <p:nvPr/>
        </p:nvSpPr>
        <p:spPr>
          <a:xfrm>
            <a:off x="8004048" y="2318003"/>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Similarity</a:t>
            </a:r>
          </a:p>
        </p:txBody>
      </p:sp>
      <p:sp>
        <p:nvSpPr>
          <p:cNvPr id="199" name="TextBox 198"/>
          <p:cNvSpPr txBox="1"/>
          <p:nvPr/>
        </p:nvSpPr>
        <p:spPr>
          <a:xfrm>
            <a:off x="5870448" y="2587752"/>
            <a:ext cx="3172968" cy="164592"/>
          </a:xfrm>
          <a:prstGeom prst="rect">
            <a:avLst/>
          </a:prstGeom>
          <a:noFill/>
        </p:spPr>
        <p:txBody>
          <a:bodyPr wrap="square" lIns="45720" tIns="18288" rIns="45720" bIns="18288" anchor="ctr">
            <a:spAutoFit/>
          </a:bodyPr>
          <a:lstStyle/>
          <a:p>
            <a:pPr algn="l"/>
            <a:r>
              <a:rPr sz="750" b="1">
                <a:solidFill>
                  <a:srgbClr val="008173"/>
                </a:solidFill>
                <a:latin typeface="Segoe UI"/>
              </a:rPr>
              <a:t>Risk and safety</a:t>
            </a:r>
          </a:p>
        </p:txBody>
      </p:sp>
      <p:sp>
        <p:nvSpPr>
          <p:cNvPr id="200" name="Rectangle 199"/>
          <p:cNvSpPr/>
          <p:nvPr/>
        </p:nvSpPr>
        <p:spPr>
          <a:xfrm>
            <a:off x="5907024" y="2761488"/>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01" name="TextBox 200"/>
          <p:cNvSpPr txBox="1"/>
          <p:nvPr/>
        </p:nvSpPr>
        <p:spPr>
          <a:xfrm>
            <a:off x="5907024" y="2761488"/>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Hate / unfairness</a:t>
            </a:r>
          </a:p>
        </p:txBody>
      </p:sp>
      <p:sp>
        <p:nvSpPr>
          <p:cNvPr id="202" name="Rectangle 201"/>
          <p:cNvSpPr/>
          <p:nvPr/>
        </p:nvSpPr>
        <p:spPr>
          <a:xfrm>
            <a:off x="6955536" y="2761488"/>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03" name="TextBox 202"/>
          <p:cNvSpPr txBox="1"/>
          <p:nvPr/>
        </p:nvSpPr>
        <p:spPr>
          <a:xfrm>
            <a:off x="6955536" y="2761488"/>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Sexual · violence</a:t>
            </a:r>
          </a:p>
        </p:txBody>
      </p:sp>
      <p:sp>
        <p:nvSpPr>
          <p:cNvPr id="204" name="Rectangle 203"/>
          <p:cNvSpPr/>
          <p:nvPr/>
        </p:nvSpPr>
        <p:spPr>
          <a:xfrm>
            <a:off x="8004048" y="2761488"/>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05" name="TextBox 204"/>
          <p:cNvSpPr txBox="1"/>
          <p:nvPr/>
        </p:nvSpPr>
        <p:spPr>
          <a:xfrm>
            <a:off x="8004048" y="2761488"/>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Self-harm</a:t>
            </a:r>
          </a:p>
        </p:txBody>
      </p:sp>
      <p:sp>
        <p:nvSpPr>
          <p:cNvPr id="206" name="Rectangle 205"/>
          <p:cNvSpPr/>
          <p:nvPr/>
        </p:nvSpPr>
        <p:spPr>
          <a:xfrm>
            <a:off x="5907024" y="2994660"/>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07" name="TextBox 206"/>
          <p:cNvSpPr txBox="1"/>
          <p:nvPr/>
        </p:nvSpPr>
        <p:spPr>
          <a:xfrm>
            <a:off x="5907024" y="2994660"/>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Protected material</a:t>
            </a:r>
          </a:p>
        </p:txBody>
      </p:sp>
      <p:sp>
        <p:nvSpPr>
          <p:cNvPr id="208" name="Rectangle 207"/>
          <p:cNvSpPr/>
          <p:nvPr/>
        </p:nvSpPr>
        <p:spPr>
          <a:xfrm>
            <a:off x="6955536" y="2994660"/>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09" name="TextBox 208"/>
          <p:cNvSpPr txBox="1"/>
          <p:nvPr/>
        </p:nvSpPr>
        <p:spPr>
          <a:xfrm>
            <a:off x="6955536" y="2994660"/>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Indirect attack (XPIA)</a:t>
            </a:r>
          </a:p>
        </p:txBody>
      </p:sp>
      <p:sp>
        <p:nvSpPr>
          <p:cNvPr id="210" name="Rectangle 209"/>
          <p:cNvSpPr/>
          <p:nvPr/>
        </p:nvSpPr>
        <p:spPr>
          <a:xfrm>
            <a:off x="8004048" y="2994660"/>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11" name="TextBox 210"/>
          <p:cNvSpPr txBox="1"/>
          <p:nvPr/>
        </p:nvSpPr>
        <p:spPr>
          <a:xfrm>
            <a:off x="8004048" y="2994660"/>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Data leakage · code vuln.</a:t>
            </a:r>
          </a:p>
        </p:txBody>
      </p:sp>
      <p:sp>
        <p:nvSpPr>
          <p:cNvPr id="212" name="TextBox 211"/>
          <p:cNvSpPr txBox="1"/>
          <p:nvPr/>
        </p:nvSpPr>
        <p:spPr>
          <a:xfrm>
            <a:off x="5870448" y="3264408"/>
            <a:ext cx="3172968" cy="164592"/>
          </a:xfrm>
          <a:prstGeom prst="rect">
            <a:avLst/>
          </a:prstGeom>
          <a:noFill/>
        </p:spPr>
        <p:txBody>
          <a:bodyPr wrap="square" lIns="45720" tIns="18288" rIns="45720" bIns="18288" anchor="ctr">
            <a:spAutoFit/>
          </a:bodyPr>
          <a:lstStyle/>
          <a:p>
            <a:pPr algn="l"/>
            <a:r>
              <a:rPr sz="750" b="1">
                <a:solidFill>
                  <a:srgbClr val="008173"/>
                </a:solidFill>
                <a:latin typeface="Segoe UI"/>
              </a:rPr>
              <a:t>Agent</a:t>
            </a:r>
          </a:p>
        </p:txBody>
      </p:sp>
      <p:sp>
        <p:nvSpPr>
          <p:cNvPr id="213" name="Rectangle 212"/>
          <p:cNvSpPr/>
          <p:nvPr/>
        </p:nvSpPr>
        <p:spPr>
          <a:xfrm>
            <a:off x="5907024" y="3438144"/>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14" name="TextBox 213"/>
          <p:cNvSpPr txBox="1"/>
          <p:nvPr/>
        </p:nvSpPr>
        <p:spPr>
          <a:xfrm>
            <a:off x="5907024" y="3438144"/>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Task adherence*</a:t>
            </a:r>
          </a:p>
        </p:txBody>
      </p:sp>
      <p:sp>
        <p:nvSpPr>
          <p:cNvPr id="215" name="Rectangle 214"/>
          <p:cNvSpPr/>
          <p:nvPr/>
        </p:nvSpPr>
        <p:spPr>
          <a:xfrm>
            <a:off x="6955536" y="3438144"/>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16" name="TextBox 215"/>
          <p:cNvSpPr txBox="1"/>
          <p:nvPr/>
        </p:nvSpPr>
        <p:spPr>
          <a:xfrm>
            <a:off x="6955536" y="3438144"/>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Intent resolution*</a:t>
            </a:r>
          </a:p>
        </p:txBody>
      </p:sp>
      <p:sp>
        <p:nvSpPr>
          <p:cNvPr id="217" name="Rectangle 216"/>
          <p:cNvSpPr/>
          <p:nvPr/>
        </p:nvSpPr>
        <p:spPr>
          <a:xfrm>
            <a:off x="8004048" y="3438144"/>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18" name="TextBox 217"/>
          <p:cNvSpPr txBox="1"/>
          <p:nvPr/>
        </p:nvSpPr>
        <p:spPr>
          <a:xfrm>
            <a:off x="8004048" y="3438144"/>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Tool call accuracy</a:t>
            </a:r>
          </a:p>
        </p:txBody>
      </p:sp>
      <p:sp>
        <p:nvSpPr>
          <p:cNvPr id="219" name="Rectangle 218"/>
          <p:cNvSpPr/>
          <p:nvPr/>
        </p:nvSpPr>
        <p:spPr>
          <a:xfrm>
            <a:off x="5907024" y="3671316"/>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20" name="TextBox 219"/>
          <p:cNvSpPr txBox="1"/>
          <p:nvPr/>
        </p:nvSpPr>
        <p:spPr>
          <a:xfrm>
            <a:off x="5907024" y="3671316"/>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Tool selection · I/O</a:t>
            </a:r>
          </a:p>
        </p:txBody>
      </p:sp>
      <p:sp>
        <p:nvSpPr>
          <p:cNvPr id="221" name="Rectangle 220"/>
          <p:cNvSpPr/>
          <p:nvPr/>
        </p:nvSpPr>
        <p:spPr>
          <a:xfrm>
            <a:off x="6955536" y="3671316"/>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22" name="TextBox 221"/>
          <p:cNvSpPr txBox="1"/>
          <p:nvPr/>
        </p:nvSpPr>
        <p:spPr>
          <a:xfrm>
            <a:off x="6955536" y="3671316"/>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Task completion*</a:t>
            </a:r>
          </a:p>
        </p:txBody>
      </p:sp>
      <p:sp>
        <p:nvSpPr>
          <p:cNvPr id="223" name="Rectangle 222"/>
          <p:cNvSpPr/>
          <p:nvPr/>
        </p:nvSpPr>
        <p:spPr>
          <a:xfrm>
            <a:off x="8004048" y="3671316"/>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24" name="TextBox 223"/>
          <p:cNvSpPr txBox="1"/>
          <p:nvPr/>
        </p:nvSpPr>
        <p:spPr>
          <a:xfrm>
            <a:off x="8004048" y="3671316"/>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Customer satisfaction*</a:t>
            </a:r>
          </a:p>
        </p:txBody>
      </p:sp>
      <p:sp>
        <p:nvSpPr>
          <p:cNvPr id="225" name="TextBox 224"/>
          <p:cNvSpPr txBox="1"/>
          <p:nvPr/>
        </p:nvSpPr>
        <p:spPr>
          <a:xfrm>
            <a:off x="5870448" y="3941064"/>
            <a:ext cx="3172968" cy="164592"/>
          </a:xfrm>
          <a:prstGeom prst="rect">
            <a:avLst/>
          </a:prstGeom>
          <a:noFill/>
        </p:spPr>
        <p:txBody>
          <a:bodyPr wrap="square" lIns="45720" tIns="18288" rIns="45720" bIns="18288" anchor="ctr">
            <a:spAutoFit/>
          </a:bodyPr>
          <a:lstStyle/>
          <a:p>
            <a:pPr algn="l"/>
            <a:r>
              <a:rPr sz="750" b="1">
                <a:solidFill>
                  <a:srgbClr val="008173"/>
                </a:solidFill>
                <a:latin typeface="Segoe UI"/>
              </a:rPr>
              <a:t>Custom</a:t>
            </a:r>
          </a:p>
        </p:txBody>
      </p:sp>
      <p:sp>
        <p:nvSpPr>
          <p:cNvPr id="226" name="Rectangle 225"/>
          <p:cNvSpPr/>
          <p:nvPr/>
        </p:nvSpPr>
        <p:spPr>
          <a:xfrm>
            <a:off x="5907024" y="4114800"/>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27" name="TextBox 226"/>
          <p:cNvSpPr txBox="1"/>
          <p:nvPr/>
        </p:nvSpPr>
        <p:spPr>
          <a:xfrm>
            <a:off x="5907024" y="4114800"/>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Rubric* (weighted)</a:t>
            </a:r>
          </a:p>
        </p:txBody>
      </p:sp>
      <p:sp>
        <p:nvSpPr>
          <p:cNvPr id="228" name="Rectangle 227"/>
          <p:cNvSpPr/>
          <p:nvPr/>
        </p:nvSpPr>
        <p:spPr>
          <a:xfrm>
            <a:off x="6955536" y="4114800"/>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29" name="TextBox 228"/>
          <p:cNvSpPr txBox="1"/>
          <p:nvPr/>
        </p:nvSpPr>
        <p:spPr>
          <a:xfrm>
            <a:off x="6955536" y="4114800"/>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Your own prompt</a:t>
            </a:r>
          </a:p>
        </p:txBody>
      </p:sp>
      <p:sp>
        <p:nvSpPr>
          <p:cNvPr id="230" name="Rectangle 229"/>
          <p:cNvSpPr/>
          <p:nvPr/>
        </p:nvSpPr>
        <p:spPr>
          <a:xfrm>
            <a:off x="8004048" y="4114800"/>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31" name="TextBox 230"/>
          <p:cNvSpPr txBox="1"/>
          <p:nvPr/>
        </p:nvSpPr>
        <p:spPr>
          <a:xfrm>
            <a:off x="8004048" y="4114800"/>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Your own code</a:t>
            </a:r>
          </a:p>
        </p:txBody>
      </p:sp>
      <p:sp>
        <p:nvSpPr>
          <p:cNvPr id="232" name="TextBox 231"/>
          <p:cNvSpPr txBox="1"/>
          <p:nvPr/>
        </p:nvSpPr>
        <p:spPr>
          <a:xfrm>
            <a:off x="5870448" y="4384548"/>
            <a:ext cx="3172968" cy="329184"/>
          </a:xfrm>
          <a:prstGeom prst="rect">
            <a:avLst/>
          </a:prstGeom>
          <a:noFill/>
        </p:spPr>
        <p:txBody>
          <a:bodyPr wrap="square" lIns="45720" tIns="18288" rIns="45720" bIns="18288" anchor="t">
            <a:spAutoFit/>
          </a:bodyPr>
          <a:lstStyle/>
          <a:p>
            <a:pPr algn="l"/>
            <a:r>
              <a:rPr sz="650" b="1">
                <a:solidFill>
                  <a:srgbClr val="44495B"/>
                </a:solidFill>
                <a:latin typeface="Segoe UI"/>
              </a:rPr>
              <a:t>Judge  </a:t>
            </a:r>
            <a:r>
              <a:rPr sz="650" b="0">
                <a:solidFill>
                  <a:srgbClr val="44495B"/>
                </a:solidFill>
                <a:latin typeface="Segoe UI"/>
              </a:rPr>
              <a:t>a Foundry model deployment you choose; Groundedness Pro* uses Content Safety instead.</a:t>
            </a:r>
          </a:p>
        </p:txBody>
      </p:sp>
      <p:sp>
        <p:nvSpPr>
          <p:cNvPr id="5" name="Shape"/>
          <p:cNvSpPr/>
          <p:nvPr/>
        </p:nvSpPr>
        <p:spPr>
          <a:xfrm>
            <a:off x="548640" y="5687568"/>
            <a:ext cx="11094720" cy="9525"/>
          </a:xfrm>
          <a:prstGeom prst="rect">
            <a:avLst/>
          </a:prstGeom>
          <a:solidFill>
            <a:srgbClr val="E1E7F4"/>
          </a:solidFill>
        </p:spPr>
        <p:txBody>
          <a:bodyPr/>
          <a:lstStyle/>
          <a:p>
            <a:endParaRPr/>
          </a:p>
        </p:txBody>
      </p:sp>
      <p:sp>
        <p:nvSpPr>
          <p:cNvPr id="6"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5   ·   C O N T R O L   P L A N E</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Tracing: how OpenTelemetry data reaches Foundry</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Every span follows the OpenTelemetry standard, lands in Application Insights, and is read back in Foundry — or in any OTLP-compatible tool.</a:t>
            </a:r>
          </a:p>
          <a:p>
            <a:endParaRPr sz="1200">
              <a:solidFill>
                <a:srgbClr val="44495B"/>
              </a:solidFill>
              <a:latin typeface="Segoe UI"/>
            </a:endParaRPr>
          </a:p>
        </p:txBody>
      </p:sp>
      <p:sp>
        <p:nvSpPr>
          <p:cNvPr id="45" name="Shape"/>
          <p:cNvSpPr/>
          <p:nvPr/>
        </p:nvSpPr>
        <p:spPr>
          <a:xfrm>
            <a:off x="548640" y="5687568"/>
            <a:ext cx="11094720" cy="9525"/>
          </a:xfrm>
          <a:prstGeom prst="rect">
            <a:avLst/>
          </a:prstGeom>
          <a:solidFill>
            <a:srgbClr val="E1E7F4"/>
          </a:solidFill>
        </p:spPr>
        <p:txBody>
          <a:bodyPr/>
          <a:lstStyle/>
          <a:p>
            <a:endParaRPr/>
          </a:p>
        </p:txBody>
      </p:sp>
      <p:sp>
        <p:nvSpPr>
          <p:cNvPr id="46"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learn.microsoft.com/azure/foundry/observability/how-to/trace-agent-client-side · concepts/observability</a:t>
            </a:r>
          </a:p>
          <a:p>
            <a:endParaRPr sz="900">
              <a:solidFill>
                <a:srgbClr val="44495B"/>
              </a:solidFill>
              <a:latin typeface="Segoe UI"/>
            </a:endParaRPr>
          </a:p>
        </p:txBody>
      </p:sp>
      <p:sp>
        <p:nvSpPr>
          <p:cNvPr id="47"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23</a:t>
            </a:r>
          </a:p>
        </p:txBody>
      </p:sp>
      <p:sp>
        <p:nvSpPr>
          <p:cNvPr id="48" name="TextBox 47"/>
          <p:cNvSpPr txBox="1"/>
          <p:nvPr/>
        </p:nvSpPr>
        <p:spPr>
          <a:xfrm>
            <a:off x="548640" y="1298448"/>
            <a:ext cx="27889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1 · WHERE SPANS COME FROM</a:t>
            </a:r>
          </a:p>
        </p:txBody>
      </p:sp>
      <p:sp>
        <p:nvSpPr>
          <p:cNvPr id="49" name="Rectangle 48"/>
          <p:cNvSpPr/>
          <p:nvPr/>
        </p:nvSpPr>
        <p:spPr>
          <a:xfrm>
            <a:off x="548640" y="1572768"/>
            <a:ext cx="2788920" cy="566928"/>
          </a:xfrm>
          <a:prstGeom prst="rect">
            <a:avLst/>
          </a:prstGeom>
          <a:solidFill>
            <a:srgbClr val="FFFFFF"/>
          </a:solidFill>
          <a:ln w="9525">
            <a:solidFill>
              <a:srgbClr val="E1E7F4"/>
            </a:solidFill>
          </a:ln>
          <a:effectLst/>
        </p:spPr>
        <p:txBody>
          <a:bodyPr rtlCol="0" anchor="ctr"/>
          <a:lstStyle/>
          <a:p>
            <a:pPr algn="ctr"/>
            <a:endParaRPr/>
          </a:p>
        </p:txBody>
      </p:sp>
      <p:sp>
        <p:nvSpPr>
          <p:cNvPr id="50" name="Rectangle 49"/>
          <p:cNvSpPr/>
          <p:nvPr/>
        </p:nvSpPr>
        <p:spPr>
          <a:xfrm>
            <a:off x="548640" y="1572768"/>
            <a:ext cx="45720" cy="566928"/>
          </a:xfrm>
          <a:prstGeom prst="rect">
            <a:avLst/>
          </a:prstGeom>
          <a:solidFill>
            <a:srgbClr val="00B39F"/>
          </a:solidFill>
          <a:ln>
            <a:noFill/>
          </a:ln>
          <a:effectLst/>
        </p:spPr>
        <p:txBody>
          <a:bodyPr rtlCol="0" anchor="ctr"/>
          <a:lstStyle/>
          <a:p>
            <a:pPr algn="ctr"/>
            <a:endParaRPr/>
          </a:p>
        </p:txBody>
      </p:sp>
      <p:sp>
        <p:nvSpPr>
          <p:cNvPr id="51" name="TextBox 50"/>
          <p:cNvSpPr txBox="1"/>
          <p:nvPr/>
        </p:nvSpPr>
        <p:spPr>
          <a:xfrm>
            <a:off x="603503" y="1572768"/>
            <a:ext cx="2715768" cy="566928"/>
          </a:xfrm>
          <a:prstGeom prst="rect">
            <a:avLst/>
          </a:prstGeom>
          <a:noFill/>
        </p:spPr>
        <p:txBody>
          <a:bodyPr wrap="square" lIns="73152" tIns="27432" rIns="73152" bIns="27432" anchor="ctr">
            <a:spAutoFit/>
          </a:bodyPr>
          <a:lstStyle/>
          <a:p>
            <a:pPr algn="l"/>
            <a:r>
              <a:rPr sz="750" b="1">
                <a:solidFill>
                  <a:srgbClr val="141B33"/>
                </a:solidFill>
                <a:latin typeface="Segoe UI"/>
              </a:rPr>
              <a:t>Prompt agents</a:t>
            </a:r>
          </a:p>
          <a:p>
            <a:pPr algn="l"/>
            <a:r>
              <a:rPr sz="750" b="0">
                <a:solidFill>
                  <a:srgbClr val="141B33"/>
                </a:solidFill>
                <a:latin typeface="Segoe UI"/>
              </a:rPr>
              <a:t>server-side traces captured by Foundry — nothing to configure</a:t>
            </a:r>
          </a:p>
        </p:txBody>
      </p:sp>
      <p:sp>
        <p:nvSpPr>
          <p:cNvPr id="52" name="Rectangle 51"/>
          <p:cNvSpPr/>
          <p:nvPr/>
        </p:nvSpPr>
        <p:spPr>
          <a:xfrm>
            <a:off x="548640" y="2212848"/>
            <a:ext cx="2788920" cy="566928"/>
          </a:xfrm>
          <a:prstGeom prst="rect">
            <a:avLst/>
          </a:prstGeom>
          <a:solidFill>
            <a:srgbClr val="FFFFFF"/>
          </a:solidFill>
          <a:ln w="9525">
            <a:solidFill>
              <a:srgbClr val="E1E7F4"/>
            </a:solidFill>
          </a:ln>
          <a:effectLst/>
        </p:spPr>
        <p:txBody>
          <a:bodyPr rtlCol="0" anchor="ctr"/>
          <a:lstStyle/>
          <a:p>
            <a:pPr algn="ctr"/>
            <a:endParaRPr/>
          </a:p>
        </p:txBody>
      </p:sp>
      <p:sp>
        <p:nvSpPr>
          <p:cNvPr id="53" name="Rectangle 52"/>
          <p:cNvSpPr/>
          <p:nvPr/>
        </p:nvSpPr>
        <p:spPr>
          <a:xfrm>
            <a:off x="548640" y="2212848"/>
            <a:ext cx="45720" cy="566928"/>
          </a:xfrm>
          <a:prstGeom prst="rect">
            <a:avLst/>
          </a:prstGeom>
          <a:solidFill>
            <a:srgbClr val="00B39F"/>
          </a:solidFill>
          <a:ln>
            <a:noFill/>
          </a:ln>
          <a:effectLst/>
        </p:spPr>
        <p:txBody>
          <a:bodyPr rtlCol="0" anchor="ctr"/>
          <a:lstStyle/>
          <a:p>
            <a:pPr algn="ctr"/>
            <a:endParaRPr/>
          </a:p>
        </p:txBody>
      </p:sp>
      <p:sp>
        <p:nvSpPr>
          <p:cNvPr id="54" name="TextBox 53"/>
          <p:cNvSpPr txBox="1"/>
          <p:nvPr/>
        </p:nvSpPr>
        <p:spPr>
          <a:xfrm>
            <a:off x="603503" y="2212848"/>
            <a:ext cx="2715768" cy="566928"/>
          </a:xfrm>
          <a:prstGeom prst="rect">
            <a:avLst/>
          </a:prstGeom>
          <a:noFill/>
        </p:spPr>
        <p:txBody>
          <a:bodyPr wrap="square" lIns="73152" tIns="27432" rIns="73152" bIns="27432" anchor="ctr">
            <a:spAutoFit/>
          </a:bodyPr>
          <a:lstStyle/>
          <a:p>
            <a:pPr algn="l"/>
            <a:r>
              <a:rPr sz="750" b="1">
                <a:solidFill>
                  <a:srgbClr val="141B33"/>
                </a:solidFill>
                <a:latin typeface="Segoe UI"/>
              </a:rPr>
              <a:t>Hosted agents</a:t>
            </a:r>
          </a:p>
          <a:p>
            <a:pPr algn="l"/>
            <a:r>
              <a:rPr sz="750" b="0">
                <a:solidFill>
                  <a:srgbClr val="141B33"/>
                </a:solidFill>
                <a:latin typeface="Segoe UI"/>
              </a:rPr>
              <a:t>Application Insights connection injected into the container; protocol libraries emit spans by default</a:t>
            </a:r>
          </a:p>
        </p:txBody>
      </p:sp>
      <p:sp>
        <p:nvSpPr>
          <p:cNvPr id="55" name="Rectangle 54"/>
          <p:cNvSpPr/>
          <p:nvPr/>
        </p:nvSpPr>
        <p:spPr>
          <a:xfrm>
            <a:off x="548640" y="2852928"/>
            <a:ext cx="2788920" cy="566928"/>
          </a:xfrm>
          <a:prstGeom prst="rect">
            <a:avLst/>
          </a:prstGeom>
          <a:solidFill>
            <a:srgbClr val="FFFFFF"/>
          </a:solidFill>
          <a:ln w="9525">
            <a:solidFill>
              <a:srgbClr val="E1E7F4"/>
            </a:solidFill>
          </a:ln>
          <a:effectLst/>
        </p:spPr>
        <p:txBody>
          <a:bodyPr rtlCol="0" anchor="ctr"/>
          <a:lstStyle/>
          <a:p>
            <a:pPr algn="ctr"/>
            <a:endParaRPr/>
          </a:p>
        </p:txBody>
      </p:sp>
      <p:sp>
        <p:nvSpPr>
          <p:cNvPr id="56" name="Rectangle 55"/>
          <p:cNvSpPr/>
          <p:nvPr/>
        </p:nvSpPr>
        <p:spPr>
          <a:xfrm>
            <a:off x="548640" y="2852928"/>
            <a:ext cx="45720" cy="566928"/>
          </a:xfrm>
          <a:prstGeom prst="rect">
            <a:avLst/>
          </a:prstGeom>
          <a:solidFill>
            <a:srgbClr val="00B39F"/>
          </a:solidFill>
          <a:ln>
            <a:noFill/>
          </a:ln>
          <a:effectLst/>
        </p:spPr>
        <p:txBody>
          <a:bodyPr rtlCol="0" anchor="ctr"/>
          <a:lstStyle/>
          <a:p>
            <a:pPr algn="ctr"/>
            <a:endParaRPr/>
          </a:p>
        </p:txBody>
      </p:sp>
      <p:sp>
        <p:nvSpPr>
          <p:cNvPr id="57" name="TextBox 56"/>
          <p:cNvSpPr txBox="1"/>
          <p:nvPr/>
        </p:nvSpPr>
        <p:spPr>
          <a:xfrm>
            <a:off x="603503" y="2852928"/>
            <a:ext cx="2715768" cy="566928"/>
          </a:xfrm>
          <a:prstGeom prst="rect">
            <a:avLst/>
          </a:prstGeom>
          <a:noFill/>
        </p:spPr>
        <p:txBody>
          <a:bodyPr wrap="square" lIns="73152" tIns="27432" rIns="73152" bIns="27432" anchor="ctr">
            <a:spAutoFit/>
          </a:bodyPr>
          <a:lstStyle/>
          <a:p>
            <a:pPr algn="l"/>
            <a:r>
              <a:rPr sz="750" b="1">
                <a:solidFill>
                  <a:srgbClr val="141B33"/>
                </a:solidFill>
                <a:latin typeface="Segoe UI"/>
              </a:rPr>
              <a:t>Agent frameworks</a:t>
            </a:r>
          </a:p>
          <a:p>
            <a:pPr algn="l"/>
            <a:r>
              <a:rPr sz="750" b="0">
                <a:solidFill>
                  <a:srgbClr val="141B33"/>
                </a:solidFill>
                <a:latin typeface="Segoe UI"/>
              </a:rPr>
              <a:t>Agent Framework, LangChain, LangGraph, OpenAI Agents SDK — OpenTelemetry built in</a:t>
            </a:r>
          </a:p>
        </p:txBody>
      </p:sp>
      <p:sp>
        <p:nvSpPr>
          <p:cNvPr id="58" name="Rectangle 57"/>
          <p:cNvSpPr/>
          <p:nvPr/>
        </p:nvSpPr>
        <p:spPr>
          <a:xfrm>
            <a:off x="548640" y="3493008"/>
            <a:ext cx="2788920" cy="566928"/>
          </a:xfrm>
          <a:prstGeom prst="rect">
            <a:avLst/>
          </a:prstGeom>
          <a:solidFill>
            <a:srgbClr val="FFFFFF"/>
          </a:solidFill>
          <a:ln w="9525">
            <a:solidFill>
              <a:srgbClr val="E1E7F4"/>
            </a:solidFill>
          </a:ln>
          <a:effectLst/>
        </p:spPr>
        <p:txBody>
          <a:bodyPr rtlCol="0" anchor="ctr"/>
          <a:lstStyle/>
          <a:p>
            <a:pPr algn="ctr"/>
            <a:endParaRPr/>
          </a:p>
        </p:txBody>
      </p:sp>
      <p:sp>
        <p:nvSpPr>
          <p:cNvPr id="59" name="Rectangle 58"/>
          <p:cNvSpPr/>
          <p:nvPr/>
        </p:nvSpPr>
        <p:spPr>
          <a:xfrm>
            <a:off x="548640" y="3493008"/>
            <a:ext cx="45720" cy="566928"/>
          </a:xfrm>
          <a:prstGeom prst="rect">
            <a:avLst/>
          </a:prstGeom>
          <a:solidFill>
            <a:srgbClr val="101A3C"/>
          </a:solidFill>
          <a:ln>
            <a:noFill/>
          </a:ln>
          <a:effectLst/>
        </p:spPr>
        <p:txBody>
          <a:bodyPr rtlCol="0" anchor="ctr"/>
          <a:lstStyle/>
          <a:p>
            <a:pPr algn="ctr"/>
            <a:endParaRPr/>
          </a:p>
        </p:txBody>
      </p:sp>
      <p:sp>
        <p:nvSpPr>
          <p:cNvPr id="60" name="TextBox 59"/>
          <p:cNvSpPr txBox="1"/>
          <p:nvPr/>
        </p:nvSpPr>
        <p:spPr>
          <a:xfrm>
            <a:off x="603503" y="3493008"/>
            <a:ext cx="2715768" cy="566928"/>
          </a:xfrm>
          <a:prstGeom prst="rect">
            <a:avLst/>
          </a:prstGeom>
          <a:noFill/>
        </p:spPr>
        <p:txBody>
          <a:bodyPr wrap="square" lIns="73152" tIns="27432" rIns="73152" bIns="27432" anchor="ctr">
            <a:spAutoFit/>
          </a:bodyPr>
          <a:lstStyle/>
          <a:p>
            <a:pPr algn="l"/>
            <a:r>
              <a:rPr sz="750" b="1">
                <a:solidFill>
                  <a:srgbClr val="141B33"/>
                </a:solidFill>
                <a:latin typeface="Segoe UI"/>
              </a:rPr>
              <a:t>Your own code*</a:t>
            </a:r>
          </a:p>
          <a:p>
            <a:pPr algn="l"/>
            <a:r>
              <a:rPr sz="750" b="0">
                <a:solidFill>
                  <a:srgbClr val="141B33"/>
                </a:solidFill>
                <a:latin typeface="Segoe UI"/>
              </a:rPr>
              <a:t>Foundry SDK instrumentation for model and agent calls, plus custom spans you add</a:t>
            </a:r>
          </a:p>
        </p:txBody>
      </p:sp>
      <p:sp>
        <p:nvSpPr>
          <p:cNvPr id="61" name="TextBox 60"/>
          <p:cNvSpPr txBox="1"/>
          <p:nvPr/>
        </p:nvSpPr>
        <p:spPr>
          <a:xfrm>
            <a:off x="548640" y="4133088"/>
            <a:ext cx="2788920" cy="201168"/>
          </a:xfrm>
          <a:prstGeom prst="rect">
            <a:avLst/>
          </a:prstGeom>
          <a:noFill/>
        </p:spPr>
        <p:txBody>
          <a:bodyPr wrap="square" lIns="73152" tIns="27432" rIns="73152" bIns="27432" anchor="ctr">
            <a:spAutoFit/>
          </a:bodyPr>
          <a:lstStyle/>
          <a:p>
            <a:pPr algn="l"/>
            <a:r>
              <a:rPr sz="700" b="0">
                <a:solidFill>
                  <a:srgbClr val="44495B"/>
                </a:solidFill>
                <a:latin typeface="Segoe UI"/>
              </a:rPr>
              <a:t>teal = automatic · navy = you instrument</a:t>
            </a:r>
          </a:p>
        </p:txBody>
      </p:sp>
      <p:sp>
        <p:nvSpPr>
          <p:cNvPr id="62" name="TextBox 61"/>
          <p:cNvSpPr txBox="1"/>
          <p:nvPr/>
        </p:nvSpPr>
        <p:spPr>
          <a:xfrm>
            <a:off x="3611880" y="1298448"/>
            <a:ext cx="23317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2 · ONE STANDARD</a:t>
            </a:r>
          </a:p>
        </p:txBody>
      </p:sp>
      <p:sp>
        <p:nvSpPr>
          <p:cNvPr id="63" name="Rectangle 62"/>
          <p:cNvSpPr/>
          <p:nvPr/>
        </p:nvSpPr>
        <p:spPr>
          <a:xfrm>
            <a:off x="3611880" y="1572768"/>
            <a:ext cx="2331720" cy="1188720"/>
          </a:xfrm>
          <a:prstGeom prst="rect">
            <a:avLst/>
          </a:prstGeom>
          <a:solidFill>
            <a:srgbClr val="101A3C"/>
          </a:solidFill>
          <a:ln>
            <a:noFill/>
          </a:ln>
          <a:effectLst/>
        </p:spPr>
        <p:txBody>
          <a:bodyPr rtlCol="0" anchor="ctr"/>
          <a:lstStyle/>
          <a:p>
            <a:pPr algn="ctr"/>
            <a:endParaRPr/>
          </a:p>
        </p:txBody>
      </p:sp>
      <p:sp>
        <p:nvSpPr>
          <p:cNvPr id="64" name="TextBox 63"/>
          <p:cNvSpPr txBox="1"/>
          <p:nvPr/>
        </p:nvSpPr>
        <p:spPr>
          <a:xfrm>
            <a:off x="3611880" y="1572768"/>
            <a:ext cx="2331720" cy="1188720"/>
          </a:xfrm>
          <a:prstGeom prst="rect">
            <a:avLst/>
          </a:prstGeom>
          <a:noFill/>
        </p:spPr>
        <p:txBody>
          <a:bodyPr wrap="square" lIns="73152" tIns="27432" rIns="73152" bIns="27432" anchor="ctr">
            <a:spAutoFit/>
          </a:bodyPr>
          <a:lstStyle/>
          <a:p>
            <a:pPr algn="l"/>
            <a:r>
              <a:rPr sz="750" b="1">
                <a:solidFill>
                  <a:srgbClr val="FFFFFF"/>
                </a:solidFill>
                <a:latin typeface="Segoe UI"/>
              </a:rPr>
              <a:t>OpenTelemetry</a:t>
            </a:r>
          </a:p>
          <a:p>
            <a:pPr algn="l">
              <a:spcBef>
                <a:spcPts val="300"/>
              </a:spcBef>
            </a:pPr>
            <a:r>
              <a:rPr sz="750" b="0">
                <a:solidFill>
                  <a:srgbClr val="FFFFFF"/>
                </a:solidFill>
                <a:latin typeface="Segoe UI"/>
              </a:rPr>
              <a:t>GenAI semantic conventions: every model call, tool call and agent step is a span with standard attributes</a:t>
            </a:r>
          </a:p>
          <a:p>
            <a:pPr algn="l">
              <a:spcBef>
                <a:spcPts val="300"/>
              </a:spcBef>
            </a:pPr>
            <a:r>
              <a:rPr sz="750" b="0">
                <a:solidFill>
                  <a:srgbClr val="FFFFFF"/>
                </a:solidFill>
                <a:latin typeface="Segoe UI"/>
              </a:rPr>
              <a:t>W3C Trace Context links client and server spans into one trace</a:t>
            </a:r>
          </a:p>
        </p:txBody>
      </p:sp>
      <p:sp>
        <p:nvSpPr>
          <p:cNvPr id="65" name="Rectangle 64"/>
          <p:cNvSpPr/>
          <p:nvPr/>
        </p:nvSpPr>
        <p:spPr>
          <a:xfrm>
            <a:off x="3611880" y="2852928"/>
            <a:ext cx="2331720" cy="566928"/>
          </a:xfrm>
          <a:prstGeom prst="rect">
            <a:avLst/>
          </a:prstGeom>
          <a:solidFill>
            <a:srgbClr val="FFFFFF"/>
          </a:solidFill>
          <a:ln w="9525">
            <a:solidFill>
              <a:srgbClr val="E1E7F4"/>
            </a:solidFill>
          </a:ln>
          <a:effectLst/>
        </p:spPr>
        <p:txBody>
          <a:bodyPr rtlCol="0" anchor="ctr"/>
          <a:lstStyle/>
          <a:p>
            <a:pPr algn="ctr"/>
            <a:endParaRPr/>
          </a:p>
        </p:txBody>
      </p:sp>
      <p:sp>
        <p:nvSpPr>
          <p:cNvPr id="66" name="TextBox 65"/>
          <p:cNvSpPr txBox="1"/>
          <p:nvPr/>
        </p:nvSpPr>
        <p:spPr>
          <a:xfrm>
            <a:off x="3611880" y="2852928"/>
            <a:ext cx="2331720" cy="566928"/>
          </a:xfrm>
          <a:prstGeom prst="rect">
            <a:avLst/>
          </a:prstGeom>
          <a:noFill/>
        </p:spPr>
        <p:txBody>
          <a:bodyPr wrap="square" lIns="73152" tIns="27432" rIns="73152" bIns="27432" anchor="ctr">
            <a:spAutoFit/>
          </a:bodyPr>
          <a:lstStyle/>
          <a:p>
            <a:pPr algn="l"/>
            <a:r>
              <a:rPr sz="750" b="1">
                <a:solidFill>
                  <a:srgbClr val="141B33"/>
                </a:solidFill>
                <a:latin typeface="Segoe UI"/>
              </a:rPr>
              <a:t>Exporter</a:t>
            </a:r>
          </a:p>
          <a:p>
            <a:pPr algn="l"/>
            <a:r>
              <a:rPr sz="750" b="0">
                <a:solidFill>
                  <a:srgbClr val="141B33"/>
                </a:solidFill>
                <a:latin typeface="Segoe UI"/>
              </a:rPr>
              <a:t>Azure Monitor exporter — or any OTLP exporter</a:t>
            </a:r>
          </a:p>
        </p:txBody>
      </p:sp>
      <p:sp>
        <p:nvSpPr>
          <p:cNvPr id="67" name="Rectangle 66"/>
          <p:cNvSpPr/>
          <p:nvPr/>
        </p:nvSpPr>
        <p:spPr>
          <a:xfrm>
            <a:off x="3611880" y="3511296"/>
            <a:ext cx="2331720" cy="566928"/>
          </a:xfrm>
          <a:prstGeom prst="rect">
            <a:avLst/>
          </a:prstGeom>
          <a:solidFill>
            <a:srgbClr val="EBEFF7"/>
          </a:solidFill>
          <a:ln>
            <a:noFill/>
          </a:ln>
          <a:effectLst/>
        </p:spPr>
        <p:txBody>
          <a:bodyPr rtlCol="0" anchor="ctr"/>
          <a:lstStyle/>
          <a:p>
            <a:pPr algn="ctr"/>
            <a:endParaRPr/>
          </a:p>
        </p:txBody>
      </p:sp>
      <p:sp>
        <p:nvSpPr>
          <p:cNvPr id="68" name="TextBox 67"/>
          <p:cNvSpPr txBox="1"/>
          <p:nvPr/>
        </p:nvSpPr>
        <p:spPr>
          <a:xfrm>
            <a:off x="3611880" y="3511296"/>
            <a:ext cx="2331720" cy="566928"/>
          </a:xfrm>
          <a:prstGeom prst="rect">
            <a:avLst/>
          </a:prstGeom>
          <a:noFill/>
        </p:spPr>
        <p:txBody>
          <a:bodyPr wrap="square" lIns="73152" tIns="27432" rIns="73152" bIns="27432" anchor="ctr">
            <a:spAutoFit/>
          </a:bodyPr>
          <a:lstStyle/>
          <a:p>
            <a:pPr algn="l"/>
            <a:r>
              <a:rPr sz="700" b="1">
                <a:solidFill>
                  <a:srgbClr val="141B33"/>
                </a:solidFill>
                <a:latin typeface="Segoe UI"/>
              </a:rPr>
              <a:t>Content recording — off by default</a:t>
            </a:r>
          </a:p>
          <a:p>
            <a:pPr algn="l"/>
            <a:r>
              <a:rPr sz="700" b="0">
                <a:solidFill>
                  <a:srgbClr val="141B33"/>
                </a:solidFill>
                <a:latin typeface="Segoe UI"/>
              </a:rPr>
              <a:t>prompts, tool arguments and outputs are only captured when you switch it on; development only</a:t>
            </a:r>
          </a:p>
        </p:txBody>
      </p:sp>
      <p:sp>
        <p:nvSpPr>
          <p:cNvPr id="70" name="TextBox 69"/>
          <p:cNvSpPr txBox="1"/>
          <p:nvPr/>
        </p:nvSpPr>
        <p:spPr>
          <a:xfrm>
            <a:off x="6263640" y="1298448"/>
            <a:ext cx="23317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3 · WHERE THEY LAND</a:t>
            </a:r>
          </a:p>
        </p:txBody>
      </p:sp>
      <p:sp>
        <p:nvSpPr>
          <p:cNvPr id="71" name="Rectangle 70"/>
          <p:cNvSpPr/>
          <p:nvPr/>
        </p:nvSpPr>
        <p:spPr>
          <a:xfrm>
            <a:off x="6263640" y="1572768"/>
            <a:ext cx="2331720" cy="1188720"/>
          </a:xfrm>
          <a:prstGeom prst="rect">
            <a:avLst/>
          </a:prstGeom>
          <a:solidFill>
            <a:srgbClr val="FFFFFF"/>
          </a:solidFill>
          <a:ln w="12700">
            <a:solidFill>
              <a:srgbClr val="101A3C"/>
            </a:solidFill>
          </a:ln>
          <a:effectLst/>
        </p:spPr>
        <p:txBody>
          <a:bodyPr rtlCol="0" anchor="ctr"/>
          <a:lstStyle/>
          <a:p>
            <a:pPr algn="ctr"/>
            <a:endParaRPr/>
          </a:p>
        </p:txBody>
      </p:sp>
      <p:sp>
        <p:nvSpPr>
          <p:cNvPr id="72" name="TextBox 71"/>
          <p:cNvSpPr txBox="1"/>
          <p:nvPr/>
        </p:nvSpPr>
        <p:spPr>
          <a:xfrm>
            <a:off x="6263640" y="1572768"/>
            <a:ext cx="2331720" cy="1188720"/>
          </a:xfrm>
          <a:prstGeom prst="rect">
            <a:avLst/>
          </a:prstGeom>
          <a:noFill/>
        </p:spPr>
        <p:txBody>
          <a:bodyPr wrap="square" lIns="73152" tIns="27432" rIns="73152" bIns="27432" anchor="ctr">
            <a:spAutoFit/>
          </a:bodyPr>
          <a:lstStyle/>
          <a:p>
            <a:pPr algn="l"/>
            <a:r>
              <a:rPr sz="750" b="1">
                <a:solidFill>
                  <a:srgbClr val="141B33"/>
                </a:solidFill>
                <a:latin typeface="Segoe UI"/>
              </a:rPr>
              <a:t>Azure Monitor</a:t>
            </a:r>
          </a:p>
          <a:p>
            <a:pPr algn="l">
              <a:spcBef>
                <a:spcPts val="200"/>
              </a:spcBef>
            </a:pPr>
            <a:r>
              <a:rPr sz="750" b="1">
                <a:solidFill>
                  <a:srgbClr val="141B33"/>
                </a:solidFill>
                <a:latin typeface="Segoe UI"/>
              </a:rPr>
              <a:t>Application Insights</a:t>
            </a:r>
          </a:p>
          <a:p>
            <a:pPr algn="l">
              <a:spcBef>
                <a:spcPts val="200"/>
              </a:spcBef>
            </a:pPr>
            <a:r>
              <a:rPr sz="750" b="0">
                <a:solidFill>
                  <a:srgbClr val="141B33"/>
                </a:solidFill>
                <a:latin typeface="Segoe UI"/>
              </a:rPr>
              <a:t>connected to the Foundry project — the store behind every Foundry view. Traces appear within 2–5 minutes.</a:t>
            </a:r>
          </a:p>
        </p:txBody>
      </p:sp>
      <p:sp>
        <p:nvSpPr>
          <p:cNvPr id="73" name="Rectangle 72"/>
          <p:cNvSpPr/>
          <p:nvPr/>
        </p:nvSpPr>
        <p:spPr>
          <a:xfrm>
            <a:off x="6263640" y="2852928"/>
            <a:ext cx="2331720" cy="1225296"/>
          </a:xfrm>
          <a:prstGeom prst="rect">
            <a:avLst/>
          </a:prstGeom>
          <a:solidFill>
            <a:srgbClr val="FFFFFF"/>
          </a:solidFill>
          <a:ln w="9525">
            <a:solidFill>
              <a:srgbClr val="E1E7F4"/>
            </a:solidFill>
            <a:prstDash val="dash"/>
          </a:ln>
          <a:effectLst/>
        </p:spPr>
        <p:txBody>
          <a:bodyPr rtlCol="0" anchor="ctr"/>
          <a:lstStyle/>
          <a:p>
            <a:pPr algn="ctr"/>
            <a:endParaRPr/>
          </a:p>
        </p:txBody>
      </p:sp>
      <p:sp>
        <p:nvSpPr>
          <p:cNvPr id="74" name="TextBox 73"/>
          <p:cNvSpPr txBox="1"/>
          <p:nvPr/>
        </p:nvSpPr>
        <p:spPr>
          <a:xfrm>
            <a:off x="6263640" y="2852928"/>
            <a:ext cx="2331720" cy="1225296"/>
          </a:xfrm>
          <a:prstGeom prst="rect">
            <a:avLst/>
          </a:prstGeom>
          <a:noFill/>
        </p:spPr>
        <p:txBody>
          <a:bodyPr wrap="square" lIns="73152" tIns="27432" rIns="73152" bIns="27432" anchor="ctr">
            <a:spAutoFit/>
          </a:bodyPr>
          <a:lstStyle/>
          <a:p>
            <a:pPr algn="l"/>
            <a:r>
              <a:rPr sz="750" b="1">
                <a:solidFill>
                  <a:srgbClr val="141B33"/>
                </a:solidFill>
                <a:latin typeface="Segoe UI"/>
              </a:rPr>
              <a:t>Any OTLP endpoint</a:t>
            </a:r>
          </a:p>
          <a:p>
            <a:pPr algn="l">
              <a:spcBef>
                <a:spcPts val="200"/>
              </a:spcBef>
            </a:pPr>
            <a:r>
              <a:rPr sz="750" b="0">
                <a:solidFill>
                  <a:srgbClr val="141B33"/>
                </a:solidFill>
                <a:latin typeface="Segoe UI"/>
              </a:rPr>
              <a:t>Aspire Dashboard for local development</a:t>
            </a:r>
          </a:p>
          <a:p>
            <a:pPr algn="l">
              <a:spcBef>
                <a:spcPts val="200"/>
              </a:spcBef>
            </a:pPr>
            <a:r>
              <a:rPr sz="750" b="0">
                <a:solidFill>
                  <a:srgbClr val="141B33"/>
                </a:solidFill>
                <a:latin typeface="Segoe UI"/>
              </a:rPr>
              <a:t>Grafana Tempo · Jaeger · Datadog · Honeycomb</a:t>
            </a:r>
          </a:p>
          <a:p>
            <a:pPr algn="l">
              <a:spcBef>
                <a:spcPts val="200"/>
              </a:spcBef>
            </a:pPr>
            <a:r>
              <a:rPr sz="750" b="0">
                <a:solidFill>
                  <a:srgbClr val="141B33"/>
                </a:solidFill>
                <a:latin typeface="Segoe UI"/>
              </a:rPr>
              <a:t>same spans, your tooling</a:t>
            </a:r>
          </a:p>
        </p:txBody>
      </p:sp>
      <p:sp>
        <p:nvSpPr>
          <p:cNvPr id="77" name="TextBox 76"/>
          <p:cNvSpPr txBox="1"/>
          <p:nvPr/>
        </p:nvSpPr>
        <p:spPr>
          <a:xfrm>
            <a:off x="8915400" y="1298448"/>
            <a:ext cx="2724912"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4 · WHERE YOU READ THEM</a:t>
            </a:r>
          </a:p>
        </p:txBody>
      </p:sp>
      <p:sp>
        <p:nvSpPr>
          <p:cNvPr id="78" name="Rectangle 77"/>
          <p:cNvSpPr/>
          <p:nvPr/>
        </p:nvSpPr>
        <p:spPr>
          <a:xfrm>
            <a:off x="8915400" y="1572768"/>
            <a:ext cx="2724912" cy="566928"/>
          </a:xfrm>
          <a:prstGeom prst="rect">
            <a:avLst/>
          </a:prstGeom>
          <a:solidFill>
            <a:srgbClr val="F6F8FD"/>
          </a:solidFill>
          <a:ln w="9525">
            <a:solidFill>
              <a:srgbClr val="E1E7F4"/>
            </a:solidFill>
          </a:ln>
          <a:effectLst/>
        </p:spPr>
        <p:txBody>
          <a:bodyPr rtlCol="0" anchor="ctr"/>
          <a:lstStyle/>
          <a:p>
            <a:pPr algn="ctr"/>
            <a:endParaRPr/>
          </a:p>
        </p:txBody>
      </p:sp>
      <p:sp>
        <p:nvSpPr>
          <p:cNvPr id="79" name="TextBox 78"/>
          <p:cNvSpPr txBox="1"/>
          <p:nvPr/>
        </p:nvSpPr>
        <p:spPr>
          <a:xfrm>
            <a:off x="8915400" y="1572768"/>
            <a:ext cx="2724912" cy="566928"/>
          </a:xfrm>
          <a:prstGeom prst="rect">
            <a:avLst/>
          </a:prstGeom>
          <a:noFill/>
        </p:spPr>
        <p:txBody>
          <a:bodyPr wrap="square" lIns="73152" tIns="27432" rIns="73152" bIns="27432" anchor="ctr">
            <a:spAutoFit/>
          </a:bodyPr>
          <a:lstStyle/>
          <a:p>
            <a:pPr algn="l"/>
            <a:r>
              <a:rPr sz="750" b="1">
                <a:solidFill>
                  <a:srgbClr val="141B33"/>
                </a:solidFill>
                <a:latin typeface="Segoe UI"/>
              </a:rPr>
              <a:t>Foundry portal — Traces</a:t>
            </a:r>
          </a:p>
          <a:p>
            <a:pPr algn="l"/>
            <a:r>
              <a:rPr sz="750" b="0">
                <a:solidFill>
                  <a:srgbClr val="141B33"/>
                </a:solidFill>
                <a:latin typeface="Segoe UI"/>
              </a:rPr>
              <a:t>every step of a run: model calls, tool calls, inputs and outputs</a:t>
            </a:r>
          </a:p>
        </p:txBody>
      </p:sp>
      <p:sp>
        <p:nvSpPr>
          <p:cNvPr id="80" name="Rectangle 79"/>
          <p:cNvSpPr/>
          <p:nvPr/>
        </p:nvSpPr>
        <p:spPr>
          <a:xfrm>
            <a:off x="8915400" y="2212848"/>
            <a:ext cx="2724912" cy="566928"/>
          </a:xfrm>
          <a:prstGeom prst="rect">
            <a:avLst/>
          </a:prstGeom>
          <a:solidFill>
            <a:srgbClr val="F6F8FD"/>
          </a:solidFill>
          <a:ln w="9525">
            <a:solidFill>
              <a:srgbClr val="E1E7F4"/>
            </a:solidFill>
          </a:ln>
          <a:effectLst/>
        </p:spPr>
        <p:txBody>
          <a:bodyPr rtlCol="0" anchor="ctr"/>
          <a:lstStyle/>
          <a:p>
            <a:pPr algn="ctr"/>
            <a:endParaRPr/>
          </a:p>
        </p:txBody>
      </p:sp>
      <p:sp>
        <p:nvSpPr>
          <p:cNvPr id="81" name="TextBox 80"/>
          <p:cNvSpPr txBox="1"/>
          <p:nvPr/>
        </p:nvSpPr>
        <p:spPr>
          <a:xfrm>
            <a:off x="8915400" y="2212848"/>
            <a:ext cx="2724912" cy="566928"/>
          </a:xfrm>
          <a:prstGeom prst="rect">
            <a:avLst/>
          </a:prstGeom>
          <a:noFill/>
        </p:spPr>
        <p:txBody>
          <a:bodyPr wrap="square" lIns="73152" tIns="27432" rIns="73152" bIns="27432" anchor="ctr">
            <a:spAutoFit/>
          </a:bodyPr>
          <a:lstStyle/>
          <a:p>
            <a:pPr algn="l"/>
            <a:r>
              <a:rPr sz="750" b="1">
                <a:solidFill>
                  <a:srgbClr val="141B33"/>
                </a:solidFill>
                <a:latin typeface="Segoe UI"/>
              </a:rPr>
              <a:t>Control Plane — Assets</a:t>
            </a:r>
          </a:p>
          <a:p>
            <a:pPr algn="l"/>
            <a:r>
              <a:rPr sz="750" b="0">
                <a:solidFill>
                  <a:srgbClr val="141B33"/>
                </a:solidFill>
                <a:latin typeface="Segoe UI"/>
              </a:rPr>
              <a:t>traces per agent across the fleet, with Trace ID and Conversation ID</a:t>
            </a:r>
          </a:p>
        </p:txBody>
      </p:sp>
      <p:sp>
        <p:nvSpPr>
          <p:cNvPr id="82" name="Rectangle 81"/>
          <p:cNvSpPr/>
          <p:nvPr/>
        </p:nvSpPr>
        <p:spPr>
          <a:xfrm>
            <a:off x="8915400" y="2852928"/>
            <a:ext cx="2724912" cy="566928"/>
          </a:xfrm>
          <a:prstGeom prst="rect">
            <a:avLst/>
          </a:prstGeom>
          <a:solidFill>
            <a:srgbClr val="F6F8FD"/>
          </a:solidFill>
          <a:ln w="9525">
            <a:solidFill>
              <a:srgbClr val="E1E7F4"/>
            </a:solidFill>
          </a:ln>
          <a:effectLst/>
        </p:spPr>
        <p:txBody>
          <a:bodyPr rtlCol="0" anchor="ctr"/>
          <a:lstStyle/>
          <a:p>
            <a:pPr algn="ctr"/>
            <a:endParaRPr/>
          </a:p>
        </p:txBody>
      </p:sp>
      <p:sp>
        <p:nvSpPr>
          <p:cNvPr id="83" name="TextBox 82"/>
          <p:cNvSpPr txBox="1"/>
          <p:nvPr/>
        </p:nvSpPr>
        <p:spPr>
          <a:xfrm>
            <a:off x="8915400" y="2852928"/>
            <a:ext cx="2724912" cy="566928"/>
          </a:xfrm>
          <a:prstGeom prst="rect">
            <a:avLst/>
          </a:prstGeom>
          <a:noFill/>
        </p:spPr>
        <p:txBody>
          <a:bodyPr wrap="square" lIns="73152" tIns="27432" rIns="73152" bIns="27432" anchor="ctr">
            <a:spAutoFit/>
          </a:bodyPr>
          <a:lstStyle/>
          <a:p>
            <a:pPr algn="l"/>
            <a:r>
              <a:rPr sz="750" b="1">
                <a:solidFill>
                  <a:srgbClr val="141B33"/>
                </a:solidFill>
                <a:latin typeface="Segoe UI"/>
              </a:rPr>
              <a:t>Agent monitoring dashboard*</a:t>
            </a:r>
          </a:p>
          <a:p>
            <a:pPr algn="l"/>
            <a:r>
              <a:rPr sz="750" b="0">
                <a:solidFill>
                  <a:srgbClr val="141B33"/>
                </a:solidFill>
                <a:latin typeface="Segoe UI"/>
              </a:rPr>
              <a:t>tokens, latency, run success and evaluation scores over time</a:t>
            </a:r>
          </a:p>
        </p:txBody>
      </p:sp>
      <p:sp>
        <p:nvSpPr>
          <p:cNvPr id="84" name="Rectangle 83"/>
          <p:cNvSpPr/>
          <p:nvPr/>
        </p:nvSpPr>
        <p:spPr>
          <a:xfrm>
            <a:off x="8915400" y="3493008"/>
            <a:ext cx="2724912" cy="566928"/>
          </a:xfrm>
          <a:prstGeom prst="rect">
            <a:avLst/>
          </a:prstGeom>
          <a:solidFill>
            <a:srgbClr val="F6F8FD"/>
          </a:solidFill>
          <a:ln w="9525">
            <a:solidFill>
              <a:srgbClr val="E1E7F4"/>
            </a:solidFill>
          </a:ln>
          <a:effectLst/>
        </p:spPr>
        <p:txBody>
          <a:bodyPr rtlCol="0" anchor="ctr"/>
          <a:lstStyle/>
          <a:p>
            <a:pPr algn="ctr"/>
            <a:endParaRPr/>
          </a:p>
        </p:txBody>
      </p:sp>
      <p:sp>
        <p:nvSpPr>
          <p:cNvPr id="85" name="TextBox 84"/>
          <p:cNvSpPr txBox="1"/>
          <p:nvPr/>
        </p:nvSpPr>
        <p:spPr>
          <a:xfrm>
            <a:off x="8915400" y="3493008"/>
            <a:ext cx="2724912" cy="566928"/>
          </a:xfrm>
          <a:prstGeom prst="rect">
            <a:avLst/>
          </a:prstGeom>
          <a:noFill/>
        </p:spPr>
        <p:txBody>
          <a:bodyPr wrap="square" lIns="73152" tIns="27432" rIns="73152" bIns="27432" anchor="ctr">
            <a:spAutoFit/>
          </a:bodyPr>
          <a:lstStyle/>
          <a:p>
            <a:pPr algn="l"/>
            <a:r>
              <a:rPr sz="750" b="1">
                <a:solidFill>
                  <a:srgbClr val="141B33"/>
                </a:solidFill>
                <a:latin typeface="Segoe UI"/>
              </a:rPr>
              <a:t>Azure Monitor</a:t>
            </a:r>
          </a:p>
          <a:p>
            <a:pPr algn="l"/>
            <a:r>
              <a:rPr sz="750" b="0">
                <a:solidFill>
                  <a:srgbClr val="141B33"/>
                </a:solidFill>
                <a:latin typeface="Segoe UI"/>
              </a:rPr>
              <a:t>Kusto queries, workbooks and alerts on the same data</a:t>
            </a:r>
          </a:p>
        </p:txBody>
      </p:sp>
      <p:sp>
        <p:nvSpPr>
          <p:cNvPr id="87" name="TextBox 86"/>
          <p:cNvSpPr txBox="1"/>
          <p:nvPr/>
        </p:nvSpPr>
        <p:spPr>
          <a:xfrm>
            <a:off x="548640" y="4352544"/>
            <a:ext cx="109728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ENABLING CLIENT-SIDE TRACING* — FOUR STEPS</a:t>
            </a:r>
          </a:p>
        </p:txBody>
      </p:sp>
      <p:sp>
        <p:nvSpPr>
          <p:cNvPr id="88" name="Rectangle 87"/>
          <p:cNvSpPr/>
          <p:nvPr/>
        </p:nvSpPr>
        <p:spPr>
          <a:xfrm>
            <a:off x="548640" y="4608576"/>
            <a:ext cx="2567178" cy="566928"/>
          </a:xfrm>
          <a:prstGeom prst="rect">
            <a:avLst/>
          </a:prstGeom>
          <a:solidFill>
            <a:srgbClr val="EBEFF7"/>
          </a:solidFill>
          <a:ln>
            <a:noFill/>
          </a:ln>
          <a:effectLst/>
        </p:spPr>
        <p:txBody>
          <a:bodyPr rtlCol="0" anchor="ctr"/>
          <a:lstStyle/>
          <a:p>
            <a:pPr algn="ctr"/>
            <a:endParaRPr/>
          </a:p>
        </p:txBody>
      </p:sp>
      <p:sp>
        <p:nvSpPr>
          <p:cNvPr id="89" name="Oval 88"/>
          <p:cNvSpPr/>
          <p:nvPr/>
        </p:nvSpPr>
        <p:spPr>
          <a:xfrm>
            <a:off x="621792" y="4764024"/>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1</a:t>
            </a:r>
          </a:p>
        </p:txBody>
      </p:sp>
      <p:sp>
        <p:nvSpPr>
          <p:cNvPr id="90" name="TextBox 89"/>
          <p:cNvSpPr txBox="1"/>
          <p:nvPr/>
        </p:nvSpPr>
        <p:spPr>
          <a:xfrm>
            <a:off x="896112" y="4608576"/>
            <a:ext cx="2201418" cy="566928"/>
          </a:xfrm>
          <a:prstGeom prst="rect">
            <a:avLst/>
          </a:prstGeom>
          <a:noFill/>
        </p:spPr>
        <p:txBody>
          <a:bodyPr wrap="square" lIns="73152" tIns="27432" rIns="73152" bIns="27432" anchor="ctr">
            <a:spAutoFit/>
          </a:bodyPr>
          <a:lstStyle/>
          <a:p>
            <a:pPr algn="l"/>
            <a:r>
              <a:rPr sz="750" b="1">
                <a:solidFill>
                  <a:srgbClr val="141B33"/>
                </a:solidFill>
                <a:latin typeface="Segoe UI"/>
              </a:rPr>
              <a:t>Install</a:t>
            </a:r>
          </a:p>
          <a:p>
            <a:pPr algn="l"/>
            <a:r>
              <a:rPr sz="750" b="0">
                <a:solidFill>
                  <a:srgbClr val="141B33"/>
                </a:solidFill>
                <a:latin typeface="Segoe UI"/>
              </a:rPr>
              <a:t>the Foundry SDK, the OpenTelemetry SDK and the Azure Monitor exporter</a:t>
            </a:r>
          </a:p>
        </p:txBody>
      </p:sp>
      <p:sp>
        <p:nvSpPr>
          <p:cNvPr id="91" name="Right Arrow 90"/>
          <p:cNvSpPr/>
          <p:nvPr/>
        </p:nvSpPr>
        <p:spPr>
          <a:xfrm>
            <a:off x="3161538" y="4791456"/>
            <a:ext cx="182880" cy="201168"/>
          </a:xfrm>
          <a:prstGeom prst="rightArrow">
            <a:avLst/>
          </a:prstGeom>
          <a:solidFill>
            <a:srgbClr val="00B39F"/>
          </a:solidFill>
          <a:ln>
            <a:noFill/>
          </a:ln>
          <a:effectLst/>
        </p:spPr>
        <p:txBody>
          <a:bodyPr rtlCol="0" anchor="ctr"/>
          <a:lstStyle/>
          <a:p>
            <a:pPr algn="ctr"/>
            <a:endParaRPr/>
          </a:p>
        </p:txBody>
      </p:sp>
      <p:sp>
        <p:nvSpPr>
          <p:cNvPr id="92" name="Rectangle 91"/>
          <p:cNvSpPr/>
          <p:nvPr/>
        </p:nvSpPr>
        <p:spPr>
          <a:xfrm>
            <a:off x="3390138" y="4608576"/>
            <a:ext cx="2567178" cy="566928"/>
          </a:xfrm>
          <a:prstGeom prst="rect">
            <a:avLst/>
          </a:prstGeom>
          <a:solidFill>
            <a:srgbClr val="EBEFF7"/>
          </a:solidFill>
          <a:ln>
            <a:noFill/>
          </a:ln>
          <a:effectLst/>
        </p:spPr>
        <p:txBody>
          <a:bodyPr rtlCol="0" anchor="ctr"/>
          <a:lstStyle/>
          <a:p>
            <a:pPr algn="ctr"/>
            <a:endParaRPr/>
          </a:p>
        </p:txBody>
      </p:sp>
      <p:sp>
        <p:nvSpPr>
          <p:cNvPr id="93" name="Oval 92"/>
          <p:cNvSpPr/>
          <p:nvPr/>
        </p:nvSpPr>
        <p:spPr>
          <a:xfrm>
            <a:off x="3463290" y="4764024"/>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2</a:t>
            </a:r>
          </a:p>
        </p:txBody>
      </p:sp>
      <p:sp>
        <p:nvSpPr>
          <p:cNvPr id="94" name="TextBox 93"/>
          <p:cNvSpPr txBox="1"/>
          <p:nvPr/>
        </p:nvSpPr>
        <p:spPr>
          <a:xfrm>
            <a:off x="3737610" y="4608576"/>
            <a:ext cx="2201418" cy="566928"/>
          </a:xfrm>
          <a:prstGeom prst="rect">
            <a:avLst/>
          </a:prstGeom>
          <a:noFill/>
        </p:spPr>
        <p:txBody>
          <a:bodyPr wrap="square" lIns="73152" tIns="27432" rIns="73152" bIns="27432" anchor="ctr">
            <a:spAutoFit/>
          </a:bodyPr>
          <a:lstStyle/>
          <a:p>
            <a:pPr algn="l"/>
            <a:r>
              <a:rPr sz="750" b="1">
                <a:solidFill>
                  <a:srgbClr val="141B33"/>
                </a:solidFill>
                <a:latin typeface="Segoe UI"/>
              </a:rPr>
              <a:t>Opt in</a:t>
            </a:r>
          </a:p>
          <a:p>
            <a:pPr algn="l"/>
            <a:r>
              <a:rPr sz="750" b="0">
                <a:solidFill>
                  <a:srgbClr val="141B33"/>
                </a:solidFill>
                <a:latin typeface="Segoe UI"/>
              </a:rPr>
              <a:t>enable GenAI tracing explicitly, then instrument the Foundry client</a:t>
            </a:r>
          </a:p>
        </p:txBody>
      </p:sp>
      <p:sp>
        <p:nvSpPr>
          <p:cNvPr id="95" name="Right Arrow 94"/>
          <p:cNvSpPr/>
          <p:nvPr/>
        </p:nvSpPr>
        <p:spPr>
          <a:xfrm>
            <a:off x="6003036" y="4791456"/>
            <a:ext cx="182880" cy="201168"/>
          </a:xfrm>
          <a:prstGeom prst="rightArrow">
            <a:avLst/>
          </a:prstGeom>
          <a:solidFill>
            <a:srgbClr val="00B39F"/>
          </a:solidFill>
          <a:ln>
            <a:noFill/>
          </a:ln>
          <a:effectLst/>
        </p:spPr>
        <p:txBody>
          <a:bodyPr rtlCol="0" anchor="ctr"/>
          <a:lstStyle/>
          <a:p>
            <a:pPr algn="ctr"/>
            <a:endParaRPr/>
          </a:p>
        </p:txBody>
      </p:sp>
      <p:sp>
        <p:nvSpPr>
          <p:cNvPr id="96" name="Rectangle 95"/>
          <p:cNvSpPr/>
          <p:nvPr/>
        </p:nvSpPr>
        <p:spPr>
          <a:xfrm>
            <a:off x="6231636" y="4608576"/>
            <a:ext cx="2567178" cy="566928"/>
          </a:xfrm>
          <a:prstGeom prst="rect">
            <a:avLst/>
          </a:prstGeom>
          <a:solidFill>
            <a:srgbClr val="EBEFF7"/>
          </a:solidFill>
          <a:ln>
            <a:noFill/>
          </a:ln>
          <a:effectLst/>
        </p:spPr>
        <p:txBody>
          <a:bodyPr rtlCol="0" anchor="ctr"/>
          <a:lstStyle/>
          <a:p>
            <a:pPr algn="ctr"/>
            <a:endParaRPr/>
          </a:p>
        </p:txBody>
      </p:sp>
      <p:sp>
        <p:nvSpPr>
          <p:cNvPr id="97" name="Oval 96"/>
          <p:cNvSpPr/>
          <p:nvPr/>
        </p:nvSpPr>
        <p:spPr>
          <a:xfrm>
            <a:off x="6304788" y="4764024"/>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3</a:t>
            </a:r>
          </a:p>
        </p:txBody>
      </p:sp>
      <p:sp>
        <p:nvSpPr>
          <p:cNvPr id="98" name="TextBox 97"/>
          <p:cNvSpPr txBox="1"/>
          <p:nvPr/>
        </p:nvSpPr>
        <p:spPr>
          <a:xfrm>
            <a:off x="6579107" y="4608576"/>
            <a:ext cx="2201418" cy="566928"/>
          </a:xfrm>
          <a:prstGeom prst="rect">
            <a:avLst/>
          </a:prstGeom>
          <a:noFill/>
        </p:spPr>
        <p:txBody>
          <a:bodyPr wrap="square" lIns="73152" tIns="27432" rIns="73152" bIns="27432" anchor="ctr">
            <a:spAutoFit/>
          </a:bodyPr>
          <a:lstStyle/>
          <a:p>
            <a:pPr algn="l"/>
            <a:r>
              <a:rPr sz="750" b="1">
                <a:solidFill>
                  <a:srgbClr val="141B33"/>
                </a:solidFill>
                <a:latin typeface="Segoe UI"/>
              </a:rPr>
              <a:t>Export</a:t>
            </a:r>
          </a:p>
          <a:p>
            <a:pPr algn="l"/>
            <a:r>
              <a:rPr sz="750" b="0">
                <a:solidFill>
                  <a:srgbClr val="141B33"/>
                </a:solidFill>
                <a:latin typeface="Segoe UI"/>
              </a:rPr>
              <a:t>read the project’s Application Insights connection and configure the exporter</a:t>
            </a:r>
          </a:p>
        </p:txBody>
      </p:sp>
      <p:sp>
        <p:nvSpPr>
          <p:cNvPr id="99" name="Right Arrow 98"/>
          <p:cNvSpPr/>
          <p:nvPr/>
        </p:nvSpPr>
        <p:spPr>
          <a:xfrm>
            <a:off x="8844534" y="4791456"/>
            <a:ext cx="182880" cy="201168"/>
          </a:xfrm>
          <a:prstGeom prst="rightArrow">
            <a:avLst/>
          </a:prstGeom>
          <a:solidFill>
            <a:srgbClr val="00B39F"/>
          </a:solidFill>
          <a:ln>
            <a:noFill/>
          </a:ln>
          <a:effectLst/>
        </p:spPr>
        <p:txBody>
          <a:bodyPr rtlCol="0" anchor="ctr"/>
          <a:lstStyle/>
          <a:p>
            <a:pPr algn="ctr"/>
            <a:endParaRPr/>
          </a:p>
        </p:txBody>
      </p:sp>
      <p:sp>
        <p:nvSpPr>
          <p:cNvPr id="100" name="Rectangle 99"/>
          <p:cNvSpPr/>
          <p:nvPr/>
        </p:nvSpPr>
        <p:spPr>
          <a:xfrm>
            <a:off x="9073134" y="4608576"/>
            <a:ext cx="2567178" cy="566928"/>
          </a:xfrm>
          <a:prstGeom prst="rect">
            <a:avLst/>
          </a:prstGeom>
          <a:solidFill>
            <a:srgbClr val="EBEFF7"/>
          </a:solidFill>
          <a:ln>
            <a:noFill/>
          </a:ln>
          <a:effectLst/>
        </p:spPr>
        <p:txBody>
          <a:bodyPr rtlCol="0" anchor="ctr"/>
          <a:lstStyle/>
          <a:p>
            <a:pPr algn="ctr"/>
            <a:endParaRPr/>
          </a:p>
        </p:txBody>
      </p:sp>
      <p:sp>
        <p:nvSpPr>
          <p:cNvPr id="101" name="Oval 100"/>
          <p:cNvSpPr/>
          <p:nvPr/>
        </p:nvSpPr>
        <p:spPr>
          <a:xfrm>
            <a:off x="9146286" y="4764024"/>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4</a:t>
            </a:r>
          </a:p>
        </p:txBody>
      </p:sp>
      <p:sp>
        <p:nvSpPr>
          <p:cNvPr id="102" name="TextBox 101"/>
          <p:cNvSpPr txBox="1"/>
          <p:nvPr/>
        </p:nvSpPr>
        <p:spPr>
          <a:xfrm>
            <a:off x="9420606" y="4608576"/>
            <a:ext cx="2201418" cy="566928"/>
          </a:xfrm>
          <a:prstGeom prst="rect">
            <a:avLst/>
          </a:prstGeom>
          <a:noFill/>
        </p:spPr>
        <p:txBody>
          <a:bodyPr wrap="square" lIns="73152" tIns="27432" rIns="73152" bIns="27432" anchor="ctr">
            <a:spAutoFit/>
          </a:bodyPr>
          <a:lstStyle/>
          <a:p>
            <a:pPr algn="l"/>
            <a:r>
              <a:rPr sz="750" b="1">
                <a:solidFill>
                  <a:srgbClr val="141B33"/>
                </a:solidFill>
                <a:latin typeface="Segoe UI"/>
              </a:rPr>
              <a:t>Correlate</a:t>
            </a:r>
          </a:p>
          <a:p>
            <a:pPr algn="l"/>
            <a:r>
              <a:rPr sz="750" b="0">
                <a:solidFill>
                  <a:srgbClr val="141B33"/>
                </a:solidFill>
                <a:latin typeface="Segoe UI"/>
              </a:rPr>
              <a:t>pass the agent reference on each call so Foundry links your spans to the agent</a:t>
            </a:r>
          </a:p>
        </p:txBody>
      </p:sp>
      <p:sp>
        <p:nvSpPr>
          <p:cNvPr id="103" name="TextBox 102"/>
          <p:cNvSpPr txBox="1"/>
          <p:nvPr/>
        </p:nvSpPr>
        <p:spPr>
          <a:xfrm>
            <a:off x="548640" y="5193792"/>
            <a:ext cx="109728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 Viewing traces needs Log Analytics Reader on the Application Insights resource.</a:t>
            </a:r>
          </a:p>
        </p:txBody>
      </p:sp>
      <p:cxnSp>
        <p:nvCxnSpPr>
          <p:cNvPr id="104" name="Connector 103"/>
          <p:cNvCxnSpPr/>
          <p:nvPr/>
        </p:nvCxnSpPr>
        <p:spPr>
          <a:xfrm>
            <a:off x="3337560" y="1856231"/>
            <a:ext cx="109728" cy="0"/>
          </a:xfrm>
          <a:prstGeom prst="line">
            <a:avLst/>
          </a:prstGeom>
          <a:ln w="12700">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3337560" y="2496312"/>
            <a:ext cx="109728" cy="0"/>
          </a:xfrm>
          <a:prstGeom prst="line">
            <a:avLst/>
          </a:prstGeom>
          <a:ln w="12700">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3337560" y="3136392"/>
            <a:ext cx="109728" cy="0"/>
          </a:xfrm>
          <a:prstGeom prst="line">
            <a:avLst/>
          </a:prstGeom>
          <a:ln w="12700">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3337560" y="3776471"/>
            <a:ext cx="109728" cy="0"/>
          </a:xfrm>
          <a:prstGeom prst="line">
            <a:avLst/>
          </a:prstGeom>
          <a:ln w="12700">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3447288" y="1856231"/>
            <a:ext cx="0" cy="1920240"/>
          </a:xfrm>
          <a:prstGeom prst="line">
            <a:avLst/>
          </a:prstGeom>
          <a:ln w="12700">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3447288" y="2167128"/>
            <a:ext cx="164592"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5943600" y="3136391"/>
            <a:ext cx="155448" cy="0"/>
          </a:xfrm>
          <a:prstGeom prst="line">
            <a:avLst/>
          </a:prstGeom>
          <a:ln w="15875">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6099048" y="2167128"/>
            <a:ext cx="0" cy="969263"/>
          </a:xfrm>
          <a:prstGeom prst="line">
            <a:avLst/>
          </a:prstGeom>
          <a:ln w="15875">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6099048" y="2167128"/>
            <a:ext cx="164592"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6099048" y="3136391"/>
            <a:ext cx="0" cy="329185"/>
          </a:xfrm>
          <a:prstGeom prst="line">
            <a:avLst/>
          </a:prstGeom>
          <a:ln w="12700">
            <a:solidFill>
              <a:srgbClr val="44495B"/>
            </a:solidFill>
            <a:prstDash val="dash"/>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6099048" y="3465576"/>
            <a:ext cx="164592" cy="0"/>
          </a:xfrm>
          <a:prstGeom prst="line">
            <a:avLst/>
          </a:prstGeom>
          <a:ln w="12700">
            <a:solidFill>
              <a:srgbClr val="44495B"/>
            </a:solidFill>
            <a:prstDash val="dash"/>
            <a:tailEnd type="triangle" w="sm" len="sm"/>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8595359" y="2167128"/>
            <a:ext cx="320041"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W R A P - U P</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What changed since Build 2026 — timeline</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Dates as published on Microsoft Learn and the Foundry blog.</a:t>
            </a:r>
          </a:p>
          <a:p>
            <a:endParaRPr sz="1200">
              <a:solidFill>
                <a:srgbClr val="44495B"/>
              </a:solidFill>
              <a:latin typeface="Segoe UI"/>
            </a:endParaRPr>
          </a:p>
        </p:txBody>
      </p:sp>
      <p:sp>
        <p:nvSpPr>
          <p:cNvPr id="5" name="Shape"/>
          <p:cNvSpPr/>
          <p:nvPr/>
        </p:nvSpPr>
        <p:spPr>
          <a:xfrm>
            <a:off x="548640" y="1892808"/>
            <a:ext cx="11094720" cy="32004"/>
          </a:xfrm>
          <a:prstGeom prst="rect">
            <a:avLst/>
          </a:prstGeom>
          <a:solidFill>
            <a:srgbClr val="101A3C"/>
          </a:solidFill>
        </p:spPr>
        <p:txBody>
          <a:bodyPr/>
          <a:lstStyle/>
          <a:p>
            <a:endParaRPr/>
          </a:p>
        </p:txBody>
      </p:sp>
      <p:sp>
        <p:nvSpPr>
          <p:cNvPr id="6" name="Shape"/>
          <p:cNvSpPr/>
          <p:nvPr/>
        </p:nvSpPr>
        <p:spPr>
          <a:xfrm>
            <a:off x="603504" y="1787652"/>
            <a:ext cx="237744" cy="237744"/>
          </a:xfrm>
          <a:prstGeom prst="ellipse">
            <a:avLst/>
          </a:prstGeom>
          <a:solidFill>
            <a:srgbClr val="00B39F"/>
          </a:solidFill>
        </p:spPr>
        <p:txBody>
          <a:bodyPr anchor="ctr"/>
          <a:lstStyle/>
          <a:p>
            <a:pPr algn="ctr"/>
            <a:r>
              <a:rPr sz="1100" b="1">
                <a:solidFill>
                  <a:srgbClr val="0B1229"/>
                </a:solidFill>
                <a:latin typeface="Segoe UI"/>
              </a:rPr>
              <a:t>1</a:t>
            </a:r>
          </a:p>
        </p:txBody>
      </p:sp>
      <p:sp>
        <p:nvSpPr>
          <p:cNvPr id="7" name="TextBox"/>
          <p:cNvSpPr txBox="1"/>
          <p:nvPr/>
        </p:nvSpPr>
        <p:spPr>
          <a:xfrm>
            <a:off x="457200" y="1440180"/>
            <a:ext cx="2785110" cy="472440"/>
          </a:xfrm>
          <a:prstGeom prst="rect">
            <a:avLst/>
          </a:prstGeom>
        </p:spPr>
        <p:txBody>
          <a:bodyPr anchor="ctr"/>
          <a:lstStyle/>
          <a:p>
            <a:r>
              <a:rPr sz="1100" b="1">
                <a:solidFill>
                  <a:srgbClr val="101A3C"/>
                </a:solidFill>
                <a:latin typeface="Segoe UI"/>
              </a:rPr>
              <a:t>3 Apr</a:t>
            </a:r>
          </a:p>
          <a:p>
            <a:endParaRPr sz="1100" b="1">
              <a:solidFill>
                <a:srgbClr val="101A3C"/>
              </a:solidFill>
              <a:latin typeface="Segoe UI"/>
            </a:endParaRPr>
          </a:p>
        </p:txBody>
      </p:sp>
      <p:sp>
        <p:nvSpPr>
          <p:cNvPr id="8" name="TextBox"/>
          <p:cNvSpPr txBox="1"/>
          <p:nvPr/>
        </p:nvSpPr>
        <p:spPr>
          <a:xfrm>
            <a:off x="457200" y="2043684"/>
            <a:ext cx="2785110" cy="411480"/>
          </a:xfrm>
          <a:prstGeom prst="rect">
            <a:avLst/>
          </a:prstGeom>
        </p:spPr>
        <p:txBody>
          <a:bodyPr anchor="ctr"/>
          <a:lstStyle/>
          <a:p>
            <a:r>
              <a:rPr sz="900">
                <a:solidFill>
                  <a:srgbClr val="141B33"/>
                </a:solidFill>
                <a:latin typeface="Segoe UI"/>
              </a:rPr>
              <a:t>Agent Framework 1.0 GA for .NET</a:t>
            </a:r>
          </a:p>
          <a:p>
            <a:r>
              <a:rPr sz="900">
                <a:solidFill>
                  <a:srgbClr val="141B33"/>
                </a:solidFill>
                <a:latin typeface="Segoe UI"/>
              </a:rPr>
              <a:t>and Python</a:t>
            </a:r>
          </a:p>
        </p:txBody>
      </p:sp>
      <p:sp>
        <p:nvSpPr>
          <p:cNvPr id="9" name="Shape"/>
          <p:cNvSpPr/>
          <p:nvPr/>
        </p:nvSpPr>
        <p:spPr>
          <a:xfrm>
            <a:off x="3434334" y="1787652"/>
            <a:ext cx="237744" cy="237744"/>
          </a:xfrm>
          <a:prstGeom prst="ellipse">
            <a:avLst/>
          </a:prstGeom>
          <a:solidFill>
            <a:srgbClr val="00B39F"/>
          </a:solidFill>
        </p:spPr>
        <p:txBody>
          <a:bodyPr anchor="ctr"/>
          <a:lstStyle/>
          <a:p>
            <a:pPr algn="ctr"/>
            <a:r>
              <a:rPr sz="1100" b="1">
                <a:solidFill>
                  <a:srgbClr val="0B1229"/>
                </a:solidFill>
                <a:latin typeface="Segoe UI"/>
              </a:rPr>
              <a:t>2</a:t>
            </a:r>
          </a:p>
        </p:txBody>
      </p:sp>
      <p:sp>
        <p:nvSpPr>
          <p:cNvPr id="10" name="TextBox"/>
          <p:cNvSpPr txBox="1"/>
          <p:nvPr/>
        </p:nvSpPr>
        <p:spPr>
          <a:xfrm>
            <a:off x="3288030" y="1440180"/>
            <a:ext cx="2785110" cy="472440"/>
          </a:xfrm>
          <a:prstGeom prst="rect">
            <a:avLst/>
          </a:prstGeom>
        </p:spPr>
        <p:txBody>
          <a:bodyPr anchor="ctr"/>
          <a:lstStyle/>
          <a:p>
            <a:r>
              <a:rPr sz="1100" b="1">
                <a:solidFill>
                  <a:srgbClr val="101A3C"/>
                </a:solidFill>
                <a:latin typeface="Segoe UI"/>
              </a:rPr>
              <a:t>2 Jun</a:t>
            </a:r>
          </a:p>
          <a:p>
            <a:endParaRPr sz="1100" b="1">
              <a:solidFill>
                <a:srgbClr val="101A3C"/>
              </a:solidFill>
              <a:latin typeface="Segoe UI"/>
            </a:endParaRPr>
          </a:p>
        </p:txBody>
      </p:sp>
      <p:sp>
        <p:nvSpPr>
          <p:cNvPr id="11" name="TextBox"/>
          <p:cNvSpPr txBox="1"/>
          <p:nvPr/>
        </p:nvSpPr>
        <p:spPr>
          <a:xfrm>
            <a:off x="3288030" y="2043684"/>
            <a:ext cx="2785110" cy="822960"/>
          </a:xfrm>
          <a:prstGeom prst="rect">
            <a:avLst/>
          </a:prstGeom>
        </p:spPr>
        <p:txBody>
          <a:bodyPr anchor="ctr"/>
          <a:lstStyle/>
          <a:p>
            <a:r>
              <a:rPr sz="900">
                <a:solidFill>
                  <a:srgbClr val="141B33"/>
                </a:solidFill>
                <a:latin typeface="Segoe UI"/>
              </a:rPr>
              <a:t>Build 2026: VS Code Toolkit GA,</a:t>
            </a:r>
          </a:p>
          <a:p>
            <a:r>
              <a:rPr sz="900">
                <a:solidFill>
                  <a:srgbClr val="141B33"/>
                </a:solidFill>
                <a:latin typeface="Segoe UI"/>
              </a:rPr>
              <a:t>Foundry IQ knowledge bases GA,</a:t>
            </a:r>
          </a:p>
          <a:p>
            <a:r>
              <a:rPr sz="900">
                <a:solidFill>
                  <a:srgbClr val="141B33"/>
                </a:solidFill>
                <a:latin typeface="Segoe UI"/>
              </a:rPr>
              <a:t>Fireworks AI GA, MAI models Preview,</a:t>
            </a:r>
          </a:p>
          <a:p>
            <a:r>
              <a:rPr sz="900">
                <a:solidFill>
                  <a:srgbClr val="141B33"/>
                </a:solidFill>
                <a:latin typeface="Segoe UI"/>
              </a:rPr>
              <a:t>Toolboxes Preview, procedural memory</a:t>
            </a:r>
          </a:p>
          <a:p>
            <a:r>
              <a:rPr sz="900">
                <a:solidFill>
                  <a:srgbClr val="141B33"/>
                </a:solidFill>
                <a:latin typeface="Segoe UI"/>
              </a:rPr>
              <a:t>Preview, Guided Guardrail Setup</a:t>
            </a:r>
          </a:p>
        </p:txBody>
      </p:sp>
      <p:sp>
        <p:nvSpPr>
          <p:cNvPr id="12" name="Shape"/>
          <p:cNvSpPr/>
          <p:nvPr/>
        </p:nvSpPr>
        <p:spPr>
          <a:xfrm>
            <a:off x="6265164" y="1787652"/>
            <a:ext cx="237744" cy="237744"/>
          </a:xfrm>
          <a:prstGeom prst="ellipse">
            <a:avLst/>
          </a:prstGeom>
          <a:solidFill>
            <a:srgbClr val="00B39F"/>
          </a:solidFill>
        </p:spPr>
        <p:txBody>
          <a:bodyPr anchor="ctr"/>
          <a:lstStyle/>
          <a:p>
            <a:pPr algn="ctr"/>
            <a:r>
              <a:rPr sz="1100" b="1">
                <a:solidFill>
                  <a:srgbClr val="0B1229"/>
                </a:solidFill>
                <a:latin typeface="Segoe UI"/>
              </a:rPr>
              <a:t>3</a:t>
            </a:r>
          </a:p>
        </p:txBody>
      </p:sp>
      <p:sp>
        <p:nvSpPr>
          <p:cNvPr id="13" name="TextBox"/>
          <p:cNvSpPr txBox="1"/>
          <p:nvPr/>
        </p:nvSpPr>
        <p:spPr>
          <a:xfrm>
            <a:off x="6118860" y="1440180"/>
            <a:ext cx="2785110" cy="472440"/>
          </a:xfrm>
          <a:prstGeom prst="rect">
            <a:avLst/>
          </a:prstGeom>
        </p:spPr>
        <p:txBody>
          <a:bodyPr anchor="ctr"/>
          <a:lstStyle/>
          <a:p>
            <a:r>
              <a:rPr sz="1100" b="1">
                <a:solidFill>
                  <a:srgbClr val="101A3C"/>
                </a:solidFill>
                <a:latin typeface="Segoe UI"/>
              </a:rPr>
              <a:t>18-25 Jun</a:t>
            </a:r>
          </a:p>
          <a:p>
            <a:endParaRPr sz="1100" b="1">
              <a:solidFill>
                <a:srgbClr val="101A3C"/>
              </a:solidFill>
              <a:latin typeface="Segoe UI"/>
            </a:endParaRPr>
          </a:p>
        </p:txBody>
      </p:sp>
      <p:sp>
        <p:nvSpPr>
          <p:cNvPr id="14" name="TextBox"/>
          <p:cNvSpPr txBox="1"/>
          <p:nvPr/>
        </p:nvSpPr>
        <p:spPr>
          <a:xfrm>
            <a:off x="6118860" y="2043684"/>
            <a:ext cx="2785110" cy="548640"/>
          </a:xfrm>
          <a:prstGeom prst="rect">
            <a:avLst/>
          </a:prstGeom>
        </p:spPr>
        <p:txBody>
          <a:bodyPr anchor="ctr"/>
          <a:lstStyle/>
          <a:p>
            <a:r>
              <a:rPr sz="900">
                <a:solidFill>
                  <a:srgbClr val="141B33"/>
                </a:solidFill>
                <a:latin typeface="Segoe UI"/>
              </a:rPr>
              <a:t>Claude GA in Foundry (18 Jun);</a:t>
            </a:r>
          </a:p>
          <a:p>
            <a:r>
              <a:rPr sz="900">
                <a:solidFill>
                  <a:srgbClr val="141B33"/>
                </a:solidFill>
                <a:latin typeface="Segoe UI"/>
              </a:rPr>
              <a:t>private container registry for new</a:t>
            </a:r>
          </a:p>
          <a:p>
            <a:r>
              <a:rPr sz="900">
                <a:solidFill>
                  <a:srgbClr val="141B33"/>
                </a:solidFill>
                <a:latin typeface="Segoe UI"/>
              </a:rPr>
              <a:t>projects (25 Jun)</a:t>
            </a:r>
          </a:p>
        </p:txBody>
      </p:sp>
      <p:sp>
        <p:nvSpPr>
          <p:cNvPr id="15" name="Shape"/>
          <p:cNvSpPr/>
          <p:nvPr/>
        </p:nvSpPr>
        <p:spPr>
          <a:xfrm>
            <a:off x="9095994" y="1787652"/>
            <a:ext cx="237744" cy="237744"/>
          </a:xfrm>
          <a:prstGeom prst="ellipse">
            <a:avLst/>
          </a:prstGeom>
          <a:solidFill>
            <a:srgbClr val="00B39F"/>
          </a:solidFill>
        </p:spPr>
        <p:txBody>
          <a:bodyPr anchor="ctr"/>
          <a:lstStyle/>
          <a:p>
            <a:pPr algn="ctr"/>
            <a:r>
              <a:rPr sz="1100" b="1">
                <a:solidFill>
                  <a:srgbClr val="0B1229"/>
                </a:solidFill>
                <a:latin typeface="Segoe UI"/>
              </a:rPr>
              <a:t>4</a:t>
            </a:r>
          </a:p>
        </p:txBody>
      </p:sp>
      <p:sp>
        <p:nvSpPr>
          <p:cNvPr id="16" name="TextBox"/>
          <p:cNvSpPr txBox="1"/>
          <p:nvPr/>
        </p:nvSpPr>
        <p:spPr>
          <a:xfrm>
            <a:off x="8949690" y="1440180"/>
            <a:ext cx="2785110" cy="472440"/>
          </a:xfrm>
          <a:prstGeom prst="rect">
            <a:avLst/>
          </a:prstGeom>
        </p:spPr>
        <p:txBody>
          <a:bodyPr anchor="ctr"/>
          <a:lstStyle/>
          <a:p>
            <a:r>
              <a:rPr sz="1100" b="1">
                <a:solidFill>
                  <a:srgbClr val="101A3C"/>
                </a:solidFill>
                <a:latin typeface="Segoe UI"/>
              </a:rPr>
              <a:t>9 Jul</a:t>
            </a:r>
          </a:p>
          <a:p>
            <a:endParaRPr sz="1100" b="1">
              <a:solidFill>
                <a:srgbClr val="101A3C"/>
              </a:solidFill>
              <a:latin typeface="Segoe UI"/>
            </a:endParaRPr>
          </a:p>
        </p:txBody>
      </p:sp>
      <p:sp>
        <p:nvSpPr>
          <p:cNvPr id="17" name="TextBox"/>
          <p:cNvSpPr txBox="1"/>
          <p:nvPr/>
        </p:nvSpPr>
        <p:spPr>
          <a:xfrm>
            <a:off x="8949690" y="2043684"/>
            <a:ext cx="2785110" cy="548640"/>
          </a:xfrm>
          <a:prstGeom prst="rect">
            <a:avLst/>
          </a:prstGeom>
        </p:spPr>
        <p:txBody>
          <a:bodyPr anchor="ctr"/>
          <a:lstStyle/>
          <a:p>
            <a:r>
              <a:rPr sz="900">
                <a:solidFill>
                  <a:srgbClr val="141B33"/>
                </a:solidFill>
                <a:latin typeface="Segoe UI"/>
              </a:rPr>
              <a:t>Hosted agents GA, Toolboxes GA,</a:t>
            </a:r>
          </a:p>
          <a:p>
            <a:r>
              <a:rPr sz="900">
                <a:solidFill>
                  <a:srgbClr val="141B33"/>
                </a:solidFill>
                <a:latin typeface="Segoe UI"/>
              </a:rPr>
              <a:t>Voice Live GA, and gpt-5.6 sol /</a:t>
            </a:r>
          </a:p>
          <a:p>
            <a:r>
              <a:rPr sz="900">
                <a:solidFill>
                  <a:srgbClr val="141B33"/>
                </a:solidFill>
                <a:latin typeface="Segoe UI"/>
              </a:rPr>
              <a:t>terra / luna GA</a:t>
            </a:r>
          </a:p>
        </p:txBody>
      </p:sp>
      <p:sp>
        <p:nvSpPr>
          <p:cNvPr id="18" name="Shape"/>
          <p:cNvSpPr/>
          <p:nvPr/>
        </p:nvSpPr>
        <p:spPr>
          <a:xfrm>
            <a:off x="548640" y="3538728"/>
            <a:ext cx="11094720" cy="32004"/>
          </a:xfrm>
          <a:prstGeom prst="rect">
            <a:avLst/>
          </a:prstGeom>
          <a:solidFill>
            <a:srgbClr val="101A3C"/>
          </a:solidFill>
        </p:spPr>
        <p:txBody>
          <a:bodyPr/>
          <a:lstStyle/>
          <a:p>
            <a:endParaRPr/>
          </a:p>
        </p:txBody>
      </p:sp>
      <p:sp>
        <p:nvSpPr>
          <p:cNvPr id="19" name="Shape"/>
          <p:cNvSpPr/>
          <p:nvPr/>
        </p:nvSpPr>
        <p:spPr>
          <a:xfrm>
            <a:off x="603504" y="3433572"/>
            <a:ext cx="237744" cy="237744"/>
          </a:xfrm>
          <a:prstGeom prst="ellipse">
            <a:avLst/>
          </a:prstGeom>
          <a:solidFill>
            <a:srgbClr val="00B39F"/>
          </a:solidFill>
        </p:spPr>
        <p:txBody>
          <a:bodyPr anchor="ctr"/>
          <a:lstStyle/>
          <a:p>
            <a:pPr algn="ctr"/>
            <a:r>
              <a:rPr sz="1100" b="1">
                <a:solidFill>
                  <a:srgbClr val="0B1229"/>
                </a:solidFill>
                <a:latin typeface="Segoe UI"/>
              </a:rPr>
              <a:t>5</a:t>
            </a:r>
          </a:p>
        </p:txBody>
      </p:sp>
      <p:sp>
        <p:nvSpPr>
          <p:cNvPr id="20" name="TextBox"/>
          <p:cNvSpPr txBox="1"/>
          <p:nvPr/>
        </p:nvSpPr>
        <p:spPr>
          <a:xfrm>
            <a:off x="457200" y="3086100"/>
            <a:ext cx="2785110" cy="472440"/>
          </a:xfrm>
          <a:prstGeom prst="rect">
            <a:avLst/>
          </a:prstGeom>
        </p:spPr>
        <p:txBody>
          <a:bodyPr anchor="ctr"/>
          <a:lstStyle/>
          <a:p>
            <a:r>
              <a:rPr sz="1100" b="1">
                <a:solidFill>
                  <a:srgbClr val="101A3C"/>
                </a:solidFill>
                <a:latin typeface="Segoe UI"/>
              </a:rPr>
              <a:t>24-29 Jul</a:t>
            </a:r>
          </a:p>
          <a:p>
            <a:endParaRPr sz="1100" b="1">
              <a:solidFill>
                <a:srgbClr val="101A3C"/>
              </a:solidFill>
              <a:latin typeface="Segoe UI"/>
            </a:endParaRPr>
          </a:p>
        </p:txBody>
      </p:sp>
      <p:sp>
        <p:nvSpPr>
          <p:cNvPr id="21" name="TextBox"/>
          <p:cNvSpPr txBox="1"/>
          <p:nvPr/>
        </p:nvSpPr>
        <p:spPr>
          <a:xfrm>
            <a:off x="457200" y="3689604"/>
            <a:ext cx="2785110" cy="411480"/>
          </a:xfrm>
          <a:prstGeom prst="rect">
            <a:avLst/>
          </a:prstGeom>
        </p:spPr>
        <p:txBody>
          <a:bodyPr anchor="ctr"/>
          <a:lstStyle/>
          <a:p>
            <a:r>
              <a:rPr sz="900">
                <a:solidFill>
                  <a:srgbClr val="141B33"/>
                </a:solidFill>
                <a:latin typeface="Segoe UI"/>
              </a:rPr>
              <a:t>Claude Opus 5 GA, FW-Kimi-K3 GA,</a:t>
            </a:r>
          </a:p>
          <a:p>
            <a:r>
              <a:rPr sz="900">
                <a:solidFill>
                  <a:srgbClr val="141B33"/>
                </a:solidFill>
                <a:latin typeface="Segoe UI"/>
              </a:rPr>
              <a:t>gpt-live-transcribe GA</a:t>
            </a:r>
          </a:p>
        </p:txBody>
      </p:sp>
      <p:sp>
        <p:nvSpPr>
          <p:cNvPr id="22" name="Shape"/>
          <p:cNvSpPr/>
          <p:nvPr/>
        </p:nvSpPr>
        <p:spPr>
          <a:xfrm>
            <a:off x="3434334" y="3433572"/>
            <a:ext cx="237744" cy="237744"/>
          </a:xfrm>
          <a:prstGeom prst="ellipse">
            <a:avLst/>
          </a:prstGeom>
          <a:solidFill>
            <a:srgbClr val="00B39F"/>
          </a:solidFill>
        </p:spPr>
        <p:txBody>
          <a:bodyPr anchor="ctr"/>
          <a:lstStyle/>
          <a:p>
            <a:pPr algn="ctr"/>
            <a:r>
              <a:rPr sz="1100" b="1">
                <a:solidFill>
                  <a:srgbClr val="0B1229"/>
                </a:solidFill>
                <a:latin typeface="Segoe UI"/>
              </a:rPr>
              <a:t>6</a:t>
            </a:r>
          </a:p>
        </p:txBody>
      </p:sp>
      <p:sp>
        <p:nvSpPr>
          <p:cNvPr id="23" name="TextBox"/>
          <p:cNvSpPr txBox="1"/>
          <p:nvPr/>
        </p:nvSpPr>
        <p:spPr>
          <a:xfrm>
            <a:off x="3288030" y="3086100"/>
            <a:ext cx="2785110" cy="472440"/>
          </a:xfrm>
          <a:prstGeom prst="rect">
            <a:avLst/>
          </a:prstGeom>
        </p:spPr>
        <p:txBody>
          <a:bodyPr anchor="ctr"/>
          <a:lstStyle/>
          <a:p>
            <a:r>
              <a:rPr sz="1100" b="1">
                <a:solidFill>
                  <a:srgbClr val="101A3C"/>
                </a:solidFill>
                <a:latin typeface="Segoe UI"/>
              </a:rPr>
              <a:t>Aug</a:t>
            </a:r>
          </a:p>
          <a:p>
            <a:endParaRPr sz="1100" b="1">
              <a:solidFill>
                <a:srgbClr val="101A3C"/>
              </a:solidFill>
              <a:latin typeface="Segoe UI"/>
            </a:endParaRPr>
          </a:p>
        </p:txBody>
      </p:sp>
      <p:sp>
        <p:nvSpPr>
          <p:cNvPr id="24" name="TextBox"/>
          <p:cNvSpPr txBox="1"/>
          <p:nvPr/>
        </p:nvSpPr>
        <p:spPr>
          <a:xfrm>
            <a:off x="3288030" y="3689604"/>
            <a:ext cx="2785110" cy="685800"/>
          </a:xfrm>
          <a:prstGeom prst="rect">
            <a:avLst/>
          </a:prstGeom>
        </p:spPr>
        <p:txBody>
          <a:bodyPr anchor="ctr"/>
          <a:lstStyle/>
          <a:p>
            <a:r>
              <a:rPr sz="900">
                <a:solidFill>
                  <a:srgbClr val="141B33"/>
                </a:solidFill>
                <a:latin typeface="Segoe UI"/>
              </a:rPr>
              <a:t>Long-running agents docs (Preview),</a:t>
            </a:r>
          </a:p>
          <a:p>
            <a:r>
              <a:rPr sz="900">
                <a:solidFill>
                  <a:srgbClr val="141B33"/>
                </a:solidFill>
                <a:latin typeface="Segoe UI"/>
              </a:rPr>
              <a:t>Model Router region expansion,</a:t>
            </a:r>
          </a:p>
          <a:p>
            <a:r>
              <a:rPr sz="900">
                <a:solidFill>
                  <a:srgbClr val="141B33"/>
                </a:solidFill>
                <a:latin typeface="Segoe UI"/>
              </a:rPr>
              <a:t>grok-4.6 Preview, evaluation jobs</a:t>
            </a:r>
          </a:p>
          <a:p>
            <a:r>
              <a:rPr sz="900">
                <a:solidFill>
                  <a:srgbClr val="141B33"/>
                </a:solidFill>
                <a:latin typeface="Segoe UI"/>
              </a:rPr>
              <a:t>become long-running operations</a:t>
            </a:r>
          </a:p>
        </p:txBody>
      </p:sp>
      <p:sp>
        <p:nvSpPr>
          <p:cNvPr id="25" name="Shape"/>
          <p:cNvSpPr/>
          <p:nvPr/>
        </p:nvSpPr>
        <p:spPr>
          <a:xfrm>
            <a:off x="6265164" y="3433572"/>
            <a:ext cx="237744" cy="237744"/>
          </a:xfrm>
          <a:prstGeom prst="ellipse">
            <a:avLst/>
          </a:prstGeom>
          <a:solidFill>
            <a:srgbClr val="00B39F"/>
          </a:solidFill>
        </p:spPr>
        <p:txBody>
          <a:bodyPr anchor="ctr"/>
          <a:lstStyle/>
          <a:p>
            <a:pPr algn="ctr"/>
            <a:r>
              <a:rPr sz="1100" b="1">
                <a:solidFill>
                  <a:srgbClr val="0B1229"/>
                </a:solidFill>
                <a:latin typeface="Segoe UI"/>
              </a:rPr>
              <a:t>7</a:t>
            </a:r>
          </a:p>
        </p:txBody>
      </p:sp>
      <p:sp>
        <p:nvSpPr>
          <p:cNvPr id="26" name="TextBox"/>
          <p:cNvSpPr txBox="1"/>
          <p:nvPr/>
        </p:nvSpPr>
        <p:spPr>
          <a:xfrm>
            <a:off x="6118860" y="3086100"/>
            <a:ext cx="2785110" cy="472440"/>
          </a:xfrm>
          <a:prstGeom prst="rect">
            <a:avLst/>
          </a:prstGeom>
        </p:spPr>
        <p:txBody>
          <a:bodyPr anchor="ctr"/>
          <a:lstStyle/>
          <a:p>
            <a:r>
              <a:rPr sz="1100" b="1">
                <a:solidFill>
                  <a:srgbClr val="101A3C"/>
                </a:solidFill>
                <a:latin typeface="Segoe UI"/>
              </a:rPr>
              <a:t>3–16 Sep</a:t>
            </a:r>
          </a:p>
          <a:p>
            <a:endParaRPr sz="1100" b="1">
              <a:solidFill>
                <a:srgbClr val="101A3C"/>
              </a:solidFill>
              <a:latin typeface="Segoe UI"/>
            </a:endParaRPr>
          </a:p>
        </p:txBody>
      </p:sp>
      <p:sp>
        <p:nvSpPr>
          <p:cNvPr id="27" name="TextBox"/>
          <p:cNvSpPr txBox="1"/>
          <p:nvPr/>
        </p:nvSpPr>
        <p:spPr>
          <a:xfrm>
            <a:off x="6118860" y="3689604"/>
            <a:ext cx="2785110" cy="411480"/>
          </a:xfrm>
          <a:prstGeom prst="rect">
            <a:avLst/>
          </a:prstGeom>
        </p:spPr>
        <p:txBody>
          <a:bodyPr anchor="ctr"/>
          <a:lstStyle/>
          <a:p>
            <a:r>
              <a:rPr sz="900">
                <a:solidFill>
                  <a:srgbClr val="141B33"/>
                </a:solidFill>
                <a:latin typeface="Segoe UI"/>
              </a:rPr>
              <a:t>gpt-6-astra (1,050,000-token context);</a:t>
            </a:r>
          </a:p>
          <a:p>
            <a:r>
              <a:rPr sz="900">
                <a:solidFill>
                  <a:srgbClr val="141B33"/>
                </a:solidFill>
                <a:latin typeface="Segoe UI"/>
              </a:rPr>
              <a:t>A2A tool GA; Model Router reaches</a:t>
            </a:r>
          </a:p>
          <a:p>
            <a:r>
              <a:rPr sz="900">
                <a:solidFill>
                  <a:srgbClr val="141B33"/>
                </a:solidFill>
                <a:latin typeface="Segoe UI"/>
              </a:rPr>
              <a:t>32 regions</a:t>
            </a:r>
          </a:p>
        </p:txBody>
      </p:sp>
      <p:sp>
        <p:nvSpPr>
          <p:cNvPr id="28" name="Shape"/>
          <p:cNvSpPr/>
          <p:nvPr/>
        </p:nvSpPr>
        <p:spPr>
          <a:xfrm>
            <a:off x="9095994" y="3433572"/>
            <a:ext cx="237744" cy="237744"/>
          </a:xfrm>
          <a:prstGeom prst="ellipse">
            <a:avLst/>
          </a:prstGeom>
          <a:solidFill>
            <a:srgbClr val="00B39F"/>
          </a:solidFill>
        </p:spPr>
        <p:txBody>
          <a:bodyPr anchor="ctr"/>
          <a:lstStyle/>
          <a:p>
            <a:pPr algn="ctr"/>
            <a:r>
              <a:rPr sz="1100" b="1">
                <a:solidFill>
                  <a:srgbClr val="0B1229"/>
                </a:solidFill>
                <a:latin typeface="Segoe UI"/>
              </a:rPr>
              <a:t>8</a:t>
            </a:r>
          </a:p>
        </p:txBody>
      </p:sp>
      <p:sp>
        <p:nvSpPr>
          <p:cNvPr id="29" name="TextBox"/>
          <p:cNvSpPr txBox="1"/>
          <p:nvPr/>
        </p:nvSpPr>
        <p:spPr>
          <a:xfrm>
            <a:off x="8949690" y="3086100"/>
            <a:ext cx="2785110" cy="472440"/>
          </a:xfrm>
          <a:prstGeom prst="rect">
            <a:avLst/>
          </a:prstGeom>
        </p:spPr>
        <p:txBody>
          <a:bodyPr anchor="ctr"/>
          <a:lstStyle/>
          <a:p>
            <a:r>
              <a:rPr sz="1100" b="1">
                <a:solidFill>
                  <a:srgbClr val="101A3C"/>
                </a:solidFill>
                <a:latin typeface="Segoe UI"/>
              </a:rPr>
              <a:t>22–25 Sep</a:t>
            </a:r>
          </a:p>
          <a:p>
            <a:endParaRPr sz="1100" b="1">
              <a:solidFill>
                <a:srgbClr val="101A3C"/>
              </a:solidFill>
              <a:latin typeface="Segoe UI"/>
            </a:endParaRPr>
          </a:p>
        </p:txBody>
      </p:sp>
      <p:sp>
        <p:nvSpPr>
          <p:cNvPr id="30" name="TextBox"/>
          <p:cNvSpPr txBox="1"/>
          <p:nvPr/>
        </p:nvSpPr>
        <p:spPr>
          <a:xfrm>
            <a:off x="8949690" y="3689604"/>
            <a:ext cx="2785110" cy="548640"/>
          </a:xfrm>
          <a:prstGeom prst="rect">
            <a:avLst/>
          </a:prstGeom>
        </p:spPr>
        <p:txBody>
          <a:bodyPr anchor="ctr"/>
          <a:lstStyle/>
          <a:p>
            <a:r>
              <a:rPr sz="900">
                <a:solidFill>
                  <a:srgbClr val="141B33"/>
                </a:solidFill>
                <a:latin typeface="Segoe UI"/>
              </a:rPr>
              <a:t>gpt-6 luna and sol; routines GA;</a:t>
            </a:r>
          </a:p>
          <a:p>
            <a:r>
              <a:rPr sz="900">
                <a:solidFill>
                  <a:srgbClr val="141B33"/>
                </a:solidFill>
                <a:latin typeface="Segoe UI"/>
              </a:rPr>
              <a:t>network egress controls Preview;</a:t>
            </a:r>
          </a:p>
          <a:p>
            <a:r>
              <a:rPr sz="900">
                <a:solidFill>
                  <a:srgbClr val="141B33"/>
                </a:solidFill>
                <a:latin typeface="Segoe UI"/>
              </a:rPr>
              <a:t>Flex processing Preview (gpt-5.6-sol)</a:t>
            </a:r>
          </a:p>
        </p:txBody>
      </p:sp>
      <p:sp>
        <p:nvSpPr>
          <p:cNvPr id="31" name="Shape"/>
          <p:cNvSpPr/>
          <p:nvPr/>
        </p:nvSpPr>
        <p:spPr>
          <a:xfrm>
            <a:off x="548640" y="4700016"/>
            <a:ext cx="11094720" cy="731520"/>
          </a:xfrm>
          <a:prstGeom prst="rect">
            <a:avLst/>
          </a:prstGeom>
          <a:solidFill>
            <a:srgbClr val="101A3C"/>
          </a:solidFill>
        </p:spPr>
        <p:txBody>
          <a:bodyPr/>
          <a:lstStyle/>
          <a:p>
            <a:endParaRPr/>
          </a:p>
        </p:txBody>
      </p:sp>
      <p:sp>
        <p:nvSpPr>
          <p:cNvPr id="32" name="TextBox"/>
          <p:cNvSpPr txBox="1"/>
          <p:nvPr/>
        </p:nvSpPr>
        <p:spPr>
          <a:xfrm>
            <a:off x="676656" y="4759452"/>
            <a:ext cx="10838688" cy="548640"/>
          </a:xfrm>
          <a:prstGeom prst="rect">
            <a:avLst/>
          </a:prstGeom>
        </p:spPr>
        <p:txBody>
          <a:bodyPr anchor="ctr"/>
          <a:lstStyle/>
          <a:p>
            <a:r>
              <a:rPr sz="900">
                <a:solidFill>
                  <a:srgbClr val="FFFFFF"/>
                </a:solidFill>
                <a:latin typeface="Segoe UI"/>
              </a:rPr>
              <a:t>Still Preview, so no SLA — memory · agent guardrails · long-running agents · Work IQ · Fabric IQ · client-side tracing · Flex processing</a:t>
            </a:r>
          </a:p>
          <a:p>
            <a:r>
              <a:rPr sz="900">
                <a:solidFill>
                  <a:srgbClr val="FFFFFF"/>
                </a:solidFill>
                <a:latin typeface="Segoe UI"/>
              </a:rPr>
              <a:t>Agent Monitoring Dashboard · most Foundry IQ knowledge sources · skills · tool search · instant access models · managed compute · network egress controls · reminder tool</a:t>
            </a:r>
          </a:p>
          <a:p>
            <a:r>
              <a:rPr sz="900">
                <a:solidFill>
                  <a:srgbClr val="FFFFFF"/>
                </a:solidFill>
                <a:latin typeface="Segoe UI"/>
              </a:rPr>
              <a:t>Ignite 2026 has not happened; the most recent sources are Build 2026 (2 June) and the Foundry blog of 24 September 2026.</a:t>
            </a:r>
          </a:p>
        </p:txBody>
      </p:sp>
      <p:sp>
        <p:nvSpPr>
          <p:cNvPr id="33" name="Shape"/>
          <p:cNvSpPr/>
          <p:nvPr/>
        </p:nvSpPr>
        <p:spPr>
          <a:xfrm>
            <a:off x="548640" y="5687568"/>
            <a:ext cx="11094720" cy="9525"/>
          </a:xfrm>
          <a:prstGeom prst="rect">
            <a:avLst/>
          </a:prstGeom>
          <a:solidFill>
            <a:srgbClr val="E1E7F4"/>
          </a:solidFill>
        </p:spPr>
        <p:txBody>
          <a:bodyPr/>
          <a:lstStyle/>
          <a:p>
            <a:endParaRPr/>
          </a:p>
        </p:txBody>
      </p:sp>
      <p:sp>
        <p:nvSpPr>
          <p:cNvPr id="34"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devblogs.microsoft.com/foundry — July–August roundup · routines GA · egress controls</a:t>
            </a:r>
          </a:p>
          <a:p>
            <a:endParaRPr sz="900">
              <a:solidFill>
                <a:srgbClr val="44495B"/>
              </a:solidFill>
              <a:latin typeface="Segoe UI"/>
            </a:endParaRPr>
          </a:p>
        </p:txBody>
      </p:sp>
      <p:sp>
        <p:nvSpPr>
          <p:cNvPr id="35"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R E F E R E N C E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References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Microsoft Learn, Foundry developer blog and GitHub pages behind this session.</a:t>
            </a:r>
          </a:p>
          <a:p>
            <a:endParaRPr sz="1200">
              <a:solidFill>
                <a:srgbClr val="44495B"/>
              </a:solidFill>
              <a:latin typeface="Segoe UI"/>
            </a:endParaRPr>
          </a:p>
        </p:txBody>
      </p:sp>
      <p:sp>
        <p:nvSpPr>
          <p:cNvPr id="5" name="Shape"/>
          <p:cNvSpPr/>
          <p:nvPr/>
        </p:nvSpPr>
        <p:spPr>
          <a:xfrm>
            <a:off x="548640" y="1417320"/>
            <a:ext cx="6126480" cy="3797807"/>
          </a:xfrm>
          <a:prstGeom prst="rect">
            <a:avLst/>
          </a:prstGeom>
          <a:solidFill>
            <a:srgbClr val="F6F8FD"/>
          </a:solidFill>
          <a:ln w="9525">
            <a:solidFill>
              <a:srgbClr val="E1E7F4"/>
            </a:solidFill>
          </a:ln>
        </p:spPr>
        <p:txBody>
          <a:bodyPr/>
          <a:lstStyle/>
          <a:p>
            <a:endParaRPr/>
          </a:p>
        </p:txBody>
      </p:sp>
      <p:sp>
        <p:nvSpPr>
          <p:cNvPr id="6" name="Shape"/>
          <p:cNvSpPr/>
          <p:nvPr/>
        </p:nvSpPr>
        <p:spPr>
          <a:xfrm>
            <a:off x="548640" y="1417320"/>
            <a:ext cx="6126480" cy="38405"/>
          </a:xfrm>
          <a:prstGeom prst="rect">
            <a:avLst/>
          </a:prstGeom>
          <a:solidFill>
            <a:srgbClr val="101A3C"/>
          </a:solidFill>
        </p:spPr>
        <p:txBody>
          <a:bodyPr/>
          <a:lstStyle/>
          <a:p>
            <a:endParaRPr/>
          </a:p>
        </p:txBody>
      </p:sp>
      <p:sp>
        <p:nvSpPr>
          <p:cNvPr id="7" name="TextBox"/>
          <p:cNvSpPr txBox="1"/>
          <p:nvPr/>
        </p:nvSpPr>
        <p:spPr>
          <a:xfrm>
            <a:off x="603504" y="1540764"/>
            <a:ext cx="6016752" cy="472440"/>
          </a:xfrm>
          <a:prstGeom prst="rect">
            <a:avLst/>
          </a:prstGeom>
        </p:spPr>
        <p:txBody>
          <a:bodyPr anchor="ctr"/>
          <a:lstStyle/>
          <a:p>
            <a:r>
              <a:rPr sz="1100" b="1">
                <a:solidFill>
                  <a:srgbClr val="101A3C"/>
                </a:solidFill>
                <a:latin typeface="Segoe UI"/>
              </a:rPr>
              <a:t>Microsoft Learn — learn.microsoft.com/</a:t>
            </a:r>
          </a:p>
          <a:p>
            <a:endParaRPr sz="1100" b="1">
              <a:solidFill>
                <a:srgbClr val="101A3C"/>
              </a:solidFill>
              <a:latin typeface="Segoe UI"/>
            </a:endParaRPr>
          </a:p>
        </p:txBody>
      </p:sp>
      <p:sp>
        <p:nvSpPr>
          <p:cNvPr id="8" name="TextBox"/>
          <p:cNvSpPr txBox="1"/>
          <p:nvPr/>
        </p:nvSpPr>
        <p:spPr>
          <a:xfrm>
            <a:off x="603504" y="1845564"/>
            <a:ext cx="6016752" cy="3291840"/>
          </a:xfrm>
          <a:prstGeom prst="rect">
            <a:avLst/>
          </a:prstGeom>
        </p:spPr>
        <p:txBody>
          <a:bodyPr anchor="t"/>
          <a:lstStyle/>
          <a:p>
            <a:r>
              <a:rPr sz="900">
                <a:solidFill>
                  <a:srgbClr val="141B33"/>
                </a:solidFill>
                <a:latin typeface="Segoe UI"/>
              </a:rPr>
              <a:t>azure/foundry/what-is-foundry · concepts/architecture</a:t>
            </a:r>
          </a:p>
          <a:p>
            <a:r>
              <a:rPr sz="900">
                <a:solidFill>
                  <a:srgbClr val="141B33"/>
                </a:solidFill>
                <a:latin typeface="Segoe UI"/>
              </a:rPr>
              <a:t>azure/foundry/concepts/capability-reference</a:t>
            </a:r>
          </a:p>
          <a:p>
            <a:r>
              <a:rPr sz="900">
                <a:solidFill>
                  <a:srgbClr val="141B33"/>
                </a:solidFill>
                <a:latin typeface="Segoe UI"/>
              </a:rPr>
              <a:t>azure/foundry/how-to/develop/sdk-overview · ai.azure.com/api-reference</a:t>
            </a:r>
          </a:p>
          <a:p>
            <a:r>
              <a:rPr sz="900">
                <a:solidFill>
                  <a:srgbClr val="141B33"/>
                </a:solidFill>
                <a:latin typeface="Segoe UI"/>
              </a:rPr>
              <a:t>azure/foundry/foundry-models/concepts/deployment-types</a:t>
            </a:r>
          </a:p>
          <a:p>
            <a:r>
              <a:rPr sz="900">
                <a:solidFill>
                  <a:srgbClr val="141B33"/>
                </a:solidFill>
                <a:latin typeface="Segoe UI"/>
              </a:rPr>
              <a:t>azure/foundry/foundry-models/concepts/models-sold-directly-by-azure</a:t>
            </a:r>
          </a:p>
          <a:p>
            <a:r>
              <a:rPr sz="900">
                <a:solidFill>
                  <a:srgbClr val="141B33"/>
                </a:solidFill>
                <a:latin typeface="Segoe UI"/>
              </a:rPr>
              <a:t>azure/foundry/openai/concepts/priority-processing · how-to/flex-processing · model-router</a:t>
            </a:r>
          </a:p>
          <a:p>
            <a:r>
              <a:rPr sz="900">
                <a:solidFill>
                  <a:srgbClr val="141B33"/>
                </a:solidFill>
                <a:latin typeface="Segoe UI"/>
              </a:rPr>
              <a:t>azure/foundry/agents/concepts/tool-catalog · toolbox-overview</a:t>
            </a:r>
          </a:p>
          <a:p>
            <a:r>
              <a:rPr sz="900">
                <a:solidFill>
                  <a:srgbClr val="141B33"/>
                </a:solidFill>
                <a:latin typeface="Segoe UI"/>
              </a:rPr>
              <a:t>azure/search/agentic-retrieval-overview</a:t>
            </a:r>
          </a:p>
          <a:p>
            <a:r>
              <a:rPr sz="900">
                <a:solidFill>
                  <a:srgbClr val="141B33"/>
                </a:solidFill>
                <a:latin typeface="Segoe UI"/>
              </a:rPr>
              <a:t>azure/foundry/agents/how-to/tools/work-iq · tools/fabric-iq</a:t>
            </a:r>
          </a:p>
          <a:p>
            <a:r>
              <a:rPr sz="900">
                <a:solidFill>
                  <a:srgbClr val="141B33"/>
                </a:solidFill>
                <a:latin typeface="Segoe UI"/>
              </a:rPr>
              <a:t>azure/foundry/agents/overview · concepts/hosted-agents</a:t>
            </a:r>
          </a:p>
          <a:p>
            <a:r>
              <a:rPr sz="900">
                <a:solidFill>
                  <a:srgbClr val="141B33"/>
                </a:solidFill>
                <a:latin typeface="Segoe UI"/>
              </a:rPr>
              <a:t>azure/foundry/agents/concepts/long-running-agent-resilience</a:t>
            </a:r>
          </a:p>
          <a:p>
            <a:r>
              <a:rPr sz="900">
                <a:solidFill>
                  <a:srgbClr val="141B33"/>
                </a:solidFill>
                <a:latin typeface="Segoe UI"/>
              </a:rPr>
              <a:t>azure/foundry/agents/how-to/manage-task-state</a:t>
            </a:r>
          </a:p>
          <a:p>
            <a:r>
              <a:rPr sz="900">
                <a:solidFill>
                  <a:srgbClr val="141B33"/>
                </a:solidFill>
                <a:latin typeface="Segoe UI"/>
              </a:rPr>
              <a:t>agent-framework/overview</a:t>
            </a:r>
          </a:p>
          <a:p>
            <a:r>
              <a:rPr sz="900">
                <a:solidFill>
                  <a:srgbClr val="141B33"/>
                </a:solidFill>
                <a:latin typeface="Segoe UI"/>
              </a:rPr>
              <a:t>azure/foundry/control-plane/overview</a:t>
            </a:r>
          </a:p>
          <a:p>
            <a:r>
              <a:rPr sz="900">
                <a:solidFill>
                  <a:srgbClr val="141B33"/>
                </a:solidFill>
                <a:latin typeface="Segoe UI"/>
              </a:rPr>
              <a:t>azure/foundry/guardrails/guardrails-overview</a:t>
            </a:r>
          </a:p>
          <a:p>
            <a:r>
              <a:rPr sz="900">
                <a:solidFill>
                  <a:srgbClr val="141B33"/>
                </a:solidFill>
                <a:latin typeface="Segoe UI"/>
              </a:rPr>
              <a:t>azure/ai-services/content-safety/overview</a:t>
            </a:r>
          </a:p>
          <a:p>
            <a:r>
              <a:rPr sz="900">
                <a:solidFill>
                  <a:srgbClr val="141B33"/>
                </a:solidFill>
                <a:latin typeface="Segoe UI"/>
              </a:rPr>
              <a:t>azure/foundry/concepts/built-in-evaluators</a:t>
            </a:r>
          </a:p>
          <a:p>
            <a:r>
              <a:rPr sz="900">
                <a:solidFill>
                  <a:srgbClr val="141B33"/>
                </a:solidFill>
                <a:latin typeface="Segoe UI"/>
              </a:rPr>
              <a:t>azure/foundry/observability/how-to/cloud-evaluation-targets</a:t>
            </a:r>
          </a:p>
          <a:p>
            <a:r>
              <a:rPr sz="900">
                <a:solidFill>
                  <a:srgbClr val="141B33"/>
                </a:solidFill>
                <a:latin typeface="Segoe UI"/>
              </a:rPr>
              <a:t>azure/foundry/observability/how-to/trace-agent-client-side</a:t>
            </a:r>
          </a:p>
          <a:p>
            <a:r>
              <a:rPr sz="900">
                <a:solidFill>
                  <a:srgbClr val="141B33"/>
                </a:solidFill>
                <a:latin typeface="Segoe UI"/>
              </a:rPr>
              <a:t>azure/architecture/ai-ml/architecture/baseline-microsoft-foundry-chat</a:t>
            </a:r>
          </a:p>
        </p:txBody>
      </p:sp>
      <p:sp>
        <p:nvSpPr>
          <p:cNvPr id="9" name="Shape"/>
          <p:cNvSpPr/>
          <p:nvPr/>
        </p:nvSpPr>
        <p:spPr>
          <a:xfrm>
            <a:off x="6949440" y="1417320"/>
            <a:ext cx="4693920" cy="2148840"/>
          </a:xfrm>
          <a:prstGeom prst="rect">
            <a:avLst/>
          </a:prstGeom>
          <a:solidFill>
            <a:srgbClr val="F6F8FD"/>
          </a:solidFill>
          <a:ln w="9525">
            <a:solidFill>
              <a:srgbClr val="E1E7F4"/>
            </a:solidFill>
          </a:ln>
        </p:spPr>
        <p:txBody>
          <a:bodyPr/>
          <a:lstStyle/>
          <a:p>
            <a:endParaRPr/>
          </a:p>
        </p:txBody>
      </p:sp>
      <p:sp>
        <p:nvSpPr>
          <p:cNvPr id="10" name="Shape"/>
          <p:cNvSpPr/>
          <p:nvPr/>
        </p:nvSpPr>
        <p:spPr>
          <a:xfrm>
            <a:off x="6949440" y="1417320"/>
            <a:ext cx="4693920" cy="38405"/>
          </a:xfrm>
          <a:prstGeom prst="rect">
            <a:avLst/>
          </a:prstGeom>
          <a:solidFill>
            <a:srgbClr val="00B39F"/>
          </a:solidFill>
        </p:spPr>
        <p:txBody>
          <a:bodyPr/>
          <a:lstStyle/>
          <a:p>
            <a:endParaRPr/>
          </a:p>
        </p:txBody>
      </p:sp>
      <p:sp>
        <p:nvSpPr>
          <p:cNvPr id="11" name="TextBox"/>
          <p:cNvSpPr txBox="1"/>
          <p:nvPr/>
        </p:nvSpPr>
        <p:spPr>
          <a:xfrm>
            <a:off x="7004304" y="1540764"/>
            <a:ext cx="4584192" cy="472440"/>
          </a:xfrm>
          <a:prstGeom prst="rect">
            <a:avLst/>
          </a:prstGeom>
        </p:spPr>
        <p:txBody>
          <a:bodyPr anchor="ctr"/>
          <a:lstStyle/>
          <a:p>
            <a:r>
              <a:rPr sz="1100" b="1">
                <a:solidFill>
                  <a:srgbClr val="101A3C"/>
                </a:solidFill>
                <a:latin typeface="Segoe UI"/>
              </a:rPr>
              <a:t>Blog and code</a:t>
            </a:r>
          </a:p>
        </p:txBody>
      </p:sp>
      <p:sp>
        <p:nvSpPr>
          <p:cNvPr id="12" name="TextBox"/>
          <p:cNvSpPr txBox="1"/>
          <p:nvPr/>
        </p:nvSpPr>
        <p:spPr>
          <a:xfrm>
            <a:off x="7004304" y="1845564"/>
            <a:ext cx="4584192" cy="1737360"/>
          </a:xfrm>
          <a:prstGeom prst="rect">
            <a:avLst/>
          </a:prstGeom>
        </p:spPr>
        <p:txBody>
          <a:bodyPr wrap="square" anchor="ctr"/>
          <a:lstStyle/>
          <a:p>
            <a:r>
              <a:rPr sz="900">
                <a:solidFill>
                  <a:srgbClr val="141B33"/>
                </a:solidFill>
                <a:latin typeface="Segoe UI"/>
              </a:rPr>
              <a:t>devblogs.microsoft.com/foundry — What's new in Microsoft Foundry: Build 2026 (2 June 2026) and July–August 2026 (9 September 2026)</a:t>
            </a:r>
          </a:p>
          <a:p>
            <a:pPr>
              <a:spcBef>
                <a:spcPts val="300"/>
              </a:spcBef>
            </a:pPr>
            <a:r>
              <a:rPr sz="900">
                <a:solidFill>
                  <a:srgbClr val="141B33"/>
                </a:solidFill>
                <a:latin typeface="Segoe UI"/>
              </a:rPr>
              <a:t>devblogs.microsoft.com/agent-framework — Microsoft Agent Framework version 1.0 (3 April 2026)</a:t>
            </a:r>
          </a:p>
          <a:p>
            <a:pPr>
              <a:spcBef>
                <a:spcPts val="300"/>
              </a:spcBef>
            </a:pPr>
            <a:r>
              <a:rPr sz="900">
                <a:solidFill>
                  <a:srgbClr val="141B33"/>
                </a:solidFill>
                <a:latin typeface="Segoe UI"/>
              </a:rPr>
              <a:t>github.com/microsoft/agent-framework — SDK, samples and release notes</a:t>
            </a:r>
          </a:p>
          <a:p>
            <a:pPr>
              <a:spcBef>
                <a:spcPts val="300"/>
              </a:spcBef>
            </a:pPr>
            <a:r>
              <a:rPr sz="900">
                <a:solidFill>
                  <a:srgbClr val="141B33"/>
                </a:solidFill>
                <a:latin typeface="Segoe UI"/>
              </a:rPr>
              <a:t>github.com/microsoft-foundry/foundry-samples — Bicep, Python and Terraform samples used in the Foundry documentation</a:t>
            </a:r>
          </a:p>
          <a:p>
            <a:pPr>
              <a:spcBef>
                <a:spcPts val="300"/>
              </a:spcBef>
            </a:pPr>
            <a:r>
              <a:rPr sz="900">
                <a:solidFill>
                  <a:srgbClr val="141B33"/>
                </a:solidFill>
                <a:latin typeface="Segoe UI"/>
              </a:rPr>
              <a:t>ai.azure.com/api-reference — Foundry API reference and Foundry-Features header</a:t>
            </a:r>
          </a:p>
        </p:txBody>
      </p:sp>
      <p:sp>
        <p:nvSpPr>
          <p:cNvPr id="13" name="Shape"/>
          <p:cNvSpPr/>
          <p:nvPr/>
        </p:nvSpPr>
        <p:spPr>
          <a:xfrm>
            <a:off x="6949440" y="3785615"/>
            <a:ext cx="4693920" cy="1417320"/>
          </a:xfrm>
          <a:prstGeom prst="rect">
            <a:avLst/>
          </a:prstGeom>
          <a:solidFill>
            <a:srgbClr val="F6F8FD"/>
          </a:solidFill>
          <a:ln w="9525">
            <a:solidFill>
              <a:srgbClr val="E1E7F4"/>
            </a:solidFill>
          </a:ln>
        </p:spPr>
        <p:txBody>
          <a:bodyPr/>
          <a:lstStyle/>
          <a:p>
            <a:endParaRPr/>
          </a:p>
        </p:txBody>
      </p:sp>
      <p:sp>
        <p:nvSpPr>
          <p:cNvPr id="14" name="Shape"/>
          <p:cNvSpPr/>
          <p:nvPr/>
        </p:nvSpPr>
        <p:spPr>
          <a:xfrm>
            <a:off x="6949440" y="3749039"/>
            <a:ext cx="4693920" cy="38405"/>
          </a:xfrm>
          <a:prstGeom prst="rect">
            <a:avLst/>
          </a:prstGeom>
          <a:solidFill>
            <a:srgbClr val="101A3C"/>
          </a:solidFill>
        </p:spPr>
        <p:txBody>
          <a:bodyPr/>
          <a:lstStyle/>
          <a:p>
            <a:endParaRPr/>
          </a:p>
        </p:txBody>
      </p:sp>
      <p:sp>
        <p:nvSpPr>
          <p:cNvPr id="15" name="TextBox"/>
          <p:cNvSpPr txBox="1"/>
          <p:nvPr/>
        </p:nvSpPr>
        <p:spPr>
          <a:xfrm>
            <a:off x="7004304" y="3877056"/>
            <a:ext cx="4584192" cy="472440"/>
          </a:xfrm>
          <a:prstGeom prst="rect">
            <a:avLst/>
          </a:prstGeom>
        </p:spPr>
        <p:txBody>
          <a:bodyPr anchor="ctr"/>
          <a:lstStyle/>
          <a:p>
            <a:r>
              <a:rPr sz="1100" b="1">
                <a:solidFill>
                  <a:srgbClr val="101A3C"/>
                </a:solidFill>
                <a:latin typeface="Segoe UI"/>
              </a:rPr>
              <a:t>Staying current</a:t>
            </a:r>
          </a:p>
        </p:txBody>
      </p:sp>
      <p:sp>
        <p:nvSpPr>
          <p:cNvPr id="16" name="TextBox"/>
          <p:cNvSpPr txBox="1"/>
          <p:nvPr/>
        </p:nvSpPr>
        <p:spPr>
          <a:xfrm>
            <a:off x="7004304" y="4178808"/>
            <a:ext cx="4584192" cy="822960"/>
          </a:xfrm>
          <a:prstGeom prst="rect">
            <a:avLst/>
          </a:prstGeom>
        </p:spPr>
        <p:txBody>
          <a:bodyPr anchor="ctr"/>
          <a:lstStyle/>
          <a:p>
            <a:r>
              <a:rPr sz="900">
                <a:solidFill>
                  <a:srgbClr val="141B33"/>
                </a:solidFill>
                <a:latin typeface="Segoe UI"/>
              </a:rPr>
              <a:t>learn.microsoft.com/azure/foundry/whats-new-foundry lists new and updated articles each month; the Foundry developer blog publishes a roundup after each release wave. Preview features carry no service level agreement and can change before general availability.</a:t>
            </a:r>
          </a:p>
        </p:txBody>
      </p:sp>
      <p:sp>
        <p:nvSpPr>
          <p:cNvPr id="17" name="Shape"/>
          <p:cNvSpPr/>
          <p:nvPr/>
        </p:nvSpPr>
        <p:spPr>
          <a:xfrm>
            <a:off x="548640" y="5687568"/>
            <a:ext cx="11094720" cy="9525"/>
          </a:xfrm>
          <a:prstGeom prst="rect">
            <a:avLst/>
          </a:prstGeom>
          <a:solidFill>
            <a:srgbClr val="E1E7F4"/>
          </a:solidFill>
        </p:spPr>
        <p:txBody>
          <a:bodyPr/>
          <a:lstStyle/>
          <a:p>
            <a:endParaRPr/>
          </a:p>
        </p:txBody>
      </p:sp>
      <p:sp>
        <p:nvSpPr>
          <p:cNvPr id="18"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learn.microsoft.com/azure/foundry/whats-new-foundry</a:t>
            </a:r>
          </a:p>
          <a:p>
            <a:endParaRPr sz="900">
              <a:solidFill>
                <a:srgbClr val="44495B"/>
              </a:solidFill>
              <a:latin typeface="Segoe UI"/>
            </a:endParaRPr>
          </a:p>
        </p:txBody>
      </p:sp>
      <p:sp>
        <p:nvSpPr>
          <p:cNvPr id="19"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15448</Words>
  <Application>Microsoft Office PowerPoint</Application>
  <PresentationFormat>Widescreen</PresentationFormat>
  <Paragraphs>1357</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Alex Sachelarescu</cp:lastModifiedBy>
  <cp:revision>3</cp:revision>
  <dcterms:created xsi:type="dcterms:W3CDTF">2026-09-11T13:27:13Z</dcterms:created>
  <dcterms:modified xsi:type="dcterms:W3CDTF">2026-10-11T09:28:32Z</dcterms:modified>
  <cp:category/>
</cp:coreProperties>
</file>