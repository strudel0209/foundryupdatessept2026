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341"/>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38930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session is about one question that comes up as soon as more than one team builds on Foundry: how do we govern who uses which models, tools and agents, and how much?</a:t>
            </a:r>
          </a:p>
          <a:p>
            <a:r>
              <a:t>The answer Microsoft documents is an AI gateway, built on Azure API Management. Three things carry that name, and I will separate them on slide 3. The AI Gateway feature in the Foundry portal is preview. The AI policies inside API Management, such as token limits and content safety, are generally available. And there is a new, separate AI Gateway tier of API Management, also preview.</a:t>
            </a:r>
          </a:p>
          <a:p>
            <a:r>
              <a:t>The plan: the problem, the three meanings of the term, the architecture, then governance for models, tools and agents in turn, a comparison with the other controls it is confused with, and finally how this scales across many teams.</a:t>
            </a:r>
          </a:p>
          <a:p>
            <a:r>
              <a:t>Every fact was checked against Microsoft Learn on 3 October 2026. Anything marked with an asterisk is preview, with no service level agreement.</a:t>
            </a:r>
          </a:p>
          <a:p>
            <a:r>
              <a:t>Likely question: do we need API Management skills to use the Foundry feature? For token limits, no; the portal creates and configures the instance. For tool and MCP policies, yes, they are edited in the Azure portal.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takeaway: once several teams share models, tools and agents, direct access stops scaling, and a gateway puts one control point in the path.</a:t>
            </a:r>
          </a:p>
          <a:p>
            <a:r>
              <a:t>On the left is direct access. Every application or agent calls every backend itself. Four problems follow. Capacity is shared, so one project can use it all; Learn calls the fix multi-team token containment. Token cost can't be attributed to a team. Credentials are spread across clients. And tools and agents appear without any register.</a:t>
            </a:r>
          </a:p>
          <a:p>
            <a:r>
              <a:t>On the right, an AI gateway built on Azure API Management sits in the request path. Learn describes it as sitting between clients and Foundry building blocks, including models and tools. Policies run on every request: token limits, usage metrics, content safety, and managed identity from the gateway to the backends, so clients don't hold model keys.</a:t>
            </a:r>
          </a:p>
          <a:p>
            <a:r>
              <a:t>The cost is real: an extra network hop, one more component to make highly available, and a component that sees every prompt. The Architecture Center guide on gateways says not to add one if it puts latency or reliability targets at risk.</a:t>
            </a:r>
          </a:p>
          <a:p>
            <a:r>
              <a:t>Likely question: does this replace Foundry quota? No. Quota sets capacity; the gateway divides it. Slide 8 compares them.</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Customers use "AI gateway" for three different things, so it pays to fix the terms first.</a:t>
            </a:r>
          </a:p>
          <a:p>
            <a:r>
              <a:t>Column one, AI Gateway in Foundry. In the Foundry portal, under Manage, AI Gateway, an administrator connects an API Management instance to a Foundry resource, either a new Basic v2 instance or an existing v2 instance in the same tenant and subscription. All projects in that resource share the gateway, and each project gets its own token limits. It is preview in the Foundry feature-readiness table.</a:t>
            </a:r>
          </a:p>
          <a:p>
            <a:r>
              <a:t>Column two, the AI gateway capabilities of API Management itself. Learn says these are not a separate offering: they are policies such as llm-token-limit and llm-content-safety, plus MCP and A2A support, configured in the Azure portal. They are generally available.</a:t>
            </a:r>
          </a:p>
          <a:p>
            <a:r>
              <a:t>Column three is a new, separate AI Gateway tier with its own portal, in preview in two regions.</a:t>
            </a:r>
          </a:p>
          <a:p>
            <a:r>
              <a:t>Presenter note: verify AI Gateway in Foundry status before presenting; the configuration page carries no preview label, while the readiness table marks it preview.</a:t>
            </a:r>
          </a:p>
          <a:p>
            <a:r>
              <a:t>Likely question: can several Foundry resources share one gateway? Not through the Foundry feature; that needs standalone API Management, as slide 9 shows.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diagram is AI Gateway in Foundry, column one on slide 3. Underneath is a standard API Management instance, so the box shows two groups of settings.</a:t>
            </a:r>
          </a:p>
          <a:p>
            <a:r>
              <a:t>The upper group is set in the Foundry portal: token limits and quotas per project, routing of new MCP tools, and registration of custom agents. All three are preview.</a:t>
            </a:r>
          </a:p>
          <a:p>
            <a:r>
              <a:t>The lower group is configured directly in API Management, in the Azure portal. Learn documents this for MCP tools routed through the gateway. Presenter note: verify before presenting whether adding policies such as semantic caching or content safety to model traffic managed by the Foundry gateway is supported; Learn doesn't describe it.</a:t>
            </a:r>
          </a:p>
          <a:p>
            <a:r>
              <a:t>Step one: callers sign in with Microsoft Entra ID. Step two: requests go to the gateway URL; Learn lists bypassed requests as a troubleshooting case. Step three: policies run and the gateway forwards to the project's model deployments, the MCP server or the registered agent. Step four: metrics and logs go to Azure Monitor, and inventory appears in the Control Plane.</a:t>
            </a:r>
          </a:p>
          <a:p>
            <a:r>
              <a:t>Presenter note: verify whether Foundry agents' own model calls route through the gateway.</a:t>
            </a:r>
          </a:p>
          <a:p>
            <a:r>
              <a:t>Likely question: does this cover several Foundry resources? No; that needs standalone API Management, slide 9.</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Most organisations start with models, because shared capacity and cost hurt first.</a:t>
            </a:r>
          </a:p>
          <a:p>
            <a:r>
              <a:t>The table lists the documented API Management policies. llm-token-limit enforces tokens per minute, returning 429, and a token quota over a period from hourly to yearly, returning 403. The counter key can be any expression, such as subscription, IP address or a header. It can also estimate prompt tokens before calling the backend, so an oversized prompt is rejected early.</a:t>
            </a:r>
          </a:p>
          <a:p>
            <a:r>
              <a:t>llm-emit-token-metric sends token counts to Azure Monitor with up to five custom dimensions, which is how cost is attributed to teams.</a:t>
            </a:r>
          </a:p>
          <a:p>
            <a:r>
              <a:t>Two caveats. Token counts are tracked per gateway, not aggregated across regional gateways. And v2 tiers use a token-bucket algorithm, unlike the sliding window in classic tiers.</a:t>
            </a:r>
          </a:p>
          <a:p>
            <a:r>
              <a:t>The card on the right is the Foundry route: the same limits set per project and deployment in the portal, with no XML. Learn warns that concurrent requests can briefly exceed limits.</a:t>
            </a:r>
          </a:p>
          <a:p>
            <a:r>
              <a:t>Presenter note: verify the code sample against the llm-token-limit reference before showing it; values are illustrative.</a:t>
            </a:r>
          </a:p>
          <a:p>
            <a:r>
              <a:t>Likely question: does caching work for all prompts? Only semantically similar ones, and it requires Azure Managed Redis or another RediSearch-compatible cache.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MCP server an agent can call is a new path to data and actions.</a:t>
            </a:r>
          </a:p>
          <a:p>
            <a:r>
              <a:t>The three columns follow the order Microsoft's guidance suggests: register, govern, consume.</a:t>
            </a:r>
          </a:p>
          <a:p>
            <a:r>
              <a:t>Column one, Azure API Center, is the inventory: an MCP registry endpoint for Visual Studio Code and GitHub Copilot, sync from API Management, and a feed into Foundry tool catalogs.</a:t>
            </a:r>
          </a:p>
          <a:p>
            <a:r>
              <a:t>Column two, API Management, does the enforcement. It can turn existing REST API operations into MCP tools, or pass traffic through to an existing MCP server. Policies apply to all tools of a server. Since June 2026 the content safety policy also inspects MCP tool arguments and responses.</a:t>
            </a:r>
          </a:p>
          <a:p>
            <a:r>
              <a:t>Column three is the Foundry route, in preview. Only new MCP tools created in the Foundry portal without managed OAuth are routed; Foundry rewrites the endpoint to the gateway URL. Built-in tools such as SharePoint, code-first MCP and OpenAPI tools are not covered, existing tools are not migrated, and the gateway doesn't log tool traces.</a:t>
            </a:r>
          </a:p>
          <a:p>
            <a:r>
              <a:t>Presenter note: verify API Center MCP registry status; no first-party general-availability statement was found.</a:t>
            </a:r>
          </a:p>
          <a:p>
            <a:r>
              <a:t>Likely question: can policies differ per tool? Currently policies apply to all operations exposed as tools in one MCP server.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Agents need two kinds of governance: inventory, and control of their traffic.</a:t>
            </a:r>
          </a:p>
          <a:p>
            <a:r>
              <a:t>Column one, custom agents registered in the Foundry Control Plane. Foundry uses API Management as a proxy and issues a new URL that clients must use. HTTP and A2A are supported. Foundry can't start or stop an agent it doesn't host, but it can block incoming requests, which is the off switch for a misbehaving agent.</a:t>
            </a:r>
          </a:p>
          <a:p>
            <a:r>
              <a:t>Column two, external agents, is lighter: Foundry stores registration metadata and receives OpenTelemetry traces, but traffic doesn't pass through the gateway.</a:t>
            </a:r>
          </a:p>
          <a:p>
            <a:r>
              <a:t>Column three, A2A agent APIs imported directly into API Management, generally available since June 2026. JSON-RPC only; the agent card is rewritten to point at the gateway.</a:t>
            </a:r>
          </a:p>
          <a:p>
            <a:r>
              <a:t>Column four covers the models agents call. With a bring-your-own-model connection, prompt agents use deployments named connection-slash-model, routed through API Management. It requires the OpenAI-compatible chat completions API.</a:t>
            </a:r>
          </a:p>
          <a:p>
            <a:r>
              <a:t>The band is the important caveat: Foundry guardrails cover only Foundry Agent Service agents.</a:t>
            </a:r>
          </a:p>
          <a:p>
            <a:r>
              <a:t>Presenter note: verify the status of bring-your-own-model; release notes say generally available, but one Learn page labels it preview.</a:t>
            </a:r>
          </a:p>
          <a:p>
            <a:r>
              <a:t>Likely question: can hosted agents use this? The documented model-gateway route supports prompt agents only.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answers the common question: "we have quota and guardrails, why a gateway?"</a:t>
            </a:r>
          </a:p>
          <a:p>
            <a:r>
              <a:t>Read across the rows. Foundry quota is the capacity a deployment receives from Azure, in tokens per minute, per subscription and region.</a:t>
            </a:r>
          </a:p>
          <a:p>
            <a:r>
              <a:t>AI Gateway token limits divide that capacity among projects on a shared gateway: 429 over the per-minute limit, 403 over the period quota. That is the multi-team containment quota can't give you.</a:t>
            </a:r>
          </a:p>
          <a:p>
            <a:r>
              <a:t>API Management policies are broader: any counter key, content safety, caching and routing, and they reach MCP and A2A traffic.</a:t>
            </a:r>
          </a:p>
          <a:p>
            <a:r>
              <a:t>Foundry guardrails filter content: harmful categories, prompt attacks, PII and task adherence. They are generally available for models and preview for agents, and they don't cover agents registered from outside Foundry Agent Service.</a:t>
            </a:r>
          </a:p>
          <a:p>
            <a:r>
              <a:t>Azure Policy and RBAC decide who may create, configure and call resources; they don't inspect individual requests.</a:t>
            </a:r>
          </a:p>
          <a:p>
            <a:r>
              <a:t>Presenter note: verify guardrail status for agents on the guardrails overview page before presenting.</a:t>
            </a:r>
          </a:p>
          <a:p>
            <a:r>
              <a:t>Likely question: should content safety run in both guardrails and the gateway? For Foundry agents, guardrails are the primary control; the gateway policy adds coverage for traffic guardrails don't see.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Closing on scale. The Foundry Citadel platform on GitHub, an Azure-Samples reference, describes a hub-and-spoke pattern.</a:t>
            </a:r>
          </a:p>
          <a:p>
            <a:r>
              <a:t>Step one: each business unit works in its own spoke, a Foundry resource with its projects, and sends AI traffic to the central hub. Step two: the hub, API Management with API Center as the registry, applies common policies and forwards to shared models, tools and agents. Step three: telemetry and inventory flow up to Foundry Control Plane, Microsoft Entra for agent identity, and Defender and Purview. It is an opinionated sample, not a product; I left out its market statistics.</a:t>
            </a:r>
          </a:p>
          <a:p>
            <a:r>
              <a:t>On the right, the constraints. The Foundry AI Gateway serves one Foundry resource, so a hub spanning many spokes is standalone API Management. Private Foundry needs Standard v2 or Premium v2. Token counts are per gateway.</a:t>
            </a:r>
          </a:p>
          <a:p>
            <a:r>
              <a:t>For one app and one model, or for throttling alone, a gateway adds a hop without benefit.</a:t>
            </a:r>
          </a:p>
          <a:p>
            <a:r>
              <a:t>Presenter note: verify the Citadel repository and aka.ms/ai-hub-gateway are current before sharing links.</a:t>
            </a:r>
          </a:p>
          <a:p>
            <a:r>
              <a:t>Likely question: where should we start? Enable AI Gateway in Foundry on one resource with token limits, then move to a standalone hub when a second resource arrives.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229"/>
          </a:solidFill>
          <a:ln>
            <a:noFill/>
          </a:ln>
          <a:effectLst/>
        </p:spPr>
        <p:txBody>
          <a:bodyPr wrap="square" rtlCol="0" anchor="ctr"/>
          <a:lstStyle/>
          <a:p>
            <a:endParaRPr/>
          </a:p>
        </p:txBody>
      </p:sp>
      <p:sp>
        <p:nvSpPr>
          <p:cNvPr id="3" name="Rectangle 2"/>
          <p:cNvSpPr/>
          <p:nvPr/>
        </p:nvSpPr>
        <p:spPr>
          <a:xfrm>
            <a:off x="0" y="0"/>
            <a:ext cx="82296" cy="6858000"/>
          </a:xfrm>
          <a:prstGeom prst="rect">
            <a:avLst/>
          </a:prstGeom>
          <a:solidFill>
            <a:srgbClr val="00B39F"/>
          </a:solidFill>
          <a:ln>
            <a:noFill/>
          </a:ln>
          <a:effectLst/>
        </p:spPr>
        <p:txBody>
          <a:bodyPr wrap="square" rtlCol="0" anchor="ctr"/>
          <a:lstStyle/>
          <a:p>
            <a:endParaRPr/>
          </a:p>
        </p:txBody>
      </p:sp>
      <p:sp>
        <p:nvSpPr>
          <p:cNvPr id="4" name="TextBox 3"/>
          <p:cNvSpPr txBox="1"/>
          <p:nvPr/>
        </p:nvSpPr>
        <p:spPr>
          <a:xfrm>
            <a:off x="914400" y="1828800"/>
            <a:ext cx="9144000" cy="201168"/>
          </a:xfrm>
          <a:prstGeom prst="rect">
            <a:avLst/>
          </a:prstGeom>
          <a:noFill/>
        </p:spPr>
        <p:txBody>
          <a:bodyPr wrap="square" lIns="0" tIns="0" rIns="0" bIns="0" anchor="t">
            <a:spAutoFit/>
          </a:bodyPr>
          <a:lstStyle/>
          <a:p>
            <a:pPr algn="l">
              <a:lnSpc>
                <a:spcPct val="100000"/>
              </a:lnSpc>
            </a:pPr>
            <a:r>
              <a:rPr sz="900" b="1" i="0" spc="160" dirty="0">
                <a:solidFill>
                  <a:srgbClr val="00B39F"/>
                </a:solidFill>
                <a:latin typeface="Segoe UI"/>
                <a:cs typeface="Segoe UI"/>
              </a:rPr>
              <a:t>MICROSOFT FOUNDRY  ·  TECHNICAL DEEP DIVE</a:t>
            </a:r>
          </a:p>
        </p:txBody>
      </p:sp>
      <p:sp>
        <p:nvSpPr>
          <p:cNvPr id="5" name="TextBox 4"/>
          <p:cNvSpPr txBox="1"/>
          <p:nvPr/>
        </p:nvSpPr>
        <p:spPr>
          <a:xfrm>
            <a:off x="914400" y="2203704"/>
            <a:ext cx="10241280" cy="658368"/>
          </a:xfrm>
          <a:prstGeom prst="rect">
            <a:avLst/>
          </a:prstGeom>
          <a:noFill/>
        </p:spPr>
        <p:txBody>
          <a:bodyPr wrap="square" lIns="0" tIns="0" rIns="0" bIns="0" anchor="t">
            <a:spAutoFit/>
          </a:bodyPr>
          <a:lstStyle/>
          <a:p>
            <a:pPr algn="l">
              <a:lnSpc>
                <a:spcPct val="100000"/>
              </a:lnSpc>
            </a:pPr>
            <a:r>
              <a:rPr sz="4200" b="1" i="0" dirty="0">
                <a:solidFill>
                  <a:srgbClr val="FFFFFF"/>
                </a:solidFill>
                <a:latin typeface="Segoe UI"/>
                <a:cs typeface="Segoe UI"/>
              </a:rPr>
              <a:t>AI gateway in Microsoft Foundry</a:t>
            </a:r>
          </a:p>
        </p:txBody>
      </p:sp>
      <p:sp>
        <p:nvSpPr>
          <p:cNvPr id="6" name="TextBox 5"/>
          <p:cNvSpPr txBox="1"/>
          <p:nvPr/>
        </p:nvSpPr>
        <p:spPr>
          <a:xfrm>
            <a:off x="914400" y="2962656"/>
            <a:ext cx="9875520" cy="566928"/>
          </a:xfrm>
          <a:prstGeom prst="rect">
            <a:avLst/>
          </a:prstGeom>
          <a:noFill/>
        </p:spPr>
        <p:txBody>
          <a:bodyPr wrap="square" lIns="0" tIns="0" rIns="0" bIns="0" anchor="t">
            <a:spAutoFit/>
          </a:bodyPr>
          <a:lstStyle/>
          <a:p>
            <a:pPr algn="l">
              <a:lnSpc>
                <a:spcPct val="132000"/>
              </a:lnSpc>
            </a:pPr>
            <a:r>
              <a:rPr sz="1450" b="0" i="0" dirty="0">
                <a:solidFill>
                  <a:srgbClr val="B9C2D6"/>
                </a:solidFill>
                <a:latin typeface="Segoe UI"/>
                <a:cs typeface="Segoe UI"/>
              </a:rPr>
              <a:t>Governing models, tools, MCP servers and agents at scale with Azure API Management —</a:t>
            </a:r>
          </a:p>
          <a:p>
            <a:pPr algn="l">
              <a:lnSpc>
                <a:spcPct val="132000"/>
              </a:lnSpc>
            </a:pPr>
            <a:r>
              <a:rPr sz="1450" b="0" i="0" dirty="0">
                <a:solidFill>
                  <a:srgbClr val="B9C2D6"/>
                </a:solidFill>
                <a:latin typeface="Segoe UI"/>
                <a:cs typeface="Segoe UI"/>
              </a:rPr>
              <a:t>what the gateway does, how it is built, and how it differs from other controls</a:t>
            </a:r>
          </a:p>
        </p:txBody>
      </p:sp>
      <p:cxnSp>
        <p:nvCxnSpPr>
          <p:cNvPr id="7" name="Connector 6"/>
          <p:cNvCxnSpPr/>
          <p:nvPr/>
        </p:nvCxnSpPr>
        <p:spPr>
          <a:xfrm>
            <a:off x="914400" y="3895344"/>
            <a:ext cx="2011680" cy="0"/>
          </a:xfrm>
          <a:prstGeom prst="line">
            <a:avLst/>
          </a:prstGeom>
          <a:ln w="25400">
            <a:solidFill>
              <a:srgbClr val="00B39F"/>
            </a:solidFill>
          </a:ln>
        </p:spPr>
      </p:cxnSp>
      <p:sp>
        <p:nvSpPr>
          <p:cNvPr id="8" name="TextBox 7"/>
          <p:cNvSpPr txBox="1"/>
          <p:nvPr/>
        </p:nvSpPr>
        <p:spPr>
          <a:xfrm>
            <a:off x="91440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AUDIENCE</a:t>
            </a:r>
          </a:p>
        </p:txBody>
      </p:sp>
      <p:sp>
        <p:nvSpPr>
          <p:cNvPr id="9" name="TextBox 8"/>
          <p:cNvSpPr txBox="1"/>
          <p:nvPr/>
        </p:nvSpPr>
        <p:spPr>
          <a:xfrm>
            <a:off x="91440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Solution architects, platform teams,</a:t>
            </a:r>
          </a:p>
          <a:p>
            <a:pPr algn="l">
              <a:lnSpc>
                <a:spcPct val="128000"/>
              </a:lnSpc>
            </a:pPr>
            <a:r>
              <a:rPr sz="950" b="0" i="0" dirty="0">
                <a:solidFill>
                  <a:srgbClr val="B9C2D6"/>
                </a:solidFill>
                <a:latin typeface="Segoe UI"/>
                <a:cs typeface="Segoe UI"/>
              </a:rPr>
              <a:t>technical decision makers</a:t>
            </a:r>
          </a:p>
        </p:txBody>
      </p:sp>
      <p:sp>
        <p:nvSpPr>
          <p:cNvPr id="10" name="TextBox 9"/>
          <p:cNvSpPr txBox="1"/>
          <p:nvPr/>
        </p:nvSpPr>
        <p:spPr>
          <a:xfrm>
            <a:off x="429768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SCOPE</a:t>
            </a:r>
          </a:p>
        </p:txBody>
      </p:sp>
      <p:sp>
        <p:nvSpPr>
          <p:cNvPr id="11" name="TextBox 10"/>
          <p:cNvSpPr txBox="1"/>
          <p:nvPr/>
        </p:nvSpPr>
        <p:spPr>
          <a:xfrm>
            <a:off x="429768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AI Gateway in Foundry (preview)</a:t>
            </a:r>
          </a:p>
          <a:p>
            <a:pPr algn="l">
              <a:lnSpc>
                <a:spcPct val="128000"/>
              </a:lnSpc>
            </a:pPr>
            <a:r>
              <a:rPr sz="950" b="0" i="0" dirty="0">
                <a:solidFill>
                  <a:srgbClr val="B9C2D6"/>
                </a:solidFill>
                <a:latin typeface="Segoe UI"/>
                <a:cs typeface="Segoe UI"/>
              </a:rPr>
              <a:t>API Management AI policies (generally available)</a:t>
            </a:r>
          </a:p>
        </p:txBody>
      </p:sp>
      <p:sp>
        <p:nvSpPr>
          <p:cNvPr id="12" name="TextBox 11"/>
          <p:cNvSpPr txBox="1"/>
          <p:nvPr/>
        </p:nvSpPr>
        <p:spPr>
          <a:xfrm>
            <a:off x="7680960" y="4169663"/>
            <a:ext cx="3200400" cy="164592"/>
          </a:xfrm>
          <a:prstGeom prst="rect">
            <a:avLst/>
          </a:prstGeom>
          <a:noFill/>
        </p:spPr>
        <p:txBody>
          <a:bodyPr wrap="square" lIns="0" tIns="0" rIns="0" bIns="0" anchor="t">
            <a:spAutoFit/>
          </a:bodyPr>
          <a:lstStyle/>
          <a:p>
            <a:pPr algn="l">
              <a:lnSpc>
                <a:spcPct val="100000"/>
              </a:lnSpc>
            </a:pPr>
            <a:r>
              <a:rPr sz="750" b="1" i="0" spc="120" dirty="0">
                <a:solidFill>
                  <a:srgbClr val="00B39F"/>
                </a:solidFill>
                <a:latin typeface="Segoe UI"/>
                <a:cs typeface="Segoe UI"/>
              </a:rPr>
              <a:t>SOURCES VERIFIED</a:t>
            </a:r>
          </a:p>
        </p:txBody>
      </p:sp>
      <p:sp>
        <p:nvSpPr>
          <p:cNvPr id="13" name="TextBox 12"/>
          <p:cNvSpPr txBox="1"/>
          <p:nvPr/>
        </p:nvSpPr>
        <p:spPr>
          <a:xfrm>
            <a:off x="7680960" y="4389120"/>
            <a:ext cx="3200400" cy="475488"/>
          </a:xfrm>
          <a:prstGeom prst="rect">
            <a:avLst/>
          </a:prstGeom>
          <a:noFill/>
        </p:spPr>
        <p:txBody>
          <a:bodyPr wrap="square" lIns="0" tIns="0" rIns="0" bIns="0" anchor="t">
            <a:spAutoFit/>
          </a:bodyPr>
          <a:lstStyle/>
          <a:p>
            <a:pPr algn="l">
              <a:lnSpc>
                <a:spcPct val="128000"/>
              </a:lnSpc>
            </a:pPr>
            <a:r>
              <a:rPr sz="950" b="0" i="0" dirty="0">
                <a:solidFill>
                  <a:srgbClr val="B9C2D6"/>
                </a:solidFill>
                <a:latin typeface="Segoe UI"/>
                <a:cs typeface="Segoe UI"/>
              </a:rPr>
              <a:t>3 October 2026 — Microsoft Learn,</a:t>
            </a:r>
          </a:p>
          <a:p>
            <a:pPr algn="l">
              <a:lnSpc>
                <a:spcPct val="128000"/>
              </a:lnSpc>
            </a:pPr>
            <a:r>
              <a:rPr sz="950" b="0" i="0" dirty="0">
                <a:solidFill>
                  <a:srgbClr val="B9C2D6"/>
                </a:solidFill>
                <a:latin typeface="Segoe UI"/>
                <a:cs typeface="Segoe UI"/>
              </a:rPr>
              <a:t>Architecture Center, public GitHub samples</a:t>
            </a:r>
          </a:p>
        </p:txBody>
      </p:sp>
      <p:sp>
        <p:nvSpPr>
          <p:cNvPr id="14" name="TextBox 13"/>
          <p:cNvSpPr txBox="1"/>
          <p:nvPr/>
        </p:nvSpPr>
        <p:spPr>
          <a:xfrm>
            <a:off x="914400" y="5897880"/>
            <a:ext cx="7315200" cy="146194"/>
          </a:xfrm>
          <a:prstGeom prst="rect">
            <a:avLst/>
          </a:prstGeom>
          <a:noFill/>
        </p:spPr>
        <p:txBody>
          <a:bodyPr wrap="square" lIns="0" tIns="0" rIns="0" bIns="0" anchor="t">
            <a:spAutoFit/>
          </a:bodyPr>
          <a:lstStyle/>
          <a:p>
            <a:pPr algn="l">
              <a:lnSpc>
                <a:spcPct val="100000"/>
              </a:lnSpc>
            </a:pPr>
            <a:r>
              <a:rPr lang="en-GB" sz="950" b="0" i="0" dirty="0">
                <a:solidFill>
                  <a:srgbClr val="B9C2D6"/>
                </a:solidFill>
                <a:latin typeface="Segoe UI"/>
                <a:cs typeface="Segoe UI"/>
              </a:rPr>
              <a:t>October 2026</a:t>
            </a:r>
            <a:endParaRPr sz="950" b="0" i="0" dirty="0">
              <a:solidFill>
                <a:srgbClr val="B9C2D6"/>
              </a:solidFill>
              <a:latin typeface="Segoe UI"/>
              <a:cs typeface="Segoe U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AI gateway overview</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 single managed entry point between AI consumers and the models, tools and agents they call</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learn.microsoft.com/azure/foundry/configuration/enable-ai-api-management-gateway-portal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2</a:t>
            </a:r>
          </a:p>
        </p:txBody>
      </p:sp>
      <p:sp>
        <p:nvSpPr>
          <p:cNvPr id="7" name="TextBox 6"/>
          <p:cNvSpPr txBox="1"/>
          <p:nvPr/>
        </p:nvSpPr>
        <p:spPr>
          <a:xfrm>
            <a:off x="457200" y="1371600"/>
            <a:ext cx="54864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DIRECT ACCESS — EACH CONSUMER CONNECTS ON ITS OWN</a:t>
            </a:r>
          </a:p>
        </p:txBody>
      </p:sp>
      <p:sp>
        <p:nvSpPr>
          <p:cNvPr id="8" name="Rectangle 7"/>
          <p:cNvSpPr/>
          <p:nvPr/>
        </p:nvSpPr>
        <p:spPr>
          <a:xfrm>
            <a:off x="457200" y="1691640"/>
            <a:ext cx="137160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A</a:t>
            </a:r>
          </a:p>
        </p:txBody>
      </p:sp>
      <p:sp>
        <p:nvSpPr>
          <p:cNvPr id="9" name="Rectangle 8"/>
          <p:cNvSpPr/>
          <p:nvPr/>
        </p:nvSpPr>
        <p:spPr>
          <a:xfrm>
            <a:off x="457200" y="2240280"/>
            <a:ext cx="137160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B</a:t>
            </a:r>
          </a:p>
        </p:txBody>
      </p:sp>
      <p:sp>
        <p:nvSpPr>
          <p:cNvPr id="10" name="Rectangle 9"/>
          <p:cNvSpPr/>
          <p:nvPr/>
        </p:nvSpPr>
        <p:spPr>
          <a:xfrm>
            <a:off x="457200" y="2788920"/>
            <a:ext cx="137160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Agent C</a:t>
            </a:r>
          </a:p>
        </p:txBody>
      </p:sp>
      <p:sp>
        <p:nvSpPr>
          <p:cNvPr id="11" name="Rectangle 10"/>
          <p:cNvSpPr/>
          <p:nvPr/>
        </p:nvSpPr>
        <p:spPr>
          <a:xfrm>
            <a:off x="4206240" y="1691640"/>
            <a:ext cx="1463040"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deployments</a:t>
            </a:r>
          </a:p>
        </p:txBody>
      </p:sp>
      <p:sp>
        <p:nvSpPr>
          <p:cNvPr id="12" name="Rectangle 11"/>
          <p:cNvSpPr/>
          <p:nvPr/>
        </p:nvSpPr>
        <p:spPr>
          <a:xfrm>
            <a:off x="4206240" y="2240280"/>
            <a:ext cx="1463040"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MCP servers</a:t>
            </a:r>
          </a:p>
        </p:txBody>
      </p:sp>
      <p:sp>
        <p:nvSpPr>
          <p:cNvPr id="13" name="Rectangle 12"/>
          <p:cNvSpPr/>
          <p:nvPr/>
        </p:nvSpPr>
        <p:spPr>
          <a:xfrm>
            <a:off x="4206240" y="2788920"/>
            <a:ext cx="1463040"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Agents</a:t>
            </a:r>
          </a:p>
        </p:txBody>
      </p:sp>
      <p:cxnSp>
        <p:nvCxnSpPr>
          <p:cNvPr id="14" name="Connector 13"/>
          <p:cNvCxnSpPr/>
          <p:nvPr/>
        </p:nvCxnSpPr>
        <p:spPr>
          <a:xfrm>
            <a:off x="1828800" y="1897380"/>
            <a:ext cx="2377440" cy="0"/>
          </a:xfrm>
          <a:prstGeom prst="line">
            <a:avLst/>
          </a:prstGeom>
          <a:ln w="11430">
            <a:solidFill>
              <a:srgbClr val="B9C2D6"/>
            </a:solidFill>
          </a:ln>
        </p:spPr>
      </p:cxnSp>
      <p:cxnSp>
        <p:nvCxnSpPr>
          <p:cNvPr id="15" name="Connector 14"/>
          <p:cNvCxnSpPr/>
          <p:nvPr/>
        </p:nvCxnSpPr>
        <p:spPr>
          <a:xfrm>
            <a:off x="1828800" y="1897380"/>
            <a:ext cx="2377440" cy="548640"/>
          </a:xfrm>
          <a:prstGeom prst="line">
            <a:avLst/>
          </a:prstGeom>
          <a:ln w="11430">
            <a:solidFill>
              <a:srgbClr val="B9C2D6"/>
            </a:solidFill>
          </a:ln>
        </p:spPr>
      </p:cxnSp>
      <p:cxnSp>
        <p:nvCxnSpPr>
          <p:cNvPr id="16" name="Connector 15"/>
          <p:cNvCxnSpPr/>
          <p:nvPr/>
        </p:nvCxnSpPr>
        <p:spPr>
          <a:xfrm>
            <a:off x="1828800" y="1897380"/>
            <a:ext cx="2377440" cy="1097280"/>
          </a:xfrm>
          <a:prstGeom prst="line">
            <a:avLst/>
          </a:prstGeom>
          <a:ln w="11430">
            <a:solidFill>
              <a:srgbClr val="B9C2D6"/>
            </a:solidFill>
          </a:ln>
        </p:spPr>
      </p:cxnSp>
      <p:cxnSp>
        <p:nvCxnSpPr>
          <p:cNvPr id="17" name="Connector 16"/>
          <p:cNvCxnSpPr/>
          <p:nvPr/>
        </p:nvCxnSpPr>
        <p:spPr>
          <a:xfrm flipV="1">
            <a:off x="1828800" y="1897380"/>
            <a:ext cx="2377440" cy="548640"/>
          </a:xfrm>
          <a:prstGeom prst="line">
            <a:avLst/>
          </a:prstGeom>
          <a:ln w="11430">
            <a:solidFill>
              <a:srgbClr val="B9C2D6"/>
            </a:solidFill>
          </a:ln>
        </p:spPr>
      </p:cxnSp>
      <p:cxnSp>
        <p:nvCxnSpPr>
          <p:cNvPr id="18" name="Connector 17"/>
          <p:cNvCxnSpPr/>
          <p:nvPr/>
        </p:nvCxnSpPr>
        <p:spPr>
          <a:xfrm>
            <a:off x="1828800" y="2446020"/>
            <a:ext cx="2377440" cy="0"/>
          </a:xfrm>
          <a:prstGeom prst="line">
            <a:avLst/>
          </a:prstGeom>
          <a:ln w="11430">
            <a:solidFill>
              <a:srgbClr val="B9C2D6"/>
            </a:solidFill>
          </a:ln>
        </p:spPr>
      </p:cxnSp>
      <p:cxnSp>
        <p:nvCxnSpPr>
          <p:cNvPr id="19" name="Connector 18"/>
          <p:cNvCxnSpPr/>
          <p:nvPr/>
        </p:nvCxnSpPr>
        <p:spPr>
          <a:xfrm>
            <a:off x="1828800" y="2446020"/>
            <a:ext cx="2377440" cy="548640"/>
          </a:xfrm>
          <a:prstGeom prst="line">
            <a:avLst/>
          </a:prstGeom>
          <a:ln w="11430">
            <a:solidFill>
              <a:srgbClr val="B9C2D6"/>
            </a:solidFill>
          </a:ln>
        </p:spPr>
      </p:cxnSp>
      <p:cxnSp>
        <p:nvCxnSpPr>
          <p:cNvPr id="20" name="Connector 19"/>
          <p:cNvCxnSpPr/>
          <p:nvPr/>
        </p:nvCxnSpPr>
        <p:spPr>
          <a:xfrm flipV="1">
            <a:off x="1828800" y="1897380"/>
            <a:ext cx="2377440" cy="1097280"/>
          </a:xfrm>
          <a:prstGeom prst="line">
            <a:avLst/>
          </a:prstGeom>
          <a:ln w="11430">
            <a:solidFill>
              <a:srgbClr val="B9C2D6"/>
            </a:solidFill>
          </a:ln>
        </p:spPr>
      </p:cxnSp>
      <p:cxnSp>
        <p:nvCxnSpPr>
          <p:cNvPr id="21" name="Connector 20"/>
          <p:cNvCxnSpPr/>
          <p:nvPr/>
        </p:nvCxnSpPr>
        <p:spPr>
          <a:xfrm flipV="1">
            <a:off x="1828800" y="2446020"/>
            <a:ext cx="2377440" cy="548640"/>
          </a:xfrm>
          <a:prstGeom prst="line">
            <a:avLst/>
          </a:prstGeom>
          <a:ln w="11430">
            <a:solidFill>
              <a:srgbClr val="B9C2D6"/>
            </a:solidFill>
          </a:ln>
        </p:spPr>
      </p:cxnSp>
      <p:cxnSp>
        <p:nvCxnSpPr>
          <p:cNvPr id="22" name="Connector 21"/>
          <p:cNvCxnSpPr/>
          <p:nvPr/>
        </p:nvCxnSpPr>
        <p:spPr>
          <a:xfrm>
            <a:off x="1828800" y="2994660"/>
            <a:ext cx="2377440" cy="0"/>
          </a:xfrm>
          <a:prstGeom prst="line">
            <a:avLst/>
          </a:prstGeom>
          <a:ln w="11430">
            <a:solidFill>
              <a:srgbClr val="B9C2D6"/>
            </a:solidFill>
          </a:ln>
        </p:spPr>
      </p:cxnSp>
      <p:sp>
        <p:nvSpPr>
          <p:cNvPr id="23" name="Rectangle 22"/>
          <p:cNvSpPr/>
          <p:nvPr/>
        </p:nvSpPr>
        <p:spPr>
          <a:xfrm>
            <a:off x="457200" y="3429000"/>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24" name="Rectangle 23"/>
          <p:cNvSpPr/>
          <p:nvPr/>
        </p:nvSpPr>
        <p:spPr>
          <a:xfrm>
            <a:off x="457200" y="3429000"/>
            <a:ext cx="2542032" cy="41148"/>
          </a:xfrm>
          <a:prstGeom prst="rect">
            <a:avLst/>
          </a:prstGeom>
          <a:solidFill>
            <a:srgbClr val="44495B"/>
          </a:solidFill>
          <a:ln>
            <a:noFill/>
          </a:ln>
          <a:effectLst/>
        </p:spPr>
        <p:txBody>
          <a:bodyPr wrap="square" rtlCol="0" anchor="ctr"/>
          <a:lstStyle/>
          <a:p>
            <a:endParaRPr/>
          </a:p>
        </p:txBody>
      </p:sp>
      <p:sp>
        <p:nvSpPr>
          <p:cNvPr id="25" name="TextBox 24"/>
          <p:cNvSpPr txBox="1"/>
          <p:nvPr/>
        </p:nvSpPr>
        <p:spPr>
          <a:xfrm>
            <a:off x="603504" y="3547872"/>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per-consumer limits</a:t>
            </a:r>
          </a:p>
        </p:txBody>
      </p:sp>
      <p:sp>
        <p:nvSpPr>
          <p:cNvPr id="26" name="TextBox 25"/>
          <p:cNvSpPr txBox="1"/>
          <p:nvPr/>
        </p:nvSpPr>
        <p:spPr>
          <a:xfrm>
            <a:off x="603504" y="3790187"/>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One team can use up shared model capacity</a:t>
            </a:r>
          </a:p>
        </p:txBody>
      </p:sp>
      <p:sp>
        <p:nvSpPr>
          <p:cNvPr id="27" name="Rectangle 26"/>
          <p:cNvSpPr/>
          <p:nvPr/>
        </p:nvSpPr>
        <p:spPr>
          <a:xfrm>
            <a:off x="3127248" y="3429000"/>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28" name="Rectangle 27"/>
          <p:cNvSpPr/>
          <p:nvPr/>
        </p:nvSpPr>
        <p:spPr>
          <a:xfrm>
            <a:off x="3127248" y="3429000"/>
            <a:ext cx="2542032" cy="41148"/>
          </a:xfrm>
          <a:prstGeom prst="rect">
            <a:avLst/>
          </a:prstGeom>
          <a:solidFill>
            <a:srgbClr val="44495B"/>
          </a:solidFill>
          <a:ln>
            <a:noFill/>
          </a:ln>
          <a:effectLst/>
        </p:spPr>
        <p:txBody>
          <a:bodyPr wrap="square" rtlCol="0" anchor="ctr"/>
          <a:lstStyle/>
          <a:p>
            <a:endParaRPr/>
          </a:p>
        </p:txBody>
      </p:sp>
      <p:sp>
        <p:nvSpPr>
          <p:cNvPr id="29" name="TextBox 28"/>
          <p:cNvSpPr txBox="1"/>
          <p:nvPr/>
        </p:nvSpPr>
        <p:spPr>
          <a:xfrm>
            <a:off x="3273552" y="3547872"/>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usage attribution</a:t>
            </a:r>
          </a:p>
        </p:txBody>
      </p:sp>
      <p:sp>
        <p:nvSpPr>
          <p:cNvPr id="30" name="TextBox 29"/>
          <p:cNvSpPr txBox="1"/>
          <p:nvPr/>
        </p:nvSpPr>
        <p:spPr>
          <a:xfrm>
            <a:off x="3273552" y="3790187"/>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Token cost isn’t traceable to an app or team</a:t>
            </a:r>
          </a:p>
        </p:txBody>
      </p:sp>
      <p:sp>
        <p:nvSpPr>
          <p:cNvPr id="31" name="Rectangle 30"/>
          <p:cNvSpPr/>
          <p:nvPr/>
        </p:nvSpPr>
        <p:spPr>
          <a:xfrm>
            <a:off x="457200" y="4270248"/>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457200" y="4270248"/>
            <a:ext cx="2542032" cy="41148"/>
          </a:xfrm>
          <a:prstGeom prst="rect">
            <a:avLst/>
          </a:prstGeom>
          <a:solidFill>
            <a:srgbClr val="44495B"/>
          </a:solidFill>
          <a:ln>
            <a:noFill/>
          </a:ln>
          <a:effectLst/>
        </p:spPr>
        <p:txBody>
          <a:bodyPr wrap="square" rtlCol="0" anchor="ctr"/>
          <a:lstStyle/>
          <a:p>
            <a:endParaRPr/>
          </a:p>
        </p:txBody>
      </p:sp>
      <p:sp>
        <p:nvSpPr>
          <p:cNvPr id="33" name="TextBox 32"/>
          <p:cNvSpPr txBox="1"/>
          <p:nvPr/>
        </p:nvSpPr>
        <p:spPr>
          <a:xfrm>
            <a:off x="603504" y="4389120"/>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Keys in every client</a:t>
            </a:r>
          </a:p>
        </p:txBody>
      </p:sp>
      <p:sp>
        <p:nvSpPr>
          <p:cNvPr id="34" name="TextBox 33"/>
          <p:cNvSpPr txBox="1"/>
          <p:nvPr/>
        </p:nvSpPr>
        <p:spPr>
          <a:xfrm>
            <a:off x="603504" y="4631436"/>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Each client holds credentials for each backend</a:t>
            </a:r>
          </a:p>
        </p:txBody>
      </p:sp>
      <p:sp>
        <p:nvSpPr>
          <p:cNvPr id="35" name="Rectangle 34"/>
          <p:cNvSpPr/>
          <p:nvPr/>
        </p:nvSpPr>
        <p:spPr>
          <a:xfrm>
            <a:off x="3127248" y="4270248"/>
            <a:ext cx="2542032" cy="731520"/>
          </a:xfrm>
          <a:prstGeom prst="rect">
            <a:avLst/>
          </a:prstGeom>
          <a:solidFill>
            <a:srgbClr val="F6F8FD"/>
          </a:solidFill>
          <a:ln w="9525">
            <a:solidFill>
              <a:srgbClr val="E1E7F4"/>
            </a:solidFill>
          </a:ln>
          <a:effectLst/>
        </p:spPr>
        <p:txBody>
          <a:bodyPr wrap="square" rtlCol="0" anchor="ctr"/>
          <a:lstStyle/>
          <a:p>
            <a:endParaRPr/>
          </a:p>
        </p:txBody>
      </p:sp>
      <p:sp>
        <p:nvSpPr>
          <p:cNvPr id="36" name="Rectangle 35"/>
          <p:cNvSpPr/>
          <p:nvPr/>
        </p:nvSpPr>
        <p:spPr>
          <a:xfrm>
            <a:off x="3127248" y="4270248"/>
            <a:ext cx="2542032" cy="41148"/>
          </a:xfrm>
          <a:prstGeom prst="rect">
            <a:avLst/>
          </a:prstGeom>
          <a:solidFill>
            <a:srgbClr val="44495B"/>
          </a:solidFill>
          <a:ln>
            <a:noFill/>
          </a:ln>
          <a:effectLst/>
        </p:spPr>
        <p:txBody>
          <a:bodyPr wrap="square" rtlCol="0" anchor="ctr"/>
          <a:lstStyle/>
          <a:p>
            <a:endParaRPr/>
          </a:p>
        </p:txBody>
      </p:sp>
      <p:sp>
        <p:nvSpPr>
          <p:cNvPr id="37" name="TextBox 36"/>
          <p:cNvSpPr txBox="1"/>
          <p:nvPr/>
        </p:nvSpPr>
        <p:spPr>
          <a:xfrm>
            <a:off x="3273552" y="4389120"/>
            <a:ext cx="22494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No single inventory</a:t>
            </a:r>
          </a:p>
        </p:txBody>
      </p:sp>
      <p:sp>
        <p:nvSpPr>
          <p:cNvPr id="38" name="TextBox 37"/>
          <p:cNvSpPr txBox="1"/>
          <p:nvPr/>
        </p:nvSpPr>
        <p:spPr>
          <a:xfrm>
            <a:off x="3273552" y="4631436"/>
            <a:ext cx="2249424"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Tools and agents spread without a register</a:t>
            </a:r>
          </a:p>
        </p:txBody>
      </p:sp>
      <p:cxnSp>
        <p:nvCxnSpPr>
          <p:cNvPr id="39" name="Connector 38"/>
          <p:cNvCxnSpPr/>
          <p:nvPr/>
        </p:nvCxnSpPr>
        <p:spPr>
          <a:xfrm>
            <a:off x="6053328" y="1417320"/>
            <a:ext cx="0" cy="3566160"/>
          </a:xfrm>
          <a:prstGeom prst="line">
            <a:avLst/>
          </a:prstGeom>
          <a:ln w="9525">
            <a:solidFill>
              <a:srgbClr val="E1E7F4"/>
            </a:solidFill>
          </a:ln>
        </p:spPr>
      </p:cxnSp>
      <p:sp>
        <p:nvSpPr>
          <p:cNvPr id="40" name="TextBox 39"/>
          <p:cNvSpPr txBox="1"/>
          <p:nvPr/>
        </p:nvSpPr>
        <p:spPr>
          <a:xfrm>
            <a:off x="6355080" y="1371600"/>
            <a:ext cx="539496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WITH AN AI GATEWAY — ONE GOVERNED ENTRY POINT</a:t>
            </a:r>
          </a:p>
        </p:txBody>
      </p:sp>
      <p:sp>
        <p:nvSpPr>
          <p:cNvPr id="41" name="Rectangle 40"/>
          <p:cNvSpPr/>
          <p:nvPr/>
        </p:nvSpPr>
        <p:spPr>
          <a:xfrm>
            <a:off x="6355080" y="1691640"/>
            <a:ext cx="132588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A</a:t>
            </a:r>
          </a:p>
        </p:txBody>
      </p:sp>
      <p:cxnSp>
        <p:nvCxnSpPr>
          <p:cNvPr id="42" name="Connector 41"/>
          <p:cNvCxnSpPr/>
          <p:nvPr/>
        </p:nvCxnSpPr>
        <p:spPr>
          <a:xfrm>
            <a:off x="7680960" y="1897380"/>
            <a:ext cx="365760" cy="0"/>
          </a:xfrm>
          <a:prstGeom prst="line">
            <a:avLst/>
          </a:prstGeom>
          <a:ln w="13970">
            <a:solidFill>
              <a:srgbClr val="44495B"/>
            </a:solidFill>
            <a:tailEnd type="triangle" w="med" len="med"/>
          </a:ln>
        </p:spPr>
      </p:cxnSp>
      <p:sp>
        <p:nvSpPr>
          <p:cNvPr id="43" name="Rectangle 42"/>
          <p:cNvSpPr/>
          <p:nvPr/>
        </p:nvSpPr>
        <p:spPr>
          <a:xfrm>
            <a:off x="6355080" y="2240280"/>
            <a:ext cx="132588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Application B</a:t>
            </a:r>
          </a:p>
        </p:txBody>
      </p:sp>
      <p:cxnSp>
        <p:nvCxnSpPr>
          <p:cNvPr id="44" name="Connector 43"/>
          <p:cNvCxnSpPr/>
          <p:nvPr/>
        </p:nvCxnSpPr>
        <p:spPr>
          <a:xfrm>
            <a:off x="7680960" y="2446020"/>
            <a:ext cx="365760" cy="0"/>
          </a:xfrm>
          <a:prstGeom prst="line">
            <a:avLst/>
          </a:prstGeom>
          <a:ln w="13970">
            <a:solidFill>
              <a:srgbClr val="44495B"/>
            </a:solidFill>
            <a:tailEnd type="triangle" w="med" len="med"/>
          </a:ln>
        </p:spPr>
      </p:cxnSp>
      <p:sp>
        <p:nvSpPr>
          <p:cNvPr id="45" name="Rectangle 44"/>
          <p:cNvSpPr/>
          <p:nvPr/>
        </p:nvSpPr>
        <p:spPr>
          <a:xfrm>
            <a:off x="6355080" y="2788920"/>
            <a:ext cx="1325880" cy="411480"/>
          </a:xfrm>
          <a:prstGeom prst="rect">
            <a:avLst/>
          </a:prstGeom>
          <a:solidFill>
            <a:srgbClr val="EBEFF7"/>
          </a:solidFill>
          <a:ln>
            <a:noFill/>
          </a:ln>
          <a:effectLst/>
        </p:spPr>
        <p:txBody>
          <a:bodyPr wrap="square" lIns="54864" tIns="18288" rIns="54864" bIns="18288" rtlCol="0" anchor="ctr"/>
          <a:lstStyle/>
          <a:p>
            <a:pPr algn="ctr">
              <a:lnSpc>
                <a:spcPct val="112000"/>
              </a:lnSpc>
            </a:pPr>
            <a:r>
              <a:rPr sz="800" b="1" i="0" dirty="0">
                <a:solidFill>
                  <a:srgbClr val="101A3C"/>
                </a:solidFill>
                <a:latin typeface="Segoe UI"/>
                <a:cs typeface="Segoe UI"/>
              </a:rPr>
              <a:t>Agent C</a:t>
            </a:r>
          </a:p>
        </p:txBody>
      </p:sp>
      <p:cxnSp>
        <p:nvCxnSpPr>
          <p:cNvPr id="46" name="Connector 45"/>
          <p:cNvCxnSpPr/>
          <p:nvPr/>
        </p:nvCxnSpPr>
        <p:spPr>
          <a:xfrm>
            <a:off x="7680960" y="2994660"/>
            <a:ext cx="365760" cy="0"/>
          </a:xfrm>
          <a:prstGeom prst="line">
            <a:avLst/>
          </a:prstGeom>
          <a:ln w="13970">
            <a:solidFill>
              <a:srgbClr val="44495B"/>
            </a:solidFill>
            <a:tailEnd type="triangle" w="med" len="med"/>
          </a:ln>
        </p:spPr>
      </p:cxnSp>
      <p:sp>
        <p:nvSpPr>
          <p:cNvPr id="47" name="Rectangle 46"/>
          <p:cNvSpPr/>
          <p:nvPr/>
        </p:nvSpPr>
        <p:spPr>
          <a:xfrm>
            <a:off x="8046720" y="1691640"/>
            <a:ext cx="1371600" cy="1508760"/>
          </a:xfrm>
          <a:prstGeom prst="rect">
            <a:avLst/>
          </a:prstGeom>
          <a:solidFill>
            <a:srgbClr val="101A3C"/>
          </a:solidFill>
          <a:ln>
            <a:noFill/>
          </a:ln>
          <a:effectLst/>
        </p:spPr>
        <p:txBody>
          <a:bodyPr wrap="square" lIns="54864" tIns="18288" rIns="54864" bIns="18288" rtlCol="0" anchor="ctr"/>
          <a:lstStyle/>
          <a:p>
            <a:pPr algn="ctr">
              <a:lnSpc>
                <a:spcPct val="115000"/>
              </a:lnSpc>
            </a:pPr>
            <a:r>
              <a:rPr sz="950" b="1" i="0" dirty="0">
                <a:solidFill>
                  <a:srgbClr val="FFFFFF"/>
                </a:solidFill>
                <a:latin typeface="Segoe UI"/>
                <a:cs typeface="Segoe UI"/>
              </a:rPr>
              <a:t>AI gateway</a:t>
            </a:r>
          </a:p>
          <a:p>
            <a:pPr algn="ctr">
              <a:lnSpc>
                <a:spcPct val="115000"/>
              </a:lnSpc>
            </a:pPr>
            <a:r>
              <a:rPr sz="750" b="0" i="0" dirty="0">
                <a:solidFill>
                  <a:srgbClr val="B9C2D6"/>
                </a:solidFill>
                <a:latin typeface="Segoe UI"/>
                <a:cs typeface="Segoe UI"/>
              </a:rPr>
              <a:t>Azure API</a:t>
            </a:r>
          </a:p>
          <a:p>
            <a:pPr algn="ctr">
              <a:lnSpc>
                <a:spcPct val="115000"/>
              </a:lnSpc>
            </a:pPr>
            <a:r>
              <a:rPr sz="750" b="0" i="0" dirty="0">
                <a:solidFill>
                  <a:srgbClr val="B9C2D6"/>
                </a:solidFill>
                <a:latin typeface="Segoe UI"/>
                <a:cs typeface="Segoe UI"/>
              </a:rPr>
              <a:t>Management</a:t>
            </a:r>
          </a:p>
        </p:txBody>
      </p:sp>
      <p:cxnSp>
        <p:nvCxnSpPr>
          <p:cNvPr id="48" name="Connector 47"/>
          <p:cNvCxnSpPr/>
          <p:nvPr/>
        </p:nvCxnSpPr>
        <p:spPr>
          <a:xfrm>
            <a:off x="9418320" y="1897380"/>
            <a:ext cx="365760" cy="0"/>
          </a:xfrm>
          <a:prstGeom prst="line">
            <a:avLst/>
          </a:prstGeom>
          <a:ln w="13970">
            <a:solidFill>
              <a:srgbClr val="44495B"/>
            </a:solidFill>
            <a:tailEnd type="triangle" w="med" len="med"/>
          </a:ln>
        </p:spPr>
      </p:cxnSp>
      <p:sp>
        <p:nvSpPr>
          <p:cNvPr id="49" name="Rectangle 48"/>
          <p:cNvSpPr/>
          <p:nvPr/>
        </p:nvSpPr>
        <p:spPr>
          <a:xfrm>
            <a:off x="9784080" y="1691640"/>
            <a:ext cx="1947672"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Model deployments</a:t>
            </a:r>
          </a:p>
        </p:txBody>
      </p:sp>
      <p:cxnSp>
        <p:nvCxnSpPr>
          <p:cNvPr id="50" name="Connector 49"/>
          <p:cNvCxnSpPr/>
          <p:nvPr/>
        </p:nvCxnSpPr>
        <p:spPr>
          <a:xfrm>
            <a:off x="9418320" y="2446020"/>
            <a:ext cx="365760" cy="0"/>
          </a:xfrm>
          <a:prstGeom prst="line">
            <a:avLst/>
          </a:prstGeom>
          <a:ln w="13970">
            <a:solidFill>
              <a:srgbClr val="44495B"/>
            </a:solidFill>
            <a:tailEnd type="triangle" w="med" len="med"/>
          </a:ln>
        </p:spPr>
      </p:cxnSp>
      <p:sp>
        <p:nvSpPr>
          <p:cNvPr id="51" name="Rectangle 50"/>
          <p:cNvSpPr/>
          <p:nvPr/>
        </p:nvSpPr>
        <p:spPr>
          <a:xfrm>
            <a:off x="9784080" y="2240280"/>
            <a:ext cx="1947672"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MCP servers</a:t>
            </a:r>
          </a:p>
        </p:txBody>
      </p:sp>
      <p:cxnSp>
        <p:nvCxnSpPr>
          <p:cNvPr id="52" name="Connector 51"/>
          <p:cNvCxnSpPr/>
          <p:nvPr/>
        </p:nvCxnSpPr>
        <p:spPr>
          <a:xfrm>
            <a:off x="9418320" y="2994660"/>
            <a:ext cx="365760" cy="0"/>
          </a:xfrm>
          <a:prstGeom prst="line">
            <a:avLst/>
          </a:prstGeom>
          <a:ln w="13970">
            <a:solidFill>
              <a:srgbClr val="44495B"/>
            </a:solidFill>
            <a:tailEnd type="triangle" w="med" len="med"/>
          </a:ln>
        </p:spPr>
      </p:cxnSp>
      <p:sp>
        <p:nvSpPr>
          <p:cNvPr id="53" name="Rectangle 52"/>
          <p:cNvSpPr/>
          <p:nvPr/>
        </p:nvSpPr>
        <p:spPr>
          <a:xfrm>
            <a:off x="9784080" y="2788920"/>
            <a:ext cx="1947672" cy="4114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00" b="0" i="0" dirty="0">
                <a:solidFill>
                  <a:srgbClr val="101A3C"/>
                </a:solidFill>
                <a:latin typeface="Segoe UI"/>
                <a:cs typeface="Segoe UI"/>
              </a:rPr>
              <a:t>Agents</a:t>
            </a:r>
          </a:p>
        </p:txBody>
      </p:sp>
      <p:sp>
        <p:nvSpPr>
          <p:cNvPr id="54" name="Rectangle 53"/>
          <p:cNvSpPr/>
          <p:nvPr/>
        </p:nvSpPr>
        <p:spPr>
          <a:xfrm>
            <a:off x="6355080" y="3429000"/>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55" name="Rectangle 54"/>
          <p:cNvSpPr/>
          <p:nvPr/>
        </p:nvSpPr>
        <p:spPr>
          <a:xfrm>
            <a:off x="6355080" y="3429000"/>
            <a:ext cx="2625699" cy="41148"/>
          </a:xfrm>
          <a:prstGeom prst="rect">
            <a:avLst/>
          </a:prstGeom>
          <a:solidFill>
            <a:srgbClr val="00B39F"/>
          </a:solidFill>
          <a:ln>
            <a:noFill/>
          </a:ln>
          <a:effectLst/>
        </p:spPr>
        <p:txBody>
          <a:bodyPr wrap="square" rtlCol="0" anchor="ctr"/>
          <a:lstStyle/>
          <a:p>
            <a:endParaRPr/>
          </a:p>
        </p:txBody>
      </p:sp>
      <p:sp>
        <p:nvSpPr>
          <p:cNvPr id="56" name="TextBox 55"/>
          <p:cNvSpPr txBox="1"/>
          <p:nvPr/>
        </p:nvSpPr>
        <p:spPr>
          <a:xfrm>
            <a:off x="6501384" y="3547872"/>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Token limits per consumer</a:t>
            </a:r>
          </a:p>
        </p:txBody>
      </p:sp>
      <p:sp>
        <p:nvSpPr>
          <p:cNvPr id="57" name="TextBox 56"/>
          <p:cNvSpPr txBox="1"/>
          <p:nvPr/>
        </p:nvSpPr>
        <p:spPr>
          <a:xfrm>
            <a:off x="6501384" y="3790187"/>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TPM limits and quotas per project or key</a:t>
            </a:r>
          </a:p>
        </p:txBody>
      </p:sp>
      <p:sp>
        <p:nvSpPr>
          <p:cNvPr id="58" name="Rectangle 57"/>
          <p:cNvSpPr/>
          <p:nvPr/>
        </p:nvSpPr>
        <p:spPr>
          <a:xfrm>
            <a:off x="9108795" y="3429000"/>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59" name="Rectangle 58"/>
          <p:cNvSpPr/>
          <p:nvPr/>
        </p:nvSpPr>
        <p:spPr>
          <a:xfrm>
            <a:off x="9108795" y="3429000"/>
            <a:ext cx="2625699" cy="41148"/>
          </a:xfrm>
          <a:prstGeom prst="rect">
            <a:avLst/>
          </a:prstGeom>
          <a:solidFill>
            <a:srgbClr val="00B39F"/>
          </a:solidFill>
          <a:ln>
            <a:noFill/>
          </a:ln>
          <a:effectLst/>
        </p:spPr>
        <p:txBody>
          <a:bodyPr wrap="square" rtlCol="0" anchor="ctr"/>
          <a:lstStyle/>
          <a:p>
            <a:endParaRPr/>
          </a:p>
        </p:txBody>
      </p:sp>
      <p:sp>
        <p:nvSpPr>
          <p:cNvPr id="60" name="TextBox 59"/>
          <p:cNvSpPr txBox="1"/>
          <p:nvPr/>
        </p:nvSpPr>
        <p:spPr>
          <a:xfrm>
            <a:off x="9255099" y="3547872"/>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Usage metrics</a:t>
            </a:r>
          </a:p>
        </p:txBody>
      </p:sp>
      <p:sp>
        <p:nvSpPr>
          <p:cNvPr id="61" name="TextBox 60"/>
          <p:cNvSpPr txBox="1"/>
          <p:nvPr/>
        </p:nvSpPr>
        <p:spPr>
          <a:xfrm>
            <a:off x="9255099" y="3790187"/>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Token counts with custom dimensions</a:t>
            </a:r>
          </a:p>
        </p:txBody>
      </p:sp>
      <p:sp>
        <p:nvSpPr>
          <p:cNvPr id="62" name="Rectangle 61"/>
          <p:cNvSpPr/>
          <p:nvPr/>
        </p:nvSpPr>
        <p:spPr>
          <a:xfrm>
            <a:off x="6355080" y="4270248"/>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63" name="Rectangle 62"/>
          <p:cNvSpPr/>
          <p:nvPr/>
        </p:nvSpPr>
        <p:spPr>
          <a:xfrm>
            <a:off x="6355080" y="4270248"/>
            <a:ext cx="2625699" cy="41148"/>
          </a:xfrm>
          <a:prstGeom prst="rect">
            <a:avLst/>
          </a:prstGeom>
          <a:solidFill>
            <a:srgbClr val="00B39F"/>
          </a:solidFill>
          <a:ln>
            <a:noFill/>
          </a:ln>
          <a:effectLst/>
        </p:spPr>
        <p:txBody>
          <a:bodyPr wrap="square" rtlCol="0" anchor="ctr"/>
          <a:lstStyle/>
          <a:p>
            <a:endParaRPr/>
          </a:p>
        </p:txBody>
      </p:sp>
      <p:sp>
        <p:nvSpPr>
          <p:cNvPr id="64" name="TextBox 63"/>
          <p:cNvSpPr txBox="1"/>
          <p:nvPr/>
        </p:nvSpPr>
        <p:spPr>
          <a:xfrm>
            <a:off x="6501384" y="4389120"/>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Managed identity</a:t>
            </a:r>
          </a:p>
        </p:txBody>
      </p:sp>
      <p:sp>
        <p:nvSpPr>
          <p:cNvPr id="65" name="TextBox 64"/>
          <p:cNvSpPr txBox="1"/>
          <p:nvPr/>
        </p:nvSpPr>
        <p:spPr>
          <a:xfrm>
            <a:off x="6501384" y="4631436"/>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Gateway signs in to backends; no keys in clients</a:t>
            </a:r>
          </a:p>
        </p:txBody>
      </p:sp>
      <p:sp>
        <p:nvSpPr>
          <p:cNvPr id="66" name="Rectangle 65"/>
          <p:cNvSpPr/>
          <p:nvPr/>
        </p:nvSpPr>
        <p:spPr>
          <a:xfrm>
            <a:off x="9108795" y="4270248"/>
            <a:ext cx="2625699" cy="731520"/>
          </a:xfrm>
          <a:prstGeom prst="rect">
            <a:avLst/>
          </a:prstGeom>
          <a:solidFill>
            <a:srgbClr val="F6F8FD"/>
          </a:solidFill>
          <a:ln w="9525">
            <a:solidFill>
              <a:srgbClr val="E1E7F4"/>
            </a:solidFill>
          </a:ln>
          <a:effectLst/>
        </p:spPr>
        <p:txBody>
          <a:bodyPr wrap="square" rtlCol="0" anchor="ctr"/>
          <a:lstStyle/>
          <a:p>
            <a:endParaRPr/>
          </a:p>
        </p:txBody>
      </p:sp>
      <p:sp>
        <p:nvSpPr>
          <p:cNvPr id="67" name="Rectangle 66"/>
          <p:cNvSpPr/>
          <p:nvPr/>
        </p:nvSpPr>
        <p:spPr>
          <a:xfrm>
            <a:off x="9108795" y="4270248"/>
            <a:ext cx="2625699" cy="41148"/>
          </a:xfrm>
          <a:prstGeom prst="rect">
            <a:avLst/>
          </a:prstGeom>
          <a:solidFill>
            <a:srgbClr val="00B39F"/>
          </a:solidFill>
          <a:ln>
            <a:noFill/>
          </a:ln>
          <a:effectLst/>
        </p:spPr>
        <p:txBody>
          <a:bodyPr wrap="square" rtlCol="0" anchor="ctr"/>
          <a:lstStyle/>
          <a:p>
            <a:endParaRPr/>
          </a:p>
        </p:txBody>
      </p:sp>
      <p:sp>
        <p:nvSpPr>
          <p:cNvPr id="68" name="TextBox 67"/>
          <p:cNvSpPr txBox="1"/>
          <p:nvPr/>
        </p:nvSpPr>
        <p:spPr>
          <a:xfrm>
            <a:off x="9255099" y="4389120"/>
            <a:ext cx="2333091"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Registry and policies</a:t>
            </a:r>
          </a:p>
        </p:txBody>
      </p:sp>
      <p:sp>
        <p:nvSpPr>
          <p:cNvPr id="69" name="TextBox 68"/>
          <p:cNvSpPr txBox="1"/>
          <p:nvPr/>
        </p:nvSpPr>
        <p:spPr>
          <a:xfrm>
            <a:off x="9255099" y="4631436"/>
            <a:ext cx="2333091" cy="32004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MCP servers and agents registered and governed</a:t>
            </a:r>
          </a:p>
        </p:txBody>
      </p:sp>
      <p:sp>
        <p:nvSpPr>
          <p:cNvPr id="70" name="Rectangle 69"/>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71" name="TextBox 70"/>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AI gateway</a:t>
            </a:r>
          </a:p>
        </p:txBody>
      </p:sp>
      <p:sp>
        <p:nvSpPr>
          <p:cNvPr id="72" name="Rectangle 71"/>
          <p:cNvSpPr/>
          <p:nvPr/>
        </p:nvSpPr>
        <p:spPr>
          <a:xfrm>
            <a:off x="1353312"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73" name="TextBox 72"/>
          <p:cNvSpPr txBox="1"/>
          <p:nvPr/>
        </p:nvSpPr>
        <p:spPr>
          <a:xfrm>
            <a:off x="157276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Backend</a:t>
            </a:r>
          </a:p>
        </p:txBody>
      </p:sp>
      <p:sp>
        <p:nvSpPr>
          <p:cNvPr id="74" name="Rectangle 73"/>
          <p:cNvSpPr/>
          <p:nvPr/>
        </p:nvSpPr>
        <p:spPr>
          <a:xfrm>
            <a:off x="2084832" y="5545836"/>
            <a:ext cx="146304" cy="91440"/>
          </a:xfrm>
          <a:prstGeom prst="rect">
            <a:avLst/>
          </a:prstGeom>
          <a:solidFill>
            <a:srgbClr val="EBEFF7"/>
          </a:solidFill>
          <a:ln>
            <a:noFill/>
          </a:ln>
          <a:effectLst/>
        </p:spPr>
        <p:txBody>
          <a:bodyPr wrap="square" rtlCol="0" anchor="ctr"/>
          <a:lstStyle/>
          <a:p>
            <a:endParaRPr/>
          </a:p>
        </p:txBody>
      </p:sp>
      <p:sp>
        <p:nvSpPr>
          <p:cNvPr id="75" name="TextBox 74"/>
          <p:cNvSpPr txBox="1"/>
          <p:nvPr/>
        </p:nvSpPr>
        <p:spPr>
          <a:xfrm>
            <a:off x="230428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Consumer</a:t>
            </a:r>
          </a:p>
        </p:txBody>
      </p:sp>
      <p:cxnSp>
        <p:nvCxnSpPr>
          <p:cNvPr id="76" name="Connector 75"/>
          <p:cNvCxnSpPr/>
          <p:nvPr/>
        </p:nvCxnSpPr>
        <p:spPr>
          <a:xfrm>
            <a:off x="2871216" y="5591556"/>
            <a:ext cx="164592" cy="0"/>
          </a:xfrm>
          <a:prstGeom prst="line">
            <a:avLst/>
          </a:prstGeom>
          <a:ln w="13970">
            <a:solidFill>
              <a:srgbClr val="44495B"/>
            </a:solidFill>
          </a:ln>
        </p:spPr>
      </p:cxnSp>
      <p:sp>
        <p:nvSpPr>
          <p:cNvPr id="77" name="TextBox 76"/>
          <p:cNvSpPr txBox="1"/>
          <p:nvPr/>
        </p:nvSpPr>
        <p:spPr>
          <a:xfrm>
            <a:off x="309067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 path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01 · OVERVIEW</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AI gateway options in Azure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Three offerings share the name; they differ in where policies are configured and in what they govern</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learn.microsoft.com/azure/api-management/genai-gateway-capabilities</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3</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395941"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164037" y="1431036"/>
            <a:ext cx="286198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in Foundry*</a:t>
            </a:r>
          </a:p>
        </p:txBody>
      </p:sp>
      <p:sp>
        <p:nvSpPr>
          <p:cNvPr id="10" name="TextBox 9"/>
          <p:cNvSpPr txBox="1"/>
          <p:nvPr/>
        </p:nvSpPr>
        <p:spPr>
          <a:xfrm>
            <a:off x="5208907" y="1431036"/>
            <a:ext cx="342585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capabilities in API Management</a:t>
            </a:r>
          </a:p>
        </p:txBody>
      </p:sp>
      <p:sp>
        <p:nvSpPr>
          <p:cNvPr id="11" name="TextBox 10"/>
          <p:cNvSpPr txBox="1"/>
          <p:nvPr/>
        </p:nvSpPr>
        <p:spPr>
          <a:xfrm>
            <a:off x="8817641" y="1431036"/>
            <a:ext cx="286198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tier in API Management*</a:t>
            </a:r>
          </a:p>
        </p:txBody>
      </p:sp>
      <p:sp>
        <p:nvSpPr>
          <p:cNvPr id="12" name="Rectangle 11"/>
          <p:cNvSpPr/>
          <p:nvPr/>
        </p:nvSpPr>
        <p:spPr>
          <a:xfrm>
            <a:off x="457200" y="1664208"/>
            <a:ext cx="11277295" cy="448056"/>
          </a:xfrm>
          <a:prstGeom prst="rect">
            <a:avLst/>
          </a:prstGeom>
          <a:solidFill>
            <a:srgbClr val="F6F8FD"/>
          </a:solidFill>
          <a:ln>
            <a:noFill/>
          </a:ln>
          <a:effectLst/>
        </p:spPr>
        <p:txBody>
          <a:bodyPr wrap="square" rtlCol="0" anchor="ctr"/>
          <a:lstStyle/>
          <a:p>
            <a:endParaRPr/>
          </a:p>
        </p:txBody>
      </p:sp>
      <p:cxnSp>
        <p:nvCxnSpPr>
          <p:cNvPr id="13" name="Connector 12"/>
          <p:cNvCxnSpPr/>
          <p:nvPr/>
        </p:nvCxnSpPr>
        <p:spPr>
          <a:xfrm>
            <a:off x="457200" y="2112264"/>
            <a:ext cx="11277295" cy="0"/>
          </a:xfrm>
          <a:prstGeom prst="line">
            <a:avLst/>
          </a:prstGeom>
          <a:ln w="9525">
            <a:solidFill>
              <a:srgbClr val="E1E7F4"/>
            </a:solidFill>
          </a:ln>
        </p:spPr>
      </p:cxnSp>
      <p:sp>
        <p:nvSpPr>
          <p:cNvPr id="14" name="TextBox 13"/>
          <p:cNvSpPr txBox="1"/>
          <p:nvPr/>
        </p:nvSpPr>
        <p:spPr>
          <a:xfrm>
            <a:off x="585216" y="1714500"/>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What it is</a:t>
            </a:r>
          </a:p>
        </p:txBody>
      </p:sp>
      <p:sp>
        <p:nvSpPr>
          <p:cNvPr id="15" name="TextBox 14"/>
          <p:cNvSpPr txBox="1"/>
          <p:nvPr/>
        </p:nvSpPr>
        <p:spPr>
          <a:xfrm>
            <a:off x="2164037" y="171450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connected to one Foundry resource, managed from the Foundry portal</a:t>
            </a:r>
          </a:p>
        </p:txBody>
      </p:sp>
      <p:sp>
        <p:nvSpPr>
          <p:cNvPr id="16" name="TextBox 15"/>
          <p:cNvSpPr txBox="1"/>
          <p:nvPr/>
        </p:nvSpPr>
        <p:spPr>
          <a:xfrm>
            <a:off x="5208907" y="1714500"/>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Built-in AI policies available in API Management instances</a:t>
            </a:r>
          </a:p>
        </p:txBody>
      </p:sp>
      <p:sp>
        <p:nvSpPr>
          <p:cNvPr id="17" name="TextBox 16"/>
          <p:cNvSpPr txBox="1"/>
          <p:nvPr/>
        </p:nvSpPr>
        <p:spPr>
          <a:xfrm>
            <a:off x="8817641" y="171450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 separate API Management tier dedicated to AI traffic</a:t>
            </a:r>
          </a:p>
        </p:txBody>
      </p:sp>
      <p:cxnSp>
        <p:nvCxnSpPr>
          <p:cNvPr id="18" name="Connector 17"/>
          <p:cNvCxnSpPr/>
          <p:nvPr/>
        </p:nvCxnSpPr>
        <p:spPr>
          <a:xfrm>
            <a:off x="457200" y="2560320"/>
            <a:ext cx="11277295" cy="0"/>
          </a:xfrm>
          <a:prstGeom prst="line">
            <a:avLst/>
          </a:prstGeom>
          <a:ln w="9525">
            <a:solidFill>
              <a:srgbClr val="E1E7F4"/>
            </a:solidFill>
          </a:ln>
        </p:spPr>
      </p:cxnSp>
      <p:sp>
        <p:nvSpPr>
          <p:cNvPr id="19" name="TextBox 18"/>
          <p:cNvSpPr txBox="1"/>
          <p:nvPr/>
        </p:nvSpPr>
        <p:spPr>
          <a:xfrm>
            <a:off x="585216" y="2162556"/>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Configured in</a:t>
            </a:r>
          </a:p>
        </p:txBody>
      </p:sp>
      <p:sp>
        <p:nvSpPr>
          <p:cNvPr id="20" name="TextBox 19"/>
          <p:cNvSpPr txBox="1"/>
          <p:nvPr/>
        </p:nvSpPr>
        <p:spPr>
          <a:xfrm>
            <a:off x="2164037" y="216255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Manage &gt; AI Gateway</a:t>
            </a:r>
          </a:p>
        </p:txBody>
      </p:sp>
      <p:sp>
        <p:nvSpPr>
          <p:cNvPr id="21" name="TextBox 20"/>
          <p:cNvSpPr txBox="1"/>
          <p:nvPr/>
        </p:nvSpPr>
        <p:spPr>
          <a:xfrm>
            <a:off x="5208907" y="2162556"/>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portal; policies written in XML</a:t>
            </a:r>
          </a:p>
        </p:txBody>
      </p:sp>
      <p:sp>
        <p:nvSpPr>
          <p:cNvPr id="22" name="TextBox 21"/>
          <p:cNvSpPr txBox="1"/>
          <p:nvPr/>
        </p:nvSpPr>
        <p:spPr>
          <a:xfrm>
            <a:off x="8817641" y="216255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Its own portal; policies set as cards, no XML</a:t>
            </a:r>
          </a:p>
        </p:txBody>
      </p:sp>
      <p:sp>
        <p:nvSpPr>
          <p:cNvPr id="23" name="Rectangle 22"/>
          <p:cNvSpPr/>
          <p:nvPr/>
        </p:nvSpPr>
        <p:spPr>
          <a:xfrm>
            <a:off x="457200" y="2560320"/>
            <a:ext cx="11277295" cy="448056"/>
          </a:xfrm>
          <a:prstGeom prst="rect">
            <a:avLst/>
          </a:prstGeom>
          <a:solidFill>
            <a:srgbClr val="F6F8FD"/>
          </a:solidFill>
          <a:ln>
            <a:noFill/>
          </a:ln>
          <a:effectLst/>
        </p:spPr>
        <p:txBody>
          <a:bodyPr wrap="square" rtlCol="0" anchor="ctr"/>
          <a:lstStyle/>
          <a:p>
            <a:endParaRPr/>
          </a:p>
        </p:txBody>
      </p:sp>
      <p:cxnSp>
        <p:nvCxnSpPr>
          <p:cNvPr id="24" name="Connector 23"/>
          <p:cNvCxnSpPr/>
          <p:nvPr/>
        </p:nvCxnSpPr>
        <p:spPr>
          <a:xfrm>
            <a:off x="457200" y="3008376"/>
            <a:ext cx="11277295" cy="0"/>
          </a:xfrm>
          <a:prstGeom prst="line">
            <a:avLst/>
          </a:prstGeom>
          <a:ln w="9525">
            <a:solidFill>
              <a:srgbClr val="E1E7F4"/>
            </a:solidFill>
          </a:ln>
        </p:spPr>
      </p:cxnSp>
      <p:sp>
        <p:nvSpPr>
          <p:cNvPr id="25" name="TextBox 24"/>
          <p:cNvSpPr txBox="1"/>
          <p:nvPr/>
        </p:nvSpPr>
        <p:spPr>
          <a:xfrm>
            <a:off x="585216" y="2610612"/>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Scope</a:t>
            </a:r>
          </a:p>
        </p:txBody>
      </p:sp>
      <p:sp>
        <p:nvSpPr>
          <p:cNvPr id="26" name="TextBox 25"/>
          <p:cNvSpPr txBox="1"/>
          <p:nvPr/>
        </p:nvSpPr>
        <p:spPr>
          <a:xfrm>
            <a:off x="2164037" y="2610612"/>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One Foundry resource; all its projects share one gateway</a:t>
            </a:r>
          </a:p>
        </p:txBody>
      </p:sp>
      <p:sp>
        <p:nvSpPr>
          <p:cNvPr id="27" name="TextBox 26"/>
          <p:cNvSpPr txBox="1"/>
          <p:nvPr/>
        </p:nvSpPr>
        <p:spPr>
          <a:xfrm>
            <a:off x="5208907" y="2610612"/>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API and any backend, across resources and clouds</a:t>
            </a:r>
          </a:p>
        </p:txBody>
      </p:sp>
      <p:sp>
        <p:nvSpPr>
          <p:cNvPr id="28" name="TextBox 27"/>
          <p:cNvSpPr txBox="1"/>
          <p:nvPr/>
        </p:nvSpPr>
        <p:spPr>
          <a:xfrm>
            <a:off x="8817641" y="2610612"/>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Models and MCP tool servers behind one endpoint</a:t>
            </a:r>
          </a:p>
        </p:txBody>
      </p:sp>
      <p:cxnSp>
        <p:nvCxnSpPr>
          <p:cNvPr id="29" name="Connector 28"/>
          <p:cNvCxnSpPr/>
          <p:nvPr/>
        </p:nvCxnSpPr>
        <p:spPr>
          <a:xfrm>
            <a:off x="457200" y="3456432"/>
            <a:ext cx="11277295" cy="0"/>
          </a:xfrm>
          <a:prstGeom prst="line">
            <a:avLst/>
          </a:prstGeom>
          <a:ln w="9525">
            <a:solidFill>
              <a:srgbClr val="E1E7F4"/>
            </a:solidFill>
          </a:ln>
        </p:spPr>
      </p:cxnSp>
      <p:sp>
        <p:nvSpPr>
          <p:cNvPr id="30" name="TextBox 29"/>
          <p:cNvSpPr txBox="1"/>
          <p:nvPr/>
        </p:nvSpPr>
        <p:spPr>
          <a:xfrm>
            <a:off x="585216" y="3058668"/>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Model governance</a:t>
            </a:r>
          </a:p>
        </p:txBody>
      </p:sp>
      <p:sp>
        <p:nvSpPr>
          <p:cNvPr id="31" name="TextBox 30"/>
          <p:cNvSpPr txBox="1"/>
          <p:nvPr/>
        </p:nvSpPr>
        <p:spPr>
          <a:xfrm>
            <a:off x="2164037" y="3058668"/>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TPM limits and token quotas per project and deployment</a:t>
            </a:r>
          </a:p>
        </p:txBody>
      </p:sp>
      <p:sp>
        <p:nvSpPr>
          <p:cNvPr id="32" name="TextBox 31"/>
          <p:cNvSpPr txBox="1"/>
          <p:nvPr/>
        </p:nvSpPr>
        <p:spPr>
          <a:xfrm>
            <a:off x="5208907" y="3058668"/>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 limits, token metrics, semantic caching, content safety, load balancing</a:t>
            </a:r>
          </a:p>
        </p:txBody>
      </p:sp>
      <p:sp>
        <p:nvSpPr>
          <p:cNvPr id="33" name="TextBox 32"/>
          <p:cNvSpPr txBox="1"/>
          <p:nvPr/>
        </p:nvSpPr>
        <p:spPr>
          <a:xfrm>
            <a:off x="8817641" y="3058668"/>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 and request rate limits, content safety, IP filtering</a:t>
            </a:r>
          </a:p>
        </p:txBody>
      </p:sp>
      <p:sp>
        <p:nvSpPr>
          <p:cNvPr id="34" name="Rectangle 33"/>
          <p:cNvSpPr/>
          <p:nvPr/>
        </p:nvSpPr>
        <p:spPr>
          <a:xfrm>
            <a:off x="457200" y="3456432"/>
            <a:ext cx="11277295" cy="448056"/>
          </a:xfrm>
          <a:prstGeom prst="rect">
            <a:avLst/>
          </a:prstGeom>
          <a:solidFill>
            <a:srgbClr val="F6F8FD"/>
          </a:solidFill>
          <a:ln>
            <a:noFill/>
          </a:ln>
          <a:effectLst/>
        </p:spPr>
        <p:txBody>
          <a:bodyPr wrap="square" rtlCol="0" anchor="ctr"/>
          <a:lstStyle/>
          <a:p>
            <a:endParaRPr/>
          </a:p>
        </p:txBody>
      </p:sp>
      <p:cxnSp>
        <p:nvCxnSpPr>
          <p:cNvPr id="35" name="Connector 34"/>
          <p:cNvCxnSpPr/>
          <p:nvPr/>
        </p:nvCxnSpPr>
        <p:spPr>
          <a:xfrm>
            <a:off x="457200" y="3904488"/>
            <a:ext cx="11277295" cy="0"/>
          </a:xfrm>
          <a:prstGeom prst="line">
            <a:avLst/>
          </a:prstGeom>
          <a:ln w="9525">
            <a:solidFill>
              <a:srgbClr val="E1E7F4"/>
            </a:solidFill>
          </a:ln>
        </p:spPr>
      </p:cxnSp>
      <p:sp>
        <p:nvSpPr>
          <p:cNvPr id="36" name="TextBox 35"/>
          <p:cNvSpPr txBox="1"/>
          <p:nvPr/>
        </p:nvSpPr>
        <p:spPr>
          <a:xfrm>
            <a:off x="585216" y="3506724"/>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Tools and agents</a:t>
            </a:r>
          </a:p>
        </p:txBody>
      </p:sp>
      <p:sp>
        <p:nvSpPr>
          <p:cNvPr id="37" name="TextBox 36"/>
          <p:cNvSpPr txBox="1"/>
          <p:nvPr/>
        </p:nvSpPr>
        <p:spPr>
          <a:xfrm>
            <a:off x="2164037" y="3506724"/>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Governs new MCP tools*; registers custom agents*</a:t>
            </a:r>
          </a:p>
        </p:txBody>
      </p:sp>
      <p:sp>
        <p:nvSpPr>
          <p:cNvPr id="38" name="TextBox 37"/>
          <p:cNvSpPr txBox="1"/>
          <p:nvPr/>
        </p:nvSpPr>
        <p:spPr>
          <a:xfrm>
            <a:off x="5208907" y="3506724"/>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REST APIs as MCP servers, MCP pass-through, A2A agent APIs</a:t>
            </a:r>
          </a:p>
        </p:txBody>
      </p:sp>
      <p:sp>
        <p:nvSpPr>
          <p:cNvPr id="39" name="TextBox 38"/>
          <p:cNvSpPr txBox="1"/>
          <p:nvPr/>
        </p:nvSpPr>
        <p:spPr>
          <a:xfrm>
            <a:off x="8817641" y="3506724"/>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MCP tool servers from remote MCP, OpenAPI or connectors</a:t>
            </a:r>
          </a:p>
        </p:txBody>
      </p:sp>
      <p:cxnSp>
        <p:nvCxnSpPr>
          <p:cNvPr id="40" name="Connector 39"/>
          <p:cNvCxnSpPr/>
          <p:nvPr/>
        </p:nvCxnSpPr>
        <p:spPr>
          <a:xfrm>
            <a:off x="457200" y="4352544"/>
            <a:ext cx="11277295" cy="0"/>
          </a:xfrm>
          <a:prstGeom prst="line">
            <a:avLst/>
          </a:prstGeom>
          <a:ln w="9525">
            <a:solidFill>
              <a:srgbClr val="E1E7F4"/>
            </a:solidFill>
          </a:ln>
        </p:spPr>
      </p:cxnSp>
      <p:sp>
        <p:nvSpPr>
          <p:cNvPr id="41" name="TextBox 40"/>
          <p:cNvSpPr txBox="1"/>
          <p:nvPr/>
        </p:nvSpPr>
        <p:spPr>
          <a:xfrm>
            <a:off x="585216" y="3954780"/>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API Management tier</a:t>
            </a:r>
          </a:p>
        </p:txBody>
      </p:sp>
      <p:sp>
        <p:nvSpPr>
          <p:cNvPr id="42" name="TextBox 41"/>
          <p:cNvSpPr txBox="1"/>
          <p:nvPr/>
        </p:nvSpPr>
        <p:spPr>
          <a:xfrm>
            <a:off x="2164037" y="395478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Basic v2 when created; an existing v2 instance when reused</a:t>
            </a:r>
          </a:p>
        </p:txBody>
      </p:sp>
      <p:sp>
        <p:nvSpPr>
          <p:cNvPr id="43" name="TextBox 42"/>
          <p:cNvSpPr txBox="1"/>
          <p:nvPr/>
        </p:nvSpPr>
        <p:spPr>
          <a:xfrm>
            <a:off x="5208907" y="3954780"/>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Classic and v2 tiers; features vary by tier</a:t>
            </a:r>
          </a:p>
        </p:txBody>
      </p:sp>
      <p:sp>
        <p:nvSpPr>
          <p:cNvPr id="44" name="TextBox 43"/>
          <p:cNvSpPr txBox="1"/>
          <p:nvPr/>
        </p:nvSpPr>
        <p:spPr>
          <a:xfrm>
            <a:off x="8817641" y="3954780"/>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Separate tier; East US 2 and Sweden Central only</a:t>
            </a:r>
          </a:p>
        </p:txBody>
      </p:sp>
      <p:sp>
        <p:nvSpPr>
          <p:cNvPr id="45" name="Rectangle 44"/>
          <p:cNvSpPr/>
          <p:nvPr/>
        </p:nvSpPr>
        <p:spPr>
          <a:xfrm>
            <a:off x="457200" y="4352544"/>
            <a:ext cx="11277295" cy="448056"/>
          </a:xfrm>
          <a:prstGeom prst="rect">
            <a:avLst/>
          </a:prstGeom>
          <a:solidFill>
            <a:srgbClr val="F6F8FD"/>
          </a:solidFill>
          <a:ln>
            <a:noFill/>
          </a:ln>
          <a:effectLst/>
        </p:spPr>
        <p:txBody>
          <a:bodyPr wrap="square" rtlCol="0" anchor="ctr"/>
          <a:lstStyle/>
          <a:p>
            <a:endParaRPr/>
          </a:p>
        </p:txBody>
      </p:sp>
      <p:cxnSp>
        <p:nvCxnSpPr>
          <p:cNvPr id="46" name="Connector 45"/>
          <p:cNvCxnSpPr/>
          <p:nvPr/>
        </p:nvCxnSpPr>
        <p:spPr>
          <a:xfrm>
            <a:off x="457200" y="4800600"/>
            <a:ext cx="11277295" cy="0"/>
          </a:xfrm>
          <a:prstGeom prst="line">
            <a:avLst/>
          </a:prstGeom>
          <a:ln w="9525">
            <a:solidFill>
              <a:srgbClr val="E1E7F4"/>
            </a:solidFill>
          </a:ln>
        </p:spPr>
      </p:cxnSp>
      <p:sp>
        <p:nvSpPr>
          <p:cNvPr id="47" name="TextBox 46"/>
          <p:cNvSpPr txBox="1"/>
          <p:nvPr/>
        </p:nvSpPr>
        <p:spPr>
          <a:xfrm>
            <a:off x="585216" y="4402836"/>
            <a:ext cx="1359365" cy="365760"/>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Status</a:t>
            </a:r>
          </a:p>
        </p:txBody>
      </p:sp>
      <p:sp>
        <p:nvSpPr>
          <p:cNvPr id="48" name="TextBox 47"/>
          <p:cNvSpPr txBox="1"/>
          <p:nvPr/>
        </p:nvSpPr>
        <p:spPr>
          <a:xfrm>
            <a:off x="2164037" y="440283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sp>
        <p:nvSpPr>
          <p:cNvPr id="49" name="TextBox 48"/>
          <p:cNvSpPr txBox="1"/>
          <p:nvPr/>
        </p:nvSpPr>
        <p:spPr>
          <a:xfrm>
            <a:off x="5208907" y="4402836"/>
            <a:ext cx="3389278"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sp>
        <p:nvSpPr>
          <p:cNvPr id="50" name="TextBox 49"/>
          <p:cNvSpPr txBox="1"/>
          <p:nvPr/>
        </p:nvSpPr>
        <p:spPr>
          <a:xfrm>
            <a:off x="8817641" y="4402836"/>
            <a:ext cx="2825413" cy="365760"/>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cxnSp>
        <p:nvCxnSpPr>
          <p:cNvPr id="51" name="Connector 50"/>
          <p:cNvCxnSpPr/>
          <p:nvPr/>
        </p:nvCxnSpPr>
        <p:spPr>
          <a:xfrm>
            <a:off x="2036021" y="1664208"/>
            <a:ext cx="0" cy="3136392"/>
          </a:xfrm>
          <a:prstGeom prst="line">
            <a:avLst/>
          </a:prstGeom>
          <a:ln w="9525">
            <a:solidFill>
              <a:srgbClr val="E1E7F4"/>
            </a:solidFill>
          </a:ln>
        </p:spPr>
      </p:cxnSp>
      <p:cxnSp>
        <p:nvCxnSpPr>
          <p:cNvPr id="52" name="Connector 51"/>
          <p:cNvCxnSpPr/>
          <p:nvPr/>
        </p:nvCxnSpPr>
        <p:spPr>
          <a:xfrm>
            <a:off x="5080891" y="1664208"/>
            <a:ext cx="0" cy="3136392"/>
          </a:xfrm>
          <a:prstGeom prst="line">
            <a:avLst/>
          </a:prstGeom>
          <a:ln w="9525">
            <a:solidFill>
              <a:srgbClr val="E1E7F4"/>
            </a:solidFill>
          </a:ln>
        </p:spPr>
      </p:cxnSp>
      <p:cxnSp>
        <p:nvCxnSpPr>
          <p:cNvPr id="53" name="Connector 52"/>
          <p:cNvCxnSpPr/>
          <p:nvPr/>
        </p:nvCxnSpPr>
        <p:spPr>
          <a:xfrm>
            <a:off x="8689625" y="1664208"/>
            <a:ext cx="0" cy="3136392"/>
          </a:xfrm>
          <a:prstGeom prst="line">
            <a:avLst/>
          </a:prstGeom>
          <a:ln w="9525">
            <a:solidFill>
              <a:srgbClr val="E1E7F4"/>
            </a:solidFill>
          </a:ln>
        </p:spPr>
      </p:cxnSp>
      <p:sp>
        <p:nvSpPr>
          <p:cNvPr id="54" name="Rectangle 53"/>
          <p:cNvSpPr/>
          <p:nvPr/>
        </p:nvSpPr>
        <p:spPr>
          <a:xfrm>
            <a:off x="457200" y="4846320"/>
            <a:ext cx="11277295" cy="530352"/>
          </a:xfrm>
          <a:prstGeom prst="rect">
            <a:avLst/>
          </a:prstGeom>
          <a:solidFill>
            <a:srgbClr val="EBEFF7"/>
          </a:solidFill>
          <a:ln>
            <a:noFill/>
          </a:ln>
          <a:effectLst/>
        </p:spPr>
        <p:txBody>
          <a:bodyPr wrap="square" rtlCol="0" anchor="ctr"/>
          <a:lstStyle/>
          <a:p>
            <a:endParaRPr/>
          </a:p>
        </p:txBody>
      </p:sp>
      <p:sp>
        <p:nvSpPr>
          <p:cNvPr id="55" name="Rectangle 54"/>
          <p:cNvSpPr/>
          <p:nvPr/>
        </p:nvSpPr>
        <p:spPr>
          <a:xfrm>
            <a:off x="457200" y="4846320"/>
            <a:ext cx="41148" cy="530352"/>
          </a:xfrm>
          <a:prstGeom prst="rect">
            <a:avLst/>
          </a:prstGeom>
          <a:solidFill>
            <a:srgbClr val="00B39F"/>
          </a:solidFill>
          <a:ln>
            <a:noFill/>
          </a:ln>
          <a:effectLst/>
        </p:spPr>
        <p:txBody>
          <a:bodyPr wrap="square" rtlCol="0" anchor="ctr"/>
          <a:lstStyle/>
          <a:p>
            <a:endParaRPr/>
          </a:p>
        </p:txBody>
      </p:sp>
      <p:sp>
        <p:nvSpPr>
          <p:cNvPr id="56" name="TextBox 55"/>
          <p:cNvSpPr txBox="1"/>
          <p:nvPr/>
        </p:nvSpPr>
        <p:spPr>
          <a:xfrm>
            <a:off x="694944" y="4946904"/>
            <a:ext cx="10856671" cy="347471"/>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Terms used in this deck: “AI Gateway in Foundry” for the Foundry portal feature, and “API Management policies” for policies configured directly in API Management. The AI Gateway tier is mentioned for completeness only.</a:t>
            </a:r>
          </a:p>
        </p:txBody>
      </p:sp>
      <p:sp>
        <p:nvSpPr>
          <p:cNvPr id="57" name="TextBox 56"/>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02 · ARCHITECTURE</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AI Gateway in Foundry architecture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One API Management instance sits in front of models, MCP servers and agents; telemetry flows to governance services</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learn.microsoft.com/azure/foundry/configuration/enable-ai-api-management-gateway-portal</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4</a:t>
            </a:r>
          </a:p>
        </p:txBody>
      </p:sp>
      <p:sp>
        <p:nvSpPr>
          <p:cNvPr id="7" name="Rectangle 6"/>
          <p:cNvSpPr/>
          <p:nvPr/>
        </p:nvSpPr>
        <p:spPr>
          <a:xfrm>
            <a:off x="457200" y="1325880"/>
            <a:ext cx="1645920" cy="3657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2000"/>
              </a:lnSpc>
            </a:pPr>
            <a:r>
              <a:rPr sz="850" b="1" i="0" dirty="0">
                <a:solidFill>
                  <a:srgbClr val="101A3C"/>
                </a:solidFill>
                <a:latin typeface="Segoe UI"/>
                <a:cs typeface="Segoe UI"/>
              </a:rPr>
              <a:t>Microsoft Entra ID</a:t>
            </a:r>
          </a:p>
        </p:txBody>
      </p:sp>
      <p:sp>
        <p:nvSpPr>
          <p:cNvPr id="8" name="Rectangle 7"/>
          <p:cNvSpPr/>
          <p:nvPr/>
        </p:nvSpPr>
        <p:spPr>
          <a:xfrm>
            <a:off x="457200" y="2103120"/>
            <a:ext cx="1645920" cy="1920240"/>
          </a:xfrm>
          <a:prstGeom prst="rect">
            <a:avLst/>
          </a:prstGeom>
          <a:solidFill>
            <a:srgbClr val="EBEFF7"/>
          </a:solidFill>
          <a:ln>
            <a:noFill/>
          </a:ln>
          <a:effectLst/>
        </p:spPr>
        <p:txBody>
          <a:bodyPr wrap="square" lIns="54864" tIns="18288" rIns="54864" bIns="18288" rtlCol="0" anchor="ctr"/>
          <a:lstStyle/>
          <a:p>
            <a:pPr algn="ctr">
              <a:lnSpc>
                <a:spcPct val="125000"/>
              </a:lnSpc>
            </a:pPr>
            <a:r>
              <a:rPr sz="900" b="1" i="0" dirty="0">
                <a:solidFill>
                  <a:srgbClr val="101A3C"/>
                </a:solidFill>
                <a:latin typeface="Segoe UI"/>
                <a:cs typeface="Segoe UI"/>
              </a:rPr>
              <a:t>Callers</a:t>
            </a:r>
          </a:p>
          <a:p>
            <a:pPr algn="ctr">
              <a:lnSpc>
                <a:spcPct val="125000"/>
              </a:lnSpc>
            </a:pPr>
            <a:r>
              <a:rPr sz="800" b="0" i="0" dirty="0">
                <a:solidFill>
                  <a:srgbClr val="44495B"/>
                </a:solidFill>
                <a:latin typeface="Segoe UI"/>
                <a:cs typeface="Segoe UI"/>
              </a:rPr>
              <a:t>applications</a:t>
            </a:r>
          </a:p>
          <a:p>
            <a:pPr algn="ctr">
              <a:lnSpc>
                <a:spcPct val="125000"/>
              </a:lnSpc>
            </a:pPr>
            <a:r>
              <a:rPr sz="800" b="0" i="0" dirty="0">
                <a:solidFill>
                  <a:srgbClr val="44495B"/>
                </a:solidFill>
                <a:latin typeface="Segoe UI"/>
                <a:cs typeface="Segoe UI"/>
              </a:rPr>
              <a:t>agents</a:t>
            </a:r>
          </a:p>
          <a:p>
            <a:pPr algn="ctr">
              <a:lnSpc>
                <a:spcPct val="125000"/>
              </a:lnSpc>
            </a:pPr>
            <a:r>
              <a:rPr sz="800" b="0" i="0" dirty="0">
                <a:solidFill>
                  <a:srgbClr val="44495B"/>
                </a:solidFill>
                <a:latin typeface="Segoe UI"/>
                <a:cs typeface="Segoe UI"/>
              </a:rPr>
              <a:t>developer tools</a:t>
            </a:r>
          </a:p>
        </p:txBody>
      </p:sp>
      <p:cxnSp>
        <p:nvCxnSpPr>
          <p:cNvPr id="9" name="Connector 8"/>
          <p:cNvCxnSpPr/>
          <p:nvPr/>
        </p:nvCxnSpPr>
        <p:spPr>
          <a:xfrm>
            <a:off x="1280160" y="1691640"/>
            <a:ext cx="0" cy="411480"/>
          </a:xfrm>
          <a:prstGeom prst="line">
            <a:avLst/>
          </a:prstGeom>
          <a:ln w="13970">
            <a:solidFill>
              <a:srgbClr val="44495B"/>
            </a:solidFill>
            <a:prstDash val="dash"/>
          </a:ln>
        </p:spPr>
      </p:cxnSp>
      <p:sp>
        <p:nvSpPr>
          <p:cNvPr id="10" name="Oval 9"/>
          <p:cNvSpPr/>
          <p:nvPr/>
        </p:nvSpPr>
        <p:spPr>
          <a:xfrm>
            <a:off x="1175004" y="179222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11" name="Rectangle 10"/>
          <p:cNvSpPr/>
          <p:nvPr/>
        </p:nvSpPr>
        <p:spPr>
          <a:xfrm>
            <a:off x="2606040" y="1325880"/>
            <a:ext cx="3108960" cy="2834640"/>
          </a:xfrm>
          <a:prstGeom prst="rect">
            <a:avLst/>
          </a:prstGeom>
          <a:solidFill>
            <a:srgbClr val="101A3C"/>
          </a:solidFill>
          <a:ln>
            <a:noFill/>
          </a:ln>
          <a:effectLst/>
        </p:spPr>
        <p:txBody>
          <a:bodyPr wrap="square" rtlCol="0" anchor="ctr"/>
          <a:lstStyle/>
          <a:p>
            <a:endParaRPr/>
          </a:p>
        </p:txBody>
      </p:sp>
      <p:sp>
        <p:nvSpPr>
          <p:cNvPr id="12" name="TextBox 11"/>
          <p:cNvSpPr txBox="1"/>
          <p:nvPr/>
        </p:nvSpPr>
        <p:spPr>
          <a:xfrm>
            <a:off x="2770632" y="1408176"/>
            <a:ext cx="2834640" cy="182880"/>
          </a:xfrm>
          <a:prstGeom prst="rect">
            <a:avLst/>
          </a:prstGeom>
          <a:noFill/>
        </p:spPr>
        <p:txBody>
          <a:bodyPr wrap="square" lIns="0" tIns="0" rIns="0" bIns="0" anchor="t">
            <a:spAutoFit/>
          </a:bodyPr>
          <a:lstStyle/>
          <a:p>
            <a:pPr algn="l">
              <a:lnSpc>
                <a:spcPct val="100000"/>
              </a:lnSpc>
            </a:pPr>
            <a:r>
              <a:rPr sz="950" b="1" i="0" dirty="0">
                <a:solidFill>
                  <a:srgbClr val="FFFFFF"/>
                </a:solidFill>
                <a:latin typeface="Segoe UI"/>
                <a:cs typeface="Segoe UI"/>
              </a:rPr>
              <a:t>AI Gateway in Foundry*</a:t>
            </a:r>
          </a:p>
        </p:txBody>
      </p:sp>
      <p:sp>
        <p:nvSpPr>
          <p:cNvPr id="13" name="TextBox 12"/>
          <p:cNvSpPr txBox="1"/>
          <p:nvPr/>
        </p:nvSpPr>
        <p:spPr>
          <a:xfrm>
            <a:off x="2770632" y="1609344"/>
            <a:ext cx="2834640" cy="164592"/>
          </a:xfrm>
          <a:prstGeom prst="rect">
            <a:avLst/>
          </a:prstGeom>
          <a:noFill/>
        </p:spPr>
        <p:txBody>
          <a:bodyPr wrap="square" lIns="0" tIns="0" rIns="0" bIns="0" anchor="t">
            <a:spAutoFit/>
          </a:bodyPr>
          <a:lstStyle/>
          <a:p>
            <a:pPr algn="l">
              <a:lnSpc>
                <a:spcPct val="100000"/>
              </a:lnSpc>
            </a:pPr>
            <a:r>
              <a:rPr sz="750" b="0" i="0" dirty="0">
                <a:solidFill>
                  <a:srgbClr val="B9C2D6"/>
                </a:solidFill>
                <a:latin typeface="Segoe UI"/>
                <a:cs typeface="Segoe UI"/>
              </a:rPr>
              <a:t>one API Management instance per Foundry resource</a:t>
            </a:r>
          </a:p>
        </p:txBody>
      </p:sp>
      <p:sp>
        <p:nvSpPr>
          <p:cNvPr id="14" name="TextBox 13"/>
          <p:cNvSpPr txBox="1"/>
          <p:nvPr/>
        </p:nvSpPr>
        <p:spPr>
          <a:xfrm>
            <a:off x="2770632" y="1856231"/>
            <a:ext cx="2779776" cy="146304"/>
          </a:xfrm>
          <a:prstGeom prst="rect">
            <a:avLst/>
          </a:prstGeom>
          <a:noFill/>
        </p:spPr>
        <p:txBody>
          <a:bodyPr wrap="square" lIns="0" tIns="0" rIns="0" bIns="0" anchor="t">
            <a:spAutoFit/>
          </a:bodyPr>
          <a:lstStyle/>
          <a:p>
            <a:pPr algn="l">
              <a:lnSpc>
                <a:spcPct val="100000"/>
              </a:lnSpc>
            </a:pPr>
            <a:r>
              <a:rPr sz="750" b="1" i="0" spc="100" dirty="0">
                <a:solidFill>
                  <a:srgbClr val="00B39F"/>
                </a:solidFill>
                <a:latin typeface="Segoe UI"/>
                <a:cs typeface="Segoe UI"/>
              </a:rPr>
              <a:t>SET IN THE FOUNDRY PORTAL</a:t>
            </a:r>
          </a:p>
        </p:txBody>
      </p:sp>
      <p:sp>
        <p:nvSpPr>
          <p:cNvPr id="15" name="Rectangle 14"/>
          <p:cNvSpPr/>
          <p:nvPr/>
        </p:nvSpPr>
        <p:spPr>
          <a:xfrm>
            <a:off x="2770632" y="2057400"/>
            <a:ext cx="877824" cy="420624"/>
          </a:xfrm>
          <a:prstGeom prst="rect">
            <a:avLst/>
          </a:prstGeom>
          <a:solidFill>
            <a:srgbClr val="FFFFFF"/>
          </a:solidFill>
          <a:ln>
            <a:noFill/>
          </a:ln>
          <a:effectLst/>
        </p:spPr>
        <p:txBody>
          <a:bodyPr wrap="square" lIns="54864" tIns="18288" rIns="54864" bIns="18288" rtlCol="0" anchor="ctr"/>
          <a:lstStyle/>
          <a:p>
            <a:pPr algn="ctr">
              <a:lnSpc>
                <a:spcPct val="105000"/>
              </a:lnSpc>
            </a:pPr>
            <a:r>
              <a:rPr sz="750" b="0" i="0" dirty="0">
                <a:solidFill>
                  <a:srgbClr val="101A3C"/>
                </a:solidFill>
                <a:latin typeface="Segoe UI"/>
                <a:cs typeface="Segoe UI"/>
              </a:rPr>
              <a:t>Token limits</a:t>
            </a:r>
          </a:p>
          <a:p>
            <a:pPr algn="ctr">
              <a:lnSpc>
                <a:spcPct val="105000"/>
              </a:lnSpc>
            </a:pPr>
            <a:r>
              <a:rPr sz="750" b="0" i="0" dirty="0">
                <a:solidFill>
                  <a:srgbClr val="101A3C"/>
                </a:solidFill>
                <a:latin typeface="Segoe UI"/>
                <a:cs typeface="Segoe UI"/>
              </a:rPr>
              <a:t>per project*</a:t>
            </a:r>
          </a:p>
        </p:txBody>
      </p:sp>
      <p:sp>
        <p:nvSpPr>
          <p:cNvPr id="16" name="Rectangle 15"/>
          <p:cNvSpPr/>
          <p:nvPr/>
        </p:nvSpPr>
        <p:spPr>
          <a:xfrm>
            <a:off x="3721608" y="2057400"/>
            <a:ext cx="877824" cy="420624"/>
          </a:xfrm>
          <a:prstGeom prst="rect">
            <a:avLst/>
          </a:prstGeom>
          <a:solidFill>
            <a:srgbClr val="FFFFFF"/>
          </a:solidFill>
          <a:ln>
            <a:noFill/>
          </a:ln>
          <a:effectLst/>
        </p:spPr>
        <p:txBody>
          <a:bodyPr wrap="square" lIns="54864" tIns="18288" rIns="54864" bIns="18288" rtlCol="0" anchor="ctr"/>
          <a:lstStyle/>
          <a:p>
            <a:pPr algn="ctr">
              <a:lnSpc>
                <a:spcPct val="105000"/>
              </a:lnSpc>
            </a:pPr>
            <a:r>
              <a:rPr sz="750" b="0" i="0" dirty="0">
                <a:solidFill>
                  <a:srgbClr val="101A3C"/>
                </a:solidFill>
                <a:latin typeface="Segoe UI"/>
                <a:cs typeface="Segoe UI"/>
              </a:rPr>
              <a:t>MCP tool</a:t>
            </a:r>
          </a:p>
          <a:p>
            <a:pPr algn="ctr">
              <a:lnSpc>
                <a:spcPct val="105000"/>
              </a:lnSpc>
            </a:pPr>
            <a:r>
              <a:rPr sz="750" b="0" i="0" dirty="0">
                <a:solidFill>
                  <a:srgbClr val="101A3C"/>
                </a:solidFill>
                <a:latin typeface="Segoe UI"/>
                <a:cs typeface="Segoe UI"/>
              </a:rPr>
              <a:t>routing*</a:t>
            </a:r>
          </a:p>
        </p:txBody>
      </p:sp>
      <p:sp>
        <p:nvSpPr>
          <p:cNvPr id="17" name="Rectangle 16"/>
          <p:cNvSpPr/>
          <p:nvPr/>
        </p:nvSpPr>
        <p:spPr>
          <a:xfrm>
            <a:off x="4672584" y="2057400"/>
            <a:ext cx="877824" cy="420624"/>
          </a:xfrm>
          <a:prstGeom prst="rect">
            <a:avLst/>
          </a:prstGeom>
          <a:solidFill>
            <a:srgbClr val="FFFFFF"/>
          </a:solidFill>
          <a:ln>
            <a:noFill/>
          </a:ln>
          <a:effectLst/>
        </p:spPr>
        <p:txBody>
          <a:bodyPr wrap="square" lIns="54864" tIns="18288" rIns="54864" bIns="18288" rtlCol="0" anchor="ctr"/>
          <a:lstStyle/>
          <a:p>
            <a:pPr algn="ctr">
              <a:lnSpc>
                <a:spcPct val="105000"/>
              </a:lnSpc>
            </a:pPr>
            <a:r>
              <a:rPr sz="750" b="0" i="0" dirty="0">
                <a:solidFill>
                  <a:srgbClr val="101A3C"/>
                </a:solidFill>
                <a:latin typeface="Segoe UI"/>
                <a:cs typeface="Segoe UI"/>
              </a:rPr>
              <a:t>Agent</a:t>
            </a:r>
          </a:p>
          <a:p>
            <a:pPr algn="ctr">
              <a:lnSpc>
                <a:spcPct val="105000"/>
              </a:lnSpc>
            </a:pPr>
            <a:r>
              <a:rPr sz="750" b="0" i="0" dirty="0">
                <a:solidFill>
                  <a:srgbClr val="101A3C"/>
                </a:solidFill>
                <a:latin typeface="Segoe UI"/>
                <a:cs typeface="Segoe UI"/>
              </a:rPr>
              <a:t>registration*</a:t>
            </a:r>
          </a:p>
        </p:txBody>
      </p:sp>
      <p:sp>
        <p:nvSpPr>
          <p:cNvPr id="18" name="TextBox 17"/>
          <p:cNvSpPr txBox="1"/>
          <p:nvPr/>
        </p:nvSpPr>
        <p:spPr>
          <a:xfrm>
            <a:off x="2770632" y="2606039"/>
            <a:ext cx="2779776" cy="146304"/>
          </a:xfrm>
          <a:prstGeom prst="rect">
            <a:avLst/>
          </a:prstGeom>
          <a:noFill/>
        </p:spPr>
        <p:txBody>
          <a:bodyPr wrap="square" lIns="0" tIns="0" rIns="0" bIns="0" anchor="t">
            <a:spAutoFit/>
          </a:bodyPr>
          <a:lstStyle/>
          <a:p>
            <a:pPr algn="l">
              <a:lnSpc>
                <a:spcPct val="100000"/>
              </a:lnSpc>
            </a:pPr>
            <a:r>
              <a:rPr sz="750" b="1" i="0" spc="100" dirty="0">
                <a:solidFill>
                  <a:srgbClr val="00B39F"/>
                </a:solidFill>
                <a:latin typeface="Segoe UI"/>
                <a:cs typeface="Segoe UI"/>
              </a:rPr>
              <a:t>CONFIGURED IN API MANAGEMENT</a:t>
            </a:r>
          </a:p>
        </p:txBody>
      </p:sp>
      <p:sp>
        <p:nvSpPr>
          <p:cNvPr id="19" name="Rectangle 18"/>
          <p:cNvSpPr/>
          <p:nvPr/>
        </p:nvSpPr>
        <p:spPr>
          <a:xfrm>
            <a:off x="2770632" y="2807208"/>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Token metrics</a:t>
            </a:r>
          </a:p>
        </p:txBody>
      </p:sp>
      <p:sp>
        <p:nvSpPr>
          <p:cNvPr id="20" name="Rectangle 19"/>
          <p:cNvSpPr/>
          <p:nvPr/>
        </p:nvSpPr>
        <p:spPr>
          <a:xfrm>
            <a:off x="4197096" y="2807208"/>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Content safety</a:t>
            </a:r>
          </a:p>
        </p:txBody>
      </p:sp>
      <p:sp>
        <p:nvSpPr>
          <p:cNvPr id="21" name="Rectangle 20"/>
          <p:cNvSpPr/>
          <p:nvPr/>
        </p:nvSpPr>
        <p:spPr>
          <a:xfrm>
            <a:off x="2770632" y="3227832"/>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Semantic cache</a:t>
            </a:r>
          </a:p>
        </p:txBody>
      </p:sp>
      <p:sp>
        <p:nvSpPr>
          <p:cNvPr id="22" name="Rectangle 21"/>
          <p:cNvSpPr/>
          <p:nvPr/>
        </p:nvSpPr>
        <p:spPr>
          <a:xfrm>
            <a:off x="4197096" y="3227832"/>
            <a:ext cx="1353312"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Load balancing</a:t>
            </a:r>
          </a:p>
        </p:txBody>
      </p:sp>
      <p:sp>
        <p:nvSpPr>
          <p:cNvPr id="23" name="Rectangle 22"/>
          <p:cNvSpPr/>
          <p:nvPr/>
        </p:nvSpPr>
        <p:spPr>
          <a:xfrm>
            <a:off x="2770632" y="3648456"/>
            <a:ext cx="2779776" cy="347472"/>
          </a:xfrm>
          <a:prstGeom prst="rect">
            <a:avLst/>
          </a:prstGeom>
          <a:solidFill>
            <a:srgbClr val="FFFFFF"/>
          </a:solidFill>
          <a:ln>
            <a:noFill/>
          </a:ln>
          <a:effectLst/>
        </p:spPr>
        <p:txBody>
          <a:bodyPr wrap="square" lIns="54864" tIns="18288" rIns="54864" bIns="18288" rtlCol="0" anchor="ctr"/>
          <a:lstStyle/>
          <a:p>
            <a:pPr algn="ctr">
              <a:lnSpc>
                <a:spcPct val="100000"/>
              </a:lnSpc>
            </a:pPr>
            <a:r>
              <a:rPr sz="800" b="0" i="0" dirty="0">
                <a:solidFill>
                  <a:srgbClr val="101A3C"/>
                </a:solidFill>
                <a:latin typeface="Segoe UI"/>
                <a:cs typeface="Segoe UI"/>
              </a:rPr>
              <a:t>Managed identity to backends</a:t>
            </a:r>
          </a:p>
        </p:txBody>
      </p:sp>
      <p:cxnSp>
        <p:nvCxnSpPr>
          <p:cNvPr id="24" name="Connector 23"/>
          <p:cNvCxnSpPr/>
          <p:nvPr/>
        </p:nvCxnSpPr>
        <p:spPr>
          <a:xfrm>
            <a:off x="2103120" y="3063240"/>
            <a:ext cx="502920" cy="0"/>
          </a:xfrm>
          <a:prstGeom prst="line">
            <a:avLst/>
          </a:prstGeom>
          <a:ln w="13970">
            <a:solidFill>
              <a:srgbClr val="44495B"/>
            </a:solidFill>
            <a:tailEnd type="triangle" w="med" len="med"/>
          </a:ln>
        </p:spPr>
      </p:cxnSp>
      <p:sp>
        <p:nvSpPr>
          <p:cNvPr id="25" name="Oval 24"/>
          <p:cNvSpPr/>
          <p:nvPr/>
        </p:nvSpPr>
        <p:spPr>
          <a:xfrm>
            <a:off x="2249424" y="295808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26" name="Rectangle 25"/>
          <p:cNvSpPr/>
          <p:nvPr/>
        </p:nvSpPr>
        <p:spPr>
          <a:xfrm>
            <a:off x="6492240" y="1325880"/>
            <a:ext cx="2514600" cy="1188720"/>
          </a:xfrm>
          <a:prstGeom prst="rect">
            <a:avLst/>
          </a:prstGeom>
          <a:noFill/>
          <a:ln w="9525">
            <a:solidFill>
              <a:srgbClr val="44495B"/>
            </a:solidFill>
            <a:prstDash val="dash"/>
          </a:ln>
          <a:effectLst/>
        </p:spPr>
        <p:txBody>
          <a:bodyPr wrap="square" rtlCol="0" anchor="ctr"/>
          <a:lstStyle/>
          <a:p>
            <a:endParaRPr/>
          </a:p>
        </p:txBody>
      </p:sp>
      <p:sp>
        <p:nvSpPr>
          <p:cNvPr id="27" name="TextBox 26"/>
          <p:cNvSpPr txBox="1"/>
          <p:nvPr/>
        </p:nvSpPr>
        <p:spPr>
          <a:xfrm>
            <a:off x="6601968" y="1380744"/>
            <a:ext cx="2331720" cy="164592"/>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Foundry resource</a:t>
            </a:r>
          </a:p>
        </p:txBody>
      </p:sp>
      <p:sp>
        <p:nvSpPr>
          <p:cNvPr id="28" name="Rectangle 27"/>
          <p:cNvSpPr/>
          <p:nvPr/>
        </p:nvSpPr>
        <p:spPr>
          <a:xfrm>
            <a:off x="6601968" y="1645920"/>
            <a:ext cx="1115568" cy="713232"/>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Project A</a:t>
            </a:r>
          </a:p>
          <a:p>
            <a:pPr algn="ctr">
              <a:lnSpc>
                <a:spcPct val="110000"/>
              </a:lnSpc>
            </a:pPr>
            <a:r>
              <a:rPr sz="750" b="0" i="0" dirty="0">
                <a:solidFill>
                  <a:srgbClr val="44495B"/>
                </a:solidFill>
                <a:latin typeface="Segoe UI"/>
                <a:cs typeface="Segoe UI"/>
              </a:rPr>
              <a:t>model
deployments</a:t>
            </a:r>
          </a:p>
        </p:txBody>
      </p:sp>
      <p:sp>
        <p:nvSpPr>
          <p:cNvPr id="29" name="Rectangle 28"/>
          <p:cNvSpPr/>
          <p:nvPr/>
        </p:nvSpPr>
        <p:spPr>
          <a:xfrm>
            <a:off x="7772400" y="1645920"/>
            <a:ext cx="1115568" cy="713232"/>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Project B</a:t>
            </a:r>
          </a:p>
          <a:p>
            <a:pPr algn="ctr">
              <a:lnSpc>
                <a:spcPct val="110000"/>
              </a:lnSpc>
            </a:pPr>
            <a:r>
              <a:rPr sz="750" b="0" i="0" dirty="0">
                <a:solidFill>
                  <a:srgbClr val="44495B"/>
                </a:solidFill>
                <a:latin typeface="Segoe UI"/>
                <a:cs typeface="Segoe UI"/>
              </a:rPr>
              <a:t>model
deployments</a:t>
            </a:r>
          </a:p>
        </p:txBody>
      </p:sp>
      <p:sp>
        <p:nvSpPr>
          <p:cNvPr id="30" name="Rectangle 29"/>
          <p:cNvSpPr/>
          <p:nvPr/>
        </p:nvSpPr>
        <p:spPr>
          <a:xfrm>
            <a:off x="6492240" y="2724912"/>
            <a:ext cx="2514600" cy="6400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MCP servers</a:t>
            </a:r>
          </a:p>
          <a:p>
            <a:pPr algn="ctr">
              <a:lnSpc>
                <a:spcPct val="110000"/>
              </a:lnSpc>
            </a:pPr>
            <a:r>
              <a:rPr sz="750" b="0" i="0" dirty="0">
                <a:solidFill>
                  <a:srgbClr val="44495B"/>
                </a:solidFill>
                <a:latin typeface="Segoe UI"/>
                <a:cs typeface="Segoe UI"/>
              </a:rPr>
              <a:t>new MCP tools created in Foundry</a:t>
            </a:r>
          </a:p>
        </p:txBody>
      </p:sp>
      <p:sp>
        <p:nvSpPr>
          <p:cNvPr id="31" name="Rectangle 30"/>
          <p:cNvSpPr/>
          <p:nvPr/>
        </p:nvSpPr>
        <p:spPr>
          <a:xfrm>
            <a:off x="6492240" y="3547872"/>
            <a:ext cx="2514600" cy="64008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Custom agents</a:t>
            </a:r>
          </a:p>
          <a:p>
            <a:pPr algn="ctr">
              <a:lnSpc>
                <a:spcPct val="110000"/>
              </a:lnSpc>
            </a:pPr>
            <a:r>
              <a:rPr sz="750" b="0" i="0" dirty="0">
                <a:solidFill>
                  <a:srgbClr val="44495B"/>
                </a:solidFill>
                <a:latin typeface="Segoe UI"/>
                <a:cs typeface="Segoe UI"/>
              </a:rPr>
              <a:t>registered in the Control Plane; HTTP or A2A</a:t>
            </a:r>
          </a:p>
        </p:txBody>
      </p:sp>
      <p:cxnSp>
        <p:nvCxnSpPr>
          <p:cNvPr id="32" name="Connector 31"/>
          <p:cNvCxnSpPr/>
          <p:nvPr/>
        </p:nvCxnSpPr>
        <p:spPr>
          <a:xfrm>
            <a:off x="5715000" y="3044952"/>
            <a:ext cx="393192" cy="0"/>
          </a:xfrm>
          <a:prstGeom prst="line">
            <a:avLst/>
          </a:prstGeom>
          <a:ln w="13970">
            <a:solidFill>
              <a:srgbClr val="44495B"/>
            </a:solidFill>
          </a:ln>
        </p:spPr>
      </p:cxnSp>
      <p:sp>
        <p:nvSpPr>
          <p:cNvPr id="33" name="Oval 32"/>
          <p:cNvSpPr/>
          <p:nvPr/>
        </p:nvSpPr>
        <p:spPr>
          <a:xfrm>
            <a:off x="5806440" y="293979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cxnSp>
        <p:nvCxnSpPr>
          <p:cNvPr id="34" name="Connector 33"/>
          <p:cNvCxnSpPr/>
          <p:nvPr/>
        </p:nvCxnSpPr>
        <p:spPr>
          <a:xfrm>
            <a:off x="6108192" y="2002536"/>
            <a:ext cx="0" cy="1865376"/>
          </a:xfrm>
          <a:prstGeom prst="line">
            <a:avLst/>
          </a:prstGeom>
          <a:ln w="13970">
            <a:solidFill>
              <a:srgbClr val="44495B"/>
            </a:solidFill>
          </a:ln>
        </p:spPr>
      </p:cxnSp>
      <p:cxnSp>
        <p:nvCxnSpPr>
          <p:cNvPr id="35" name="Connector 34"/>
          <p:cNvCxnSpPr/>
          <p:nvPr/>
        </p:nvCxnSpPr>
        <p:spPr>
          <a:xfrm>
            <a:off x="6108192" y="2002536"/>
            <a:ext cx="384048" cy="0"/>
          </a:xfrm>
          <a:prstGeom prst="line">
            <a:avLst/>
          </a:prstGeom>
          <a:ln w="13970">
            <a:solidFill>
              <a:srgbClr val="44495B"/>
            </a:solidFill>
            <a:tailEnd type="triangle" w="med" len="med"/>
          </a:ln>
        </p:spPr>
      </p:cxnSp>
      <p:cxnSp>
        <p:nvCxnSpPr>
          <p:cNvPr id="36" name="Connector 35"/>
          <p:cNvCxnSpPr/>
          <p:nvPr/>
        </p:nvCxnSpPr>
        <p:spPr>
          <a:xfrm>
            <a:off x="6108192" y="3044952"/>
            <a:ext cx="384048" cy="0"/>
          </a:xfrm>
          <a:prstGeom prst="line">
            <a:avLst/>
          </a:prstGeom>
          <a:ln w="13970">
            <a:solidFill>
              <a:srgbClr val="44495B"/>
            </a:solidFill>
            <a:tailEnd type="triangle" w="med" len="med"/>
          </a:ln>
        </p:spPr>
      </p:cxnSp>
      <p:cxnSp>
        <p:nvCxnSpPr>
          <p:cNvPr id="37" name="Connector 36"/>
          <p:cNvCxnSpPr/>
          <p:nvPr/>
        </p:nvCxnSpPr>
        <p:spPr>
          <a:xfrm>
            <a:off x="6108192" y="3867912"/>
            <a:ext cx="384048" cy="0"/>
          </a:xfrm>
          <a:prstGeom prst="line">
            <a:avLst/>
          </a:prstGeom>
          <a:ln w="13970">
            <a:solidFill>
              <a:srgbClr val="44495B"/>
            </a:solidFill>
            <a:tailEnd type="triangle" w="med" len="med"/>
          </a:ln>
        </p:spPr>
      </p:cxnSp>
      <p:sp>
        <p:nvSpPr>
          <p:cNvPr id="38" name="Rectangle 37"/>
          <p:cNvSpPr/>
          <p:nvPr/>
        </p:nvSpPr>
        <p:spPr>
          <a:xfrm>
            <a:off x="9418320" y="1325880"/>
            <a:ext cx="2316175" cy="2834640"/>
          </a:xfrm>
          <a:prstGeom prst="rect">
            <a:avLst/>
          </a:prstGeom>
          <a:solidFill>
            <a:srgbClr val="0B1229"/>
          </a:solidFill>
          <a:ln>
            <a:noFill/>
          </a:ln>
          <a:effectLst/>
        </p:spPr>
        <p:txBody>
          <a:bodyPr wrap="square" rtlCol="0" anchor="ctr"/>
          <a:lstStyle/>
          <a:p>
            <a:endParaRPr/>
          </a:p>
        </p:txBody>
      </p:sp>
      <p:sp>
        <p:nvSpPr>
          <p:cNvPr id="39" name="TextBox 38"/>
          <p:cNvSpPr txBox="1"/>
          <p:nvPr/>
        </p:nvSpPr>
        <p:spPr>
          <a:xfrm>
            <a:off x="9555480" y="1417320"/>
            <a:ext cx="2041855" cy="182880"/>
          </a:xfrm>
          <a:prstGeom prst="rect">
            <a:avLst/>
          </a:prstGeom>
          <a:noFill/>
        </p:spPr>
        <p:txBody>
          <a:bodyPr wrap="square" lIns="0" tIns="0" rIns="0" bIns="0" anchor="t">
            <a:spAutoFit/>
          </a:bodyPr>
          <a:lstStyle/>
          <a:p>
            <a:pPr algn="l">
              <a:lnSpc>
                <a:spcPct val="100000"/>
              </a:lnSpc>
            </a:pPr>
            <a:r>
              <a:rPr sz="900" b="1" i="0" dirty="0">
                <a:solidFill>
                  <a:srgbClr val="FFFFFF"/>
                </a:solidFill>
                <a:latin typeface="Segoe UI"/>
                <a:cs typeface="Segoe UI"/>
              </a:rPr>
              <a:t>Governance and operations</a:t>
            </a:r>
          </a:p>
        </p:txBody>
      </p:sp>
      <p:sp>
        <p:nvSpPr>
          <p:cNvPr id="40" name="Rectangle 39"/>
          <p:cNvSpPr/>
          <p:nvPr/>
        </p:nvSpPr>
        <p:spPr>
          <a:xfrm>
            <a:off x="9555480" y="1755648"/>
            <a:ext cx="2041855" cy="65836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Foundry Control Plane*</a:t>
            </a:r>
          </a:p>
          <a:p>
            <a:pPr algn="ctr">
              <a:lnSpc>
                <a:spcPct val="110000"/>
              </a:lnSpc>
            </a:pPr>
            <a:r>
              <a:rPr sz="750" b="0" i="0" dirty="0">
                <a:solidFill>
                  <a:srgbClr val="44495B"/>
                </a:solidFill>
                <a:latin typeface="Segoe UI"/>
                <a:cs typeface="Segoe UI"/>
              </a:rPr>
              <a:t>inventory, compliance</a:t>
            </a:r>
          </a:p>
        </p:txBody>
      </p:sp>
      <p:sp>
        <p:nvSpPr>
          <p:cNvPr id="41" name="Rectangle 40"/>
          <p:cNvSpPr/>
          <p:nvPr/>
        </p:nvSpPr>
        <p:spPr>
          <a:xfrm>
            <a:off x="9555480" y="2542032"/>
            <a:ext cx="2041855" cy="65836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API Center</a:t>
            </a:r>
          </a:p>
          <a:p>
            <a:pPr algn="ctr">
              <a:lnSpc>
                <a:spcPct val="110000"/>
              </a:lnSpc>
            </a:pPr>
            <a:r>
              <a:rPr sz="750" b="0" i="0" dirty="0">
                <a:solidFill>
                  <a:srgbClr val="44495B"/>
                </a:solidFill>
                <a:latin typeface="Segoe UI"/>
                <a:cs typeface="Segoe UI"/>
              </a:rPr>
              <a:t>registry of MCP servers</a:t>
            </a:r>
          </a:p>
        </p:txBody>
      </p:sp>
      <p:sp>
        <p:nvSpPr>
          <p:cNvPr id="42" name="Rectangle 41"/>
          <p:cNvSpPr/>
          <p:nvPr/>
        </p:nvSpPr>
        <p:spPr>
          <a:xfrm>
            <a:off x="9555480" y="3328415"/>
            <a:ext cx="2041855" cy="65836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Azure Monitor</a:t>
            </a:r>
          </a:p>
          <a:p>
            <a:pPr algn="ctr">
              <a:lnSpc>
                <a:spcPct val="110000"/>
              </a:lnSpc>
            </a:pPr>
            <a:r>
              <a:rPr sz="750" b="0" i="0" dirty="0">
                <a:solidFill>
                  <a:srgbClr val="44495B"/>
                </a:solidFill>
                <a:latin typeface="Segoe UI"/>
                <a:cs typeface="Segoe UI"/>
              </a:rPr>
              <a:t>token metrics and logs</a:t>
            </a:r>
          </a:p>
        </p:txBody>
      </p:sp>
      <p:cxnSp>
        <p:nvCxnSpPr>
          <p:cNvPr id="43" name="Connector 42"/>
          <p:cNvCxnSpPr/>
          <p:nvPr/>
        </p:nvCxnSpPr>
        <p:spPr>
          <a:xfrm>
            <a:off x="4160520" y="4160520"/>
            <a:ext cx="0" cy="274320"/>
          </a:xfrm>
          <a:prstGeom prst="line">
            <a:avLst/>
          </a:prstGeom>
          <a:ln w="13970">
            <a:solidFill>
              <a:srgbClr val="44495B"/>
            </a:solidFill>
            <a:prstDash val="dash"/>
          </a:ln>
        </p:spPr>
      </p:cxnSp>
      <p:cxnSp>
        <p:nvCxnSpPr>
          <p:cNvPr id="44" name="Connector 43"/>
          <p:cNvCxnSpPr/>
          <p:nvPr/>
        </p:nvCxnSpPr>
        <p:spPr>
          <a:xfrm>
            <a:off x="4160520" y="4434840"/>
            <a:ext cx="6415887" cy="0"/>
          </a:xfrm>
          <a:prstGeom prst="line">
            <a:avLst/>
          </a:prstGeom>
          <a:ln w="13970">
            <a:solidFill>
              <a:srgbClr val="44495B"/>
            </a:solidFill>
            <a:prstDash val="dash"/>
          </a:ln>
        </p:spPr>
      </p:cxnSp>
      <p:cxnSp>
        <p:nvCxnSpPr>
          <p:cNvPr id="45" name="Connector 44"/>
          <p:cNvCxnSpPr/>
          <p:nvPr/>
        </p:nvCxnSpPr>
        <p:spPr>
          <a:xfrm flipV="1">
            <a:off x="10576407" y="4160520"/>
            <a:ext cx="0" cy="274320"/>
          </a:xfrm>
          <a:prstGeom prst="line">
            <a:avLst/>
          </a:prstGeom>
          <a:ln w="13970">
            <a:solidFill>
              <a:srgbClr val="44495B"/>
            </a:solidFill>
            <a:prstDash val="dash"/>
            <a:tailEnd type="triangle" w="med" len="med"/>
          </a:ln>
        </p:spPr>
      </p:cxnSp>
      <p:sp>
        <p:nvSpPr>
          <p:cNvPr id="46" name="Oval 45"/>
          <p:cNvSpPr/>
          <p:nvPr/>
        </p:nvSpPr>
        <p:spPr>
          <a:xfrm>
            <a:off x="7621523" y="4329683"/>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47" name="Oval 46"/>
          <p:cNvSpPr/>
          <p:nvPr/>
        </p:nvSpPr>
        <p:spPr>
          <a:xfrm>
            <a:off x="461772"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48" name="TextBox 47"/>
          <p:cNvSpPr txBox="1"/>
          <p:nvPr/>
        </p:nvSpPr>
        <p:spPr>
          <a:xfrm>
            <a:off x="749808"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Callers sign in with Microsoft Entra ID</a:t>
            </a:r>
          </a:p>
        </p:txBody>
      </p:sp>
      <p:sp>
        <p:nvSpPr>
          <p:cNvPr id="49" name="Oval 48"/>
          <p:cNvSpPr/>
          <p:nvPr/>
        </p:nvSpPr>
        <p:spPr>
          <a:xfrm>
            <a:off x="3326815"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sp>
        <p:nvSpPr>
          <p:cNvPr id="50" name="TextBox 49"/>
          <p:cNvSpPr txBox="1"/>
          <p:nvPr/>
        </p:nvSpPr>
        <p:spPr>
          <a:xfrm>
            <a:off x="3614851"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Requests go to the gateway URL, not the backend</a:t>
            </a:r>
          </a:p>
        </p:txBody>
      </p:sp>
      <p:sp>
        <p:nvSpPr>
          <p:cNvPr id="51" name="Oval 50"/>
          <p:cNvSpPr/>
          <p:nvPr/>
        </p:nvSpPr>
        <p:spPr>
          <a:xfrm>
            <a:off x="6191859"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52" name="TextBox 51"/>
          <p:cNvSpPr txBox="1"/>
          <p:nvPr/>
        </p:nvSpPr>
        <p:spPr>
          <a:xfrm>
            <a:off x="6479895"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Policies run; the gateway forwards to the backend</a:t>
            </a:r>
          </a:p>
        </p:txBody>
      </p:sp>
      <p:sp>
        <p:nvSpPr>
          <p:cNvPr id="53" name="Oval 52"/>
          <p:cNvSpPr/>
          <p:nvPr/>
        </p:nvSpPr>
        <p:spPr>
          <a:xfrm>
            <a:off x="9056903" y="4814316"/>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4</a:t>
            </a:r>
          </a:p>
        </p:txBody>
      </p:sp>
      <p:sp>
        <p:nvSpPr>
          <p:cNvPr id="54" name="TextBox 53"/>
          <p:cNvSpPr txBox="1"/>
          <p:nvPr/>
        </p:nvSpPr>
        <p:spPr>
          <a:xfrm>
            <a:off x="9344939" y="4773168"/>
            <a:ext cx="2371267" cy="36576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Token metrics, logs and inventory reach governance services</a:t>
            </a:r>
          </a:p>
        </p:txBody>
      </p:sp>
      <p:sp>
        <p:nvSpPr>
          <p:cNvPr id="55" name="Rectangle 54"/>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6" name="TextBox 55"/>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AI gateway</a:t>
            </a:r>
          </a:p>
        </p:txBody>
      </p:sp>
      <p:sp>
        <p:nvSpPr>
          <p:cNvPr id="57" name="Rectangle 56"/>
          <p:cNvSpPr/>
          <p:nvPr/>
        </p:nvSpPr>
        <p:spPr>
          <a:xfrm>
            <a:off x="1353312"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8" name="TextBox 57"/>
          <p:cNvSpPr txBox="1"/>
          <p:nvPr/>
        </p:nvSpPr>
        <p:spPr>
          <a:xfrm>
            <a:off x="157276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Backend or service</a:t>
            </a:r>
          </a:p>
        </p:txBody>
      </p:sp>
      <p:sp>
        <p:nvSpPr>
          <p:cNvPr id="59" name="Rectangle 58"/>
          <p:cNvSpPr/>
          <p:nvPr/>
        </p:nvSpPr>
        <p:spPr>
          <a:xfrm>
            <a:off x="2688336" y="5545836"/>
            <a:ext cx="146304" cy="91440"/>
          </a:xfrm>
          <a:prstGeom prst="rect">
            <a:avLst/>
          </a:prstGeom>
          <a:solidFill>
            <a:srgbClr val="EBEFF7"/>
          </a:solidFill>
          <a:ln>
            <a:noFill/>
          </a:ln>
          <a:effectLst/>
        </p:spPr>
        <p:txBody>
          <a:bodyPr wrap="square" rtlCol="0" anchor="ctr"/>
          <a:lstStyle/>
          <a:p>
            <a:endParaRPr/>
          </a:p>
        </p:txBody>
      </p:sp>
      <p:sp>
        <p:nvSpPr>
          <p:cNvPr id="60" name="TextBox 59"/>
          <p:cNvSpPr txBox="1"/>
          <p:nvPr/>
        </p:nvSpPr>
        <p:spPr>
          <a:xfrm>
            <a:off x="2907792"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a:t>
            </a:r>
          </a:p>
        </p:txBody>
      </p:sp>
      <p:sp>
        <p:nvSpPr>
          <p:cNvPr id="61" name="Rectangle 60"/>
          <p:cNvSpPr/>
          <p:nvPr/>
        </p:nvSpPr>
        <p:spPr>
          <a:xfrm>
            <a:off x="3364992" y="5545836"/>
            <a:ext cx="146304" cy="91440"/>
          </a:xfrm>
          <a:prstGeom prst="rect">
            <a:avLst/>
          </a:prstGeom>
          <a:solidFill>
            <a:srgbClr val="0B1229"/>
          </a:solidFill>
          <a:ln>
            <a:noFill/>
          </a:ln>
          <a:effectLst/>
        </p:spPr>
        <p:txBody>
          <a:bodyPr wrap="square" rtlCol="0" anchor="ctr"/>
          <a:lstStyle/>
          <a:p>
            <a:endParaRPr/>
          </a:p>
        </p:txBody>
      </p:sp>
      <p:sp>
        <p:nvSpPr>
          <p:cNvPr id="62" name="TextBox 61"/>
          <p:cNvSpPr txBox="1"/>
          <p:nvPr/>
        </p:nvSpPr>
        <p:spPr>
          <a:xfrm>
            <a:off x="358444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Governance layer</a:t>
            </a:r>
          </a:p>
        </p:txBody>
      </p:sp>
      <p:sp>
        <p:nvSpPr>
          <p:cNvPr id="63" name="Rectangle 62"/>
          <p:cNvSpPr/>
          <p:nvPr/>
        </p:nvSpPr>
        <p:spPr>
          <a:xfrm>
            <a:off x="4590288" y="5532120"/>
            <a:ext cx="146304" cy="118872"/>
          </a:xfrm>
          <a:prstGeom prst="rect">
            <a:avLst/>
          </a:prstGeom>
          <a:noFill/>
          <a:ln w="9525">
            <a:solidFill>
              <a:srgbClr val="44495B"/>
            </a:solidFill>
            <a:prstDash val="dash"/>
          </a:ln>
          <a:effectLst/>
        </p:spPr>
        <p:txBody>
          <a:bodyPr wrap="square" rtlCol="0" anchor="ctr"/>
          <a:lstStyle/>
          <a:p>
            <a:endParaRPr/>
          </a:p>
        </p:txBody>
      </p:sp>
      <p:sp>
        <p:nvSpPr>
          <p:cNvPr id="64" name="TextBox 63"/>
          <p:cNvSpPr txBox="1"/>
          <p:nvPr/>
        </p:nvSpPr>
        <p:spPr>
          <a:xfrm>
            <a:off x="480974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Resource</a:t>
            </a:r>
          </a:p>
        </p:txBody>
      </p:sp>
      <p:cxnSp>
        <p:nvCxnSpPr>
          <p:cNvPr id="65" name="Connector 64"/>
          <p:cNvCxnSpPr/>
          <p:nvPr/>
        </p:nvCxnSpPr>
        <p:spPr>
          <a:xfrm>
            <a:off x="5376672" y="5591556"/>
            <a:ext cx="164592" cy="0"/>
          </a:xfrm>
          <a:prstGeom prst="line">
            <a:avLst/>
          </a:prstGeom>
          <a:ln w="13970">
            <a:solidFill>
              <a:srgbClr val="44495B"/>
            </a:solidFill>
          </a:ln>
        </p:spPr>
      </p:cxnSp>
      <p:sp>
        <p:nvSpPr>
          <p:cNvPr id="66" name="TextBox 65"/>
          <p:cNvSpPr txBox="1"/>
          <p:nvPr/>
        </p:nvSpPr>
        <p:spPr>
          <a:xfrm>
            <a:off x="559612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a:t>
            </a:r>
          </a:p>
        </p:txBody>
      </p:sp>
      <p:cxnSp>
        <p:nvCxnSpPr>
          <p:cNvPr id="67" name="Connector 66"/>
          <p:cNvCxnSpPr/>
          <p:nvPr/>
        </p:nvCxnSpPr>
        <p:spPr>
          <a:xfrm>
            <a:off x="6108192" y="5591556"/>
            <a:ext cx="164592" cy="0"/>
          </a:xfrm>
          <a:prstGeom prst="line">
            <a:avLst/>
          </a:prstGeom>
          <a:ln w="13970">
            <a:solidFill>
              <a:srgbClr val="44495B"/>
            </a:solidFill>
            <a:prstDash val="dash"/>
          </a:ln>
        </p:spPr>
      </p:cxnSp>
      <p:sp>
        <p:nvSpPr>
          <p:cNvPr id="68" name="TextBox 67"/>
          <p:cNvSpPr txBox="1"/>
          <p:nvPr/>
        </p:nvSpPr>
        <p:spPr>
          <a:xfrm>
            <a:off x="632764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Identity, telemetry</a:t>
            </a:r>
          </a:p>
        </p:txBody>
      </p:sp>
      <p:sp>
        <p:nvSpPr>
          <p:cNvPr id="69" name="TextBox 68"/>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GOVERNING MODELS, TOOLS AND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Model governance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Token limits, usage metrics, content safety and resilience applied to model traffic at the gateway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learn.microsoft.com/azure/api-management/llm-token-limit-policy · llm-emit-token-metric-policy</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5</a:t>
            </a:r>
          </a:p>
        </p:txBody>
      </p:sp>
      <p:sp>
        <p:nvSpPr>
          <p:cNvPr id="7" name="Rectangle 6"/>
          <p:cNvSpPr/>
          <p:nvPr/>
        </p:nvSpPr>
        <p:spPr>
          <a:xfrm>
            <a:off x="457200" y="1353312"/>
            <a:ext cx="6537960"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12471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Control</a:t>
            </a:r>
          </a:p>
        </p:txBody>
      </p:sp>
      <p:sp>
        <p:nvSpPr>
          <p:cNvPr id="9" name="TextBox 8"/>
          <p:cNvSpPr txBox="1"/>
          <p:nvPr/>
        </p:nvSpPr>
        <p:spPr>
          <a:xfrm>
            <a:off x="1892808" y="1431036"/>
            <a:ext cx="210540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Policy or setting</a:t>
            </a:r>
          </a:p>
        </p:txBody>
      </p:sp>
      <p:sp>
        <p:nvSpPr>
          <p:cNvPr id="10" name="TextBox 9"/>
          <p:cNvSpPr txBox="1"/>
          <p:nvPr/>
        </p:nvSpPr>
        <p:spPr>
          <a:xfrm>
            <a:off x="4181094" y="1431036"/>
            <a:ext cx="2759202"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Effect</a:t>
            </a:r>
          </a:p>
        </p:txBody>
      </p:sp>
      <p:sp>
        <p:nvSpPr>
          <p:cNvPr id="11" name="Rectangle 10"/>
          <p:cNvSpPr/>
          <p:nvPr/>
        </p:nvSpPr>
        <p:spPr>
          <a:xfrm>
            <a:off x="457200" y="1664208"/>
            <a:ext cx="6537960" cy="489204"/>
          </a:xfrm>
          <a:prstGeom prst="rect">
            <a:avLst/>
          </a:prstGeom>
          <a:solidFill>
            <a:srgbClr val="F6F8FD"/>
          </a:solidFill>
          <a:ln>
            <a:noFill/>
          </a:ln>
          <a:effectLst/>
        </p:spPr>
        <p:txBody>
          <a:bodyPr wrap="square" rtlCol="0" anchor="ctr"/>
          <a:lstStyle/>
          <a:p>
            <a:endParaRPr/>
          </a:p>
        </p:txBody>
      </p:sp>
      <p:cxnSp>
        <p:nvCxnSpPr>
          <p:cNvPr id="12" name="Connector 11"/>
          <p:cNvCxnSpPr/>
          <p:nvPr/>
        </p:nvCxnSpPr>
        <p:spPr>
          <a:xfrm>
            <a:off x="457200" y="2153412"/>
            <a:ext cx="6537960" cy="0"/>
          </a:xfrm>
          <a:prstGeom prst="line">
            <a:avLst/>
          </a:prstGeom>
          <a:ln w="9525">
            <a:solidFill>
              <a:srgbClr val="E1E7F4"/>
            </a:solidFill>
          </a:ln>
        </p:spPr>
      </p:cxnSp>
      <p:sp>
        <p:nvSpPr>
          <p:cNvPr id="13" name="TextBox 12"/>
          <p:cNvSpPr txBox="1"/>
          <p:nvPr/>
        </p:nvSpPr>
        <p:spPr>
          <a:xfrm>
            <a:off x="585216" y="1714500"/>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Token rate limit</a:t>
            </a:r>
          </a:p>
        </p:txBody>
      </p:sp>
      <p:sp>
        <p:nvSpPr>
          <p:cNvPr id="14" name="TextBox 13"/>
          <p:cNvSpPr txBox="1"/>
          <p:nvPr/>
        </p:nvSpPr>
        <p:spPr>
          <a:xfrm>
            <a:off x="1892808" y="1714500"/>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llm-token-limit, tokens-per-minute</a:t>
            </a:r>
          </a:p>
        </p:txBody>
      </p:sp>
      <p:sp>
        <p:nvSpPr>
          <p:cNvPr id="15" name="TextBox 14"/>
          <p:cNvSpPr txBox="1"/>
          <p:nvPr/>
        </p:nvSpPr>
        <p:spPr>
          <a:xfrm>
            <a:off x="4181094" y="1714500"/>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Over the limit: 429 Too Many Requests</a:t>
            </a:r>
          </a:p>
        </p:txBody>
      </p:sp>
      <p:cxnSp>
        <p:nvCxnSpPr>
          <p:cNvPr id="16" name="Connector 15"/>
          <p:cNvCxnSpPr/>
          <p:nvPr/>
        </p:nvCxnSpPr>
        <p:spPr>
          <a:xfrm>
            <a:off x="457200" y="2642616"/>
            <a:ext cx="6537960" cy="0"/>
          </a:xfrm>
          <a:prstGeom prst="line">
            <a:avLst/>
          </a:prstGeom>
          <a:ln w="9525">
            <a:solidFill>
              <a:srgbClr val="E1E7F4"/>
            </a:solidFill>
          </a:ln>
        </p:spPr>
      </p:cxnSp>
      <p:sp>
        <p:nvSpPr>
          <p:cNvPr id="17" name="TextBox 16"/>
          <p:cNvSpPr txBox="1"/>
          <p:nvPr/>
        </p:nvSpPr>
        <p:spPr>
          <a:xfrm>
            <a:off x="585216" y="2203704"/>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Token quota</a:t>
            </a:r>
          </a:p>
        </p:txBody>
      </p:sp>
      <p:sp>
        <p:nvSpPr>
          <p:cNvPr id="18" name="TextBox 17"/>
          <p:cNvSpPr txBox="1"/>
          <p:nvPr/>
        </p:nvSpPr>
        <p:spPr>
          <a:xfrm>
            <a:off x="1892808" y="2203704"/>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token-quota, token-quota-period</a:t>
            </a:r>
          </a:p>
        </p:txBody>
      </p:sp>
      <p:sp>
        <p:nvSpPr>
          <p:cNvPr id="19" name="TextBox 18"/>
          <p:cNvSpPr txBox="1"/>
          <p:nvPr/>
        </p:nvSpPr>
        <p:spPr>
          <a:xfrm>
            <a:off x="4181094" y="2203704"/>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Hourly to yearly cap; over the quota: 403 Forbidden</a:t>
            </a:r>
          </a:p>
        </p:txBody>
      </p:sp>
      <p:sp>
        <p:nvSpPr>
          <p:cNvPr id="20" name="Rectangle 19"/>
          <p:cNvSpPr/>
          <p:nvPr/>
        </p:nvSpPr>
        <p:spPr>
          <a:xfrm>
            <a:off x="457200" y="2642616"/>
            <a:ext cx="6537960" cy="489204"/>
          </a:xfrm>
          <a:prstGeom prst="rect">
            <a:avLst/>
          </a:prstGeom>
          <a:solidFill>
            <a:srgbClr val="F6F8FD"/>
          </a:solidFill>
          <a:ln>
            <a:noFill/>
          </a:ln>
          <a:effectLst/>
        </p:spPr>
        <p:txBody>
          <a:bodyPr wrap="square" rtlCol="0" anchor="ctr"/>
          <a:lstStyle/>
          <a:p>
            <a:endParaRPr/>
          </a:p>
        </p:txBody>
      </p:sp>
      <p:cxnSp>
        <p:nvCxnSpPr>
          <p:cNvPr id="21" name="Connector 20"/>
          <p:cNvCxnSpPr/>
          <p:nvPr/>
        </p:nvCxnSpPr>
        <p:spPr>
          <a:xfrm>
            <a:off x="457200" y="3131820"/>
            <a:ext cx="6537960" cy="0"/>
          </a:xfrm>
          <a:prstGeom prst="line">
            <a:avLst/>
          </a:prstGeom>
          <a:ln w="9525">
            <a:solidFill>
              <a:srgbClr val="E1E7F4"/>
            </a:solidFill>
          </a:ln>
        </p:spPr>
      </p:cxnSp>
      <p:sp>
        <p:nvSpPr>
          <p:cNvPr id="22" name="TextBox 21"/>
          <p:cNvSpPr txBox="1"/>
          <p:nvPr/>
        </p:nvSpPr>
        <p:spPr>
          <a:xfrm>
            <a:off x="585216" y="2692908"/>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Token metrics</a:t>
            </a:r>
          </a:p>
        </p:txBody>
      </p:sp>
      <p:sp>
        <p:nvSpPr>
          <p:cNvPr id="23" name="TextBox 22"/>
          <p:cNvSpPr txBox="1"/>
          <p:nvPr/>
        </p:nvSpPr>
        <p:spPr>
          <a:xfrm>
            <a:off x="1892808" y="2692908"/>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llm-emit-token-metric</a:t>
            </a:r>
          </a:p>
        </p:txBody>
      </p:sp>
      <p:sp>
        <p:nvSpPr>
          <p:cNvPr id="24" name="TextBox 23"/>
          <p:cNvSpPr txBox="1"/>
          <p:nvPr/>
        </p:nvSpPr>
        <p:spPr>
          <a:xfrm>
            <a:off x="4181094" y="2692908"/>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 counts in Azure Monitor, up to five custom dimensions</a:t>
            </a:r>
          </a:p>
        </p:txBody>
      </p:sp>
      <p:cxnSp>
        <p:nvCxnSpPr>
          <p:cNvPr id="25" name="Connector 24"/>
          <p:cNvCxnSpPr/>
          <p:nvPr/>
        </p:nvCxnSpPr>
        <p:spPr>
          <a:xfrm>
            <a:off x="457200" y="3621024"/>
            <a:ext cx="6537960" cy="0"/>
          </a:xfrm>
          <a:prstGeom prst="line">
            <a:avLst/>
          </a:prstGeom>
          <a:ln w="9525">
            <a:solidFill>
              <a:srgbClr val="E1E7F4"/>
            </a:solidFill>
          </a:ln>
        </p:spPr>
      </p:cxnSp>
      <p:sp>
        <p:nvSpPr>
          <p:cNvPr id="26" name="TextBox 25"/>
          <p:cNvSpPr txBox="1"/>
          <p:nvPr/>
        </p:nvSpPr>
        <p:spPr>
          <a:xfrm>
            <a:off x="585216" y="3182112"/>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Content safety</a:t>
            </a:r>
          </a:p>
        </p:txBody>
      </p:sp>
      <p:sp>
        <p:nvSpPr>
          <p:cNvPr id="27" name="TextBox 26"/>
          <p:cNvSpPr txBox="1"/>
          <p:nvPr/>
        </p:nvSpPr>
        <p:spPr>
          <a:xfrm>
            <a:off x="1892808" y="3182112"/>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llm-content-safety</a:t>
            </a:r>
          </a:p>
        </p:txBody>
      </p:sp>
      <p:sp>
        <p:nvSpPr>
          <p:cNvPr id="28" name="TextBox 27"/>
          <p:cNvSpPr txBox="1"/>
          <p:nvPr/>
        </p:nvSpPr>
        <p:spPr>
          <a:xfrm>
            <a:off x="4181094" y="3182112"/>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Prompts checked with Azure AI Content Safety; blocked with 403</a:t>
            </a:r>
          </a:p>
        </p:txBody>
      </p:sp>
      <p:sp>
        <p:nvSpPr>
          <p:cNvPr id="29" name="Rectangle 28"/>
          <p:cNvSpPr/>
          <p:nvPr/>
        </p:nvSpPr>
        <p:spPr>
          <a:xfrm>
            <a:off x="457200" y="3621024"/>
            <a:ext cx="6537960" cy="48920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4110228"/>
            <a:ext cx="6537960" cy="0"/>
          </a:xfrm>
          <a:prstGeom prst="line">
            <a:avLst/>
          </a:prstGeom>
          <a:ln w="9525">
            <a:solidFill>
              <a:srgbClr val="E1E7F4"/>
            </a:solidFill>
          </a:ln>
        </p:spPr>
      </p:cxnSp>
      <p:sp>
        <p:nvSpPr>
          <p:cNvPr id="31" name="TextBox 30"/>
          <p:cNvSpPr txBox="1"/>
          <p:nvPr/>
        </p:nvSpPr>
        <p:spPr>
          <a:xfrm>
            <a:off x="585216" y="3671316"/>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Semantic caching</a:t>
            </a:r>
          </a:p>
        </p:txBody>
      </p:sp>
      <p:sp>
        <p:nvSpPr>
          <p:cNvPr id="32" name="TextBox 31"/>
          <p:cNvSpPr txBox="1"/>
          <p:nvPr/>
        </p:nvSpPr>
        <p:spPr>
          <a:xfrm>
            <a:off x="1892808" y="3671316"/>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llm-semantic-cache-lookup / -store</a:t>
            </a:r>
          </a:p>
        </p:txBody>
      </p:sp>
      <p:sp>
        <p:nvSpPr>
          <p:cNvPr id="33" name="TextBox 32"/>
          <p:cNvSpPr txBox="1"/>
          <p:nvPr/>
        </p:nvSpPr>
        <p:spPr>
          <a:xfrm>
            <a:off x="4181094" y="3671316"/>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Similar prompts served from cache; needs a Redis-compatible cache</a:t>
            </a:r>
          </a:p>
        </p:txBody>
      </p:sp>
      <p:cxnSp>
        <p:nvCxnSpPr>
          <p:cNvPr id="34" name="Connector 33"/>
          <p:cNvCxnSpPr/>
          <p:nvPr/>
        </p:nvCxnSpPr>
        <p:spPr>
          <a:xfrm>
            <a:off x="457200" y="4599432"/>
            <a:ext cx="6537960" cy="0"/>
          </a:xfrm>
          <a:prstGeom prst="line">
            <a:avLst/>
          </a:prstGeom>
          <a:ln w="9525">
            <a:solidFill>
              <a:srgbClr val="E1E7F4"/>
            </a:solidFill>
          </a:ln>
        </p:spPr>
      </p:cxnSp>
      <p:sp>
        <p:nvSpPr>
          <p:cNvPr id="35" name="TextBox 34"/>
          <p:cNvSpPr txBox="1"/>
          <p:nvPr/>
        </p:nvSpPr>
        <p:spPr>
          <a:xfrm>
            <a:off x="585216" y="4160520"/>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Load balancing</a:t>
            </a:r>
          </a:p>
        </p:txBody>
      </p:sp>
      <p:sp>
        <p:nvSpPr>
          <p:cNvPr id="36" name="TextBox 35"/>
          <p:cNvSpPr txBox="1"/>
          <p:nvPr/>
        </p:nvSpPr>
        <p:spPr>
          <a:xfrm>
            <a:off x="1892808" y="4160520"/>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Backend pool and circuit breaker</a:t>
            </a:r>
          </a:p>
        </p:txBody>
      </p:sp>
      <p:sp>
        <p:nvSpPr>
          <p:cNvPr id="37" name="TextBox 36"/>
          <p:cNvSpPr txBox="1"/>
          <p:nvPr/>
        </p:nvSpPr>
        <p:spPr>
          <a:xfrm>
            <a:off x="4181094" y="4160520"/>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Round-robin, weighted or priority; trips on Retry-After</a:t>
            </a:r>
          </a:p>
        </p:txBody>
      </p:sp>
      <p:sp>
        <p:nvSpPr>
          <p:cNvPr id="38" name="Rectangle 37"/>
          <p:cNvSpPr/>
          <p:nvPr/>
        </p:nvSpPr>
        <p:spPr>
          <a:xfrm>
            <a:off x="457200" y="4599432"/>
            <a:ext cx="6537960" cy="489204"/>
          </a:xfrm>
          <a:prstGeom prst="rect">
            <a:avLst/>
          </a:prstGeom>
          <a:solidFill>
            <a:srgbClr val="F6F8FD"/>
          </a:solidFill>
          <a:ln>
            <a:noFill/>
          </a:ln>
          <a:effectLst/>
        </p:spPr>
        <p:txBody>
          <a:bodyPr wrap="square" rtlCol="0" anchor="ctr"/>
          <a:lstStyle/>
          <a:p>
            <a:endParaRPr/>
          </a:p>
        </p:txBody>
      </p:sp>
      <p:cxnSp>
        <p:nvCxnSpPr>
          <p:cNvPr id="39" name="Connector 38"/>
          <p:cNvCxnSpPr/>
          <p:nvPr/>
        </p:nvCxnSpPr>
        <p:spPr>
          <a:xfrm>
            <a:off x="457200" y="5088636"/>
            <a:ext cx="6537960" cy="0"/>
          </a:xfrm>
          <a:prstGeom prst="line">
            <a:avLst/>
          </a:prstGeom>
          <a:ln w="9525">
            <a:solidFill>
              <a:srgbClr val="E1E7F4"/>
            </a:solidFill>
          </a:ln>
        </p:spPr>
      </p:cxnSp>
      <p:sp>
        <p:nvSpPr>
          <p:cNvPr id="40" name="TextBox 39"/>
          <p:cNvSpPr txBox="1"/>
          <p:nvPr/>
        </p:nvSpPr>
        <p:spPr>
          <a:xfrm>
            <a:off x="585216" y="4649724"/>
            <a:ext cx="1088136" cy="40690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Authentication</a:t>
            </a:r>
          </a:p>
        </p:txBody>
      </p:sp>
      <p:sp>
        <p:nvSpPr>
          <p:cNvPr id="41" name="TextBox 40"/>
          <p:cNvSpPr txBox="1"/>
          <p:nvPr/>
        </p:nvSpPr>
        <p:spPr>
          <a:xfrm>
            <a:off x="1892808" y="4649724"/>
            <a:ext cx="2068830"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Managed identity to the backend</a:t>
            </a:r>
          </a:p>
        </p:txBody>
      </p:sp>
      <p:sp>
        <p:nvSpPr>
          <p:cNvPr id="42" name="TextBox 41"/>
          <p:cNvSpPr txBox="1"/>
          <p:nvPr/>
        </p:nvSpPr>
        <p:spPr>
          <a:xfrm>
            <a:off x="4181094" y="4649724"/>
            <a:ext cx="2722626" cy="40690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model keys held by clients</a:t>
            </a:r>
          </a:p>
        </p:txBody>
      </p:sp>
      <p:cxnSp>
        <p:nvCxnSpPr>
          <p:cNvPr id="43" name="Connector 42"/>
          <p:cNvCxnSpPr/>
          <p:nvPr/>
        </p:nvCxnSpPr>
        <p:spPr>
          <a:xfrm>
            <a:off x="1764792" y="1664208"/>
            <a:ext cx="0" cy="3424428"/>
          </a:xfrm>
          <a:prstGeom prst="line">
            <a:avLst/>
          </a:prstGeom>
          <a:ln w="9525">
            <a:solidFill>
              <a:srgbClr val="E1E7F4"/>
            </a:solidFill>
          </a:ln>
        </p:spPr>
      </p:cxnSp>
      <p:cxnSp>
        <p:nvCxnSpPr>
          <p:cNvPr id="44" name="Connector 43"/>
          <p:cNvCxnSpPr/>
          <p:nvPr/>
        </p:nvCxnSpPr>
        <p:spPr>
          <a:xfrm>
            <a:off x="4053078" y="1664208"/>
            <a:ext cx="0" cy="3424428"/>
          </a:xfrm>
          <a:prstGeom prst="line">
            <a:avLst/>
          </a:prstGeom>
          <a:ln w="9525">
            <a:solidFill>
              <a:srgbClr val="E1E7F4"/>
            </a:solidFill>
          </a:ln>
        </p:spPr>
      </p:cxnSp>
      <p:sp>
        <p:nvSpPr>
          <p:cNvPr id="45" name="Rectangle 44"/>
          <p:cNvSpPr/>
          <p:nvPr/>
        </p:nvSpPr>
        <p:spPr>
          <a:xfrm>
            <a:off x="7269480" y="1353312"/>
            <a:ext cx="4465015" cy="2852928"/>
          </a:xfrm>
          <a:prstGeom prst="rect">
            <a:avLst/>
          </a:prstGeom>
          <a:solidFill>
            <a:srgbClr val="0B1229"/>
          </a:solidFill>
          <a:ln>
            <a:noFill/>
          </a:ln>
          <a:effectLst/>
        </p:spPr>
        <p:txBody>
          <a:bodyPr wrap="square" rtlCol="0" anchor="ctr"/>
          <a:lstStyle/>
          <a:p>
            <a:endParaRPr/>
          </a:p>
        </p:txBody>
      </p:sp>
      <p:sp>
        <p:nvSpPr>
          <p:cNvPr id="46" name="TextBox 45"/>
          <p:cNvSpPr txBox="1"/>
          <p:nvPr/>
        </p:nvSpPr>
        <p:spPr>
          <a:xfrm>
            <a:off x="7488936" y="1499616"/>
            <a:ext cx="4026103" cy="164592"/>
          </a:xfrm>
          <a:prstGeom prst="rect">
            <a:avLst/>
          </a:prstGeom>
          <a:noFill/>
        </p:spPr>
        <p:txBody>
          <a:bodyPr wrap="square" lIns="0" tIns="0" rIns="0" bIns="0" anchor="t">
            <a:spAutoFit/>
          </a:bodyPr>
          <a:lstStyle/>
          <a:p>
            <a:pPr algn="l">
              <a:lnSpc>
                <a:spcPct val="100000"/>
              </a:lnSpc>
            </a:pPr>
            <a:r>
              <a:rPr sz="750" b="1" i="0" spc="110" dirty="0">
                <a:solidFill>
                  <a:srgbClr val="00B39F"/>
                </a:solidFill>
                <a:latin typeface="Segoe UI"/>
                <a:cs typeface="Segoe UI"/>
              </a:rPr>
              <a:t>EXAMPLE · API MANAGEMENT POLICY (ILLUSTRATIVE)</a:t>
            </a:r>
          </a:p>
        </p:txBody>
      </p:sp>
      <p:sp>
        <p:nvSpPr>
          <p:cNvPr id="47" name="TextBox 46"/>
          <p:cNvSpPr txBox="1"/>
          <p:nvPr/>
        </p:nvSpPr>
        <p:spPr>
          <a:xfrm>
            <a:off x="7488936" y="1737360"/>
            <a:ext cx="4026103" cy="2340864"/>
          </a:xfrm>
          <a:prstGeom prst="rect">
            <a:avLst/>
          </a:prstGeom>
          <a:noFill/>
        </p:spPr>
        <p:txBody>
          <a:bodyPr wrap="none" lIns="0" tIns="0" rIns="0" bIns="0" anchor="t">
            <a:spAutoFit/>
          </a:bodyPr>
          <a:lstStyle/>
          <a:p>
            <a:pPr algn="l">
              <a:lnSpc>
                <a:spcPct val="128000"/>
              </a:lnSpc>
            </a:pPr>
            <a:r>
              <a:rPr sz="800" b="0" i="0" dirty="0">
                <a:solidFill>
                  <a:srgbClr val="D6DEEE"/>
                </a:solidFill>
                <a:latin typeface="Consolas"/>
                <a:cs typeface="Consolas"/>
              </a:rPr>
              <a:t>&lt;inbound&gt;</a:t>
            </a:r>
          </a:p>
          <a:p>
            <a:pPr algn="l">
              <a:lnSpc>
                <a:spcPct val="128000"/>
              </a:lnSpc>
            </a:pPr>
            <a:r>
              <a:rPr sz="800" b="0" i="0" dirty="0">
                <a:solidFill>
                  <a:srgbClr val="D6DEEE"/>
                </a:solidFill>
                <a:latin typeface="Consolas"/>
                <a:cs typeface="Consolas"/>
              </a:rPr>
              <a:t>  &lt;base /&gt;</a:t>
            </a:r>
          </a:p>
          <a:p>
            <a:pPr algn="l">
              <a:lnSpc>
                <a:spcPct val="128000"/>
              </a:lnSpc>
            </a:pPr>
            <a:r>
              <a:rPr sz="800" b="0" i="0" dirty="0">
                <a:solidFill>
                  <a:srgbClr val="D6DEEE"/>
                </a:solidFill>
                <a:latin typeface="Consolas"/>
                <a:cs typeface="Consolas"/>
              </a:rPr>
              <a:t>  &lt;authentication-managed-identity</a:t>
            </a:r>
          </a:p>
          <a:p>
            <a:pPr algn="l">
              <a:lnSpc>
                <a:spcPct val="128000"/>
              </a:lnSpc>
            </a:pPr>
            <a:r>
              <a:rPr sz="800" b="0" i="0" dirty="0">
                <a:solidFill>
                  <a:srgbClr val="D6DEEE"/>
                </a:solidFill>
                <a:latin typeface="Consolas"/>
                <a:cs typeface="Consolas"/>
              </a:rPr>
              <a:t>      resource="https://cognitiveservices.azure.com" /&gt;</a:t>
            </a:r>
          </a:p>
          <a:p>
            <a:pPr algn="l">
              <a:lnSpc>
                <a:spcPct val="128000"/>
              </a:lnSpc>
            </a:pPr>
            <a:r>
              <a:rPr sz="800" b="0" i="0" dirty="0">
                <a:solidFill>
                  <a:srgbClr val="D6DEEE"/>
                </a:solidFill>
                <a:latin typeface="Consolas"/>
                <a:cs typeface="Consolas"/>
              </a:rPr>
              <a:t>  &lt;llm-token-limit</a:t>
            </a:r>
          </a:p>
          <a:p>
            <a:pPr algn="l">
              <a:lnSpc>
                <a:spcPct val="128000"/>
              </a:lnSpc>
            </a:pPr>
            <a:r>
              <a:rPr sz="800" b="0" i="0" dirty="0">
                <a:solidFill>
                  <a:srgbClr val="D6DEEE"/>
                </a:solidFill>
                <a:latin typeface="Consolas"/>
                <a:cs typeface="Consolas"/>
              </a:rPr>
              <a:t>      counter-key="@(context.Subscription.Id)"</a:t>
            </a:r>
          </a:p>
          <a:p>
            <a:pPr algn="l">
              <a:lnSpc>
                <a:spcPct val="128000"/>
              </a:lnSpc>
            </a:pPr>
            <a:r>
              <a:rPr sz="800" b="0" i="0" dirty="0">
                <a:solidFill>
                  <a:srgbClr val="D6DEEE"/>
                </a:solidFill>
                <a:latin typeface="Consolas"/>
                <a:cs typeface="Consolas"/>
              </a:rPr>
              <a:t>      tokens-per-minute="5000"</a:t>
            </a:r>
          </a:p>
          <a:p>
            <a:pPr algn="l">
              <a:lnSpc>
                <a:spcPct val="128000"/>
              </a:lnSpc>
            </a:pPr>
            <a:r>
              <a:rPr sz="800" b="0" i="0" dirty="0">
                <a:solidFill>
                  <a:srgbClr val="D6DEEE"/>
                </a:solidFill>
                <a:latin typeface="Consolas"/>
                <a:cs typeface="Consolas"/>
              </a:rPr>
              <a:t>      token-quota="100000" token-quota-period="Monthly"</a:t>
            </a:r>
          </a:p>
          <a:p>
            <a:pPr algn="l">
              <a:lnSpc>
                <a:spcPct val="128000"/>
              </a:lnSpc>
            </a:pPr>
            <a:r>
              <a:rPr sz="800" b="0" i="0" dirty="0">
                <a:solidFill>
                  <a:srgbClr val="D6DEEE"/>
                </a:solidFill>
                <a:latin typeface="Consolas"/>
                <a:cs typeface="Consolas"/>
              </a:rPr>
              <a:t>      estimate-prompt-tokens="true" /&gt;</a:t>
            </a:r>
          </a:p>
          <a:p>
            <a:pPr algn="l">
              <a:lnSpc>
                <a:spcPct val="128000"/>
              </a:lnSpc>
            </a:pPr>
            <a:r>
              <a:rPr sz="800" b="0" i="0" dirty="0">
                <a:solidFill>
                  <a:srgbClr val="D6DEEE"/>
                </a:solidFill>
                <a:latin typeface="Consolas"/>
                <a:cs typeface="Consolas"/>
              </a:rPr>
              <a:t>  &lt;llm-emit-token-metric namespace="ai-usage"&gt;</a:t>
            </a:r>
          </a:p>
          <a:p>
            <a:pPr algn="l">
              <a:lnSpc>
                <a:spcPct val="128000"/>
              </a:lnSpc>
            </a:pPr>
            <a:r>
              <a:rPr sz="800" b="0" i="0" dirty="0">
                <a:solidFill>
                  <a:srgbClr val="D6DEEE"/>
                </a:solidFill>
                <a:latin typeface="Consolas"/>
                <a:cs typeface="Consolas"/>
              </a:rPr>
              <a:t>      &lt;dimension name="Subscription ID" /&gt;</a:t>
            </a:r>
          </a:p>
          <a:p>
            <a:pPr algn="l">
              <a:lnSpc>
                <a:spcPct val="128000"/>
              </a:lnSpc>
            </a:pPr>
            <a:r>
              <a:rPr sz="800" b="0" i="0" dirty="0">
                <a:solidFill>
                  <a:srgbClr val="D6DEEE"/>
                </a:solidFill>
                <a:latin typeface="Consolas"/>
                <a:cs typeface="Consolas"/>
              </a:rPr>
              <a:t>  &lt;/llm-emit-token-metric&gt;</a:t>
            </a:r>
          </a:p>
          <a:p>
            <a:pPr algn="l">
              <a:lnSpc>
                <a:spcPct val="128000"/>
              </a:lnSpc>
            </a:pPr>
            <a:r>
              <a:rPr sz="800" b="0" i="0" dirty="0">
                <a:solidFill>
                  <a:srgbClr val="D6DEEE"/>
                </a:solidFill>
                <a:latin typeface="Consolas"/>
                <a:cs typeface="Consolas"/>
              </a:rPr>
              <a:t>&lt;/inbound&gt;</a:t>
            </a:r>
          </a:p>
        </p:txBody>
      </p:sp>
      <p:sp>
        <p:nvSpPr>
          <p:cNvPr id="48" name="Rectangle 47"/>
          <p:cNvSpPr/>
          <p:nvPr/>
        </p:nvSpPr>
        <p:spPr>
          <a:xfrm>
            <a:off x="7269480" y="4370832"/>
            <a:ext cx="4465015" cy="987552"/>
          </a:xfrm>
          <a:prstGeom prst="rect">
            <a:avLst/>
          </a:prstGeom>
          <a:solidFill>
            <a:srgbClr val="F6F8FD"/>
          </a:solidFill>
          <a:ln w="9525">
            <a:solidFill>
              <a:srgbClr val="E1E7F4"/>
            </a:solidFill>
          </a:ln>
          <a:effectLst/>
        </p:spPr>
        <p:txBody>
          <a:bodyPr wrap="square" rtlCol="0" anchor="ctr"/>
          <a:lstStyle/>
          <a:p>
            <a:endParaRPr/>
          </a:p>
        </p:txBody>
      </p:sp>
      <p:sp>
        <p:nvSpPr>
          <p:cNvPr id="49" name="Rectangle 48"/>
          <p:cNvSpPr/>
          <p:nvPr/>
        </p:nvSpPr>
        <p:spPr>
          <a:xfrm>
            <a:off x="7269480" y="4370832"/>
            <a:ext cx="41148" cy="987552"/>
          </a:xfrm>
          <a:prstGeom prst="rect">
            <a:avLst/>
          </a:prstGeom>
          <a:solidFill>
            <a:srgbClr val="00B39F"/>
          </a:solidFill>
          <a:ln>
            <a:noFill/>
          </a:ln>
          <a:effectLst/>
        </p:spPr>
        <p:txBody>
          <a:bodyPr wrap="square" rtlCol="0" anchor="ctr"/>
          <a:lstStyle/>
          <a:p>
            <a:endParaRPr/>
          </a:p>
        </p:txBody>
      </p:sp>
      <p:sp>
        <p:nvSpPr>
          <p:cNvPr id="50" name="TextBox 49"/>
          <p:cNvSpPr txBox="1"/>
          <p:nvPr/>
        </p:nvSpPr>
        <p:spPr>
          <a:xfrm>
            <a:off x="7415783" y="4471416"/>
            <a:ext cx="4172407"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Same limits, no policy code*</a:t>
            </a:r>
          </a:p>
        </p:txBody>
      </p:sp>
      <p:sp>
        <p:nvSpPr>
          <p:cNvPr id="51" name="TextBox 50"/>
          <p:cNvSpPr txBox="1"/>
          <p:nvPr/>
        </p:nvSpPr>
        <p:spPr>
          <a:xfrm>
            <a:off x="7415783" y="4713732"/>
            <a:ext cx="4172407" cy="594359"/>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Foundry portal: Manage &gt; AI Gateway &gt; Token management sets a TPM limit and a token quota per project and deployment.</a:t>
            </a:r>
          </a:p>
        </p:txBody>
      </p:sp>
      <p:sp>
        <p:nvSpPr>
          <p:cNvPr id="52" name="TextBox 51"/>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GOVERNING MODELS, TOOLS AND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Tool and MCP server governance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Register MCP servers centrally, expose and secure them in API Management, and route Foundry tool calls through the gateway</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learn.microsoft.com/azure/foundry/agents/how-to/tools/governance · api-management/mcp-server-overview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6</a:t>
            </a:r>
          </a:p>
        </p:txBody>
      </p:sp>
      <p:sp>
        <p:nvSpPr>
          <p:cNvPr id="7" name="Rectangle 6"/>
          <p:cNvSpPr/>
          <p:nvPr/>
        </p:nvSpPr>
        <p:spPr>
          <a:xfrm>
            <a:off x="457200" y="1371600"/>
            <a:ext cx="3624986" cy="3108960"/>
          </a:xfrm>
          <a:prstGeom prst="rect">
            <a:avLst/>
          </a:prstGeom>
          <a:solidFill>
            <a:srgbClr val="F6F8FD"/>
          </a:solidFill>
          <a:ln w="9525">
            <a:solidFill>
              <a:srgbClr val="E1E7F4"/>
            </a:solidFill>
          </a:ln>
          <a:effectLst/>
        </p:spPr>
        <p:txBody>
          <a:bodyPr wrap="square" rtlCol="0" anchor="ctr"/>
          <a:lstStyle/>
          <a:p>
            <a:endParaRPr/>
          </a:p>
        </p:txBody>
      </p:sp>
      <p:sp>
        <p:nvSpPr>
          <p:cNvPr id="8" name="Rectangle 7"/>
          <p:cNvSpPr/>
          <p:nvPr/>
        </p:nvSpPr>
        <p:spPr>
          <a:xfrm>
            <a:off x="457200" y="1371600"/>
            <a:ext cx="3624986" cy="41148"/>
          </a:xfrm>
          <a:prstGeom prst="rect">
            <a:avLst/>
          </a:prstGeom>
          <a:solidFill>
            <a:srgbClr val="00B39F"/>
          </a:solidFill>
          <a:ln>
            <a:noFill/>
          </a:ln>
          <a:effectLst/>
        </p:spPr>
        <p:txBody>
          <a:bodyPr wrap="square" rtlCol="0" anchor="ctr"/>
          <a:lstStyle/>
          <a:p>
            <a:endParaRPr/>
          </a:p>
        </p:txBody>
      </p:sp>
      <p:sp>
        <p:nvSpPr>
          <p:cNvPr id="9" name="TextBox 8"/>
          <p:cNvSpPr txBox="1"/>
          <p:nvPr/>
        </p:nvSpPr>
        <p:spPr>
          <a:xfrm>
            <a:off x="621792" y="1499616"/>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1</a:t>
            </a:r>
          </a:p>
        </p:txBody>
      </p:sp>
      <p:sp>
        <p:nvSpPr>
          <p:cNvPr id="10" name="TextBox 9"/>
          <p:cNvSpPr txBox="1"/>
          <p:nvPr/>
        </p:nvSpPr>
        <p:spPr>
          <a:xfrm>
            <a:off x="1024128" y="1527048"/>
            <a:ext cx="2939186" cy="237744"/>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Registry — Azure API Center</a:t>
            </a:r>
          </a:p>
        </p:txBody>
      </p:sp>
      <p:cxnSp>
        <p:nvCxnSpPr>
          <p:cNvPr id="11" name="Connector 10"/>
          <p:cNvCxnSpPr/>
          <p:nvPr/>
        </p:nvCxnSpPr>
        <p:spPr>
          <a:xfrm>
            <a:off x="621792" y="1901952"/>
            <a:ext cx="3295802" cy="0"/>
          </a:xfrm>
          <a:prstGeom prst="line">
            <a:avLst/>
          </a:prstGeom>
          <a:ln w="9525">
            <a:solidFill>
              <a:srgbClr val="E1E7F4"/>
            </a:solidFill>
          </a:ln>
        </p:spPr>
      </p:cxnSp>
      <p:sp>
        <p:nvSpPr>
          <p:cNvPr id="12" name="TextBox 11"/>
          <p:cNvSpPr txBox="1"/>
          <p:nvPr/>
        </p:nvSpPr>
        <p:spPr>
          <a:xfrm>
            <a:off x="621792" y="1965960"/>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Inventory  </a:t>
            </a:r>
            <a:r>
              <a:rPr sz="800" b="0" i="0" dirty="0">
                <a:solidFill>
                  <a:srgbClr val="44495B"/>
                </a:solidFill>
                <a:latin typeface="Segoe UI"/>
                <a:cs typeface="Segoe UI"/>
              </a:rPr>
              <a:t>One register of remote and local MCP servers</a:t>
            </a:r>
          </a:p>
        </p:txBody>
      </p:sp>
      <p:cxnSp>
        <p:nvCxnSpPr>
          <p:cNvPr id="13" name="Connector 12"/>
          <p:cNvCxnSpPr/>
          <p:nvPr/>
        </p:nvCxnSpPr>
        <p:spPr>
          <a:xfrm>
            <a:off x="621792" y="2523744"/>
            <a:ext cx="3295802" cy="0"/>
          </a:xfrm>
          <a:prstGeom prst="line">
            <a:avLst/>
          </a:prstGeom>
          <a:ln w="9525">
            <a:solidFill>
              <a:srgbClr val="E1E7F4"/>
            </a:solidFill>
          </a:ln>
        </p:spPr>
      </p:cxnSp>
      <p:sp>
        <p:nvSpPr>
          <p:cNvPr id="14" name="TextBox 13"/>
          <p:cNvSpPr txBox="1"/>
          <p:nvPr/>
        </p:nvSpPr>
        <p:spPr>
          <a:xfrm>
            <a:off x="621792" y="2587752"/>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Discovery  </a:t>
            </a:r>
            <a:r>
              <a:rPr sz="800" b="0" i="0" dirty="0">
                <a:solidFill>
                  <a:srgbClr val="44495B"/>
                </a:solidFill>
                <a:latin typeface="Segoe UI"/>
                <a:cs typeface="Segoe UI"/>
              </a:rPr>
              <a:t>MCP registry endpoint for Visual Studio Code and GitHub Copilot</a:t>
            </a:r>
          </a:p>
        </p:txBody>
      </p:sp>
      <p:cxnSp>
        <p:nvCxnSpPr>
          <p:cNvPr id="15" name="Connector 14"/>
          <p:cNvCxnSpPr/>
          <p:nvPr/>
        </p:nvCxnSpPr>
        <p:spPr>
          <a:xfrm>
            <a:off x="621792" y="3145536"/>
            <a:ext cx="3295802" cy="0"/>
          </a:xfrm>
          <a:prstGeom prst="line">
            <a:avLst/>
          </a:prstGeom>
          <a:ln w="9525">
            <a:solidFill>
              <a:srgbClr val="E1E7F4"/>
            </a:solidFill>
          </a:ln>
        </p:spPr>
      </p:cxnSp>
      <p:sp>
        <p:nvSpPr>
          <p:cNvPr id="16" name="TextBox 15"/>
          <p:cNvSpPr txBox="1"/>
          <p:nvPr/>
        </p:nvSpPr>
        <p:spPr>
          <a:xfrm>
            <a:off x="621792" y="3209544"/>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Sync  </a:t>
            </a:r>
            <a:r>
              <a:rPr sz="800" b="0" i="0" dirty="0">
                <a:solidFill>
                  <a:srgbClr val="44495B"/>
                </a:solidFill>
                <a:latin typeface="Segoe UI"/>
                <a:cs typeface="Segoe UI"/>
              </a:rPr>
              <a:t>Servers can be synchronised automatically from API Management</a:t>
            </a:r>
          </a:p>
        </p:txBody>
      </p:sp>
      <p:cxnSp>
        <p:nvCxnSpPr>
          <p:cNvPr id="17" name="Connector 16"/>
          <p:cNvCxnSpPr/>
          <p:nvPr/>
        </p:nvCxnSpPr>
        <p:spPr>
          <a:xfrm>
            <a:off x="621792" y="3767328"/>
            <a:ext cx="3295802" cy="0"/>
          </a:xfrm>
          <a:prstGeom prst="line">
            <a:avLst/>
          </a:prstGeom>
          <a:ln w="9525">
            <a:solidFill>
              <a:srgbClr val="E1E7F4"/>
            </a:solidFill>
          </a:ln>
        </p:spPr>
      </p:cxnSp>
      <p:sp>
        <p:nvSpPr>
          <p:cNvPr id="18" name="TextBox 17"/>
          <p:cNvSpPr txBox="1"/>
          <p:nvPr/>
        </p:nvSpPr>
        <p:spPr>
          <a:xfrm>
            <a:off x="621792" y="3831336"/>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Foundry  </a:t>
            </a:r>
            <a:r>
              <a:rPr sz="800" b="0" i="0" dirty="0">
                <a:solidFill>
                  <a:srgbClr val="44495B"/>
                </a:solidFill>
                <a:latin typeface="Segoe UI"/>
                <a:cs typeface="Segoe UI"/>
              </a:rPr>
              <a:t>Registered servers can feed Foundry tool catalogs</a:t>
            </a:r>
          </a:p>
        </p:txBody>
      </p:sp>
      <p:sp>
        <p:nvSpPr>
          <p:cNvPr id="19" name="Rectangle 18"/>
          <p:cNvSpPr/>
          <p:nvPr/>
        </p:nvSpPr>
        <p:spPr>
          <a:xfrm>
            <a:off x="4283354" y="1371600"/>
            <a:ext cx="3624986" cy="3108960"/>
          </a:xfrm>
          <a:prstGeom prst="rect">
            <a:avLst/>
          </a:prstGeom>
          <a:solidFill>
            <a:srgbClr val="F6F8FD"/>
          </a:solidFill>
          <a:ln w="9525">
            <a:solidFill>
              <a:srgbClr val="E1E7F4"/>
            </a:solidFill>
          </a:ln>
          <a:effectLst/>
        </p:spPr>
        <p:txBody>
          <a:bodyPr wrap="square" rtlCol="0" anchor="ctr"/>
          <a:lstStyle/>
          <a:p>
            <a:endParaRPr/>
          </a:p>
        </p:txBody>
      </p:sp>
      <p:sp>
        <p:nvSpPr>
          <p:cNvPr id="20" name="Rectangle 19"/>
          <p:cNvSpPr/>
          <p:nvPr/>
        </p:nvSpPr>
        <p:spPr>
          <a:xfrm>
            <a:off x="4283354" y="1371600"/>
            <a:ext cx="3624986" cy="41148"/>
          </a:xfrm>
          <a:prstGeom prst="rect">
            <a:avLst/>
          </a:prstGeom>
          <a:solidFill>
            <a:srgbClr val="00B39F"/>
          </a:solidFill>
          <a:ln>
            <a:noFill/>
          </a:ln>
          <a:effectLst/>
        </p:spPr>
        <p:txBody>
          <a:bodyPr wrap="square" rtlCol="0" anchor="ctr"/>
          <a:lstStyle/>
          <a:p>
            <a:endParaRPr/>
          </a:p>
        </p:txBody>
      </p:sp>
      <p:sp>
        <p:nvSpPr>
          <p:cNvPr id="21" name="TextBox 20"/>
          <p:cNvSpPr txBox="1"/>
          <p:nvPr/>
        </p:nvSpPr>
        <p:spPr>
          <a:xfrm>
            <a:off x="4447946" y="1499616"/>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2</a:t>
            </a:r>
          </a:p>
        </p:txBody>
      </p:sp>
      <p:sp>
        <p:nvSpPr>
          <p:cNvPr id="22" name="TextBox 21"/>
          <p:cNvSpPr txBox="1"/>
          <p:nvPr/>
        </p:nvSpPr>
        <p:spPr>
          <a:xfrm>
            <a:off x="4850282" y="1527048"/>
            <a:ext cx="2939186" cy="237744"/>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Gateway — API Management</a:t>
            </a:r>
          </a:p>
        </p:txBody>
      </p:sp>
      <p:cxnSp>
        <p:nvCxnSpPr>
          <p:cNvPr id="23" name="Connector 22"/>
          <p:cNvCxnSpPr/>
          <p:nvPr/>
        </p:nvCxnSpPr>
        <p:spPr>
          <a:xfrm>
            <a:off x="4447946" y="1901952"/>
            <a:ext cx="3295802" cy="0"/>
          </a:xfrm>
          <a:prstGeom prst="line">
            <a:avLst/>
          </a:prstGeom>
          <a:ln w="9525">
            <a:solidFill>
              <a:srgbClr val="E1E7F4"/>
            </a:solidFill>
          </a:ln>
        </p:spPr>
      </p:cxnSp>
      <p:sp>
        <p:nvSpPr>
          <p:cNvPr id="24" name="TextBox 23"/>
          <p:cNvSpPr txBox="1"/>
          <p:nvPr/>
        </p:nvSpPr>
        <p:spPr>
          <a:xfrm>
            <a:off x="4447946" y="1965960"/>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REST as MCP  </a:t>
            </a:r>
            <a:r>
              <a:rPr sz="800" b="0" i="0" dirty="0">
                <a:solidFill>
                  <a:srgbClr val="44495B"/>
                </a:solidFill>
                <a:latin typeface="Segoe UI"/>
                <a:cs typeface="Segoe UI"/>
              </a:rPr>
              <a:t>Existing REST API operations exposed as MCP tools</a:t>
            </a:r>
          </a:p>
        </p:txBody>
      </p:sp>
      <p:cxnSp>
        <p:nvCxnSpPr>
          <p:cNvPr id="25" name="Connector 24"/>
          <p:cNvCxnSpPr/>
          <p:nvPr/>
        </p:nvCxnSpPr>
        <p:spPr>
          <a:xfrm>
            <a:off x="4447946" y="2523744"/>
            <a:ext cx="3295802" cy="0"/>
          </a:xfrm>
          <a:prstGeom prst="line">
            <a:avLst/>
          </a:prstGeom>
          <a:ln w="9525">
            <a:solidFill>
              <a:srgbClr val="E1E7F4"/>
            </a:solidFill>
          </a:ln>
        </p:spPr>
      </p:cxnSp>
      <p:sp>
        <p:nvSpPr>
          <p:cNvPr id="26" name="TextBox 25"/>
          <p:cNvSpPr txBox="1"/>
          <p:nvPr/>
        </p:nvSpPr>
        <p:spPr>
          <a:xfrm>
            <a:off x="4447946" y="2587752"/>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Pass-through  </a:t>
            </a:r>
            <a:r>
              <a:rPr sz="800" b="0" i="0" dirty="0">
                <a:solidFill>
                  <a:srgbClr val="44495B"/>
                </a:solidFill>
                <a:latin typeface="Segoe UI"/>
                <a:cs typeface="Segoe UI"/>
              </a:rPr>
              <a:t>Existing MCP servers on MCP 2025-06-18 or later, Streamable HTTP or SSE</a:t>
            </a:r>
          </a:p>
        </p:txBody>
      </p:sp>
      <p:cxnSp>
        <p:nvCxnSpPr>
          <p:cNvPr id="27" name="Connector 26"/>
          <p:cNvCxnSpPr/>
          <p:nvPr/>
        </p:nvCxnSpPr>
        <p:spPr>
          <a:xfrm>
            <a:off x="4447946" y="3145536"/>
            <a:ext cx="3295802" cy="0"/>
          </a:xfrm>
          <a:prstGeom prst="line">
            <a:avLst/>
          </a:prstGeom>
          <a:ln w="9525">
            <a:solidFill>
              <a:srgbClr val="E1E7F4"/>
            </a:solidFill>
          </a:ln>
        </p:spPr>
      </p:cxnSp>
      <p:sp>
        <p:nvSpPr>
          <p:cNvPr id="28" name="TextBox 27"/>
          <p:cNvSpPr txBox="1"/>
          <p:nvPr/>
        </p:nvSpPr>
        <p:spPr>
          <a:xfrm>
            <a:off x="4447946" y="3209544"/>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Policies  </a:t>
            </a:r>
            <a:r>
              <a:rPr sz="800" b="0" i="0" dirty="0">
                <a:solidFill>
                  <a:srgbClr val="44495B"/>
                </a:solidFill>
                <a:latin typeface="Segoe UI"/>
                <a:cs typeface="Segoe UI"/>
              </a:rPr>
              <a:t>Rate limits, JWT validation, IP filtering, content safety on tool arguments and responses</a:t>
            </a:r>
          </a:p>
        </p:txBody>
      </p:sp>
      <p:cxnSp>
        <p:nvCxnSpPr>
          <p:cNvPr id="29" name="Connector 28"/>
          <p:cNvCxnSpPr/>
          <p:nvPr/>
        </p:nvCxnSpPr>
        <p:spPr>
          <a:xfrm>
            <a:off x="4447946" y="3767328"/>
            <a:ext cx="3295802" cy="0"/>
          </a:xfrm>
          <a:prstGeom prst="line">
            <a:avLst/>
          </a:prstGeom>
          <a:ln w="9525">
            <a:solidFill>
              <a:srgbClr val="E1E7F4"/>
            </a:solidFill>
          </a:ln>
        </p:spPr>
      </p:cxnSp>
      <p:sp>
        <p:nvSpPr>
          <p:cNvPr id="30" name="TextBox 29"/>
          <p:cNvSpPr txBox="1"/>
          <p:nvPr/>
        </p:nvSpPr>
        <p:spPr>
          <a:xfrm>
            <a:off x="4447946" y="3831336"/>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Limits  </a:t>
            </a:r>
            <a:r>
              <a:rPr sz="800" b="0" i="0" dirty="0">
                <a:solidFill>
                  <a:srgbClr val="44495B"/>
                </a:solidFill>
                <a:latin typeface="Segoe UI"/>
                <a:cs typeface="Segoe UI"/>
              </a:rPr>
              <a:t>Tools only — no MCP resources or prompts; not in workspaces or the Consumption tier</a:t>
            </a:r>
          </a:p>
        </p:txBody>
      </p:sp>
      <p:sp>
        <p:nvSpPr>
          <p:cNvPr id="31" name="Rectangle 30"/>
          <p:cNvSpPr/>
          <p:nvPr/>
        </p:nvSpPr>
        <p:spPr>
          <a:xfrm>
            <a:off x="8109508" y="1371600"/>
            <a:ext cx="3624986" cy="3108960"/>
          </a:xfrm>
          <a:prstGeom prst="rect">
            <a:avLst/>
          </a:prstGeom>
          <a:solidFill>
            <a:srgbClr val="F6F8FD"/>
          </a:solidFill>
          <a:ln w="9525">
            <a:solidFill>
              <a:srgbClr val="E1E7F4"/>
            </a:solidFill>
          </a:ln>
          <a:effectLst/>
        </p:spPr>
        <p:txBody>
          <a:bodyPr wrap="square" rtlCol="0" anchor="ctr"/>
          <a:lstStyle/>
          <a:p>
            <a:endParaRPr/>
          </a:p>
        </p:txBody>
      </p:sp>
      <p:sp>
        <p:nvSpPr>
          <p:cNvPr id="32" name="Rectangle 31"/>
          <p:cNvSpPr/>
          <p:nvPr/>
        </p:nvSpPr>
        <p:spPr>
          <a:xfrm>
            <a:off x="8109508" y="1371600"/>
            <a:ext cx="3624986" cy="41148"/>
          </a:xfrm>
          <a:prstGeom prst="rect">
            <a:avLst/>
          </a:prstGeom>
          <a:solidFill>
            <a:srgbClr val="00B39F"/>
          </a:solidFill>
          <a:ln>
            <a:noFill/>
          </a:ln>
          <a:effectLst/>
        </p:spPr>
        <p:txBody>
          <a:bodyPr wrap="square" rtlCol="0" anchor="ctr"/>
          <a:lstStyle/>
          <a:p>
            <a:endParaRPr/>
          </a:p>
        </p:txBody>
      </p:sp>
      <p:sp>
        <p:nvSpPr>
          <p:cNvPr id="33" name="TextBox 32"/>
          <p:cNvSpPr txBox="1"/>
          <p:nvPr/>
        </p:nvSpPr>
        <p:spPr>
          <a:xfrm>
            <a:off x="8274100" y="1499616"/>
            <a:ext cx="365760" cy="274320"/>
          </a:xfrm>
          <a:prstGeom prst="rect">
            <a:avLst/>
          </a:prstGeom>
          <a:noFill/>
        </p:spPr>
        <p:txBody>
          <a:bodyPr wrap="square" lIns="0" tIns="0" rIns="0" bIns="0" anchor="t">
            <a:spAutoFit/>
          </a:bodyPr>
          <a:lstStyle/>
          <a:p>
            <a:pPr algn="l">
              <a:lnSpc>
                <a:spcPct val="100000"/>
              </a:lnSpc>
            </a:pPr>
            <a:r>
              <a:rPr sz="1500" b="1" i="0" dirty="0">
                <a:solidFill>
                  <a:srgbClr val="008173"/>
                </a:solidFill>
                <a:latin typeface="Segoe UI"/>
                <a:cs typeface="Segoe UI"/>
              </a:rPr>
              <a:t>3</a:t>
            </a:r>
          </a:p>
        </p:txBody>
      </p:sp>
      <p:sp>
        <p:nvSpPr>
          <p:cNvPr id="34" name="TextBox 33"/>
          <p:cNvSpPr txBox="1"/>
          <p:nvPr/>
        </p:nvSpPr>
        <p:spPr>
          <a:xfrm>
            <a:off x="8676436" y="1527048"/>
            <a:ext cx="2939186" cy="237744"/>
          </a:xfrm>
          <a:prstGeom prst="rect">
            <a:avLst/>
          </a:prstGeom>
          <a:noFill/>
        </p:spPr>
        <p:txBody>
          <a:bodyPr wrap="square" lIns="0" tIns="0" rIns="0" bIns="0" anchor="t">
            <a:spAutoFit/>
          </a:bodyPr>
          <a:lstStyle/>
          <a:p>
            <a:pPr algn="l">
              <a:lnSpc>
                <a:spcPct val="100000"/>
              </a:lnSpc>
            </a:pPr>
            <a:r>
              <a:rPr sz="1050" b="1" i="0" dirty="0">
                <a:solidFill>
                  <a:srgbClr val="101A3C"/>
                </a:solidFill>
                <a:latin typeface="Segoe UI"/>
                <a:cs typeface="Segoe UI"/>
              </a:rPr>
              <a:t>Foundry tools through AI Gateway*</a:t>
            </a:r>
          </a:p>
        </p:txBody>
      </p:sp>
      <p:cxnSp>
        <p:nvCxnSpPr>
          <p:cNvPr id="35" name="Connector 34"/>
          <p:cNvCxnSpPr/>
          <p:nvPr/>
        </p:nvCxnSpPr>
        <p:spPr>
          <a:xfrm>
            <a:off x="8274100" y="1901952"/>
            <a:ext cx="3295803" cy="0"/>
          </a:xfrm>
          <a:prstGeom prst="line">
            <a:avLst/>
          </a:prstGeom>
          <a:ln w="9525">
            <a:solidFill>
              <a:srgbClr val="E1E7F4"/>
            </a:solidFill>
          </a:ln>
        </p:spPr>
      </p:cxnSp>
      <p:sp>
        <p:nvSpPr>
          <p:cNvPr id="36" name="TextBox 35"/>
          <p:cNvSpPr txBox="1"/>
          <p:nvPr/>
        </p:nvSpPr>
        <p:spPr>
          <a:xfrm>
            <a:off x="8274100" y="1965960"/>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Scope  </a:t>
            </a:r>
            <a:r>
              <a:rPr sz="800" b="0" i="0" dirty="0">
                <a:solidFill>
                  <a:srgbClr val="44495B"/>
                </a:solidFill>
                <a:latin typeface="Segoe UI"/>
                <a:cs typeface="Segoe UI"/>
              </a:rPr>
              <a:t>New MCP tools created in the Foundry portal, without managed OAuth</a:t>
            </a:r>
          </a:p>
        </p:txBody>
      </p:sp>
      <p:cxnSp>
        <p:nvCxnSpPr>
          <p:cNvPr id="37" name="Connector 36"/>
          <p:cNvCxnSpPr/>
          <p:nvPr/>
        </p:nvCxnSpPr>
        <p:spPr>
          <a:xfrm>
            <a:off x="8274100" y="2523744"/>
            <a:ext cx="3295803" cy="0"/>
          </a:xfrm>
          <a:prstGeom prst="line">
            <a:avLst/>
          </a:prstGeom>
          <a:ln w="9525">
            <a:solidFill>
              <a:srgbClr val="E1E7F4"/>
            </a:solidFill>
          </a:ln>
        </p:spPr>
      </p:cxnSp>
      <p:sp>
        <p:nvSpPr>
          <p:cNvPr id="38" name="TextBox 37"/>
          <p:cNvSpPr txBox="1"/>
          <p:nvPr/>
        </p:nvSpPr>
        <p:spPr>
          <a:xfrm>
            <a:off x="8274100" y="2587752"/>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Routing  </a:t>
            </a:r>
            <a:r>
              <a:rPr sz="800" b="0" i="0" dirty="0">
                <a:solidFill>
                  <a:srgbClr val="44495B"/>
                </a:solidFill>
                <a:latin typeface="Segoe UI"/>
                <a:cs typeface="Segoe UI"/>
              </a:rPr>
              <a:t>The tool endpoint is rewritten to the gateway URL</a:t>
            </a:r>
          </a:p>
        </p:txBody>
      </p:sp>
      <p:cxnSp>
        <p:nvCxnSpPr>
          <p:cNvPr id="39" name="Connector 38"/>
          <p:cNvCxnSpPr/>
          <p:nvPr/>
        </p:nvCxnSpPr>
        <p:spPr>
          <a:xfrm>
            <a:off x="8274100" y="3145536"/>
            <a:ext cx="3295803" cy="0"/>
          </a:xfrm>
          <a:prstGeom prst="line">
            <a:avLst/>
          </a:prstGeom>
          <a:ln w="9525">
            <a:solidFill>
              <a:srgbClr val="E1E7F4"/>
            </a:solidFill>
          </a:ln>
        </p:spPr>
      </p:cxnSp>
      <p:sp>
        <p:nvSpPr>
          <p:cNvPr id="40" name="TextBox 39"/>
          <p:cNvSpPr txBox="1"/>
          <p:nvPr/>
        </p:nvSpPr>
        <p:spPr>
          <a:xfrm>
            <a:off x="8274100" y="3209544"/>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Policies  </a:t>
            </a:r>
            <a:r>
              <a:rPr sz="800" b="0" i="0" dirty="0">
                <a:solidFill>
                  <a:srgbClr val="44495B"/>
                </a:solidFill>
                <a:latin typeface="Segoe UI"/>
                <a:cs typeface="Segoe UI"/>
              </a:rPr>
              <a:t>Applied in the Azure portal, for example rate-limit-by-key and ip-filter</a:t>
            </a:r>
          </a:p>
        </p:txBody>
      </p:sp>
      <p:cxnSp>
        <p:nvCxnSpPr>
          <p:cNvPr id="41" name="Connector 40"/>
          <p:cNvCxnSpPr/>
          <p:nvPr/>
        </p:nvCxnSpPr>
        <p:spPr>
          <a:xfrm>
            <a:off x="8274100" y="3767328"/>
            <a:ext cx="3295803" cy="0"/>
          </a:xfrm>
          <a:prstGeom prst="line">
            <a:avLst/>
          </a:prstGeom>
          <a:ln w="9525">
            <a:solidFill>
              <a:srgbClr val="E1E7F4"/>
            </a:solidFill>
          </a:ln>
        </p:spPr>
      </p:cxnSp>
      <p:sp>
        <p:nvSpPr>
          <p:cNvPr id="42" name="TextBox 41"/>
          <p:cNvSpPr txBox="1"/>
          <p:nvPr/>
        </p:nvSpPr>
        <p:spPr>
          <a:xfrm>
            <a:off x="8274100" y="3831336"/>
            <a:ext cx="3295802" cy="530352"/>
          </a:xfrm>
          <a:prstGeom prst="rect">
            <a:avLst/>
          </a:prstGeom>
          <a:noFill/>
        </p:spPr>
        <p:txBody>
          <a:bodyPr wrap="square" lIns="0" tIns="0" rIns="0" bIns="0" anchor="t">
            <a:spAutoFit/>
          </a:bodyPr>
          <a:lstStyle/>
          <a:p>
            <a:pPr algn="l">
              <a:lnSpc>
                <a:spcPct val="114000"/>
              </a:lnSpc>
            </a:pPr>
            <a:r>
              <a:rPr sz="800" b="1" i="0" dirty="0">
                <a:solidFill>
                  <a:srgbClr val="101A3C"/>
                </a:solidFill>
                <a:latin typeface="Segoe UI"/>
                <a:cs typeface="Segoe UI"/>
              </a:rPr>
              <a:t>Not covered  </a:t>
            </a:r>
            <a:r>
              <a:rPr sz="800" b="0" i="0" dirty="0">
                <a:solidFill>
                  <a:srgbClr val="44495B"/>
                </a:solidFill>
                <a:latin typeface="Segoe UI"/>
                <a:cs typeface="Segoe UI"/>
              </a:rPr>
              <a:t>Built-in Foundry tools, code-first MCP, OpenAPI tools, existing tools; no tool traces</a:t>
            </a:r>
          </a:p>
        </p:txBody>
      </p:sp>
      <p:sp>
        <p:nvSpPr>
          <p:cNvPr id="43" name="Rectangle 42"/>
          <p:cNvSpPr/>
          <p:nvPr/>
        </p:nvSpPr>
        <p:spPr>
          <a:xfrm>
            <a:off x="457200" y="4663440"/>
            <a:ext cx="11277295" cy="365760"/>
          </a:xfrm>
          <a:prstGeom prst="rect">
            <a:avLst/>
          </a:prstGeom>
          <a:solidFill>
            <a:srgbClr val="EBEFF7"/>
          </a:solidFill>
          <a:ln>
            <a:noFill/>
          </a:ln>
          <a:effectLst/>
        </p:spPr>
        <p:txBody>
          <a:bodyPr wrap="square" rtlCol="0" anchor="ctr"/>
          <a:lstStyle/>
          <a:p>
            <a:endParaRPr/>
          </a:p>
        </p:txBody>
      </p:sp>
      <p:sp>
        <p:nvSpPr>
          <p:cNvPr id="44" name="Rectangle 43"/>
          <p:cNvSpPr/>
          <p:nvPr/>
        </p:nvSpPr>
        <p:spPr>
          <a:xfrm>
            <a:off x="457200" y="4663440"/>
            <a:ext cx="41148" cy="365760"/>
          </a:xfrm>
          <a:prstGeom prst="rect">
            <a:avLst/>
          </a:prstGeom>
          <a:solidFill>
            <a:srgbClr val="00B39F"/>
          </a:solidFill>
          <a:ln>
            <a:noFill/>
          </a:ln>
          <a:effectLst/>
        </p:spPr>
        <p:txBody>
          <a:bodyPr wrap="square" rtlCol="0" anchor="ctr"/>
          <a:lstStyle/>
          <a:p>
            <a:endParaRPr/>
          </a:p>
        </p:txBody>
      </p:sp>
      <p:sp>
        <p:nvSpPr>
          <p:cNvPr id="45" name="TextBox 44"/>
          <p:cNvSpPr txBox="1"/>
          <p:nvPr/>
        </p:nvSpPr>
        <p:spPr>
          <a:xfrm>
            <a:off x="694944" y="4764024"/>
            <a:ext cx="10856671" cy="182880"/>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Order of adoption: register first, then govern access at the gateway, then let agents consume from the catalog.</a:t>
            </a:r>
          </a:p>
        </p:txBody>
      </p:sp>
      <p:sp>
        <p:nvSpPr>
          <p:cNvPr id="46" name="TextBox 45"/>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03 · GOVERNING MODELS, TOOLS AND AGENTS</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Agent governance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Four mechanisms bring agents and their traffic under central control, each with a different traffic path</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learn.microsoft.com/azure/foundry/control-plane/register-custom-agent · api-management/agent-to-agent-api</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7</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283168"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2051264"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Custom agent in Control Plane*</a:t>
            </a:r>
          </a:p>
        </p:txBody>
      </p:sp>
      <p:sp>
        <p:nvSpPr>
          <p:cNvPr id="10" name="TextBox 9"/>
          <p:cNvSpPr txBox="1"/>
          <p:nvPr/>
        </p:nvSpPr>
        <p:spPr>
          <a:xfrm>
            <a:off x="4532269" y="1431036"/>
            <a:ext cx="207257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External agent*</a:t>
            </a:r>
          </a:p>
        </p:txBody>
      </p:sp>
      <p:sp>
        <p:nvSpPr>
          <p:cNvPr id="11" name="TextBox 10"/>
          <p:cNvSpPr txBox="1"/>
          <p:nvPr/>
        </p:nvSpPr>
        <p:spPr>
          <a:xfrm>
            <a:off x="6787728" y="1431036"/>
            <a:ext cx="2298124"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A2A agent API in API Management</a:t>
            </a:r>
          </a:p>
        </p:txBody>
      </p:sp>
      <p:sp>
        <p:nvSpPr>
          <p:cNvPr id="12" name="TextBox 11"/>
          <p:cNvSpPr txBox="1"/>
          <p:nvPr/>
        </p:nvSpPr>
        <p:spPr>
          <a:xfrm>
            <a:off x="9268733" y="1431036"/>
            <a:ext cx="2410897"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Agent model calls through a gateway</a:t>
            </a:r>
          </a:p>
        </p:txBody>
      </p:sp>
      <p:sp>
        <p:nvSpPr>
          <p:cNvPr id="13" name="Rectangle 12"/>
          <p:cNvSpPr/>
          <p:nvPr/>
        </p:nvSpPr>
        <p:spPr>
          <a:xfrm>
            <a:off x="457200" y="1664208"/>
            <a:ext cx="11277295" cy="530352"/>
          </a:xfrm>
          <a:prstGeom prst="rect">
            <a:avLst/>
          </a:prstGeom>
          <a:solidFill>
            <a:srgbClr val="F6F8FD"/>
          </a:solidFill>
          <a:ln>
            <a:noFill/>
          </a:ln>
          <a:effectLst/>
        </p:spPr>
        <p:txBody>
          <a:bodyPr wrap="square" rtlCol="0" anchor="ctr"/>
          <a:lstStyle/>
          <a:p>
            <a:endParaRPr/>
          </a:p>
        </p:txBody>
      </p:sp>
      <p:cxnSp>
        <p:nvCxnSpPr>
          <p:cNvPr id="14" name="Connector 13"/>
          <p:cNvCxnSpPr/>
          <p:nvPr/>
        </p:nvCxnSpPr>
        <p:spPr>
          <a:xfrm>
            <a:off x="457200" y="2194560"/>
            <a:ext cx="11277295" cy="0"/>
          </a:xfrm>
          <a:prstGeom prst="line">
            <a:avLst/>
          </a:prstGeom>
          <a:ln w="9525">
            <a:solidFill>
              <a:srgbClr val="E1E7F4"/>
            </a:solidFill>
          </a:ln>
        </p:spPr>
      </p:cxnSp>
      <p:sp>
        <p:nvSpPr>
          <p:cNvPr id="15" name="TextBox 14"/>
          <p:cNvSpPr txBox="1"/>
          <p:nvPr/>
        </p:nvSpPr>
        <p:spPr>
          <a:xfrm>
            <a:off x="585216" y="1714500"/>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What is governed</a:t>
            </a:r>
          </a:p>
        </p:txBody>
      </p:sp>
      <p:sp>
        <p:nvSpPr>
          <p:cNvPr id="16" name="TextBox 15"/>
          <p:cNvSpPr txBox="1"/>
          <p:nvPr/>
        </p:nvSpPr>
        <p:spPr>
          <a:xfrm>
            <a:off x="2051264" y="1714500"/>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Incoming calls to an agent hosted anywhere</a:t>
            </a:r>
          </a:p>
        </p:txBody>
      </p:sp>
      <p:sp>
        <p:nvSpPr>
          <p:cNvPr id="17" name="TextBox 16"/>
          <p:cNvSpPr txBox="1"/>
          <p:nvPr/>
        </p:nvSpPr>
        <p:spPr>
          <a:xfrm>
            <a:off x="4532269" y="1714500"/>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Inventory and telemetry only</a:t>
            </a:r>
          </a:p>
        </p:txBody>
      </p:sp>
      <p:sp>
        <p:nvSpPr>
          <p:cNvPr id="18" name="TextBox 17"/>
          <p:cNvSpPr txBox="1"/>
          <p:nvPr/>
        </p:nvSpPr>
        <p:spPr>
          <a:xfrm>
            <a:off x="6787728" y="1714500"/>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Agent-to-agent JSON-RPC traffic</a:t>
            </a:r>
          </a:p>
        </p:txBody>
      </p:sp>
      <p:sp>
        <p:nvSpPr>
          <p:cNvPr id="19" name="TextBox 18"/>
          <p:cNvSpPr txBox="1"/>
          <p:nvPr/>
        </p:nvSpPr>
        <p:spPr>
          <a:xfrm>
            <a:off x="9268733" y="1714500"/>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 calls made by Foundry prompt agents</a:t>
            </a:r>
          </a:p>
        </p:txBody>
      </p:sp>
      <p:cxnSp>
        <p:nvCxnSpPr>
          <p:cNvPr id="20" name="Connector 19"/>
          <p:cNvCxnSpPr/>
          <p:nvPr/>
        </p:nvCxnSpPr>
        <p:spPr>
          <a:xfrm>
            <a:off x="457200" y="2724912"/>
            <a:ext cx="11277295" cy="0"/>
          </a:xfrm>
          <a:prstGeom prst="line">
            <a:avLst/>
          </a:prstGeom>
          <a:ln w="9525">
            <a:solidFill>
              <a:srgbClr val="E1E7F4"/>
            </a:solidFill>
          </a:ln>
        </p:spPr>
      </p:cxnSp>
      <p:sp>
        <p:nvSpPr>
          <p:cNvPr id="21" name="TextBox 20"/>
          <p:cNvSpPr txBox="1"/>
          <p:nvPr/>
        </p:nvSpPr>
        <p:spPr>
          <a:xfrm>
            <a:off x="585216" y="2244852"/>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Gateway in the path</a:t>
            </a:r>
          </a:p>
        </p:txBody>
      </p:sp>
      <p:sp>
        <p:nvSpPr>
          <p:cNvPr id="22" name="TextBox 21"/>
          <p:cNvSpPr txBox="1"/>
          <p:nvPr/>
        </p:nvSpPr>
        <p:spPr>
          <a:xfrm>
            <a:off x="2051264" y="2244852"/>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Yes — Foundry issues a new proxy URL</a:t>
            </a:r>
          </a:p>
        </p:txBody>
      </p:sp>
      <p:sp>
        <p:nvSpPr>
          <p:cNvPr id="23" name="TextBox 22"/>
          <p:cNvSpPr txBox="1"/>
          <p:nvPr/>
        </p:nvSpPr>
        <p:spPr>
          <a:xfrm>
            <a:off x="4532269" y="2244852"/>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 the agent keeps its own endpoint</a:t>
            </a:r>
          </a:p>
        </p:txBody>
      </p:sp>
      <p:sp>
        <p:nvSpPr>
          <p:cNvPr id="24" name="TextBox 23"/>
          <p:cNvSpPr txBox="1"/>
          <p:nvPr/>
        </p:nvSpPr>
        <p:spPr>
          <a:xfrm>
            <a:off x="6787728" y="2244852"/>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Yes — agent card host rewritten to the gateway</a:t>
            </a:r>
          </a:p>
        </p:txBody>
      </p:sp>
      <p:sp>
        <p:nvSpPr>
          <p:cNvPr id="25" name="TextBox 24"/>
          <p:cNvSpPr txBox="1"/>
          <p:nvPr/>
        </p:nvSpPr>
        <p:spPr>
          <a:xfrm>
            <a:off x="9268733" y="2244852"/>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Yes — through an admin-connected deployment</a:t>
            </a:r>
          </a:p>
        </p:txBody>
      </p:sp>
      <p:sp>
        <p:nvSpPr>
          <p:cNvPr id="26" name="Rectangle 25"/>
          <p:cNvSpPr/>
          <p:nvPr/>
        </p:nvSpPr>
        <p:spPr>
          <a:xfrm>
            <a:off x="457200" y="2724912"/>
            <a:ext cx="11277295" cy="530352"/>
          </a:xfrm>
          <a:prstGeom prst="rect">
            <a:avLst/>
          </a:prstGeom>
          <a:solidFill>
            <a:srgbClr val="F6F8FD"/>
          </a:solidFill>
          <a:ln>
            <a:noFill/>
          </a:ln>
          <a:effectLst/>
        </p:spPr>
        <p:txBody>
          <a:bodyPr wrap="square" rtlCol="0" anchor="ctr"/>
          <a:lstStyle/>
          <a:p>
            <a:endParaRPr/>
          </a:p>
        </p:txBody>
      </p:sp>
      <p:cxnSp>
        <p:nvCxnSpPr>
          <p:cNvPr id="27" name="Connector 26"/>
          <p:cNvCxnSpPr/>
          <p:nvPr/>
        </p:nvCxnSpPr>
        <p:spPr>
          <a:xfrm>
            <a:off x="457200" y="3255264"/>
            <a:ext cx="11277295" cy="0"/>
          </a:xfrm>
          <a:prstGeom prst="line">
            <a:avLst/>
          </a:prstGeom>
          <a:ln w="9525">
            <a:solidFill>
              <a:srgbClr val="E1E7F4"/>
            </a:solidFill>
          </a:ln>
        </p:spPr>
      </p:cxnSp>
      <p:sp>
        <p:nvSpPr>
          <p:cNvPr id="28" name="TextBox 27"/>
          <p:cNvSpPr txBox="1"/>
          <p:nvPr/>
        </p:nvSpPr>
        <p:spPr>
          <a:xfrm>
            <a:off x="585216" y="2775204"/>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Protocol</a:t>
            </a:r>
          </a:p>
        </p:txBody>
      </p:sp>
      <p:sp>
        <p:nvSpPr>
          <p:cNvPr id="29" name="TextBox 28"/>
          <p:cNvSpPr txBox="1"/>
          <p:nvPr/>
        </p:nvSpPr>
        <p:spPr>
          <a:xfrm>
            <a:off x="2051264" y="2775204"/>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HTTP or A2A</a:t>
            </a:r>
          </a:p>
        </p:txBody>
      </p:sp>
      <p:sp>
        <p:nvSpPr>
          <p:cNvPr id="30" name="TextBox 29"/>
          <p:cNvSpPr txBox="1"/>
          <p:nvPr/>
        </p:nvSpPr>
        <p:spPr>
          <a:xfrm>
            <a:off x="4532269" y="2775204"/>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OpenTelemetry for traces</a:t>
            </a:r>
          </a:p>
        </p:txBody>
      </p:sp>
      <p:sp>
        <p:nvSpPr>
          <p:cNvPr id="31" name="TextBox 30"/>
          <p:cNvSpPr txBox="1"/>
          <p:nvPr/>
        </p:nvSpPr>
        <p:spPr>
          <a:xfrm>
            <a:off x="6787728" y="2775204"/>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A2A, JSON-RPC only</a:t>
            </a:r>
          </a:p>
        </p:txBody>
      </p:sp>
      <p:sp>
        <p:nvSpPr>
          <p:cNvPr id="32" name="TextBox 31"/>
          <p:cNvSpPr txBox="1"/>
          <p:nvPr/>
        </p:nvSpPr>
        <p:spPr>
          <a:xfrm>
            <a:off x="9268733" y="2775204"/>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OpenAI-compatible chat completions</a:t>
            </a:r>
          </a:p>
        </p:txBody>
      </p:sp>
      <p:cxnSp>
        <p:nvCxnSpPr>
          <p:cNvPr id="33" name="Connector 32"/>
          <p:cNvCxnSpPr/>
          <p:nvPr/>
        </p:nvCxnSpPr>
        <p:spPr>
          <a:xfrm>
            <a:off x="457200" y="3785615"/>
            <a:ext cx="11277295" cy="0"/>
          </a:xfrm>
          <a:prstGeom prst="line">
            <a:avLst/>
          </a:prstGeom>
          <a:ln w="9525">
            <a:solidFill>
              <a:srgbClr val="E1E7F4"/>
            </a:solidFill>
          </a:ln>
        </p:spPr>
      </p:cxnSp>
      <p:sp>
        <p:nvSpPr>
          <p:cNvPr id="34" name="TextBox 33"/>
          <p:cNvSpPr txBox="1"/>
          <p:nvPr/>
        </p:nvSpPr>
        <p:spPr>
          <a:xfrm>
            <a:off x="585216" y="3305556"/>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Controls</a:t>
            </a:r>
          </a:p>
        </p:txBody>
      </p:sp>
      <p:sp>
        <p:nvSpPr>
          <p:cNvPr id="35" name="TextBox 34"/>
          <p:cNvSpPr txBox="1"/>
          <p:nvPr/>
        </p:nvSpPr>
        <p:spPr>
          <a:xfrm>
            <a:off x="2051264" y="3305556"/>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Block and unblock; monitoring; original authentication still applies</a:t>
            </a:r>
          </a:p>
        </p:txBody>
      </p:sp>
      <p:sp>
        <p:nvSpPr>
          <p:cNvPr id="36" name="TextBox 35"/>
          <p:cNvSpPr txBox="1"/>
          <p:nvPr/>
        </p:nvSpPr>
        <p:spPr>
          <a:xfrm>
            <a:off x="4532269" y="3305556"/>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Fleet visibility in the Control Plane</a:t>
            </a:r>
          </a:p>
        </p:txBody>
      </p:sp>
      <p:sp>
        <p:nvSpPr>
          <p:cNvPr id="37" name="TextBox 36"/>
          <p:cNvSpPr txBox="1"/>
          <p:nvPr/>
        </p:nvSpPr>
        <p:spPr>
          <a:xfrm>
            <a:off x="6787728" y="3305556"/>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API Management policy, including content safety</a:t>
            </a:r>
          </a:p>
        </p:txBody>
      </p:sp>
      <p:sp>
        <p:nvSpPr>
          <p:cNvPr id="38" name="TextBox 37"/>
          <p:cNvSpPr txBox="1"/>
          <p:nvPr/>
        </p:nvSpPr>
        <p:spPr>
          <a:xfrm>
            <a:off x="9268733" y="3305556"/>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policies on model traffic</a:t>
            </a:r>
          </a:p>
        </p:txBody>
      </p:sp>
      <p:sp>
        <p:nvSpPr>
          <p:cNvPr id="39" name="Rectangle 38"/>
          <p:cNvSpPr/>
          <p:nvPr/>
        </p:nvSpPr>
        <p:spPr>
          <a:xfrm>
            <a:off x="457200" y="3785615"/>
            <a:ext cx="11277295" cy="530352"/>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457200" y="4315968"/>
            <a:ext cx="11277295" cy="0"/>
          </a:xfrm>
          <a:prstGeom prst="line">
            <a:avLst/>
          </a:prstGeom>
          <a:ln w="9525">
            <a:solidFill>
              <a:srgbClr val="E1E7F4"/>
            </a:solidFill>
          </a:ln>
        </p:spPr>
      </p:cxnSp>
      <p:sp>
        <p:nvSpPr>
          <p:cNvPr id="41" name="TextBox 40"/>
          <p:cNvSpPr txBox="1"/>
          <p:nvPr/>
        </p:nvSpPr>
        <p:spPr>
          <a:xfrm>
            <a:off x="585216" y="3835907"/>
            <a:ext cx="1246592" cy="448056"/>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Prerequisite</a:t>
            </a:r>
          </a:p>
        </p:txBody>
      </p:sp>
      <p:sp>
        <p:nvSpPr>
          <p:cNvPr id="42" name="TextBox 41"/>
          <p:cNvSpPr txBox="1"/>
          <p:nvPr/>
        </p:nvSpPr>
        <p:spPr>
          <a:xfrm>
            <a:off x="2051264" y="3835907"/>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AI Gateway on the Foundry resource</a:t>
            </a:r>
          </a:p>
        </p:txBody>
      </p:sp>
      <p:sp>
        <p:nvSpPr>
          <p:cNvPr id="43" name="TextBox 42"/>
          <p:cNvSpPr txBox="1"/>
          <p:nvPr/>
        </p:nvSpPr>
        <p:spPr>
          <a:xfrm>
            <a:off x="4532269" y="3835907"/>
            <a:ext cx="2036003"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 AI Gateway required</a:t>
            </a:r>
          </a:p>
        </p:txBody>
      </p:sp>
      <p:sp>
        <p:nvSpPr>
          <p:cNvPr id="44" name="TextBox 43"/>
          <p:cNvSpPr txBox="1"/>
          <p:nvPr/>
        </p:nvSpPr>
        <p:spPr>
          <a:xfrm>
            <a:off x="6787728" y="3835907"/>
            <a:ext cx="2261548"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classic or v2 tier</a:t>
            </a:r>
          </a:p>
        </p:txBody>
      </p:sp>
      <p:sp>
        <p:nvSpPr>
          <p:cNvPr id="45" name="TextBox 44"/>
          <p:cNvSpPr txBox="1"/>
          <p:nvPr/>
        </p:nvSpPr>
        <p:spPr>
          <a:xfrm>
            <a:off x="9268733" y="3835907"/>
            <a:ext cx="2374321" cy="448056"/>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API Management connection in the project</a:t>
            </a:r>
          </a:p>
        </p:txBody>
      </p:sp>
      <p:cxnSp>
        <p:nvCxnSpPr>
          <p:cNvPr id="46" name="Connector 45"/>
          <p:cNvCxnSpPr/>
          <p:nvPr/>
        </p:nvCxnSpPr>
        <p:spPr>
          <a:xfrm>
            <a:off x="1923248" y="1664208"/>
            <a:ext cx="0" cy="2651760"/>
          </a:xfrm>
          <a:prstGeom prst="line">
            <a:avLst/>
          </a:prstGeom>
          <a:ln w="9525">
            <a:solidFill>
              <a:srgbClr val="E1E7F4"/>
            </a:solidFill>
          </a:ln>
        </p:spPr>
      </p:cxnSp>
      <p:cxnSp>
        <p:nvCxnSpPr>
          <p:cNvPr id="47" name="Connector 46"/>
          <p:cNvCxnSpPr/>
          <p:nvPr/>
        </p:nvCxnSpPr>
        <p:spPr>
          <a:xfrm>
            <a:off x="4404253" y="1664208"/>
            <a:ext cx="0" cy="2651760"/>
          </a:xfrm>
          <a:prstGeom prst="line">
            <a:avLst/>
          </a:prstGeom>
          <a:ln w="9525">
            <a:solidFill>
              <a:srgbClr val="E1E7F4"/>
            </a:solidFill>
          </a:ln>
        </p:spPr>
      </p:cxnSp>
      <p:cxnSp>
        <p:nvCxnSpPr>
          <p:cNvPr id="48" name="Connector 47"/>
          <p:cNvCxnSpPr/>
          <p:nvPr/>
        </p:nvCxnSpPr>
        <p:spPr>
          <a:xfrm>
            <a:off x="6659712" y="1664208"/>
            <a:ext cx="0" cy="2651760"/>
          </a:xfrm>
          <a:prstGeom prst="line">
            <a:avLst/>
          </a:prstGeom>
          <a:ln w="9525">
            <a:solidFill>
              <a:srgbClr val="E1E7F4"/>
            </a:solidFill>
          </a:ln>
        </p:spPr>
      </p:cxnSp>
      <p:cxnSp>
        <p:nvCxnSpPr>
          <p:cNvPr id="49" name="Connector 48"/>
          <p:cNvCxnSpPr/>
          <p:nvPr/>
        </p:nvCxnSpPr>
        <p:spPr>
          <a:xfrm>
            <a:off x="9140717" y="1664208"/>
            <a:ext cx="0" cy="2651760"/>
          </a:xfrm>
          <a:prstGeom prst="line">
            <a:avLst/>
          </a:prstGeom>
          <a:ln w="9525">
            <a:solidFill>
              <a:srgbClr val="E1E7F4"/>
            </a:solidFill>
          </a:ln>
        </p:spPr>
      </p:cxnSp>
      <p:sp>
        <p:nvSpPr>
          <p:cNvPr id="50" name="Rectangle 49"/>
          <p:cNvSpPr/>
          <p:nvPr/>
        </p:nvSpPr>
        <p:spPr>
          <a:xfrm>
            <a:off x="457200" y="4517136"/>
            <a:ext cx="11277295" cy="566928"/>
          </a:xfrm>
          <a:prstGeom prst="rect">
            <a:avLst/>
          </a:prstGeom>
          <a:solidFill>
            <a:srgbClr val="EBEFF7"/>
          </a:solidFill>
          <a:ln>
            <a:noFill/>
          </a:ln>
          <a:effectLst/>
        </p:spPr>
        <p:txBody>
          <a:bodyPr wrap="square" rtlCol="0" anchor="ctr"/>
          <a:lstStyle/>
          <a:p>
            <a:endParaRPr/>
          </a:p>
        </p:txBody>
      </p:sp>
      <p:sp>
        <p:nvSpPr>
          <p:cNvPr id="51" name="Rectangle 50"/>
          <p:cNvSpPr/>
          <p:nvPr/>
        </p:nvSpPr>
        <p:spPr>
          <a:xfrm>
            <a:off x="457200" y="4517136"/>
            <a:ext cx="41148" cy="566928"/>
          </a:xfrm>
          <a:prstGeom prst="rect">
            <a:avLst/>
          </a:prstGeom>
          <a:solidFill>
            <a:srgbClr val="00B39F"/>
          </a:solidFill>
          <a:ln>
            <a:noFill/>
          </a:ln>
          <a:effectLst/>
        </p:spPr>
        <p:txBody>
          <a:bodyPr wrap="square" rtlCol="0" anchor="ctr"/>
          <a:lstStyle/>
          <a:p>
            <a:endParaRPr/>
          </a:p>
        </p:txBody>
      </p:sp>
      <p:sp>
        <p:nvSpPr>
          <p:cNvPr id="52" name="TextBox 51"/>
          <p:cNvSpPr txBox="1"/>
          <p:nvPr/>
        </p:nvSpPr>
        <p:spPr>
          <a:xfrm>
            <a:off x="694944" y="4617720"/>
            <a:ext cx="10856671"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Foundry guardrails apply only to agents built in Foundry Agent Service, not to other agents registered in the Control Plane. For registered custom agents, content safety at the gateway (llm-content-safety) is the documented runtime control.</a:t>
            </a:r>
          </a:p>
        </p:txBody>
      </p:sp>
      <p:sp>
        <p:nvSpPr>
          <p:cNvPr id="53" name="TextBox 52"/>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Comparison of governance controls</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AI Gateway token limits compared with Foundry quota, API Management policies, Foundry guardrails, and Azure Policy and RBAC</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learn.microsoft.com/azure/foundry/guardrails/guardrails-overview · control-plane/overview</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8</a:t>
            </a:r>
          </a:p>
        </p:txBody>
      </p:sp>
      <p:sp>
        <p:nvSpPr>
          <p:cNvPr id="7" name="Rectangle 6"/>
          <p:cNvSpPr/>
          <p:nvPr/>
        </p:nvSpPr>
        <p:spPr>
          <a:xfrm>
            <a:off x="457200" y="1353312"/>
            <a:ext cx="11277295" cy="310896"/>
          </a:xfrm>
          <a:prstGeom prst="rect">
            <a:avLst/>
          </a:prstGeom>
          <a:solidFill>
            <a:srgbClr val="101A3C"/>
          </a:solidFill>
          <a:ln>
            <a:noFill/>
          </a:ln>
          <a:effectLst/>
        </p:spPr>
        <p:txBody>
          <a:bodyPr wrap="square" rtlCol="0" anchor="ctr"/>
          <a:lstStyle/>
          <a:p>
            <a:endParaRPr/>
          </a:p>
        </p:txBody>
      </p:sp>
      <p:sp>
        <p:nvSpPr>
          <p:cNvPr id="8" name="TextBox 7"/>
          <p:cNvSpPr txBox="1"/>
          <p:nvPr/>
        </p:nvSpPr>
        <p:spPr>
          <a:xfrm>
            <a:off x="585216" y="1431036"/>
            <a:ext cx="1226781" cy="182880"/>
          </a:xfrm>
          <a:prstGeom prst="rect">
            <a:avLst/>
          </a:prstGeom>
          <a:noFill/>
        </p:spPr>
        <p:txBody>
          <a:bodyPr wrap="none" lIns="0" tIns="0" rIns="0" bIns="0" anchor="t">
            <a:spAutoFit/>
          </a:bodyPr>
          <a:lstStyle/>
          <a:p>
            <a:pPr algn="l">
              <a:lnSpc>
                <a:spcPct val="100000"/>
              </a:lnSpc>
            </a:pPr>
            <a:endParaRPr/>
          </a:p>
        </p:txBody>
      </p:sp>
      <p:sp>
        <p:nvSpPr>
          <p:cNvPr id="9" name="TextBox 8"/>
          <p:cNvSpPr txBox="1"/>
          <p:nvPr/>
        </p:nvSpPr>
        <p:spPr>
          <a:xfrm>
            <a:off x="1994877" y="1431036"/>
            <a:ext cx="167787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Foundry quota</a:t>
            </a:r>
          </a:p>
        </p:txBody>
      </p:sp>
      <p:sp>
        <p:nvSpPr>
          <p:cNvPr id="10" name="TextBox 9"/>
          <p:cNvSpPr txBox="1"/>
          <p:nvPr/>
        </p:nvSpPr>
        <p:spPr>
          <a:xfrm>
            <a:off x="3855631" y="1431036"/>
            <a:ext cx="1734260"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AI Gateway token limits*</a:t>
            </a:r>
          </a:p>
        </p:txBody>
      </p:sp>
      <p:sp>
        <p:nvSpPr>
          <p:cNvPr id="11" name="TextBox 10"/>
          <p:cNvSpPr txBox="1"/>
          <p:nvPr/>
        </p:nvSpPr>
        <p:spPr>
          <a:xfrm>
            <a:off x="5772771" y="1431036"/>
            <a:ext cx="1903419"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API Management AI policies</a:t>
            </a:r>
          </a:p>
        </p:txBody>
      </p:sp>
      <p:sp>
        <p:nvSpPr>
          <p:cNvPr id="12" name="TextBox 11"/>
          <p:cNvSpPr txBox="1"/>
          <p:nvPr/>
        </p:nvSpPr>
        <p:spPr>
          <a:xfrm>
            <a:off x="7859071" y="1431036"/>
            <a:ext cx="1847033"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Foundry guardrails</a:t>
            </a:r>
          </a:p>
        </p:txBody>
      </p:sp>
      <p:sp>
        <p:nvSpPr>
          <p:cNvPr id="13" name="TextBox 12"/>
          <p:cNvSpPr txBox="1"/>
          <p:nvPr/>
        </p:nvSpPr>
        <p:spPr>
          <a:xfrm>
            <a:off x="9888984" y="1431036"/>
            <a:ext cx="179064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Azure Policy and RBAC</a:t>
            </a:r>
          </a:p>
        </p:txBody>
      </p:sp>
      <p:sp>
        <p:nvSpPr>
          <p:cNvPr id="14" name="Rectangle 13"/>
          <p:cNvSpPr/>
          <p:nvPr/>
        </p:nvSpPr>
        <p:spPr>
          <a:xfrm>
            <a:off x="457200" y="1664208"/>
            <a:ext cx="11277295" cy="512064"/>
          </a:xfrm>
          <a:prstGeom prst="rect">
            <a:avLst/>
          </a:prstGeom>
          <a:solidFill>
            <a:srgbClr val="F6F8FD"/>
          </a:solidFill>
          <a:ln>
            <a:noFill/>
          </a:ln>
          <a:effectLst/>
        </p:spPr>
        <p:txBody>
          <a:bodyPr wrap="square" rtlCol="0" anchor="ctr"/>
          <a:lstStyle/>
          <a:p>
            <a:endParaRPr/>
          </a:p>
        </p:txBody>
      </p:sp>
      <p:cxnSp>
        <p:nvCxnSpPr>
          <p:cNvPr id="15" name="Connector 14"/>
          <p:cNvCxnSpPr/>
          <p:nvPr/>
        </p:nvCxnSpPr>
        <p:spPr>
          <a:xfrm>
            <a:off x="457200" y="2176272"/>
            <a:ext cx="11277295" cy="0"/>
          </a:xfrm>
          <a:prstGeom prst="line">
            <a:avLst/>
          </a:prstGeom>
          <a:ln w="9525">
            <a:solidFill>
              <a:srgbClr val="E1E7F4"/>
            </a:solidFill>
          </a:ln>
        </p:spPr>
      </p:cxnSp>
      <p:sp>
        <p:nvSpPr>
          <p:cNvPr id="16" name="TextBox 15"/>
          <p:cNvSpPr txBox="1"/>
          <p:nvPr/>
        </p:nvSpPr>
        <p:spPr>
          <a:xfrm>
            <a:off x="585216" y="1714500"/>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Controls</a:t>
            </a:r>
          </a:p>
        </p:txBody>
      </p:sp>
      <p:sp>
        <p:nvSpPr>
          <p:cNvPr id="17" name="TextBox 16"/>
          <p:cNvSpPr txBox="1"/>
          <p:nvPr/>
        </p:nvSpPr>
        <p:spPr>
          <a:xfrm>
            <a:off x="1994877" y="1714500"/>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 deployment capacity in TPM</a:t>
            </a:r>
          </a:p>
        </p:txBody>
      </p:sp>
      <p:sp>
        <p:nvSpPr>
          <p:cNvPr id="18" name="TextBox 17"/>
          <p:cNvSpPr txBox="1"/>
          <p:nvPr/>
        </p:nvSpPr>
        <p:spPr>
          <a:xfrm>
            <a:off x="3855631" y="1714500"/>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TPM and token quota per project</a:t>
            </a:r>
          </a:p>
        </p:txBody>
      </p:sp>
      <p:sp>
        <p:nvSpPr>
          <p:cNvPr id="19" name="TextBox 18"/>
          <p:cNvSpPr txBox="1"/>
          <p:nvPr/>
        </p:nvSpPr>
        <p:spPr>
          <a:xfrm>
            <a:off x="5772771" y="1714500"/>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Tokens, content, routing and caching, per any key</a:t>
            </a:r>
          </a:p>
        </p:txBody>
      </p:sp>
      <p:sp>
        <p:nvSpPr>
          <p:cNvPr id="20" name="TextBox 19"/>
          <p:cNvSpPr txBox="1"/>
          <p:nvPr/>
        </p:nvSpPr>
        <p:spPr>
          <a:xfrm>
            <a:off x="7859071" y="1714500"/>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Content risks, prompt attacks, PII, task adherence</a:t>
            </a:r>
          </a:p>
        </p:txBody>
      </p:sp>
      <p:sp>
        <p:nvSpPr>
          <p:cNvPr id="21" name="TextBox 20"/>
          <p:cNvSpPr txBox="1"/>
          <p:nvPr/>
        </p:nvSpPr>
        <p:spPr>
          <a:xfrm>
            <a:off x="9888984" y="1714500"/>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Who can create, configure and call resources</a:t>
            </a:r>
          </a:p>
        </p:txBody>
      </p:sp>
      <p:cxnSp>
        <p:nvCxnSpPr>
          <p:cNvPr id="22" name="Connector 21"/>
          <p:cNvCxnSpPr/>
          <p:nvPr/>
        </p:nvCxnSpPr>
        <p:spPr>
          <a:xfrm>
            <a:off x="457200" y="2688336"/>
            <a:ext cx="11277295" cy="0"/>
          </a:xfrm>
          <a:prstGeom prst="line">
            <a:avLst/>
          </a:prstGeom>
          <a:ln w="9525">
            <a:solidFill>
              <a:srgbClr val="E1E7F4"/>
            </a:solidFill>
          </a:ln>
        </p:spPr>
      </p:cxnSp>
      <p:sp>
        <p:nvSpPr>
          <p:cNvPr id="23" name="TextBox 22"/>
          <p:cNvSpPr txBox="1"/>
          <p:nvPr/>
        </p:nvSpPr>
        <p:spPr>
          <a:xfrm>
            <a:off x="585216" y="2226564"/>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Configured in</a:t>
            </a:r>
          </a:p>
        </p:txBody>
      </p:sp>
      <p:sp>
        <p:nvSpPr>
          <p:cNvPr id="24" name="TextBox 23"/>
          <p:cNvSpPr txBox="1"/>
          <p:nvPr/>
        </p:nvSpPr>
        <p:spPr>
          <a:xfrm>
            <a:off x="1994877" y="2226564"/>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Manage &gt; Quota</a:t>
            </a:r>
          </a:p>
        </p:txBody>
      </p:sp>
      <p:sp>
        <p:nvSpPr>
          <p:cNvPr id="25" name="TextBox 24"/>
          <p:cNvSpPr txBox="1"/>
          <p:nvPr/>
        </p:nvSpPr>
        <p:spPr>
          <a:xfrm>
            <a:off x="3855631" y="2226564"/>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Manage &gt; AI Gateway</a:t>
            </a:r>
          </a:p>
        </p:txBody>
      </p:sp>
      <p:sp>
        <p:nvSpPr>
          <p:cNvPr id="26" name="TextBox 25"/>
          <p:cNvSpPr txBox="1"/>
          <p:nvPr/>
        </p:nvSpPr>
        <p:spPr>
          <a:xfrm>
            <a:off x="5772771" y="2226564"/>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portal, policy XML</a:t>
            </a:r>
          </a:p>
        </p:txBody>
      </p:sp>
      <p:sp>
        <p:nvSpPr>
          <p:cNvPr id="27" name="TextBox 26"/>
          <p:cNvSpPr txBox="1"/>
          <p:nvPr/>
        </p:nvSpPr>
        <p:spPr>
          <a:xfrm>
            <a:off x="7859071" y="2226564"/>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Foundry portal: Guardrails</a:t>
            </a:r>
          </a:p>
        </p:txBody>
      </p:sp>
      <p:sp>
        <p:nvSpPr>
          <p:cNvPr id="28" name="TextBox 27"/>
          <p:cNvSpPr txBox="1"/>
          <p:nvPr/>
        </p:nvSpPr>
        <p:spPr>
          <a:xfrm>
            <a:off x="9888984" y="2226564"/>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Azure Policy and Azure RBAC</a:t>
            </a:r>
          </a:p>
        </p:txBody>
      </p:sp>
      <p:sp>
        <p:nvSpPr>
          <p:cNvPr id="29" name="Rectangle 28"/>
          <p:cNvSpPr/>
          <p:nvPr/>
        </p:nvSpPr>
        <p:spPr>
          <a:xfrm>
            <a:off x="457200" y="2688336"/>
            <a:ext cx="11277295" cy="512064"/>
          </a:xfrm>
          <a:prstGeom prst="rect">
            <a:avLst/>
          </a:prstGeom>
          <a:solidFill>
            <a:srgbClr val="F6F8FD"/>
          </a:solidFill>
          <a:ln>
            <a:noFill/>
          </a:ln>
          <a:effectLst/>
        </p:spPr>
        <p:txBody>
          <a:bodyPr wrap="square" rtlCol="0" anchor="ctr"/>
          <a:lstStyle/>
          <a:p>
            <a:endParaRPr/>
          </a:p>
        </p:txBody>
      </p:sp>
      <p:cxnSp>
        <p:nvCxnSpPr>
          <p:cNvPr id="30" name="Connector 29"/>
          <p:cNvCxnSpPr/>
          <p:nvPr/>
        </p:nvCxnSpPr>
        <p:spPr>
          <a:xfrm>
            <a:off x="457200" y="3200400"/>
            <a:ext cx="11277295" cy="0"/>
          </a:xfrm>
          <a:prstGeom prst="line">
            <a:avLst/>
          </a:prstGeom>
          <a:ln w="9525">
            <a:solidFill>
              <a:srgbClr val="E1E7F4"/>
            </a:solidFill>
          </a:ln>
        </p:spPr>
      </p:cxnSp>
      <p:sp>
        <p:nvSpPr>
          <p:cNvPr id="31" name="TextBox 30"/>
          <p:cNvSpPr txBox="1"/>
          <p:nvPr/>
        </p:nvSpPr>
        <p:spPr>
          <a:xfrm>
            <a:off x="585216" y="2738628"/>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Scope</a:t>
            </a:r>
          </a:p>
        </p:txBody>
      </p:sp>
      <p:sp>
        <p:nvSpPr>
          <p:cNvPr id="32" name="TextBox 31"/>
          <p:cNvSpPr txBox="1"/>
          <p:nvPr/>
        </p:nvSpPr>
        <p:spPr>
          <a:xfrm>
            <a:off x="1994877" y="2738628"/>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Subscription, region and deployment</a:t>
            </a:r>
          </a:p>
        </p:txBody>
      </p:sp>
      <p:sp>
        <p:nvSpPr>
          <p:cNvPr id="33" name="TextBox 32"/>
          <p:cNvSpPr txBox="1"/>
          <p:nvPr/>
        </p:nvSpPr>
        <p:spPr>
          <a:xfrm>
            <a:off x="3855631" y="2738628"/>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Project on a shared gateway</a:t>
            </a:r>
          </a:p>
        </p:txBody>
      </p:sp>
      <p:sp>
        <p:nvSpPr>
          <p:cNvPr id="34" name="TextBox 33"/>
          <p:cNvSpPr txBox="1"/>
          <p:nvPr/>
        </p:nvSpPr>
        <p:spPr>
          <a:xfrm>
            <a:off x="5772771" y="2738628"/>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Any API in API Management</a:t>
            </a:r>
          </a:p>
        </p:txBody>
      </p:sp>
      <p:sp>
        <p:nvSpPr>
          <p:cNvPr id="35" name="TextBox 34"/>
          <p:cNvSpPr txBox="1"/>
          <p:nvPr/>
        </p:nvSpPr>
        <p:spPr>
          <a:xfrm>
            <a:off x="7859071" y="2738628"/>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Models; Foundry Agent Service agents*</a:t>
            </a:r>
          </a:p>
        </p:txBody>
      </p:sp>
      <p:sp>
        <p:nvSpPr>
          <p:cNvPr id="36" name="TextBox 35"/>
          <p:cNvSpPr txBox="1"/>
          <p:nvPr/>
        </p:nvSpPr>
        <p:spPr>
          <a:xfrm>
            <a:off x="9888984" y="2738628"/>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Resource and project</a:t>
            </a:r>
          </a:p>
        </p:txBody>
      </p:sp>
      <p:cxnSp>
        <p:nvCxnSpPr>
          <p:cNvPr id="37" name="Connector 36"/>
          <p:cNvCxnSpPr/>
          <p:nvPr/>
        </p:nvCxnSpPr>
        <p:spPr>
          <a:xfrm>
            <a:off x="457200" y="3712464"/>
            <a:ext cx="11277295" cy="0"/>
          </a:xfrm>
          <a:prstGeom prst="line">
            <a:avLst/>
          </a:prstGeom>
          <a:ln w="9525">
            <a:solidFill>
              <a:srgbClr val="E1E7F4"/>
            </a:solidFill>
          </a:ln>
        </p:spPr>
      </p:cxnSp>
      <p:sp>
        <p:nvSpPr>
          <p:cNvPr id="38" name="TextBox 37"/>
          <p:cNvSpPr txBox="1"/>
          <p:nvPr/>
        </p:nvSpPr>
        <p:spPr>
          <a:xfrm>
            <a:off x="585216" y="3250692"/>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When exceeded or blocked</a:t>
            </a:r>
          </a:p>
        </p:txBody>
      </p:sp>
      <p:sp>
        <p:nvSpPr>
          <p:cNvPr id="39" name="TextBox 38"/>
          <p:cNvSpPr txBox="1"/>
          <p:nvPr/>
        </p:nvSpPr>
        <p:spPr>
          <a:xfrm>
            <a:off x="1994877" y="3250692"/>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429 from the deployment</a:t>
            </a:r>
          </a:p>
        </p:txBody>
      </p:sp>
      <p:sp>
        <p:nvSpPr>
          <p:cNvPr id="40" name="TextBox 39"/>
          <p:cNvSpPr txBox="1"/>
          <p:nvPr/>
        </p:nvSpPr>
        <p:spPr>
          <a:xfrm>
            <a:off x="3855631" y="3250692"/>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429 over TPM; 403 over quota</a:t>
            </a:r>
          </a:p>
        </p:txBody>
      </p:sp>
      <p:sp>
        <p:nvSpPr>
          <p:cNvPr id="41" name="TextBox 40"/>
          <p:cNvSpPr txBox="1"/>
          <p:nvPr/>
        </p:nvSpPr>
        <p:spPr>
          <a:xfrm>
            <a:off x="5772771" y="3250692"/>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429 or 403, depending on the policy</a:t>
            </a:r>
          </a:p>
        </p:txBody>
      </p:sp>
      <p:sp>
        <p:nvSpPr>
          <p:cNvPr id="42" name="TextBox 41"/>
          <p:cNvSpPr txBox="1"/>
          <p:nvPr/>
        </p:nvSpPr>
        <p:spPr>
          <a:xfrm>
            <a:off x="7859071" y="3250692"/>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Request or response blocked</a:t>
            </a:r>
          </a:p>
        </p:txBody>
      </p:sp>
      <p:sp>
        <p:nvSpPr>
          <p:cNvPr id="43" name="TextBox 42"/>
          <p:cNvSpPr txBox="1"/>
          <p:nvPr/>
        </p:nvSpPr>
        <p:spPr>
          <a:xfrm>
            <a:off x="9888984" y="3250692"/>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Operation denied</a:t>
            </a:r>
          </a:p>
        </p:txBody>
      </p:sp>
      <p:sp>
        <p:nvSpPr>
          <p:cNvPr id="44" name="Rectangle 43"/>
          <p:cNvSpPr/>
          <p:nvPr/>
        </p:nvSpPr>
        <p:spPr>
          <a:xfrm>
            <a:off x="457200" y="3712464"/>
            <a:ext cx="11277295" cy="512064"/>
          </a:xfrm>
          <a:prstGeom prst="rect">
            <a:avLst/>
          </a:prstGeom>
          <a:solidFill>
            <a:srgbClr val="F6F8FD"/>
          </a:solidFill>
          <a:ln>
            <a:noFill/>
          </a:ln>
          <a:effectLst/>
        </p:spPr>
        <p:txBody>
          <a:bodyPr wrap="square" rtlCol="0" anchor="ctr"/>
          <a:lstStyle/>
          <a:p>
            <a:endParaRPr/>
          </a:p>
        </p:txBody>
      </p:sp>
      <p:cxnSp>
        <p:nvCxnSpPr>
          <p:cNvPr id="45" name="Connector 44"/>
          <p:cNvCxnSpPr/>
          <p:nvPr/>
        </p:nvCxnSpPr>
        <p:spPr>
          <a:xfrm>
            <a:off x="457200" y="4224528"/>
            <a:ext cx="11277295" cy="0"/>
          </a:xfrm>
          <a:prstGeom prst="line">
            <a:avLst/>
          </a:prstGeom>
          <a:ln w="9525">
            <a:solidFill>
              <a:srgbClr val="E1E7F4"/>
            </a:solidFill>
          </a:ln>
        </p:spPr>
      </p:cxnSp>
      <p:sp>
        <p:nvSpPr>
          <p:cNvPr id="46" name="TextBox 45"/>
          <p:cNvSpPr txBox="1"/>
          <p:nvPr/>
        </p:nvSpPr>
        <p:spPr>
          <a:xfrm>
            <a:off x="585216" y="3762756"/>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Custom agents and MCP</a:t>
            </a:r>
          </a:p>
        </p:txBody>
      </p:sp>
      <p:sp>
        <p:nvSpPr>
          <p:cNvPr id="47" name="TextBox 46"/>
          <p:cNvSpPr txBox="1"/>
          <p:nvPr/>
        </p:nvSpPr>
        <p:spPr>
          <a:xfrm>
            <a:off x="1994877" y="3762756"/>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covered</a:t>
            </a:r>
          </a:p>
        </p:txBody>
      </p:sp>
      <p:sp>
        <p:nvSpPr>
          <p:cNvPr id="48" name="TextBox 47"/>
          <p:cNvSpPr txBox="1"/>
          <p:nvPr/>
        </p:nvSpPr>
        <p:spPr>
          <a:xfrm>
            <a:off x="3855631" y="3762756"/>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MCP tools* and registered agents*</a:t>
            </a:r>
          </a:p>
        </p:txBody>
      </p:sp>
      <p:sp>
        <p:nvSpPr>
          <p:cNvPr id="49" name="TextBox 48"/>
          <p:cNvSpPr txBox="1"/>
          <p:nvPr/>
        </p:nvSpPr>
        <p:spPr>
          <a:xfrm>
            <a:off x="5772771" y="3762756"/>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MCP and A2A traffic</a:t>
            </a:r>
          </a:p>
        </p:txBody>
      </p:sp>
      <p:sp>
        <p:nvSpPr>
          <p:cNvPr id="50" name="TextBox 49"/>
          <p:cNvSpPr txBox="1"/>
          <p:nvPr/>
        </p:nvSpPr>
        <p:spPr>
          <a:xfrm>
            <a:off x="7859071" y="3762756"/>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Not covered</a:t>
            </a:r>
          </a:p>
        </p:txBody>
      </p:sp>
      <p:sp>
        <p:nvSpPr>
          <p:cNvPr id="51" name="TextBox 50"/>
          <p:cNvSpPr txBox="1"/>
          <p:nvPr/>
        </p:nvSpPr>
        <p:spPr>
          <a:xfrm>
            <a:off x="9888984" y="3762756"/>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Resource level only</a:t>
            </a:r>
          </a:p>
        </p:txBody>
      </p:sp>
      <p:cxnSp>
        <p:nvCxnSpPr>
          <p:cNvPr id="52" name="Connector 51"/>
          <p:cNvCxnSpPr/>
          <p:nvPr/>
        </p:nvCxnSpPr>
        <p:spPr>
          <a:xfrm>
            <a:off x="457200" y="4736592"/>
            <a:ext cx="11277295" cy="0"/>
          </a:xfrm>
          <a:prstGeom prst="line">
            <a:avLst/>
          </a:prstGeom>
          <a:ln w="9525">
            <a:solidFill>
              <a:srgbClr val="E1E7F4"/>
            </a:solidFill>
          </a:ln>
        </p:spPr>
      </p:cxnSp>
      <p:sp>
        <p:nvSpPr>
          <p:cNvPr id="53" name="TextBox 52"/>
          <p:cNvSpPr txBox="1"/>
          <p:nvPr/>
        </p:nvSpPr>
        <p:spPr>
          <a:xfrm>
            <a:off x="585216" y="4274820"/>
            <a:ext cx="1190205" cy="429768"/>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Status</a:t>
            </a:r>
          </a:p>
        </p:txBody>
      </p:sp>
      <p:sp>
        <p:nvSpPr>
          <p:cNvPr id="54" name="TextBox 53"/>
          <p:cNvSpPr txBox="1"/>
          <p:nvPr/>
        </p:nvSpPr>
        <p:spPr>
          <a:xfrm>
            <a:off x="1994877" y="4274820"/>
            <a:ext cx="164129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sp>
        <p:nvSpPr>
          <p:cNvPr id="55" name="TextBox 54"/>
          <p:cNvSpPr txBox="1"/>
          <p:nvPr/>
        </p:nvSpPr>
        <p:spPr>
          <a:xfrm>
            <a:off x="3855631" y="4274820"/>
            <a:ext cx="1697684"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Preview</a:t>
            </a:r>
          </a:p>
        </p:txBody>
      </p:sp>
      <p:sp>
        <p:nvSpPr>
          <p:cNvPr id="56" name="TextBox 55"/>
          <p:cNvSpPr txBox="1"/>
          <p:nvPr/>
        </p:nvSpPr>
        <p:spPr>
          <a:xfrm>
            <a:off x="5772771" y="4274820"/>
            <a:ext cx="1866843"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sp>
        <p:nvSpPr>
          <p:cNvPr id="57" name="TextBox 56"/>
          <p:cNvSpPr txBox="1"/>
          <p:nvPr/>
        </p:nvSpPr>
        <p:spPr>
          <a:xfrm>
            <a:off x="7859071" y="4274820"/>
            <a:ext cx="1810457"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Models generally available; agents preview</a:t>
            </a:r>
          </a:p>
        </p:txBody>
      </p:sp>
      <p:sp>
        <p:nvSpPr>
          <p:cNvPr id="58" name="TextBox 57"/>
          <p:cNvSpPr txBox="1"/>
          <p:nvPr/>
        </p:nvSpPr>
        <p:spPr>
          <a:xfrm>
            <a:off x="9888984" y="4274820"/>
            <a:ext cx="1754070" cy="429768"/>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Generally available</a:t>
            </a:r>
          </a:p>
        </p:txBody>
      </p:sp>
      <p:cxnSp>
        <p:nvCxnSpPr>
          <p:cNvPr id="59" name="Connector 58"/>
          <p:cNvCxnSpPr/>
          <p:nvPr/>
        </p:nvCxnSpPr>
        <p:spPr>
          <a:xfrm>
            <a:off x="1866861" y="1664208"/>
            <a:ext cx="0" cy="3072384"/>
          </a:xfrm>
          <a:prstGeom prst="line">
            <a:avLst/>
          </a:prstGeom>
          <a:ln w="9525">
            <a:solidFill>
              <a:srgbClr val="E1E7F4"/>
            </a:solidFill>
          </a:ln>
        </p:spPr>
      </p:cxnSp>
      <p:cxnSp>
        <p:nvCxnSpPr>
          <p:cNvPr id="60" name="Connector 59"/>
          <p:cNvCxnSpPr/>
          <p:nvPr/>
        </p:nvCxnSpPr>
        <p:spPr>
          <a:xfrm>
            <a:off x="3727615" y="1664208"/>
            <a:ext cx="0" cy="3072384"/>
          </a:xfrm>
          <a:prstGeom prst="line">
            <a:avLst/>
          </a:prstGeom>
          <a:ln w="9525">
            <a:solidFill>
              <a:srgbClr val="E1E7F4"/>
            </a:solidFill>
          </a:ln>
        </p:spPr>
      </p:cxnSp>
      <p:cxnSp>
        <p:nvCxnSpPr>
          <p:cNvPr id="61" name="Connector 60"/>
          <p:cNvCxnSpPr/>
          <p:nvPr/>
        </p:nvCxnSpPr>
        <p:spPr>
          <a:xfrm>
            <a:off x="5644755" y="1664208"/>
            <a:ext cx="0" cy="3072384"/>
          </a:xfrm>
          <a:prstGeom prst="line">
            <a:avLst/>
          </a:prstGeom>
          <a:ln w="9525">
            <a:solidFill>
              <a:srgbClr val="E1E7F4"/>
            </a:solidFill>
          </a:ln>
        </p:spPr>
      </p:cxnSp>
      <p:cxnSp>
        <p:nvCxnSpPr>
          <p:cNvPr id="62" name="Connector 61"/>
          <p:cNvCxnSpPr/>
          <p:nvPr/>
        </p:nvCxnSpPr>
        <p:spPr>
          <a:xfrm>
            <a:off x="7731055" y="1664208"/>
            <a:ext cx="0" cy="3072384"/>
          </a:xfrm>
          <a:prstGeom prst="line">
            <a:avLst/>
          </a:prstGeom>
          <a:ln w="9525">
            <a:solidFill>
              <a:srgbClr val="E1E7F4"/>
            </a:solidFill>
          </a:ln>
        </p:spPr>
      </p:cxnSp>
      <p:cxnSp>
        <p:nvCxnSpPr>
          <p:cNvPr id="63" name="Connector 62"/>
          <p:cNvCxnSpPr/>
          <p:nvPr/>
        </p:nvCxnSpPr>
        <p:spPr>
          <a:xfrm>
            <a:off x="9760968" y="1664208"/>
            <a:ext cx="0" cy="3072384"/>
          </a:xfrm>
          <a:prstGeom prst="line">
            <a:avLst/>
          </a:prstGeom>
          <a:ln w="9525">
            <a:solidFill>
              <a:srgbClr val="E1E7F4"/>
            </a:solidFill>
          </a:ln>
        </p:spPr>
      </p:cxnSp>
      <p:sp>
        <p:nvSpPr>
          <p:cNvPr id="64" name="Rectangle 63"/>
          <p:cNvSpPr/>
          <p:nvPr/>
        </p:nvSpPr>
        <p:spPr>
          <a:xfrm>
            <a:off x="457200" y="4937760"/>
            <a:ext cx="11277295" cy="566928"/>
          </a:xfrm>
          <a:prstGeom prst="rect">
            <a:avLst/>
          </a:prstGeom>
          <a:solidFill>
            <a:srgbClr val="EBEFF7"/>
          </a:solidFill>
          <a:ln>
            <a:noFill/>
          </a:ln>
          <a:effectLst/>
        </p:spPr>
        <p:txBody>
          <a:bodyPr wrap="square" rtlCol="0" anchor="ctr"/>
          <a:lstStyle/>
          <a:p>
            <a:endParaRPr/>
          </a:p>
        </p:txBody>
      </p:sp>
      <p:sp>
        <p:nvSpPr>
          <p:cNvPr id="65" name="Rectangle 64"/>
          <p:cNvSpPr/>
          <p:nvPr/>
        </p:nvSpPr>
        <p:spPr>
          <a:xfrm>
            <a:off x="457200" y="4937760"/>
            <a:ext cx="41148" cy="566928"/>
          </a:xfrm>
          <a:prstGeom prst="rect">
            <a:avLst/>
          </a:prstGeom>
          <a:solidFill>
            <a:srgbClr val="00B39F"/>
          </a:solidFill>
          <a:ln>
            <a:noFill/>
          </a:ln>
          <a:effectLst/>
        </p:spPr>
        <p:txBody>
          <a:bodyPr wrap="square" rtlCol="0" anchor="ctr"/>
          <a:lstStyle/>
          <a:p>
            <a:endParaRPr/>
          </a:p>
        </p:txBody>
      </p:sp>
      <p:sp>
        <p:nvSpPr>
          <p:cNvPr id="66" name="TextBox 65"/>
          <p:cNvSpPr txBox="1"/>
          <p:nvPr/>
        </p:nvSpPr>
        <p:spPr>
          <a:xfrm>
            <a:off x="694944" y="5038344"/>
            <a:ext cx="10856671" cy="384048"/>
          </a:xfrm>
          <a:prstGeom prst="rect">
            <a:avLst/>
          </a:prstGeom>
          <a:noFill/>
        </p:spPr>
        <p:txBody>
          <a:bodyPr wrap="square" lIns="0" tIns="0" rIns="0" bIns="0" anchor="t">
            <a:spAutoFit/>
          </a:bodyPr>
          <a:lstStyle/>
          <a:p>
            <a:pPr algn="l">
              <a:lnSpc>
                <a:spcPct val="120000"/>
              </a:lnSpc>
            </a:pPr>
            <a:r>
              <a:rPr sz="850" b="0" i="0" dirty="0">
                <a:solidFill>
                  <a:srgbClr val="101A3C"/>
                </a:solidFill>
                <a:latin typeface="Segoe UI"/>
                <a:cs typeface="Segoe UI"/>
              </a:rPr>
              <a:t>The controls stack rather than replace each other: quota sets capacity, gateway limits divide it among consumers, guardrails and content safety filter content, and Azure Policy and RBAC govern who can create and configure resources.</a:t>
            </a:r>
          </a:p>
        </p:txBody>
      </p:sp>
      <p:sp>
        <p:nvSpPr>
          <p:cNvPr id="67" name="TextBox 66"/>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219456"/>
            <a:ext cx="7315200" cy="182880"/>
          </a:xfrm>
          <a:prstGeom prst="rect">
            <a:avLst/>
          </a:prstGeom>
          <a:noFill/>
        </p:spPr>
        <p:txBody>
          <a:bodyPr wrap="square" lIns="0" tIns="0" rIns="0" bIns="0" anchor="t">
            <a:spAutoFit/>
          </a:bodyPr>
          <a:lstStyle/>
          <a:p>
            <a:pPr algn="l">
              <a:lnSpc>
                <a:spcPct val="100000"/>
              </a:lnSpc>
            </a:pPr>
            <a:r>
              <a:rPr sz="800" b="1" i="0" spc="140" dirty="0">
                <a:solidFill>
                  <a:srgbClr val="008173"/>
                </a:solidFill>
                <a:latin typeface="Segoe UI"/>
                <a:cs typeface="Segoe UI"/>
              </a:rPr>
              <a:t>04 · CHOOSING</a:t>
            </a:r>
          </a:p>
        </p:txBody>
      </p:sp>
      <p:sp>
        <p:nvSpPr>
          <p:cNvPr id="3" name="TextBox 2"/>
          <p:cNvSpPr txBox="1"/>
          <p:nvPr/>
        </p:nvSpPr>
        <p:spPr>
          <a:xfrm>
            <a:off x="457200" y="466344"/>
            <a:ext cx="10972800" cy="411480"/>
          </a:xfrm>
          <a:prstGeom prst="rect">
            <a:avLst/>
          </a:prstGeom>
          <a:noFill/>
        </p:spPr>
        <p:txBody>
          <a:bodyPr wrap="square" lIns="0" tIns="0" rIns="0" bIns="0" anchor="t">
            <a:spAutoFit/>
          </a:bodyPr>
          <a:lstStyle/>
          <a:p>
            <a:pPr algn="l">
              <a:lnSpc>
                <a:spcPct val="100000"/>
              </a:lnSpc>
            </a:pPr>
            <a:r>
              <a:rPr sz="2600" b="1" i="0" dirty="0">
                <a:solidFill>
                  <a:srgbClr val="101A3C"/>
                </a:solidFill>
                <a:latin typeface="Segoe UI"/>
                <a:cs typeface="Segoe UI"/>
              </a:rPr>
              <a:t>Governance at scale</a:t>
            </a:r>
          </a:p>
        </p:txBody>
      </p:sp>
      <p:sp>
        <p:nvSpPr>
          <p:cNvPr id="4" name="TextBox 3"/>
          <p:cNvSpPr txBox="1"/>
          <p:nvPr/>
        </p:nvSpPr>
        <p:spPr>
          <a:xfrm>
            <a:off x="457200" y="932688"/>
            <a:ext cx="10972800" cy="274320"/>
          </a:xfrm>
          <a:prstGeom prst="rect">
            <a:avLst/>
          </a:prstGeom>
          <a:noFill/>
        </p:spPr>
        <p:txBody>
          <a:bodyPr wrap="square" lIns="0" tIns="0" rIns="0" bIns="0" anchor="t">
            <a:spAutoFit/>
          </a:bodyPr>
          <a:lstStyle/>
          <a:p>
            <a:pPr algn="l">
              <a:lnSpc>
                <a:spcPct val="100000"/>
              </a:lnSpc>
            </a:pPr>
            <a:r>
              <a:rPr sz="1250" b="0" i="0" dirty="0">
                <a:solidFill>
                  <a:srgbClr val="44495B"/>
                </a:solidFill>
                <a:latin typeface="Segoe UI"/>
                <a:cs typeface="Segoe UI"/>
              </a:rPr>
              <a:t>Hub-and-spoke pattern from the Foundry Citadel reference, key design constraints, and when a gateway is not needed</a:t>
            </a:r>
          </a:p>
        </p:txBody>
      </p:sp>
      <p:sp>
        <p:nvSpPr>
          <p:cNvPr id="5" name="TextBox 4"/>
          <p:cNvSpPr txBox="1"/>
          <p:nvPr/>
        </p:nvSpPr>
        <p:spPr>
          <a:xfrm>
            <a:off x="457200" y="5797296"/>
            <a:ext cx="6949440" cy="182880"/>
          </a:xfrm>
          <a:prstGeom prst="rect">
            <a:avLst/>
          </a:prstGeom>
          <a:noFill/>
        </p:spPr>
        <p:txBody>
          <a:bodyPr wrap="square" lIns="0" tIns="0" rIns="0" bIns="0" anchor="t">
            <a:spAutoFit/>
          </a:bodyPr>
          <a:lstStyle/>
          <a:p>
            <a:pPr algn="l">
              <a:lnSpc>
                <a:spcPct val="100000"/>
              </a:lnSpc>
            </a:pPr>
            <a:r>
              <a:rPr sz="900" b="0" i="0" dirty="0">
                <a:solidFill>
                  <a:srgbClr val="44495B"/>
                </a:solidFill>
                <a:latin typeface="Segoe UI"/>
                <a:cs typeface="Segoe UI"/>
              </a:rPr>
              <a:t>Source: github.com/Azure-Samples/foundry-citadel-platform · Azure Architecture Center gateway guide</a:t>
            </a:r>
          </a:p>
        </p:txBody>
      </p:sp>
      <p:sp>
        <p:nvSpPr>
          <p:cNvPr id="6" name="TextBox 5"/>
          <p:cNvSpPr txBox="1"/>
          <p:nvPr/>
        </p:nvSpPr>
        <p:spPr>
          <a:xfrm>
            <a:off x="8412480" y="5797296"/>
            <a:ext cx="3322015" cy="182880"/>
          </a:xfrm>
          <a:prstGeom prst="rect">
            <a:avLst/>
          </a:prstGeom>
          <a:noFill/>
        </p:spPr>
        <p:txBody>
          <a:bodyPr wrap="square" lIns="0" tIns="0" rIns="0" bIns="0" anchor="t">
            <a:spAutoFit/>
          </a:bodyPr>
          <a:lstStyle/>
          <a:p>
            <a:pPr algn="r">
              <a:lnSpc>
                <a:spcPct val="100000"/>
              </a:lnSpc>
            </a:pPr>
            <a:r>
              <a:rPr sz="900" b="0" i="0" dirty="0">
                <a:solidFill>
                  <a:srgbClr val="44495B"/>
                </a:solidFill>
                <a:latin typeface="Segoe UI"/>
                <a:cs typeface="Segoe UI"/>
              </a:rPr>
              <a:t>AI gateway in Microsoft Foundry · October 2026 · 9</a:t>
            </a:r>
          </a:p>
        </p:txBody>
      </p:sp>
      <p:sp>
        <p:nvSpPr>
          <p:cNvPr id="7" name="TextBox 6"/>
          <p:cNvSpPr txBox="1"/>
          <p:nvPr/>
        </p:nvSpPr>
        <p:spPr>
          <a:xfrm>
            <a:off x="457200" y="1371600"/>
            <a:ext cx="603504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HUB-AND-SPOKE PATTERN (FOUNDRY CITADEL REFERENCE)</a:t>
            </a:r>
          </a:p>
        </p:txBody>
      </p:sp>
      <p:sp>
        <p:nvSpPr>
          <p:cNvPr id="8" name="Rectangle 7"/>
          <p:cNvSpPr/>
          <p:nvPr/>
        </p:nvSpPr>
        <p:spPr>
          <a:xfrm>
            <a:off x="457200" y="1645920"/>
            <a:ext cx="6080760" cy="658368"/>
          </a:xfrm>
          <a:prstGeom prst="rect">
            <a:avLst/>
          </a:prstGeom>
          <a:solidFill>
            <a:srgbClr val="0B1229"/>
          </a:solidFill>
          <a:ln>
            <a:noFill/>
          </a:ln>
          <a:effectLst/>
        </p:spPr>
        <p:txBody>
          <a:bodyPr wrap="square" rtlCol="0" anchor="ctr"/>
          <a:lstStyle/>
          <a:p>
            <a:endParaRPr/>
          </a:p>
        </p:txBody>
      </p:sp>
      <p:sp>
        <p:nvSpPr>
          <p:cNvPr id="9" name="Rectangle 8"/>
          <p:cNvSpPr/>
          <p:nvPr/>
        </p:nvSpPr>
        <p:spPr>
          <a:xfrm>
            <a:off x="566928" y="1737360"/>
            <a:ext cx="1874519"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Foundry Control Plane*</a:t>
            </a:r>
          </a:p>
          <a:p>
            <a:pPr algn="ctr">
              <a:lnSpc>
                <a:spcPct val="110000"/>
              </a:lnSpc>
            </a:pPr>
            <a:r>
              <a:rPr sz="750" b="0" i="0" dirty="0">
                <a:solidFill>
                  <a:srgbClr val="44495B"/>
                </a:solidFill>
                <a:latin typeface="Segoe UI"/>
                <a:cs typeface="Segoe UI"/>
              </a:rPr>
              <a:t>fleet and compliance</a:t>
            </a:r>
          </a:p>
        </p:txBody>
      </p:sp>
      <p:sp>
        <p:nvSpPr>
          <p:cNvPr id="10" name="Rectangle 9"/>
          <p:cNvSpPr/>
          <p:nvPr/>
        </p:nvSpPr>
        <p:spPr>
          <a:xfrm>
            <a:off x="2551176" y="1737360"/>
            <a:ext cx="1874519"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Microsoft Entra</a:t>
            </a:r>
          </a:p>
          <a:p>
            <a:pPr algn="ctr">
              <a:lnSpc>
                <a:spcPct val="110000"/>
              </a:lnSpc>
            </a:pPr>
            <a:r>
              <a:rPr sz="750" b="0" i="0" dirty="0">
                <a:solidFill>
                  <a:srgbClr val="44495B"/>
                </a:solidFill>
                <a:latin typeface="Segoe UI"/>
                <a:cs typeface="Segoe UI"/>
              </a:rPr>
              <a:t>agent identity</a:t>
            </a:r>
          </a:p>
        </p:txBody>
      </p:sp>
      <p:sp>
        <p:nvSpPr>
          <p:cNvPr id="11" name="Rectangle 10"/>
          <p:cNvSpPr/>
          <p:nvPr/>
        </p:nvSpPr>
        <p:spPr>
          <a:xfrm>
            <a:off x="4535424" y="1737360"/>
            <a:ext cx="1874519" cy="475488"/>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Defender and Purview</a:t>
            </a:r>
          </a:p>
          <a:p>
            <a:pPr algn="ctr">
              <a:lnSpc>
                <a:spcPct val="110000"/>
              </a:lnSpc>
            </a:pPr>
            <a:r>
              <a:rPr sz="750" b="0" i="0" dirty="0">
                <a:solidFill>
                  <a:srgbClr val="44495B"/>
                </a:solidFill>
                <a:latin typeface="Segoe UI"/>
                <a:cs typeface="Segoe UI"/>
              </a:rPr>
              <a:t>threat and data protection</a:t>
            </a:r>
          </a:p>
        </p:txBody>
      </p:sp>
      <p:sp>
        <p:nvSpPr>
          <p:cNvPr id="12" name="Rectangle 11"/>
          <p:cNvSpPr/>
          <p:nvPr/>
        </p:nvSpPr>
        <p:spPr>
          <a:xfrm>
            <a:off x="2697480" y="2697480"/>
            <a:ext cx="1920240" cy="822960"/>
          </a:xfrm>
          <a:prstGeom prst="rect">
            <a:avLst/>
          </a:prstGeom>
          <a:solidFill>
            <a:srgbClr val="101A3C"/>
          </a:solidFill>
          <a:ln>
            <a:noFill/>
          </a:ln>
          <a:effectLst/>
        </p:spPr>
        <p:txBody>
          <a:bodyPr wrap="square" lIns="54864" tIns="18288" rIns="54864" bIns="18288" rtlCol="0" anchor="ctr"/>
          <a:lstStyle/>
          <a:p>
            <a:pPr algn="ctr">
              <a:lnSpc>
                <a:spcPct val="110000"/>
              </a:lnSpc>
            </a:pPr>
            <a:r>
              <a:rPr sz="950" b="1" i="0" dirty="0">
                <a:solidFill>
                  <a:srgbClr val="FFFFFF"/>
                </a:solidFill>
                <a:latin typeface="Segoe UI"/>
                <a:cs typeface="Segoe UI"/>
              </a:rPr>
              <a:t>Governance hub</a:t>
            </a:r>
          </a:p>
          <a:p>
            <a:pPr algn="ctr">
              <a:lnSpc>
                <a:spcPct val="110000"/>
              </a:lnSpc>
            </a:pPr>
            <a:r>
              <a:rPr sz="800" b="0" i="0" dirty="0">
                <a:solidFill>
                  <a:srgbClr val="B9C2D6"/>
                </a:solidFill>
                <a:latin typeface="Segoe UI"/>
                <a:cs typeface="Segoe UI"/>
              </a:rPr>
              <a:t>API Management + API Center</a:t>
            </a:r>
          </a:p>
        </p:txBody>
      </p:sp>
      <p:sp>
        <p:nvSpPr>
          <p:cNvPr id="13" name="Rectangle 12"/>
          <p:cNvSpPr/>
          <p:nvPr/>
        </p:nvSpPr>
        <p:spPr>
          <a:xfrm>
            <a:off x="4983480" y="2697480"/>
            <a:ext cx="1554480" cy="82296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Shared backends</a:t>
            </a:r>
          </a:p>
          <a:p>
            <a:pPr algn="ctr">
              <a:lnSpc>
                <a:spcPct val="110000"/>
              </a:lnSpc>
            </a:pPr>
            <a:r>
              <a:rPr sz="750" b="0" i="0" dirty="0">
                <a:solidFill>
                  <a:srgbClr val="44495B"/>
                </a:solidFill>
                <a:latin typeface="Segoe UI"/>
                <a:cs typeface="Segoe UI"/>
              </a:rPr>
              <a:t>models, tools, agents</a:t>
            </a:r>
          </a:p>
        </p:txBody>
      </p:sp>
      <p:cxnSp>
        <p:nvCxnSpPr>
          <p:cNvPr id="14" name="Connector 13"/>
          <p:cNvCxnSpPr/>
          <p:nvPr/>
        </p:nvCxnSpPr>
        <p:spPr>
          <a:xfrm>
            <a:off x="4617720" y="3108960"/>
            <a:ext cx="365760" cy="0"/>
          </a:xfrm>
          <a:prstGeom prst="line">
            <a:avLst/>
          </a:prstGeom>
          <a:ln w="13970">
            <a:solidFill>
              <a:srgbClr val="44495B"/>
            </a:solidFill>
            <a:tailEnd type="triangle" w="med" len="med"/>
          </a:ln>
        </p:spPr>
      </p:cxnSp>
      <p:sp>
        <p:nvSpPr>
          <p:cNvPr id="15" name="Oval 14"/>
          <p:cNvSpPr/>
          <p:nvPr/>
        </p:nvSpPr>
        <p:spPr>
          <a:xfrm>
            <a:off x="4695444" y="3003804"/>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2</a:t>
            </a:r>
          </a:p>
        </p:txBody>
      </p:sp>
      <p:cxnSp>
        <p:nvCxnSpPr>
          <p:cNvPr id="16" name="Connector 15"/>
          <p:cNvCxnSpPr/>
          <p:nvPr/>
        </p:nvCxnSpPr>
        <p:spPr>
          <a:xfrm flipV="1">
            <a:off x="3657600" y="2304288"/>
            <a:ext cx="0" cy="393192"/>
          </a:xfrm>
          <a:prstGeom prst="line">
            <a:avLst/>
          </a:prstGeom>
          <a:ln w="13970">
            <a:solidFill>
              <a:srgbClr val="44495B"/>
            </a:solidFill>
            <a:prstDash val="dash"/>
          </a:ln>
        </p:spPr>
      </p:cxnSp>
      <p:sp>
        <p:nvSpPr>
          <p:cNvPr id="17" name="Oval 16"/>
          <p:cNvSpPr/>
          <p:nvPr/>
        </p:nvSpPr>
        <p:spPr>
          <a:xfrm>
            <a:off x="3552444" y="2395727"/>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3</a:t>
            </a:r>
          </a:p>
        </p:txBody>
      </p:sp>
      <p:sp>
        <p:nvSpPr>
          <p:cNvPr id="18" name="Rectangle 17"/>
          <p:cNvSpPr/>
          <p:nvPr/>
        </p:nvSpPr>
        <p:spPr>
          <a:xfrm>
            <a:off x="457200" y="4160520"/>
            <a:ext cx="1874519" cy="658368"/>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Spoke — business unit A</a:t>
            </a:r>
          </a:p>
          <a:p>
            <a:pPr algn="ctr">
              <a:lnSpc>
                <a:spcPct val="110000"/>
              </a:lnSpc>
            </a:pPr>
            <a:r>
              <a:rPr sz="750" b="0" i="0" dirty="0">
                <a:solidFill>
                  <a:srgbClr val="44495B"/>
                </a:solidFill>
                <a:latin typeface="Segoe UI"/>
                <a:cs typeface="Segoe UI"/>
              </a:rPr>
              <a:t>Foundry resource and projects</a:t>
            </a:r>
          </a:p>
        </p:txBody>
      </p:sp>
      <p:cxnSp>
        <p:nvCxnSpPr>
          <p:cNvPr id="19" name="Connector 18"/>
          <p:cNvCxnSpPr/>
          <p:nvPr/>
        </p:nvCxnSpPr>
        <p:spPr>
          <a:xfrm flipV="1">
            <a:off x="1394460" y="3858768"/>
            <a:ext cx="0" cy="301752"/>
          </a:xfrm>
          <a:prstGeom prst="line">
            <a:avLst/>
          </a:prstGeom>
          <a:ln w="13970">
            <a:solidFill>
              <a:srgbClr val="44495B"/>
            </a:solidFill>
          </a:ln>
        </p:spPr>
      </p:cxnSp>
      <p:sp>
        <p:nvSpPr>
          <p:cNvPr id="20" name="Rectangle 19"/>
          <p:cNvSpPr/>
          <p:nvPr/>
        </p:nvSpPr>
        <p:spPr>
          <a:xfrm>
            <a:off x="2560320" y="4160520"/>
            <a:ext cx="1874519" cy="658368"/>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Spoke — business unit B</a:t>
            </a:r>
          </a:p>
          <a:p>
            <a:pPr algn="ctr">
              <a:lnSpc>
                <a:spcPct val="110000"/>
              </a:lnSpc>
            </a:pPr>
            <a:r>
              <a:rPr sz="750" b="0" i="0" dirty="0">
                <a:solidFill>
                  <a:srgbClr val="44495B"/>
                </a:solidFill>
                <a:latin typeface="Segoe UI"/>
                <a:cs typeface="Segoe UI"/>
              </a:rPr>
              <a:t>Foundry resource and projects</a:t>
            </a:r>
          </a:p>
        </p:txBody>
      </p:sp>
      <p:cxnSp>
        <p:nvCxnSpPr>
          <p:cNvPr id="21" name="Connector 20"/>
          <p:cNvCxnSpPr/>
          <p:nvPr/>
        </p:nvCxnSpPr>
        <p:spPr>
          <a:xfrm flipV="1">
            <a:off x="3497579" y="3858768"/>
            <a:ext cx="0" cy="301752"/>
          </a:xfrm>
          <a:prstGeom prst="line">
            <a:avLst/>
          </a:prstGeom>
          <a:ln w="13970">
            <a:solidFill>
              <a:srgbClr val="44495B"/>
            </a:solidFill>
          </a:ln>
        </p:spPr>
      </p:cxnSp>
      <p:sp>
        <p:nvSpPr>
          <p:cNvPr id="22" name="Rectangle 21"/>
          <p:cNvSpPr/>
          <p:nvPr/>
        </p:nvSpPr>
        <p:spPr>
          <a:xfrm>
            <a:off x="4663440" y="4160520"/>
            <a:ext cx="1874519" cy="658368"/>
          </a:xfrm>
          <a:prstGeom prst="rect">
            <a:avLst/>
          </a:prstGeom>
          <a:solidFill>
            <a:srgbClr val="EBEFF7"/>
          </a:solidFill>
          <a:ln>
            <a:noFill/>
          </a:ln>
          <a:effectLst/>
        </p:spPr>
        <p:txBody>
          <a:bodyPr wrap="square" lIns="54864" tIns="18288" rIns="54864" bIns="18288" rtlCol="0" anchor="ctr"/>
          <a:lstStyle/>
          <a:p>
            <a:pPr algn="ctr">
              <a:lnSpc>
                <a:spcPct val="110000"/>
              </a:lnSpc>
            </a:pPr>
            <a:r>
              <a:rPr sz="800" b="1" i="0" dirty="0">
                <a:solidFill>
                  <a:srgbClr val="101A3C"/>
                </a:solidFill>
                <a:latin typeface="Segoe UI"/>
                <a:cs typeface="Segoe UI"/>
              </a:rPr>
              <a:t>Spoke — business unit C</a:t>
            </a:r>
          </a:p>
          <a:p>
            <a:pPr algn="ctr">
              <a:lnSpc>
                <a:spcPct val="110000"/>
              </a:lnSpc>
            </a:pPr>
            <a:r>
              <a:rPr sz="750" b="0" i="0" dirty="0">
                <a:solidFill>
                  <a:srgbClr val="44495B"/>
                </a:solidFill>
                <a:latin typeface="Segoe UI"/>
                <a:cs typeface="Segoe UI"/>
              </a:rPr>
              <a:t>Foundry resource and projects</a:t>
            </a:r>
          </a:p>
        </p:txBody>
      </p:sp>
      <p:cxnSp>
        <p:nvCxnSpPr>
          <p:cNvPr id="23" name="Connector 22"/>
          <p:cNvCxnSpPr/>
          <p:nvPr/>
        </p:nvCxnSpPr>
        <p:spPr>
          <a:xfrm flipV="1">
            <a:off x="5600700" y="3858768"/>
            <a:ext cx="0" cy="301752"/>
          </a:xfrm>
          <a:prstGeom prst="line">
            <a:avLst/>
          </a:prstGeom>
          <a:ln w="13970">
            <a:solidFill>
              <a:srgbClr val="44495B"/>
            </a:solidFill>
          </a:ln>
        </p:spPr>
      </p:cxnSp>
      <p:cxnSp>
        <p:nvCxnSpPr>
          <p:cNvPr id="24" name="Connector 23"/>
          <p:cNvCxnSpPr/>
          <p:nvPr/>
        </p:nvCxnSpPr>
        <p:spPr>
          <a:xfrm>
            <a:off x="1394460" y="3858768"/>
            <a:ext cx="4206240" cy="0"/>
          </a:xfrm>
          <a:prstGeom prst="line">
            <a:avLst/>
          </a:prstGeom>
          <a:ln w="13970">
            <a:solidFill>
              <a:srgbClr val="44495B"/>
            </a:solidFill>
          </a:ln>
        </p:spPr>
      </p:cxnSp>
      <p:cxnSp>
        <p:nvCxnSpPr>
          <p:cNvPr id="25" name="Connector 24"/>
          <p:cNvCxnSpPr/>
          <p:nvPr/>
        </p:nvCxnSpPr>
        <p:spPr>
          <a:xfrm flipV="1">
            <a:off x="3657600" y="3520440"/>
            <a:ext cx="0" cy="338328"/>
          </a:xfrm>
          <a:prstGeom prst="line">
            <a:avLst/>
          </a:prstGeom>
          <a:ln w="13970">
            <a:solidFill>
              <a:srgbClr val="44495B"/>
            </a:solidFill>
            <a:tailEnd type="triangle" w="med" len="med"/>
          </a:ln>
        </p:spPr>
      </p:cxnSp>
      <p:sp>
        <p:nvSpPr>
          <p:cNvPr id="26" name="Oval 25"/>
          <p:cNvSpPr/>
          <p:nvPr/>
        </p:nvSpPr>
        <p:spPr>
          <a:xfrm>
            <a:off x="3552444" y="3584448"/>
            <a:ext cx="210312" cy="210312"/>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50" b="1" i="0" dirty="0">
                <a:solidFill>
                  <a:srgbClr val="FFFFFF"/>
                </a:solidFill>
                <a:latin typeface="Segoe UI"/>
                <a:cs typeface="Segoe UI"/>
              </a:rPr>
              <a:t>1</a:t>
            </a:r>
          </a:p>
        </p:txBody>
      </p:sp>
      <p:sp>
        <p:nvSpPr>
          <p:cNvPr id="27" name="TextBox 26"/>
          <p:cNvSpPr txBox="1"/>
          <p:nvPr/>
        </p:nvSpPr>
        <p:spPr>
          <a:xfrm>
            <a:off x="457200" y="4919472"/>
            <a:ext cx="6080760" cy="365760"/>
          </a:xfrm>
          <a:prstGeom prst="rect">
            <a:avLst/>
          </a:prstGeom>
          <a:noFill/>
        </p:spPr>
        <p:txBody>
          <a:bodyPr wrap="square" lIns="0" tIns="0" rIns="0" bIns="0" anchor="t">
            <a:spAutoFit/>
          </a:bodyPr>
          <a:lstStyle/>
          <a:p>
            <a:pPr algn="l">
              <a:lnSpc>
                <a:spcPct val="100000"/>
              </a:lnSpc>
            </a:pPr>
            <a:r>
              <a:rPr sz="800" b="0" i="1" dirty="0">
                <a:solidFill>
                  <a:srgbClr val="44495B"/>
                </a:solidFill>
                <a:latin typeface="Segoe UI"/>
                <a:cs typeface="Segoe UI"/>
              </a:rPr>
              <a:t>Each business unit builds in its own spoke; the hub applies common policies to all AI traffic.</a:t>
            </a:r>
          </a:p>
        </p:txBody>
      </p:sp>
      <p:sp>
        <p:nvSpPr>
          <p:cNvPr id="28" name="TextBox 27"/>
          <p:cNvSpPr txBox="1"/>
          <p:nvPr/>
        </p:nvSpPr>
        <p:spPr>
          <a:xfrm>
            <a:off x="6903720" y="1371600"/>
            <a:ext cx="483077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DESIGN CONSTRAINTS</a:t>
            </a:r>
          </a:p>
        </p:txBody>
      </p:sp>
      <p:sp>
        <p:nvSpPr>
          <p:cNvPr id="29" name="TextBox 28"/>
          <p:cNvSpPr txBox="1"/>
          <p:nvPr/>
        </p:nvSpPr>
        <p:spPr>
          <a:xfrm>
            <a:off x="6903720" y="16459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Gateway scope</a:t>
            </a:r>
          </a:p>
        </p:txBody>
      </p:sp>
      <p:sp>
        <p:nvSpPr>
          <p:cNvPr id="30" name="TextBox 29"/>
          <p:cNvSpPr txBox="1"/>
          <p:nvPr/>
        </p:nvSpPr>
        <p:spPr>
          <a:xfrm>
            <a:off x="8208029" y="16459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AI Gateway in Foundry serves one Foundry resource; a cross-resource hub needs standalone API Management</a:t>
            </a:r>
          </a:p>
        </p:txBody>
      </p:sp>
      <p:cxnSp>
        <p:nvCxnSpPr>
          <p:cNvPr id="31" name="Connector 30"/>
          <p:cNvCxnSpPr/>
          <p:nvPr/>
        </p:nvCxnSpPr>
        <p:spPr>
          <a:xfrm>
            <a:off x="6903720" y="2084831"/>
            <a:ext cx="4830775" cy="0"/>
          </a:xfrm>
          <a:prstGeom prst="line">
            <a:avLst/>
          </a:prstGeom>
          <a:ln w="9525">
            <a:solidFill>
              <a:srgbClr val="E1E7F4"/>
            </a:solidFill>
          </a:ln>
        </p:spPr>
      </p:cxnSp>
      <p:sp>
        <p:nvSpPr>
          <p:cNvPr id="32" name="TextBox 31"/>
          <p:cNvSpPr txBox="1"/>
          <p:nvPr/>
        </p:nvSpPr>
        <p:spPr>
          <a:xfrm>
            <a:off x="6903720" y="21031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Isolation</a:t>
            </a:r>
          </a:p>
        </p:txBody>
      </p:sp>
      <p:sp>
        <p:nvSpPr>
          <p:cNvPr id="33" name="TextBox 32"/>
          <p:cNvSpPr txBox="1"/>
          <p:nvPr/>
        </p:nvSpPr>
        <p:spPr>
          <a:xfrm>
            <a:off x="8208029" y="21031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Separate gateways require separate Foundry resources</a:t>
            </a:r>
          </a:p>
        </p:txBody>
      </p:sp>
      <p:cxnSp>
        <p:nvCxnSpPr>
          <p:cNvPr id="34" name="Connector 33"/>
          <p:cNvCxnSpPr/>
          <p:nvPr/>
        </p:nvCxnSpPr>
        <p:spPr>
          <a:xfrm>
            <a:off x="6903720" y="2542032"/>
            <a:ext cx="4830775" cy="0"/>
          </a:xfrm>
          <a:prstGeom prst="line">
            <a:avLst/>
          </a:prstGeom>
          <a:ln w="9525">
            <a:solidFill>
              <a:srgbClr val="E1E7F4"/>
            </a:solidFill>
          </a:ln>
        </p:spPr>
      </p:cxnSp>
      <p:sp>
        <p:nvSpPr>
          <p:cNvPr id="35" name="TextBox 34"/>
          <p:cNvSpPr txBox="1"/>
          <p:nvPr/>
        </p:nvSpPr>
        <p:spPr>
          <a:xfrm>
            <a:off x="6903720" y="25603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Private network</a:t>
            </a:r>
          </a:p>
        </p:txBody>
      </p:sp>
      <p:sp>
        <p:nvSpPr>
          <p:cNvPr id="36" name="TextBox 35"/>
          <p:cNvSpPr txBox="1"/>
          <p:nvPr/>
        </p:nvSpPr>
        <p:spPr>
          <a:xfrm>
            <a:off x="8208029" y="25603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Standard v2 or Premium v2 with a private endpoint, or Premium v2 in a virtual network</a:t>
            </a:r>
          </a:p>
        </p:txBody>
      </p:sp>
      <p:cxnSp>
        <p:nvCxnSpPr>
          <p:cNvPr id="37" name="Connector 36"/>
          <p:cNvCxnSpPr/>
          <p:nvPr/>
        </p:nvCxnSpPr>
        <p:spPr>
          <a:xfrm>
            <a:off x="6903720" y="2999232"/>
            <a:ext cx="4830775" cy="0"/>
          </a:xfrm>
          <a:prstGeom prst="line">
            <a:avLst/>
          </a:prstGeom>
          <a:ln w="9525">
            <a:solidFill>
              <a:srgbClr val="E1E7F4"/>
            </a:solidFill>
          </a:ln>
        </p:spPr>
      </p:cxnSp>
      <p:sp>
        <p:nvSpPr>
          <p:cNvPr id="38" name="TextBox 37"/>
          <p:cNvSpPr txBox="1"/>
          <p:nvPr/>
        </p:nvSpPr>
        <p:spPr>
          <a:xfrm>
            <a:off x="6903720" y="30175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Token counting</a:t>
            </a:r>
          </a:p>
        </p:txBody>
      </p:sp>
      <p:sp>
        <p:nvSpPr>
          <p:cNvPr id="39" name="TextBox 38"/>
          <p:cNvSpPr txBox="1"/>
          <p:nvPr/>
        </p:nvSpPr>
        <p:spPr>
          <a:xfrm>
            <a:off x="8208029" y="30175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Counted per gateway; not aggregated across regional gateways</a:t>
            </a:r>
          </a:p>
        </p:txBody>
      </p:sp>
      <p:cxnSp>
        <p:nvCxnSpPr>
          <p:cNvPr id="40" name="Connector 39"/>
          <p:cNvCxnSpPr/>
          <p:nvPr/>
        </p:nvCxnSpPr>
        <p:spPr>
          <a:xfrm>
            <a:off x="6903720" y="3456432"/>
            <a:ext cx="4830775" cy="0"/>
          </a:xfrm>
          <a:prstGeom prst="line">
            <a:avLst/>
          </a:prstGeom>
          <a:ln w="9525">
            <a:solidFill>
              <a:srgbClr val="E1E7F4"/>
            </a:solidFill>
          </a:ln>
        </p:spPr>
      </p:cxnSp>
      <p:sp>
        <p:nvSpPr>
          <p:cNvPr id="41" name="TextBox 40"/>
          <p:cNvSpPr txBox="1"/>
          <p:nvPr/>
        </p:nvSpPr>
        <p:spPr>
          <a:xfrm>
            <a:off x="6903720" y="3474720"/>
            <a:ext cx="1212869" cy="4572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Geography</a:t>
            </a:r>
          </a:p>
        </p:txBody>
      </p:sp>
      <p:sp>
        <p:nvSpPr>
          <p:cNvPr id="42" name="TextBox 41"/>
          <p:cNvSpPr txBox="1"/>
          <p:nvPr/>
        </p:nvSpPr>
        <p:spPr>
          <a:xfrm>
            <a:off x="8208029" y="3474720"/>
            <a:ext cx="3526465" cy="4572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No single gateway across geopolitical boundaries</a:t>
            </a:r>
          </a:p>
        </p:txBody>
      </p:sp>
      <p:cxnSp>
        <p:nvCxnSpPr>
          <p:cNvPr id="43" name="Connector 42"/>
          <p:cNvCxnSpPr/>
          <p:nvPr/>
        </p:nvCxnSpPr>
        <p:spPr>
          <a:xfrm>
            <a:off x="6903720" y="3913632"/>
            <a:ext cx="4830775" cy="0"/>
          </a:xfrm>
          <a:prstGeom prst="line">
            <a:avLst/>
          </a:prstGeom>
          <a:ln w="9525">
            <a:solidFill>
              <a:srgbClr val="E1E7F4"/>
            </a:solidFill>
          </a:ln>
        </p:spPr>
      </p:cxnSp>
      <p:sp>
        <p:nvSpPr>
          <p:cNvPr id="44" name="TextBox 43"/>
          <p:cNvSpPr txBox="1"/>
          <p:nvPr/>
        </p:nvSpPr>
        <p:spPr>
          <a:xfrm>
            <a:off x="6903720" y="4069080"/>
            <a:ext cx="4830775"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WHEN A GATEWAY IS NOT NEEDED</a:t>
            </a:r>
          </a:p>
        </p:txBody>
      </p:sp>
      <p:sp>
        <p:nvSpPr>
          <p:cNvPr id="45" name="Rectangle 44"/>
          <p:cNvSpPr/>
          <p:nvPr/>
        </p:nvSpPr>
        <p:spPr>
          <a:xfrm>
            <a:off x="6903720" y="4343400"/>
            <a:ext cx="4830775" cy="457200"/>
          </a:xfrm>
          <a:prstGeom prst="rect">
            <a:avLst/>
          </a:prstGeom>
          <a:solidFill>
            <a:srgbClr val="F6F8FD"/>
          </a:solidFill>
          <a:ln w="9525">
            <a:solidFill>
              <a:srgbClr val="E1E7F4"/>
            </a:solidFill>
          </a:ln>
          <a:effectLst/>
        </p:spPr>
        <p:txBody>
          <a:bodyPr wrap="square" rtlCol="0" anchor="ctr"/>
          <a:lstStyle/>
          <a:p>
            <a:endParaRPr/>
          </a:p>
        </p:txBody>
      </p:sp>
      <p:sp>
        <p:nvSpPr>
          <p:cNvPr id="46" name="Rectangle 45"/>
          <p:cNvSpPr/>
          <p:nvPr/>
        </p:nvSpPr>
        <p:spPr>
          <a:xfrm>
            <a:off x="6903720" y="4343400"/>
            <a:ext cx="41148" cy="457200"/>
          </a:xfrm>
          <a:prstGeom prst="rect">
            <a:avLst/>
          </a:prstGeom>
          <a:solidFill>
            <a:srgbClr val="44495B"/>
          </a:solidFill>
          <a:ln>
            <a:noFill/>
          </a:ln>
          <a:effectLst/>
        </p:spPr>
        <p:txBody>
          <a:bodyPr wrap="square" rtlCol="0" anchor="ctr"/>
          <a:lstStyle/>
          <a:p>
            <a:endParaRPr/>
          </a:p>
        </p:txBody>
      </p:sp>
      <p:sp>
        <p:nvSpPr>
          <p:cNvPr id="47" name="TextBox 46"/>
          <p:cNvSpPr txBox="1"/>
          <p:nvPr/>
        </p:nvSpPr>
        <p:spPr>
          <a:xfrm>
            <a:off x="7050024" y="4443984"/>
            <a:ext cx="4538167" cy="201168"/>
          </a:xfrm>
          <a:prstGeom prst="rect">
            <a:avLst/>
          </a:prstGeom>
          <a:noFill/>
        </p:spPr>
        <p:txBody>
          <a:bodyPr wrap="square" lIns="0" tIns="0" rIns="0" bIns="0" anchor="t">
            <a:spAutoFit/>
          </a:bodyPr>
          <a:lstStyle/>
          <a:p>
            <a:pPr algn="l">
              <a:lnSpc>
                <a:spcPct val="95000"/>
              </a:lnSpc>
            </a:pPr>
            <a:endParaRPr/>
          </a:p>
        </p:txBody>
      </p:sp>
      <p:sp>
        <p:nvSpPr>
          <p:cNvPr id="48" name="TextBox 47"/>
          <p:cNvSpPr txBox="1"/>
          <p:nvPr/>
        </p:nvSpPr>
        <p:spPr>
          <a:xfrm>
            <a:off x="7068312" y="4343400"/>
            <a:ext cx="4556455" cy="45720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One application calling one model, with no need for central credentials or attribution</a:t>
            </a:r>
          </a:p>
        </p:txBody>
      </p:sp>
      <p:sp>
        <p:nvSpPr>
          <p:cNvPr id="49" name="Rectangle 48"/>
          <p:cNvSpPr/>
          <p:nvPr/>
        </p:nvSpPr>
        <p:spPr>
          <a:xfrm>
            <a:off x="6903720" y="4873752"/>
            <a:ext cx="4830775" cy="457200"/>
          </a:xfrm>
          <a:prstGeom prst="rect">
            <a:avLst/>
          </a:prstGeom>
          <a:solidFill>
            <a:srgbClr val="F6F8FD"/>
          </a:solidFill>
          <a:ln w="9525">
            <a:solidFill>
              <a:srgbClr val="E1E7F4"/>
            </a:solidFill>
          </a:ln>
          <a:effectLst/>
        </p:spPr>
        <p:txBody>
          <a:bodyPr wrap="square" rtlCol="0" anchor="ctr"/>
          <a:lstStyle/>
          <a:p>
            <a:endParaRPr/>
          </a:p>
        </p:txBody>
      </p:sp>
      <p:sp>
        <p:nvSpPr>
          <p:cNvPr id="50" name="Rectangle 49"/>
          <p:cNvSpPr/>
          <p:nvPr/>
        </p:nvSpPr>
        <p:spPr>
          <a:xfrm>
            <a:off x="6903720" y="4873752"/>
            <a:ext cx="41148" cy="457200"/>
          </a:xfrm>
          <a:prstGeom prst="rect">
            <a:avLst/>
          </a:prstGeom>
          <a:solidFill>
            <a:srgbClr val="44495B"/>
          </a:solidFill>
          <a:ln>
            <a:noFill/>
          </a:ln>
          <a:effectLst/>
        </p:spPr>
        <p:txBody>
          <a:bodyPr wrap="square" rtlCol="0" anchor="ctr"/>
          <a:lstStyle/>
          <a:p>
            <a:endParaRPr/>
          </a:p>
        </p:txBody>
      </p:sp>
      <p:sp>
        <p:nvSpPr>
          <p:cNvPr id="51" name="TextBox 50"/>
          <p:cNvSpPr txBox="1"/>
          <p:nvPr/>
        </p:nvSpPr>
        <p:spPr>
          <a:xfrm>
            <a:off x="7050024" y="4974336"/>
            <a:ext cx="4538167" cy="201168"/>
          </a:xfrm>
          <a:prstGeom prst="rect">
            <a:avLst/>
          </a:prstGeom>
          <a:noFill/>
        </p:spPr>
        <p:txBody>
          <a:bodyPr wrap="square" lIns="0" tIns="0" rIns="0" bIns="0" anchor="t">
            <a:spAutoFit/>
          </a:bodyPr>
          <a:lstStyle/>
          <a:p>
            <a:pPr algn="l">
              <a:lnSpc>
                <a:spcPct val="95000"/>
              </a:lnSpc>
            </a:pPr>
            <a:endParaRPr/>
          </a:p>
        </p:txBody>
      </p:sp>
      <p:sp>
        <p:nvSpPr>
          <p:cNvPr id="52" name="TextBox 51"/>
          <p:cNvSpPr txBox="1"/>
          <p:nvPr/>
        </p:nvSpPr>
        <p:spPr>
          <a:xfrm>
            <a:off x="7068312" y="4873752"/>
            <a:ext cx="4556455" cy="457200"/>
          </a:xfrm>
          <a:prstGeom prst="rect">
            <a:avLst/>
          </a:prstGeom>
          <a:noFill/>
        </p:spPr>
        <p:txBody>
          <a:bodyPr wrap="square" lIns="0" tIns="0" rIns="0" bIns="0" anchor="ctr">
            <a:spAutoFit/>
          </a:bodyPr>
          <a:lstStyle/>
          <a:p>
            <a:pPr algn="l">
              <a:lnSpc>
                <a:spcPct val="110000"/>
              </a:lnSpc>
            </a:pPr>
            <a:r>
              <a:rPr sz="800" b="0" i="0" dirty="0">
                <a:solidFill>
                  <a:srgbClr val="141B33"/>
                </a:solidFill>
                <a:latin typeface="Segoe UI"/>
                <a:cs typeface="Segoe UI"/>
              </a:rPr>
              <a:t>Throttling only — a Global or Data Zone deployment already spreads the load</a:t>
            </a:r>
          </a:p>
        </p:txBody>
      </p:sp>
      <p:sp>
        <p:nvSpPr>
          <p:cNvPr id="53" name="Rectangle 52"/>
          <p:cNvSpPr/>
          <p:nvPr/>
        </p:nvSpPr>
        <p:spPr>
          <a:xfrm>
            <a:off x="457200" y="5545836"/>
            <a:ext cx="146304" cy="91440"/>
          </a:xfrm>
          <a:prstGeom prst="rect">
            <a:avLst/>
          </a:prstGeom>
          <a:solidFill>
            <a:srgbClr val="101A3C"/>
          </a:solidFill>
          <a:ln>
            <a:noFill/>
          </a:ln>
          <a:effectLst/>
        </p:spPr>
        <p:txBody>
          <a:bodyPr wrap="square" rtlCol="0" anchor="ctr"/>
          <a:lstStyle/>
          <a:p>
            <a:endParaRPr/>
          </a:p>
        </p:txBody>
      </p:sp>
      <p:sp>
        <p:nvSpPr>
          <p:cNvPr id="54" name="TextBox 53"/>
          <p:cNvSpPr txBox="1"/>
          <p:nvPr/>
        </p:nvSpPr>
        <p:spPr>
          <a:xfrm>
            <a:off x="6766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Governance hub</a:t>
            </a:r>
          </a:p>
        </p:txBody>
      </p:sp>
      <p:sp>
        <p:nvSpPr>
          <p:cNvPr id="55" name="Rectangle 54"/>
          <p:cNvSpPr/>
          <p:nvPr/>
        </p:nvSpPr>
        <p:spPr>
          <a:xfrm>
            <a:off x="1572768" y="5545836"/>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56" name="TextBox 55"/>
          <p:cNvSpPr txBox="1"/>
          <p:nvPr/>
        </p:nvSpPr>
        <p:spPr>
          <a:xfrm>
            <a:off x="1792224"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Backend or service</a:t>
            </a:r>
          </a:p>
        </p:txBody>
      </p:sp>
      <p:sp>
        <p:nvSpPr>
          <p:cNvPr id="57" name="Rectangle 56"/>
          <p:cNvSpPr/>
          <p:nvPr/>
        </p:nvSpPr>
        <p:spPr>
          <a:xfrm>
            <a:off x="2907792" y="5545836"/>
            <a:ext cx="146304" cy="91440"/>
          </a:xfrm>
          <a:prstGeom prst="rect">
            <a:avLst/>
          </a:prstGeom>
          <a:solidFill>
            <a:srgbClr val="EBEFF7"/>
          </a:solidFill>
          <a:ln>
            <a:noFill/>
          </a:ln>
          <a:effectLst/>
        </p:spPr>
        <p:txBody>
          <a:bodyPr wrap="square" rtlCol="0" anchor="ctr"/>
          <a:lstStyle/>
          <a:p>
            <a:endParaRPr/>
          </a:p>
        </p:txBody>
      </p:sp>
      <p:sp>
        <p:nvSpPr>
          <p:cNvPr id="58" name="TextBox 57"/>
          <p:cNvSpPr txBox="1"/>
          <p:nvPr/>
        </p:nvSpPr>
        <p:spPr>
          <a:xfrm>
            <a:off x="3127248"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Spoke</a:t>
            </a:r>
          </a:p>
        </p:txBody>
      </p:sp>
      <p:sp>
        <p:nvSpPr>
          <p:cNvPr id="59" name="Rectangle 58"/>
          <p:cNvSpPr/>
          <p:nvPr/>
        </p:nvSpPr>
        <p:spPr>
          <a:xfrm>
            <a:off x="3529584" y="5545836"/>
            <a:ext cx="146304" cy="91440"/>
          </a:xfrm>
          <a:prstGeom prst="rect">
            <a:avLst/>
          </a:prstGeom>
          <a:solidFill>
            <a:srgbClr val="0B1229"/>
          </a:solidFill>
          <a:ln>
            <a:noFill/>
          </a:ln>
          <a:effectLst/>
        </p:spPr>
        <p:txBody>
          <a:bodyPr wrap="square" rtlCol="0" anchor="ctr"/>
          <a:lstStyle/>
          <a:p>
            <a:endParaRPr/>
          </a:p>
        </p:txBody>
      </p:sp>
      <p:sp>
        <p:nvSpPr>
          <p:cNvPr id="60" name="TextBox 59"/>
          <p:cNvSpPr txBox="1"/>
          <p:nvPr/>
        </p:nvSpPr>
        <p:spPr>
          <a:xfrm>
            <a:off x="3749039"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Governance layer</a:t>
            </a:r>
          </a:p>
        </p:txBody>
      </p:sp>
      <p:cxnSp>
        <p:nvCxnSpPr>
          <p:cNvPr id="61" name="Connector 60"/>
          <p:cNvCxnSpPr/>
          <p:nvPr/>
        </p:nvCxnSpPr>
        <p:spPr>
          <a:xfrm>
            <a:off x="4754879" y="5591556"/>
            <a:ext cx="164592" cy="0"/>
          </a:xfrm>
          <a:prstGeom prst="line">
            <a:avLst/>
          </a:prstGeom>
          <a:ln w="13970">
            <a:solidFill>
              <a:srgbClr val="44495B"/>
            </a:solidFill>
          </a:ln>
        </p:spPr>
      </p:cxnSp>
      <p:sp>
        <p:nvSpPr>
          <p:cNvPr id="62" name="TextBox 61"/>
          <p:cNvSpPr txBox="1"/>
          <p:nvPr/>
        </p:nvSpPr>
        <p:spPr>
          <a:xfrm>
            <a:off x="497433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Request</a:t>
            </a:r>
          </a:p>
        </p:txBody>
      </p:sp>
      <p:cxnSp>
        <p:nvCxnSpPr>
          <p:cNvPr id="63" name="Connector 62"/>
          <p:cNvCxnSpPr/>
          <p:nvPr/>
        </p:nvCxnSpPr>
        <p:spPr>
          <a:xfrm>
            <a:off x="5486400" y="5591556"/>
            <a:ext cx="164592" cy="0"/>
          </a:xfrm>
          <a:prstGeom prst="line">
            <a:avLst/>
          </a:prstGeom>
          <a:ln w="13970">
            <a:solidFill>
              <a:srgbClr val="44495B"/>
            </a:solidFill>
            <a:prstDash val="dash"/>
          </a:ln>
        </p:spPr>
      </p:cxnSp>
      <p:sp>
        <p:nvSpPr>
          <p:cNvPr id="64" name="TextBox 63"/>
          <p:cNvSpPr txBox="1"/>
          <p:nvPr/>
        </p:nvSpPr>
        <p:spPr>
          <a:xfrm>
            <a:off x="5705856" y="5518404"/>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Telemetry, control</a:t>
            </a:r>
          </a:p>
        </p:txBody>
      </p:sp>
      <p:sp>
        <p:nvSpPr>
          <p:cNvPr id="65" name="TextBox 64"/>
          <p:cNvSpPr txBox="1"/>
          <p:nvPr/>
        </p:nvSpPr>
        <p:spPr>
          <a:xfrm>
            <a:off x="7863840" y="5532120"/>
            <a:ext cx="387065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1</TotalTime>
  <Words>4178</Words>
  <Application>Microsoft Office PowerPoint</Application>
  <PresentationFormat>Widescreen</PresentationFormat>
  <Paragraphs>415</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2</cp:revision>
  <dcterms:created xsi:type="dcterms:W3CDTF">2013-01-27T09:14:16Z</dcterms:created>
  <dcterms:modified xsi:type="dcterms:W3CDTF">2026-10-11T09:31:49Z</dcterms:modified>
  <cp:category/>
</cp:coreProperties>
</file>