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01E4C-4AEE-4CC9-BDAE-CBDFC4207C92}" type="datetimeFigureOut">
              <a:t>11/10/2026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251F4-36A3-4B09-B9EE-4F7D0374B325}" type="slidenum">
              <a:t>‹#›</a:t>
            </a:fld>
            <a:endParaRPr lang="en-US"/>
          </a:p>
        </p:txBody>
      </p:sp>
    </p:spTree>
    <p:extLst>
      <p:ext uri="{BB962C8B-B14F-4D97-AF65-F5344CB8AC3E}">
        <p14:creationId xmlns:p14="http://schemas.microsoft.com/office/powerpoint/2010/main" val="702258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covers real-time voice in Microsoft Foundry. Two names come up constantly and they are easy to mix up, so I will separate them from the start.</a:t>
            </a:r>
          </a:p>
          <a:p>
            <a:r>
              <a:t>The Voice Live API is a managed speech-to-speech runtime in Azure Speech. It has been generally available since November 2025, and connecting it to an existing Foundry agent has been generally available since April 2026.</a:t>
            </a:r>
          </a:p>
          <a:p>
            <a:r>
              <a:t>Foundry voice agents are newer. Since 24 September 2026 they have been a public preview agent type in Foundry Agent Service. You describe the model, instructions, audio settings and tools in one agent definition, and the agent still runs on Voice Live underneath.</a:t>
            </a:r>
          </a:p>
          <a:p>
            <a:r>
              <a:t>So the plan is: what problem the runtime solves; the ways to build on it; how a session actually works; the two model architectures; what a voice agent definition contains; two short examples; how it compares with the Azure OpenAI Realtime API; and how to choose.</a:t>
            </a:r>
          </a:p>
          <a:p>
            <a:r>
              <a:t>Every fact was checked against Microsoft Learn on 2 October 2026. Anything marked with an asterisk is preview, which means no service level agreement.</a:t>
            </a:r>
          </a:p>
          <a:p>
            <a:r>
              <a:t>Likely question: is Voice Live being replaced by voice agents? No. Microsoft states that all approaches remain supported.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takeaway: Voice Live removes the work of chaining speech services together.</a:t>
            </a:r>
          </a:p>
          <a:p>
            <a:r>
              <a:t>On the left is the traditional design. You call speech to text, pass the transcript to a language model, and send the reply to text to speech. Learn names the two costs: engineering complexity and latency the caller can hear. Each hop adds delay. You also end up writing the hard conversational parts yourself, such as deciding when the caller has finished speaking and what to do when they interrupt.</a:t>
            </a:r>
          </a:p>
          <a:p>
            <a:r>
              <a:t>On the right, Voice Live puts all three stages behind one WebSocket session. The service manages the orchestration. You send audio and get back audio, plus avatar video and tool-call events if you use them.</a:t>
            </a:r>
          </a:p>
          <a:p>
            <a:r>
              <a:t>The six cards are what Learn calls conversational enhancements. They matter on real phone lines: echo cancellation stops the agent hearing itself on a speakerphone, and end-of-turn detection stops it cutting someone off mid-sentence.</a:t>
            </a:r>
          </a:p>
          <a:p>
            <a:r>
              <a:t>The events follow the Azure OpenAI Realtime API, so existing clients can move with few changes. Source: learn.microsoft.com/azure/ai-services/speech-service/voice-live.</a:t>
            </a:r>
          </a:p>
          <a:p>
            <a:r>
              <a:t>Likely question: do I need to deploy a speech model first? No. Voice Live is fully managed. Bring-your-own-model is the exception, and slide 5 covers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anchor on. All three paths use Voice Live for speech recognition, turn-taking and speech synthesis. They differ in one thing: where the conversation logic lives.</a:t>
            </a:r>
          </a:p>
          <a:p>
            <a:r>
              <a:t>Path one, Voice Live with a model. Your application sends the instructions and tool definitions in a session.update event. This is the closest match to the Azure OpenAI Realtime API.</a:t>
            </a:r>
          </a:p>
          <a:p>
            <a:r>
              <a:t>Path two, Voice Live with a Foundry agent. Your client connects by agent name and project name. The prompt agent or hosted agent you already run does the reasoning, and Voice Live handles listening and speaking. This has been generally available since April 2026.</a:t>
            </a:r>
          </a:p>
          <a:p>
            <a:r>
              <a:t>Path three, the Foundry voice agent: a new agent kind, preview since 24 September. One versioned definition holds the model, instructions, audio settings and tools, and you get built-in telephony and voice-pipeline tracing.</a:t>
            </a:r>
          </a:p>
          <a:p>
            <a:r>
              <a:t>One constraint: you can't convert an existing text agent into a voice agent. You can keep it as a subagent of a new voice agent.</a:t>
            </a:r>
          </a:p>
          <a:p>
            <a:r>
              <a:t>Sources: Learn foundry/agents/overview, and the Tech Community post "Introducing voice agents in Microsoft Foundry".</a:t>
            </a:r>
          </a:p>
          <a:p>
            <a:r>
              <a:t>Likely question: should we wait for voice agents to reach general availability? If you need a service level agreement now, use path two.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the numbers.</a:t>
            </a:r>
          </a:p>
          <a:p>
            <a:r>
              <a:t>Step one: the client gets a Microsoft Entra ID token and opens a WebSocket to the Foundry resource endpoint, path voice-live/realtime. Entra ID is the recommended option. An API key also works, except in agent mode.</a:t>
            </a:r>
          </a:p>
          <a:p>
            <a:r>
              <a:t>Step two: the first event is normally session.update, which sets the voice, turn detection and noise options. The service replies session.updated, and the client then streams audio chunks with input_audio_buffer.append.</a:t>
            </a:r>
          </a:p>
          <a:p>
            <a:r>
              <a:t>Step three: noise suppression and echo cancellation clean the audio. Turn detection decides when the caller has finished speaking, and recognition produces the transcript.</a:t>
            </a:r>
          </a:p>
          <a:p>
            <a:r>
              <a:t>Step four: the model reasons and may call tools. These can be functions your client runs, remote Model Context Protocol servers, a Foundry agent, or built-in search.</a:t>
            </a:r>
          </a:p>
          <a:p>
            <a:r>
              <a:t>Step five: speech synthesis streams the reply back as response.audio.delta events, with avatar video if you configured one.</a:t>
            </a:r>
          </a:p>
          <a:p>
            <a:r>
              <a:t>Barge-in is on by default. Learn recommends WebRTC for browser clients; WebRTC is preview.</a:t>
            </a:r>
          </a:p>
          <a:p>
            <a:r>
              <a:t>Limits: up to 60 minutes per session, and 100 new connections per minute per resource.</a:t>
            </a:r>
          </a:p>
          <a:p>
            <a:r>
              <a:t>Likely question: does our backend have to proxy the audio? Not necessarily. Browsers can connect over WebRTC, but key-based authentication is not available in a browser.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is no architecture setting to configure. Voice Live derives the architecture from the selected model, and Learn describes two outcomes.</a:t>
            </a:r>
          </a:p>
          <a:p>
            <a:r>
              <a:t>Single speech model, which Learn calls native speech-to-speech: the caller's audio goes straight into a realtime speech model, and spoken audio comes straight back. This gives the lowest latency and the most natural turn-taking.</a:t>
            </a:r>
          </a:p>
          <a:p>
            <a:r>
              <a:t>Three stages, which Learn calls cascaded: Azure speech recognition turns the audio into text, a text model such as gpt-4.1 or gpt-5 answers, and Azure speech synthesis speaks the reply. This allows a wider choice of models and voices, plus custom speech recognition and phrase lists, but every stage adds latency.</a:t>
            </a:r>
          </a:p>
          <a:p>
            <a:r>
              <a:t>On the right, the pricing tier. Pro, Standard and Lite are not plans to purchase; the model sets the tier. Billing is per token, split into text, audio and native audio. Audio runs at roughly ten input and twenty output tokens per second.</a:t>
            </a:r>
          </a:p>
          <a:p>
            <a:r>
              <a:t>Self-deployed models, documented as bring your own model, cover tested models that are not pre-deployed.</a:t>
            </a:r>
          </a:p>
          <a:p>
            <a:r>
              <a:t>Presenter note: verify current per-token prices on the Azure Speech pricing page before quoting numbers.</a:t>
            </a:r>
          </a:p>
          <a:p>
            <a:r>
              <a:t>Likely question: which option costs least? Lite-tier text models usually do, but test whether the latency is acceptable for callers.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voice agent is a new agent kind in Foundry Agent Service, with kind set to voice. It uses the same management operations as prompt and hosted agents.</a:t>
            </a:r>
          </a:p>
          <a:p>
            <a:r>
              <a:t>The definition is grouped by what each part does. Model sets model_type: managed, billed through the service, or self_deployed, which runs on your own deployment so existing capacity commitments apply. The service works out the real-time or cascaded architecture from the model.</a:t>
            </a:r>
          </a:p>
          <a:p>
            <a:r>
              <a:t>Behaviour holds instructions and an optional greeting. Listening and Speaking hold the audio settings from the previous slide. Actions are tools. interim_response covers what the agent says while it waits for a slow tool. Data controls whether transcripts and audio are kept. Recording is off by default.</a:t>
            </a:r>
          </a:p>
          <a:p>
            <a:r>
              <a:t>Each update creates a new immutable version, so you can pin one in production.</a:t>
            </a:r>
          </a:p>
          <a:p>
            <a:r>
              <a:t>For an existing text agent, attach it as a subagent. It must be in the same project, and subagents aren't supported in projects isolated in a virtual network.</a:t>
            </a:r>
          </a:p>
          <a:p>
            <a:r>
              <a:t>Presenter note: verify property names against the configure-voice-agent page, because the feature is in preview.</a:t>
            </a:r>
          </a:p>
          <a:p>
            <a:r>
              <a:t>Likely question: can it reach our phone system directly over SIP? Direct SIP is not a supported customer flow today. Use Teams Phone or Twilio.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short examples, both illustrative rather than copy-and-paste.</a:t>
            </a:r>
          </a:p>
          <a:p>
            <a:r>
              <a:t>Example one is path two from slide 3: connecting Voice Live to an agent you already run in Foundry. With the azure-ai-voicelive SDK, you pass agent_name and project_name as keyword arguments to connect. agent_version is optional and pins behaviour. Two caveats from Learn. First, agent mode requires Microsoft Entra ID; key-based authentication is not supported. Second, the agent's thread history stores text turns, not exactly what the caller heard. If the caller interrupts, handle truncation so the history doesn't claim the caller heard the full reply.</a:t>
            </a:r>
          </a:p>
          <a:p>
            <a:r>
              <a:t>Example two is the session.update event. azure_semantic_vad uses meaning, not only silence, to decide the caller has finished. Learn calls it a key difference from the Azure OpenAI Realtime API. A multilingual variant also exists. Deep noise suppression and server echo cancellation are switched on here, along with a high-definition Azure voice.</a:t>
            </a:r>
          </a:p>
          <a:p>
            <a:r>
              <a:t>For a voice agent, the same settings live in the agent definition as session defaults.</a:t>
            </a:r>
          </a:p>
          <a:p>
            <a:r>
              <a:t>Samples: github.com/microsoft-foundry/voicelive-samples.</a:t>
            </a:r>
          </a:p>
          <a:p>
            <a:r>
              <a:t>Presenter note: verify the SDK signature against the current azure-ai-voicelive release before demonstrating.</a:t>
            </a:r>
          </a:p>
          <a:p>
            <a:r>
              <a:t>Likely question: is there a .NET SDK? Yes, Azure.AI.VoiceLive. SDKs also exist for Java and JavaScript.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common confusion is between Voice Live and the Azure OpenAI Realtime API. The second is between connecting Voice Live to an agent and building a voice agent. Each column answers the same seven questions.</a:t>
            </a:r>
          </a:p>
          <a:p>
            <a:r>
              <a:t>Realtime API compared with Voice Live: the Voice Live FAQ lists what Voice Live adds. More models, including text models such as gpt-4.1 and gpt-5. More voices and languages. Avatars. Semantic turn detection. Foundry agent integration. Telephony through Azure Communication Services. The events are compatible, so it is an upgrade path.</a:t>
            </a:r>
          </a:p>
          <a:p>
            <a:r>
              <a:t>Voice Live with an agent compared with a voice agent: this comes from Microsoft's migration guidance. Connecting Voice Live to a text agent limits you to that agent's text model. Telephony is yours to integrate, and the agent trace does not include turn detection or audio. A voice agent adds speech-to-speech models, built-in Teams Phone and Twilio, voice-pipeline tracing and opt-in recordings. Today it is preview.</a:t>
            </a:r>
          </a:p>
          <a:p>
            <a:r>
              <a:t>Presenter note: the migration guide was published on GitHub on 30 September; verify it is live on Learn before citing it.</a:t>
            </a:r>
          </a:p>
          <a:p>
            <a:r>
              <a:t>Likely question: is Mistral or another speech model supported? Only the models listed on Learn, plus bring-your-own for the models Voice Live has tested.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questions settle most decisions.</a:t>
            </a:r>
          </a:p>
          <a:p>
            <a:r>
              <a:t>First, do you already run a Foundry agent? If yes, connect Voice Live to it by agent name. You keep your agent, and this path is generally available. If not, a voice agent is the shortest route and the one Microsoft recommends for new work, but it is preview.</a:t>
            </a:r>
          </a:p>
          <a:p>
            <a:r>
              <a:t>Second, do you need your own voice framework? Hosted agents support this through the Invocations WebSocket protocol, a single full-duplex connection to your container. You then own media handling yourself. Hosted agents provide no managed WebRTC, TURN or signalling service, and connections last about 30 minutes.</a:t>
            </a:r>
          </a:p>
          <a:p>
            <a:r>
              <a:t>Third, do you need a service level agreement today? If so, stay on the generally available Voice Live paths.</a:t>
            </a:r>
          </a:p>
          <a:p>
            <a:r>
              <a:t>The limits are per resource on the Standard tier. Older FAQ figures are out of date.</a:t>
            </a:r>
          </a:p>
          <a:p>
            <a:r>
              <a:t>For Swiss customers, Switzerland North has agent support. Check model availability by deployment type on the regions page.</a:t>
            </a:r>
          </a:p>
          <a:p>
            <a:r>
              <a:t>Presenter note: verify the region and quota tables on the day, because both change often.</a:t>
            </a:r>
          </a:p>
          <a:p>
            <a:r>
              <a:t>Likely question: can we raise the quotas? Yes. Request an increase through the standard quota process.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Voice Live and voice agents</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Real-time speech-to-speech in Microsoft Foundry — what the runtime does, how a voice</a:t>
            </a:r>
          </a:p>
          <a:p>
            <a:pPr algn="l">
              <a:lnSpc>
                <a:spcPct val="132000"/>
              </a:lnSpc>
            </a:pPr>
            <a:r>
              <a:rPr sz="1450" b="0" i="0" dirty="0">
                <a:solidFill>
                  <a:srgbClr val="B9C2D6"/>
                </a:solidFill>
                <a:latin typeface="Segoe UI"/>
                <a:cs typeface="Segoe UI"/>
              </a:rPr>
              <a:t>session works, and how to choose between the ways to build a voice experience</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Voice Live API (generally available)</a:t>
            </a:r>
          </a:p>
          <a:p>
            <a:pPr algn="l">
              <a:lnSpc>
                <a:spcPct val="128000"/>
              </a:lnSpc>
            </a:pPr>
            <a:r>
              <a:rPr sz="950" b="0" i="0" dirty="0">
                <a:solidFill>
                  <a:srgbClr val="B9C2D6"/>
                </a:solidFill>
                <a:latin typeface="Segoe UI"/>
                <a:cs typeface="Segoe UI"/>
              </a:rPr>
              <a:t>Foundry voice agents (preview)</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2 October 2026 — Microsoft Learn,</a:t>
            </a:r>
          </a:p>
          <a:p>
            <a:pPr algn="l">
              <a:lnSpc>
                <a:spcPct val="128000"/>
              </a:lnSpc>
            </a:pPr>
            <a:r>
              <a:rPr sz="950" b="0" i="0" dirty="0">
                <a:solidFill>
                  <a:srgbClr val="B9C2D6"/>
                </a:solidFill>
                <a:latin typeface="Segoe UI"/>
                <a:cs typeface="Segoe UI"/>
              </a:rPr>
              <a:t>Azure blog,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Live API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managed API that combines speech recognition, a generative model and speech synthesis in one real-time session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2</a:t>
            </a:r>
          </a:p>
        </p:txBody>
      </p:sp>
      <p:sp>
        <p:nvSpPr>
          <p:cNvPr id="7" name="TextBox 6"/>
          <p:cNvSpPr txBox="1"/>
          <p:nvPr/>
        </p:nvSpPr>
        <p:spPr>
          <a:xfrm>
            <a:off x="457200" y="138988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SELF-BUILT PIPELINE — THREE SEPARATE SERVICES</a:t>
            </a:r>
          </a:p>
        </p:txBody>
      </p:sp>
      <p:sp>
        <p:nvSpPr>
          <p:cNvPr id="8" name="Rectangle 7"/>
          <p:cNvSpPr/>
          <p:nvPr/>
        </p:nvSpPr>
        <p:spPr>
          <a:xfrm>
            <a:off x="457200"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9" name="Connector 8"/>
          <p:cNvCxnSpPr/>
          <p:nvPr/>
        </p:nvCxnSpPr>
        <p:spPr>
          <a:xfrm>
            <a:off x="1325880" y="1984248"/>
            <a:ext cx="219456" cy="0"/>
          </a:xfrm>
          <a:prstGeom prst="line">
            <a:avLst/>
          </a:prstGeom>
          <a:ln w="13970">
            <a:solidFill>
              <a:srgbClr val="44495B"/>
            </a:solidFill>
            <a:tailEnd type="triangle" w="med" len="med"/>
          </a:ln>
        </p:spPr>
      </p:cxnSp>
      <p:sp>
        <p:nvSpPr>
          <p:cNvPr id="10" name="Rectangle 9"/>
          <p:cNvSpPr/>
          <p:nvPr/>
        </p:nvSpPr>
        <p:spPr>
          <a:xfrm>
            <a:off x="1545336"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Speech</a:t>
            </a:r>
          </a:p>
          <a:p>
            <a:pPr algn="ctr">
              <a:lnSpc>
                <a:spcPct val="112000"/>
              </a:lnSpc>
            </a:pPr>
            <a:r>
              <a:rPr sz="850" b="0" i="0" dirty="0">
                <a:solidFill>
                  <a:srgbClr val="101A3C"/>
                </a:solidFill>
                <a:latin typeface="Segoe UI"/>
                <a:cs typeface="Segoe UI"/>
              </a:rPr>
              <a:t>to text</a:t>
            </a:r>
          </a:p>
        </p:txBody>
      </p:sp>
      <p:cxnSp>
        <p:nvCxnSpPr>
          <p:cNvPr id="11" name="Connector 10"/>
          <p:cNvCxnSpPr/>
          <p:nvPr/>
        </p:nvCxnSpPr>
        <p:spPr>
          <a:xfrm>
            <a:off x="2505456" y="1984248"/>
            <a:ext cx="219456" cy="0"/>
          </a:xfrm>
          <a:prstGeom prst="line">
            <a:avLst/>
          </a:prstGeom>
          <a:ln w="13970">
            <a:solidFill>
              <a:srgbClr val="44495B"/>
            </a:solidFill>
            <a:tailEnd type="triangle" w="med" len="med"/>
          </a:ln>
        </p:spPr>
      </p:cxnSp>
      <p:sp>
        <p:nvSpPr>
          <p:cNvPr id="12" name="Rectangle 11"/>
          <p:cNvSpPr/>
          <p:nvPr/>
        </p:nvSpPr>
        <p:spPr>
          <a:xfrm>
            <a:off x="2724912"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Language</a:t>
            </a:r>
          </a:p>
          <a:p>
            <a:pPr algn="ctr">
              <a:lnSpc>
                <a:spcPct val="112000"/>
              </a:lnSpc>
            </a:pPr>
            <a:r>
              <a:rPr sz="850" b="0" i="0" dirty="0">
                <a:solidFill>
                  <a:srgbClr val="101A3C"/>
                </a:solidFill>
                <a:latin typeface="Segoe UI"/>
                <a:cs typeface="Segoe UI"/>
              </a:rPr>
              <a:t>model</a:t>
            </a:r>
          </a:p>
        </p:txBody>
      </p:sp>
      <p:cxnSp>
        <p:nvCxnSpPr>
          <p:cNvPr id="13" name="Connector 12"/>
          <p:cNvCxnSpPr/>
          <p:nvPr/>
        </p:nvCxnSpPr>
        <p:spPr>
          <a:xfrm>
            <a:off x="3685032" y="1984248"/>
            <a:ext cx="219455" cy="0"/>
          </a:xfrm>
          <a:prstGeom prst="line">
            <a:avLst/>
          </a:prstGeom>
          <a:ln w="13970">
            <a:solidFill>
              <a:srgbClr val="44495B"/>
            </a:solidFill>
            <a:tailEnd type="triangle" w="med" len="med"/>
          </a:ln>
        </p:spPr>
      </p:cxnSp>
      <p:sp>
        <p:nvSpPr>
          <p:cNvPr id="14" name="Rectangle 13"/>
          <p:cNvSpPr/>
          <p:nvPr/>
        </p:nvSpPr>
        <p:spPr>
          <a:xfrm>
            <a:off x="3904487"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Text to</a:t>
            </a:r>
          </a:p>
          <a:p>
            <a:pPr algn="ctr">
              <a:lnSpc>
                <a:spcPct val="112000"/>
              </a:lnSpc>
            </a:pPr>
            <a:r>
              <a:rPr sz="850" b="0" i="0" dirty="0">
                <a:solidFill>
                  <a:srgbClr val="101A3C"/>
                </a:solidFill>
                <a:latin typeface="Segoe UI"/>
                <a:cs typeface="Segoe UI"/>
              </a:rPr>
              <a:t>speech</a:t>
            </a:r>
          </a:p>
        </p:txBody>
      </p:sp>
      <p:cxnSp>
        <p:nvCxnSpPr>
          <p:cNvPr id="15" name="Connector 14"/>
          <p:cNvCxnSpPr/>
          <p:nvPr/>
        </p:nvCxnSpPr>
        <p:spPr>
          <a:xfrm>
            <a:off x="4864607" y="1984248"/>
            <a:ext cx="219457" cy="0"/>
          </a:xfrm>
          <a:prstGeom prst="line">
            <a:avLst/>
          </a:prstGeom>
          <a:ln w="13970">
            <a:solidFill>
              <a:srgbClr val="44495B"/>
            </a:solidFill>
            <a:tailEnd type="triangle" w="med" len="med"/>
          </a:ln>
        </p:spPr>
      </p:cxnSp>
      <p:sp>
        <p:nvSpPr>
          <p:cNvPr id="16" name="Rectangle 15"/>
          <p:cNvSpPr/>
          <p:nvPr/>
        </p:nvSpPr>
        <p:spPr>
          <a:xfrm>
            <a:off x="5084064"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17" name="Rectangle 16"/>
          <p:cNvSpPr/>
          <p:nvPr/>
        </p:nvSpPr>
        <p:spPr>
          <a:xfrm>
            <a:off x="457200" y="243230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Each service integrated and scaled separately</a:t>
            </a:r>
          </a:p>
        </p:txBody>
      </p:sp>
      <p:sp>
        <p:nvSpPr>
          <p:cNvPr id="18" name="Rectangle 17"/>
          <p:cNvSpPr/>
          <p:nvPr/>
        </p:nvSpPr>
        <p:spPr>
          <a:xfrm>
            <a:off x="457200" y="270662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Every stage adds to perceived latency</a:t>
            </a:r>
          </a:p>
        </p:txBody>
      </p:sp>
      <p:sp>
        <p:nvSpPr>
          <p:cNvPr id="19" name="Rectangle 18"/>
          <p:cNvSpPr/>
          <p:nvPr/>
        </p:nvSpPr>
        <p:spPr>
          <a:xfrm>
            <a:off x="457200" y="298094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Turn-taking and interruptions built in application code</a:t>
            </a:r>
          </a:p>
        </p:txBody>
      </p:sp>
      <p:cxnSp>
        <p:nvCxnSpPr>
          <p:cNvPr id="20" name="Connector 19"/>
          <p:cNvCxnSpPr/>
          <p:nvPr/>
        </p:nvCxnSpPr>
        <p:spPr>
          <a:xfrm>
            <a:off x="6245352" y="1417320"/>
            <a:ext cx="0" cy="1828800"/>
          </a:xfrm>
          <a:prstGeom prst="line">
            <a:avLst/>
          </a:prstGeom>
          <a:ln w="9525">
            <a:solidFill>
              <a:srgbClr val="E1E7F4"/>
            </a:solidFill>
          </a:ln>
        </p:spPr>
      </p:cxnSp>
      <p:sp>
        <p:nvSpPr>
          <p:cNvPr id="21" name="TextBox 20"/>
          <p:cNvSpPr txBox="1"/>
          <p:nvPr/>
        </p:nvSpPr>
        <p:spPr>
          <a:xfrm>
            <a:off x="6510528" y="1389888"/>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VOICE LIVE API — ONE MANAGED RUNTIME</a:t>
            </a:r>
          </a:p>
        </p:txBody>
      </p:sp>
      <p:sp>
        <p:nvSpPr>
          <p:cNvPr id="22" name="Rectangle 21"/>
          <p:cNvSpPr/>
          <p:nvPr/>
        </p:nvSpPr>
        <p:spPr>
          <a:xfrm>
            <a:off x="6510528"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23" name="Connector 22"/>
          <p:cNvCxnSpPr/>
          <p:nvPr/>
        </p:nvCxnSpPr>
        <p:spPr>
          <a:xfrm>
            <a:off x="7379208" y="1984248"/>
            <a:ext cx="246888" cy="0"/>
          </a:xfrm>
          <a:prstGeom prst="line">
            <a:avLst/>
          </a:prstGeom>
          <a:ln w="13970">
            <a:solidFill>
              <a:srgbClr val="44495B"/>
            </a:solidFill>
            <a:tailEnd type="triangle" w="med" len="med"/>
          </a:ln>
        </p:spPr>
      </p:cxnSp>
      <p:sp>
        <p:nvSpPr>
          <p:cNvPr id="24" name="Rectangle 23"/>
          <p:cNvSpPr/>
          <p:nvPr/>
        </p:nvSpPr>
        <p:spPr>
          <a:xfrm>
            <a:off x="7626096" y="1554480"/>
            <a:ext cx="2697480" cy="859536"/>
          </a:xfrm>
          <a:prstGeom prst="rect">
            <a:avLst/>
          </a:prstGeom>
          <a:solidFill>
            <a:srgbClr val="101A3C"/>
          </a:solidFill>
          <a:ln>
            <a:noFill/>
          </a:ln>
          <a:effectLst/>
        </p:spPr>
        <p:txBody>
          <a:bodyPr wrap="square" rtlCol="0" anchor="ctr"/>
          <a:lstStyle/>
          <a:p>
            <a:endParaRPr/>
          </a:p>
        </p:txBody>
      </p:sp>
      <p:sp>
        <p:nvSpPr>
          <p:cNvPr id="25" name="TextBox 24"/>
          <p:cNvSpPr txBox="1"/>
          <p:nvPr/>
        </p:nvSpPr>
        <p:spPr>
          <a:xfrm>
            <a:off x="7735824" y="1609344"/>
            <a:ext cx="2468880" cy="182880"/>
          </a:xfrm>
          <a:prstGeom prst="rect">
            <a:avLst/>
          </a:prstGeom>
          <a:noFill/>
        </p:spPr>
        <p:txBody>
          <a:bodyPr wrap="square" lIns="0" tIns="0" rIns="0" bIns="0" anchor="t">
            <a:spAutoFit/>
          </a:bodyPr>
          <a:lstStyle/>
          <a:p>
            <a:pPr algn="ctr">
              <a:lnSpc>
                <a:spcPct val="100000"/>
              </a:lnSpc>
            </a:pPr>
            <a:r>
              <a:rPr sz="950" b="1" i="0" dirty="0">
                <a:solidFill>
                  <a:srgbClr val="FFFFFF"/>
                </a:solidFill>
                <a:latin typeface="Segoe UI"/>
                <a:cs typeface="Segoe UI"/>
              </a:rPr>
              <a:t>Voice Live</a:t>
            </a:r>
          </a:p>
        </p:txBody>
      </p:sp>
      <p:sp>
        <p:nvSpPr>
          <p:cNvPr id="26" name="Rectangle 25"/>
          <p:cNvSpPr/>
          <p:nvPr/>
        </p:nvSpPr>
        <p:spPr>
          <a:xfrm>
            <a:off x="7717536"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Recognition</a:t>
            </a:r>
          </a:p>
        </p:txBody>
      </p:sp>
      <p:sp>
        <p:nvSpPr>
          <p:cNvPr id="27" name="Rectangle 26"/>
          <p:cNvSpPr/>
          <p:nvPr/>
        </p:nvSpPr>
        <p:spPr>
          <a:xfrm>
            <a:off x="8567928"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Model</a:t>
            </a:r>
          </a:p>
        </p:txBody>
      </p:sp>
      <p:sp>
        <p:nvSpPr>
          <p:cNvPr id="28" name="Rectangle 27"/>
          <p:cNvSpPr/>
          <p:nvPr/>
        </p:nvSpPr>
        <p:spPr>
          <a:xfrm>
            <a:off x="9418319"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Synthesis</a:t>
            </a:r>
          </a:p>
        </p:txBody>
      </p:sp>
      <p:cxnSp>
        <p:nvCxnSpPr>
          <p:cNvPr id="29" name="Connector 28"/>
          <p:cNvCxnSpPr/>
          <p:nvPr/>
        </p:nvCxnSpPr>
        <p:spPr>
          <a:xfrm>
            <a:off x="10323576" y="1984248"/>
            <a:ext cx="246888" cy="0"/>
          </a:xfrm>
          <a:prstGeom prst="line">
            <a:avLst/>
          </a:prstGeom>
          <a:ln w="13970">
            <a:solidFill>
              <a:srgbClr val="44495B"/>
            </a:solidFill>
            <a:tailEnd type="triangle" w="med" len="med"/>
          </a:ln>
        </p:spPr>
      </p:cxnSp>
      <p:sp>
        <p:nvSpPr>
          <p:cNvPr id="30" name="Rectangle 29"/>
          <p:cNvSpPr/>
          <p:nvPr/>
        </p:nvSpPr>
        <p:spPr>
          <a:xfrm>
            <a:off x="10570464" y="1700784"/>
            <a:ext cx="1161288"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Audio, avatar,</a:t>
            </a:r>
          </a:p>
          <a:p>
            <a:pPr algn="ctr">
              <a:lnSpc>
                <a:spcPct val="112000"/>
              </a:lnSpc>
            </a:pPr>
            <a:r>
              <a:rPr sz="800" b="1" i="0" dirty="0">
                <a:solidFill>
                  <a:srgbClr val="101A3C"/>
                </a:solidFill>
                <a:latin typeface="Segoe UI"/>
                <a:cs typeface="Segoe UI"/>
              </a:rPr>
              <a:t>action triggers</a:t>
            </a:r>
          </a:p>
        </p:txBody>
      </p:sp>
      <p:sp>
        <p:nvSpPr>
          <p:cNvPr id="31" name="Rectangle 30"/>
          <p:cNvSpPr/>
          <p:nvPr/>
        </p:nvSpPr>
        <p:spPr>
          <a:xfrm>
            <a:off x="6510528" y="243230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One WebSocket session per conversation</a:t>
            </a:r>
          </a:p>
        </p:txBody>
      </p:sp>
      <p:sp>
        <p:nvSpPr>
          <p:cNvPr id="32" name="Rectangle 31"/>
          <p:cNvSpPr/>
          <p:nvPr/>
        </p:nvSpPr>
        <p:spPr>
          <a:xfrm>
            <a:off x="6510528" y="270662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Orchestration and scaling managed by the service</a:t>
            </a:r>
          </a:p>
        </p:txBody>
      </p:sp>
      <p:sp>
        <p:nvSpPr>
          <p:cNvPr id="33" name="Rectangle 32"/>
          <p:cNvSpPr/>
          <p:nvPr/>
        </p:nvSpPr>
        <p:spPr>
          <a:xfrm>
            <a:off x="6510528" y="298094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Choice of realtime or text generative models</a:t>
            </a:r>
          </a:p>
        </p:txBody>
      </p:sp>
      <p:sp>
        <p:nvSpPr>
          <p:cNvPr id="34" name="TextBox 33"/>
          <p:cNvSpPr txBox="1"/>
          <p:nvPr/>
        </p:nvSpPr>
        <p:spPr>
          <a:xfrm>
            <a:off x="457200" y="3474720"/>
            <a:ext cx="73152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CONVERSATIONAL ENHANCEMENTS BUILT INTO THE RUNTIME</a:t>
            </a:r>
          </a:p>
        </p:txBody>
      </p:sp>
      <p:sp>
        <p:nvSpPr>
          <p:cNvPr id="35" name="Rectangle 34"/>
          <p:cNvSpPr/>
          <p:nvPr/>
        </p:nvSpPr>
        <p:spPr>
          <a:xfrm>
            <a:off x="457200"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457200" y="3749039"/>
            <a:ext cx="1780489" cy="41148"/>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603504"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Noise suppression</a:t>
            </a:r>
          </a:p>
        </p:txBody>
      </p:sp>
      <p:sp>
        <p:nvSpPr>
          <p:cNvPr id="38" name="TextBox 37"/>
          <p:cNvSpPr txBox="1"/>
          <p:nvPr/>
        </p:nvSpPr>
        <p:spPr>
          <a:xfrm>
            <a:off x="603504"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Reduces background noise before recognition</a:t>
            </a:r>
          </a:p>
        </p:txBody>
      </p:sp>
      <p:sp>
        <p:nvSpPr>
          <p:cNvPr id="39" name="Rectangle 38"/>
          <p:cNvSpPr/>
          <p:nvPr/>
        </p:nvSpPr>
        <p:spPr>
          <a:xfrm>
            <a:off x="2356561"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0" name="Rectangle 39"/>
          <p:cNvSpPr/>
          <p:nvPr/>
        </p:nvSpPr>
        <p:spPr>
          <a:xfrm>
            <a:off x="2356561" y="3749039"/>
            <a:ext cx="1780489" cy="411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2502865"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Echo cancellation</a:t>
            </a:r>
          </a:p>
        </p:txBody>
      </p:sp>
      <p:sp>
        <p:nvSpPr>
          <p:cNvPr id="42" name="TextBox 41"/>
          <p:cNvSpPr txBox="1"/>
          <p:nvPr/>
        </p:nvSpPr>
        <p:spPr>
          <a:xfrm>
            <a:off x="2502865"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Stops the agent hearing its own replies</a:t>
            </a:r>
          </a:p>
        </p:txBody>
      </p:sp>
      <p:sp>
        <p:nvSpPr>
          <p:cNvPr id="43" name="Rectangle 42"/>
          <p:cNvSpPr/>
          <p:nvPr/>
        </p:nvSpPr>
        <p:spPr>
          <a:xfrm>
            <a:off x="4255922"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4" name="Rectangle 43"/>
          <p:cNvSpPr/>
          <p:nvPr/>
        </p:nvSpPr>
        <p:spPr>
          <a:xfrm>
            <a:off x="4255922" y="3749039"/>
            <a:ext cx="1780489" cy="41148"/>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4402226"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Interruptions</a:t>
            </a:r>
          </a:p>
        </p:txBody>
      </p:sp>
      <p:sp>
        <p:nvSpPr>
          <p:cNvPr id="46" name="TextBox 45"/>
          <p:cNvSpPr txBox="1"/>
          <p:nvPr/>
        </p:nvSpPr>
        <p:spPr>
          <a:xfrm>
            <a:off x="4402226"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caller can talk over the agent (barge-in)</a:t>
            </a:r>
          </a:p>
        </p:txBody>
      </p:sp>
      <p:sp>
        <p:nvSpPr>
          <p:cNvPr id="47" name="Rectangle 46"/>
          <p:cNvSpPr/>
          <p:nvPr/>
        </p:nvSpPr>
        <p:spPr>
          <a:xfrm>
            <a:off x="6155283"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8" name="Rectangle 47"/>
          <p:cNvSpPr/>
          <p:nvPr/>
        </p:nvSpPr>
        <p:spPr>
          <a:xfrm>
            <a:off x="6155283" y="3749039"/>
            <a:ext cx="1780489" cy="41148"/>
          </a:xfrm>
          <a:prstGeom prst="rect">
            <a:avLst/>
          </a:prstGeom>
          <a:solidFill>
            <a:srgbClr val="00B39F"/>
          </a:solidFill>
          <a:ln>
            <a:noFill/>
          </a:ln>
          <a:effectLst/>
        </p:spPr>
        <p:txBody>
          <a:bodyPr wrap="square" rtlCol="0" anchor="ctr"/>
          <a:lstStyle/>
          <a:p>
            <a:endParaRPr/>
          </a:p>
        </p:txBody>
      </p:sp>
      <p:sp>
        <p:nvSpPr>
          <p:cNvPr id="49" name="TextBox 48"/>
          <p:cNvSpPr txBox="1"/>
          <p:nvPr/>
        </p:nvSpPr>
        <p:spPr>
          <a:xfrm>
            <a:off x="6301587"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End-of-turn detection</a:t>
            </a:r>
          </a:p>
        </p:txBody>
      </p:sp>
      <p:sp>
        <p:nvSpPr>
          <p:cNvPr id="50" name="TextBox 49"/>
          <p:cNvSpPr txBox="1"/>
          <p:nvPr/>
        </p:nvSpPr>
        <p:spPr>
          <a:xfrm>
            <a:off x="6301587"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Natural pauses don’t end the caller’s turn</a:t>
            </a:r>
          </a:p>
        </p:txBody>
      </p:sp>
      <p:sp>
        <p:nvSpPr>
          <p:cNvPr id="51" name="Rectangle 50"/>
          <p:cNvSpPr/>
          <p:nvPr/>
        </p:nvSpPr>
        <p:spPr>
          <a:xfrm>
            <a:off x="8054644"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52" name="Rectangle 51"/>
          <p:cNvSpPr/>
          <p:nvPr/>
        </p:nvSpPr>
        <p:spPr>
          <a:xfrm>
            <a:off x="8054644" y="3749039"/>
            <a:ext cx="1780489" cy="41148"/>
          </a:xfrm>
          <a:prstGeom prst="rect">
            <a:avLst/>
          </a:prstGeom>
          <a:solidFill>
            <a:srgbClr val="00B39F"/>
          </a:solidFill>
          <a:ln>
            <a:noFill/>
          </a:ln>
          <a:effectLst/>
        </p:spPr>
        <p:txBody>
          <a:bodyPr wrap="square" rtlCol="0" anchor="ctr"/>
          <a:lstStyle/>
          <a:p>
            <a:endParaRPr/>
          </a:p>
        </p:txBody>
      </p:sp>
      <p:sp>
        <p:nvSpPr>
          <p:cNvPr id="53" name="TextBox 52"/>
          <p:cNvSpPr txBox="1"/>
          <p:nvPr/>
        </p:nvSpPr>
        <p:spPr>
          <a:xfrm>
            <a:off x="8200948"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Avatar</a:t>
            </a:r>
          </a:p>
        </p:txBody>
      </p:sp>
      <p:sp>
        <p:nvSpPr>
          <p:cNvPr id="54" name="TextBox 53"/>
          <p:cNvSpPr txBox="1"/>
          <p:nvPr/>
        </p:nvSpPr>
        <p:spPr>
          <a:xfrm>
            <a:off x="8200948"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Standard or custom avatar in sync with the audio</a:t>
            </a:r>
          </a:p>
        </p:txBody>
      </p:sp>
      <p:sp>
        <p:nvSpPr>
          <p:cNvPr id="55" name="Rectangle 54"/>
          <p:cNvSpPr/>
          <p:nvPr/>
        </p:nvSpPr>
        <p:spPr>
          <a:xfrm>
            <a:off x="9954006"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56" name="Rectangle 55"/>
          <p:cNvSpPr/>
          <p:nvPr/>
        </p:nvSpPr>
        <p:spPr>
          <a:xfrm>
            <a:off x="9954006" y="3749039"/>
            <a:ext cx="1780489" cy="41148"/>
          </a:xfrm>
          <a:prstGeom prst="rect">
            <a:avLst/>
          </a:prstGeom>
          <a:solidFill>
            <a:srgbClr val="00B39F"/>
          </a:solidFill>
          <a:ln>
            <a:noFill/>
          </a:ln>
          <a:effectLst/>
        </p:spPr>
        <p:txBody>
          <a:bodyPr wrap="square" rtlCol="0" anchor="ctr"/>
          <a:lstStyle/>
          <a:p>
            <a:endParaRPr/>
          </a:p>
        </p:txBody>
      </p:sp>
      <p:sp>
        <p:nvSpPr>
          <p:cNvPr id="57" name="TextBox 56"/>
          <p:cNvSpPr txBox="1"/>
          <p:nvPr/>
        </p:nvSpPr>
        <p:spPr>
          <a:xfrm>
            <a:off x="10100310"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Function calling</a:t>
            </a:r>
          </a:p>
        </p:txBody>
      </p:sp>
      <p:sp>
        <p:nvSpPr>
          <p:cNvPr id="58" name="TextBox 57"/>
          <p:cNvSpPr txBox="1"/>
          <p:nvPr/>
        </p:nvSpPr>
        <p:spPr>
          <a:xfrm>
            <a:off x="10100310"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Calls tools and grounds answers in business data</a:t>
            </a:r>
          </a:p>
        </p:txBody>
      </p:sp>
      <p:sp>
        <p:nvSpPr>
          <p:cNvPr id="59" name="Rectangle 58"/>
          <p:cNvSpPr/>
          <p:nvPr/>
        </p:nvSpPr>
        <p:spPr>
          <a:xfrm>
            <a:off x="457200" y="4809744"/>
            <a:ext cx="11277295" cy="457200"/>
          </a:xfrm>
          <a:prstGeom prst="rect">
            <a:avLst/>
          </a:prstGeom>
          <a:solidFill>
            <a:srgbClr val="EBEFF7"/>
          </a:solidFill>
          <a:ln>
            <a:noFill/>
          </a:ln>
          <a:effectLst/>
        </p:spPr>
        <p:txBody>
          <a:bodyPr wrap="square" rtlCol="0" anchor="ctr"/>
          <a:lstStyle/>
          <a:p>
            <a:endParaRPr/>
          </a:p>
        </p:txBody>
      </p:sp>
      <p:sp>
        <p:nvSpPr>
          <p:cNvPr id="60" name="Rectangle 59"/>
          <p:cNvSpPr/>
          <p:nvPr/>
        </p:nvSpPr>
        <p:spPr>
          <a:xfrm>
            <a:off x="457200" y="4809744"/>
            <a:ext cx="41148" cy="457200"/>
          </a:xfrm>
          <a:prstGeom prst="rect">
            <a:avLst/>
          </a:prstGeom>
          <a:solidFill>
            <a:srgbClr val="00B39F"/>
          </a:solidFill>
          <a:ln>
            <a:noFill/>
          </a:ln>
          <a:effectLst/>
        </p:spPr>
        <p:txBody>
          <a:bodyPr wrap="square" rtlCol="0" anchor="ctr"/>
          <a:lstStyle/>
          <a:p>
            <a:endParaRPr/>
          </a:p>
        </p:txBody>
      </p:sp>
      <p:sp>
        <p:nvSpPr>
          <p:cNvPr id="61" name="TextBox 60"/>
          <p:cNvSpPr txBox="1"/>
          <p:nvPr/>
        </p:nvSpPr>
        <p:spPr>
          <a:xfrm>
            <a:off x="694944" y="4910328"/>
            <a:ext cx="10856671" cy="274320"/>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Developers send audio and receive audio, avatar visuals and action triggers. The API is event-compatible with the Azure OpenAI Realtime API; the additions above are optional.</a:t>
            </a:r>
          </a:p>
        </p:txBody>
      </p:sp>
      <p:sp>
        <p:nvSpPr>
          <p:cNvPr id="62" name="Rectangle 61"/>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63" name="TextBox 62"/>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Service described</a:t>
            </a:r>
          </a:p>
        </p:txBody>
      </p:sp>
      <p:sp>
        <p:nvSpPr>
          <p:cNvPr id="64" name="Rectangle 63"/>
          <p:cNvSpPr/>
          <p:nvPr/>
        </p:nvSpPr>
        <p:spPr>
          <a:xfrm>
            <a:off x="1656664"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65" name="TextBox 64"/>
          <p:cNvSpPr txBox="1"/>
          <p:nvPr/>
        </p:nvSpPr>
        <p:spPr>
          <a:xfrm>
            <a:off x="18761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66" name="Rectangle 65"/>
          <p:cNvSpPr/>
          <p:nvPr/>
        </p:nvSpPr>
        <p:spPr>
          <a:xfrm>
            <a:off x="2803321" y="5545836"/>
            <a:ext cx="146304" cy="91440"/>
          </a:xfrm>
          <a:prstGeom prst="rect">
            <a:avLst/>
          </a:prstGeom>
          <a:solidFill>
            <a:srgbClr val="EBEFF7"/>
          </a:solidFill>
          <a:ln>
            <a:noFill/>
          </a:ln>
          <a:effectLst/>
        </p:spPr>
        <p:txBody>
          <a:bodyPr wrap="square" rtlCol="0" anchor="ctr"/>
          <a:lstStyle/>
          <a:p>
            <a:endParaRPr/>
          </a:p>
        </p:txBody>
      </p:sp>
      <p:sp>
        <p:nvSpPr>
          <p:cNvPr id="67" name="TextBox 66"/>
          <p:cNvSpPr txBox="1"/>
          <p:nvPr/>
        </p:nvSpPr>
        <p:spPr>
          <a:xfrm>
            <a:off x="3022777"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output</a:t>
            </a:r>
          </a:p>
        </p:txBody>
      </p:sp>
      <p:cxnSp>
        <p:nvCxnSpPr>
          <p:cNvPr id="68" name="Connector 67"/>
          <p:cNvCxnSpPr/>
          <p:nvPr/>
        </p:nvCxnSpPr>
        <p:spPr>
          <a:xfrm>
            <a:off x="3949979" y="5591556"/>
            <a:ext cx="164592" cy="0"/>
          </a:xfrm>
          <a:prstGeom prst="line">
            <a:avLst/>
          </a:prstGeom>
          <a:ln w="13970">
            <a:solidFill>
              <a:srgbClr val="44495B"/>
            </a:solidFill>
          </a:ln>
        </p:spPr>
      </p:cxnSp>
      <p:sp>
        <p:nvSpPr>
          <p:cNvPr id="69" name="TextBox 68"/>
          <p:cNvSpPr txBox="1"/>
          <p:nvPr/>
        </p:nvSpPr>
        <p:spPr>
          <a:xfrm>
            <a:off x="4169435"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integration options in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All three options use Voice Live for speech; they differ in where the conversation logic is defined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learn.microsoft.com/azure/foundry/agents/overview · speech-service/how-to-voice-agent-integration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3</a:t>
            </a:r>
          </a:p>
        </p:txBody>
      </p:sp>
      <p:sp>
        <p:nvSpPr>
          <p:cNvPr id="7" name="Rectangle 6"/>
          <p:cNvSpPr/>
          <p:nvPr/>
        </p:nvSpPr>
        <p:spPr>
          <a:xfrm>
            <a:off x="457200" y="1371600"/>
            <a:ext cx="11277295" cy="365760"/>
          </a:xfrm>
          <a:prstGeom prst="rect">
            <a:avLst/>
          </a:prstGeom>
          <a:solidFill>
            <a:srgbClr val="EBEFF7"/>
          </a:solidFill>
          <a:ln>
            <a:noFill/>
          </a:ln>
          <a:effectLst/>
        </p:spPr>
        <p:txBody>
          <a:bodyPr wrap="square" lIns="54864" tIns="18288" rIns="54864" bIns="18288" rtlCol="0" anchor="ctr"/>
          <a:lstStyle/>
          <a:p>
            <a:pPr algn="ctr">
              <a:lnSpc>
                <a:spcPct val="100000"/>
              </a:lnSpc>
            </a:pPr>
            <a:r>
              <a:rPr sz="850" b="1" i="0" dirty="0">
                <a:solidFill>
                  <a:srgbClr val="101A3C"/>
                </a:solidFill>
                <a:latin typeface="Segoe UI"/>
                <a:cs typeface="Segoe UI"/>
              </a:rPr>
              <a:t>Callers and channels   </a:t>
            </a:r>
            <a:r>
              <a:rPr sz="850" b="0" i="0" dirty="0">
                <a:solidFill>
                  <a:srgbClr val="44495B"/>
                </a:solidFill>
                <a:latin typeface="Segoe UI"/>
                <a:cs typeface="Segoe UI"/>
              </a:rPr>
              <a:t>web and mobile apps  ·  Microsoft Teams  ·  phone calls through a telephony provider</a:t>
            </a:r>
          </a:p>
        </p:txBody>
      </p:sp>
      <p:sp>
        <p:nvSpPr>
          <p:cNvPr id="8" name="Rectangle 7"/>
          <p:cNvSpPr/>
          <p:nvPr/>
        </p:nvSpPr>
        <p:spPr>
          <a:xfrm>
            <a:off x="457200"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9" name="Rectangle 8"/>
          <p:cNvSpPr/>
          <p:nvPr/>
        </p:nvSpPr>
        <p:spPr>
          <a:xfrm>
            <a:off x="457200" y="1847088"/>
            <a:ext cx="41148" cy="384048"/>
          </a:xfrm>
          <a:prstGeom prst="rect">
            <a:avLst/>
          </a:prstGeom>
          <a:solidFill>
            <a:srgbClr val="00B39F"/>
          </a:solidFill>
          <a:ln>
            <a:noFill/>
          </a:ln>
          <a:effectLst/>
        </p:spPr>
        <p:txBody>
          <a:bodyPr wrap="square" rtlCol="0" anchor="ctr"/>
          <a:lstStyle/>
          <a:p>
            <a:endParaRPr/>
          </a:p>
        </p:txBody>
      </p:sp>
      <p:sp>
        <p:nvSpPr>
          <p:cNvPr id="10" name="TextBox 9"/>
          <p:cNvSpPr txBox="1"/>
          <p:nvPr/>
        </p:nvSpPr>
        <p:spPr>
          <a:xfrm>
            <a:off x="621792"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1</a:t>
            </a:r>
          </a:p>
        </p:txBody>
      </p:sp>
      <p:sp>
        <p:nvSpPr>
          <p:cNvPr id="11" name="TextBox 10"/>
          <p:cNvSpPr txBox="1"/>
          <p:nvPr/>
        </p:nvSpPr>
        <p:spPr>
          <a:xfrm>
            <a:off x="914400"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Voice Live API with a model</a:t>
            </a:r>
          </a:p>
        </p:txBody>
      </p:sp>
      <p:sp>
        <p:nvSpPr>
          <p:cNvPr id="12" name="Rectangle 11"/>
          <p:cNvSpPr/>
          <p:nvPr/>
        </p:nvSpPr>
        <p:spPr>
          <a:xfrm>
            <a:off x="1020013"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application</a:t>
            </a:r>
          </a:p>
        </p:txBody>
      </p:sp>
      <p:cxnSp>
        <p:nvCxnSpPr>
          <p:cNvPr id="13" name="Connector 12"/>
          <p:cNvCxnSpPr/>
          <p:nvPr/>
        </p:nvCxnSpPr>
        <p:spPr>
          <a:xfrm>
            <a:off x="2254453" y="2743200"/>
            <a:ext cx="0" cy="137160"/>
          </a:xfrm>
          <a:prstGeom prst="line">
            <a:avLst/>
          </a:prstGeom>
          <a:ln w="13970">
            <a:solidFill>
              <a:srgbClr val="44495B"/>
            </a:solidFill>
            <a:tailEnd type="triangle" w="med" len="med"/>
          </a:ln>
        </p:spPr>
      </p:cxnSp>
      <p:sp>
        <p:nvSpPr>
          <p:cNvPr id="14" name="Rectangle 13"/>
          <p:cNvSpPr/>
          <p:nvPr/>
        </p:nvSpPr>
        <p:spPr>
          <a:xfrm>
            <a:off x="1020013"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Live API</a:t>
            </a:r>
          </a:p>
        </p:txBody>
      </p:sp>
      <p:cxnSp>
        <p:nvCxnSpPr>
          <p:cNvPr id="15" name="Connector 14"/>
          <p:cNvCxnSpPr/>
          <p:nvPr/>
        </p:nvCxnSpPr>
        <p:spPr>
          <a:xfrm>
            <a:off x="2254453" y="3246120"/>
            <a:ext cx="0" cy="137160"/>
          </a:xfrm>
          <a:prstGeom prst="line">
            <a:avLst/>
          </a:prstGeom>
          <a:ln w="13970">
            <a:solidFill>
              <a:srgbClr val="44495B"/>
            </a:solidFill>
            <a:tailEnd type="triangle" w="med" len="med"/>
          </a:ln>
        </p:spPr>
      </p:cxnSp>
      <p:sp>
        <p:nvSpPr>
          <p:cNvPr id="16" name="Rectangle 15"/>
          <p:cNvSpPr/>
          <p:nvPr/>
        </p:nvSpPr>
        <p:spPr>
          <a:xfrm>
            <a:off x="1020013"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a:t>
            </a:r>
          </a:p>
          <a:p>
            <a:pPr algn="ctr">
              <a:lnSpc>
                <a:spcPct val="112000"/>
              </a:lnSpc>
            </a:pPr>
            <a:r>
              <a:rPr sz="800" b="0" i="0" dirty="0">
                <a:solidFill>
                  <a:srgbClr val="101A3C"/>
                </a:solidFill>
                <a:latin typeface="Segoe UI"/>
                <a:cs typeface="Segoe UI"/>
              </a:rPr>
              <a:t>realtime or text model</a:t>
            </a:r>
          </a:p>
        </p:txBody>
      </p:sp>
      <p:cxnSp>
        <p:nvCxnSpPr>
          <p:cNvPr id="17" name="Connector 16"/>
          <p:cNvCxnSpPr/>
          <p:nvPr/>
        </p:nvCxnSpPr>
        <p:spPr>
          <a:xfrm>
            <a:off x="457200" y="3877056"/>
            <a:ext cx="3594506" cy="0"/>
          </a:xfrm>
          <a:prstGeom prst="line">
            <a:avLst/>
          </a:prstGeom>
          <a:ln w="9525">
            <a:solidFill>
              <a:srgbClr val="E1E7F4"/>
            </a:solidFill>
          </a:ln>
        </p:spPr>
      </p:cxnSp>
      <p:sp>
        <p:nvSpPr>
          <p:cNvPr id="18" name="TextBox 17"/>
          <p:cNvSpPr txBox="1"/>
          <p:nvPr/>
        </p:nvSpPr>
        <p:spPr>
          <a:xfrm>
            <a:off x="457200"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19" name="TextBox 18"/>
          <p:cNvSpPr txBox="1"/>
          <p:nvPr/>
        </p:nvSpPr>
        <p:spPr>
          <a:xfrm>
            <a:off x="457200"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Client application — instructions and tools sent in session.update</a:t>
            </a:r>
          </a:p>
        </p:txBody>
      </p:sp>
      <p:sp>
        <p:nvSpPr>
          <p:cNvPr id="20" name="TextBox 19"/>
          <p:cNvSpPr txBox="1"/>
          <p:nvPr/>
        </p:nvSpPr>
        <p:spPr>
          <a:xfrm>
            <a:off x="457200"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21" name="TextBox 20"/>
          <p:cNvSpPr txBox="1"/>
          <p:nvPr/>
        </p:nvSpPr>
        <p:spPr>
          <a:xfrm>
            <a:off x="457200"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Adding speech to an existing application or Realtime API client</a:t>
            </a:r>
          </a:p>
        </p:txBody>
      </p:sp>
      <p:sp>
        <p:nvSpPr>
          <p:cNvPr id="22" name="Rectangle 21"/>
          <p:cNvSpPr/>
          <p:nvPr/>
        </p:nvSpPr>
        <p:spPr>
          <a:xfrm>
            <a:off x="4298594"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298594" y="1847088"/>
            <a:ext cx="41148" cy="3840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4463186"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2</a:t>
            </a:r>
          </a:p>
        </p:txBody>
      </p:sp>
      <p:sp>
        <p:nvSpPr>
          <p:cNvPr id="25" name="TextBox 24"/>
          <p:cNvSpPr txBox="1"/>
          <p:nvPr/>
        </p:nvSpPr>
        <p:spPr>
          <a:xfrm>
            <a:off x="4755794"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Voice Live with a Foundry agent</a:t>
            </a:r>
          </a:p>
        </p:txBody>
      </p:sp>
      <p:sp>
        <p:nvSpPr>
          <p:cNvPr id="26" name="Rectangle 25"/>
          <p:cNvSpPr/>
          <p:nvPr/>
        </p:nvSpPr>
        <p:spPr>
          <a:xfrm>
            <a:off x="4861407"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application</a:t>
            </a:r>
          </a:p>
        </p:txBody>
      </p:sp>
      <p:cxnSp>
        <p:nvCxnSpPr>
          <p:cNvPr id="27" name="Connector 26"/>
          <p:cNvCxnSpPr/>
          <p:nvPr/>
        </p:nvCxnSpPr>
        <p:spPr>
          <a:xfrm>
            <a:off x="6095847" y="2743200"/>
            <a:ext cx="0" cy="137160"/>
          </a:xfrm>
          <a:prstGeom prst="line">
            <a:avLst/>
          </a:prstGeom>
          <a:ln w="13970">
            <a:solidFill>
              <a:srgbClr val="44495B"/>
            </a:solidFill>
            <a:tailEnd type="triangle" w="med" len="med"/>
          </a:ln>
        </p:spPr>
      </p:cxnSp>
      <p:sp>
        <p:nvSpPr>
          <p:cNvPr id="28" name="Rectangle 27"/>
          <p:cNvSpPr/>
          <p:nvPr/>
        </p:nvSpPr>
        <p:spPr>
          <a:xfrm>
            <a:off x="4861407"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Live API</a:t>
            </a:r>
          </a:p>
        </p:txBody>
      </p:sp>
      <p:cxnSp>
        <p:nvCxnSpPr>
          <p:cNvPr id="29" name="Connector 28"/>
          <p:cNvCxnSpPr/>
          <p:nvPr/>
        </p:nvCxnSpPr>
        <p:spPr>
          <a:xfrm>
            <a:off x="6095847" y="3246120"/>
            <a:ext cx="0" cy="137160"/>
          </a:xfrm>
          <a:prstGeom prst="line">
            <a:avLst/>
          </a:prstGeom>
          <a:ln w="13970">
            <a:solidFill>
              <a:srgbClr val="44495B"/>
            </a:solidFill>
            <a:tailEnd type="triangle" w="med" len="med"/>
          </a:ln>
        </p:spPr>
      </p:cxnSp>
      <p:sp>
        <p:nvSpPr>
          <p:cNvPr id="30" name="Rectangle 29"/>
          <p:cNvSpPr/>
          <p:nvPr/>
        </p:nvSpPr>
        <p:spPr>
          <a:xfrm>
            <a:off x="4861407"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Existing prompt agent</a:t>
            </a:r>
          </a:p>
          <a:p>
            <a:pPr algn="ctr">
              <a:lnSpc>
                <a:spcPct val="112000"/>
              </a:lnSpc>
            </a:pPr>
            <a:r>
              <a:rPr sz="800" b="0" i="0" dirty="0">
                <a:solidFill>
                  <a:srgbClr val="101A3C"/>
                </a:solidFill>
                <a:latin typeface="Segoe UI"/>
                <a:cs typeface="Segoe UI"/>
              </a:rPr>
              <a:t>or hosted agent</a:t>
            </a:r>
          </a:p>
        </p:txBody>
      </p:sp>
      <p:cxnSp>
        <p:nvCxnSpPr>
          <p:cNvPr id="31" name="Connector 30"/>
          <p:cNvCxnSpPr/>
          <p:nvPr/>
        </p:nvCxnSpPr>
        <p:spPr>
          <a:xfrm>
            <a:off x="4298594" y="3877056"/>
            <a:ext cx="3594506" cy="0"/>
          </a:xfrm>
          <a:prstGeom prst="line">
            <a:avLst/>
          </a:prstGeom>
          <a:ln w="9525">
            <a:solidFill>
              <a:srgbClr val="E1E7F4"/>
            </a:solidFill>
          </a:ln>
        </p:spPr>
      </p:cxnSp>
      <p:sp>
        <p:nvSpPr>
          <p:cNvPr id="32" name="TextBox 31"/>
          <p:cNvSpPr txBox="1"/>
          <p:nvPr/>
        </p:nvSpPr>
        <p:spPr>
          <a:xfrm>
            <a:off x="4298594"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33" name="TextBox 32"/>
          <p:cNvSpPr txBox="1"/>
          <p:nvPr/>
        </p:nvSpPr>
        <p:spPr>
          <a:xfrm>
            <a:off x="4298594"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The existing text agent — Voice Live adds listening and speaking</a:t>
            </a:r>
          </a:p>
        </p:txBody>
      </p:sp>
      <p:sp>
        <p:nvSpPr>
          <p:cNvPr id="34" name="TextBox 33"/>
          <p:cNvSpPr txBox="1"/>
          <p:nvPr/>
        </p:nvSpPr>
        <p:spPr>
          <a:xfrm>
            <a:off x="4298594"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35" name="TextBox 34"/>
          <p:cNvSpPr txBox="1"/>
          <p:nvPr/>
        </p:nvSpPr>
        <p:spPr>
          <a:xfrm>
            <a:off x="4298594"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Adding speech to an existing agent without changing it</a:t>
            </a:r>
          </a:p>
        </p:txBody>
      </p:sp>
      <p:sp>
        <p:nvSpPr>
          <p:cNvPr id="36" name="Rectangle 35"/>
          <p:cNvSpPr/>
          <p:nvPr/>
        </p:nvSpPr>
        <p:spPr>
          <a:xfrm>
            <a:off x="8139988"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37" name="Rectangle 36"/>
          <p:cNvSpPr/>
          <p:nvPr/>
        </p:nvSpPr>
        <p:spPr>
          <a:xfrm>
            <a:off x="8139988" y="1847088"/>
            <a:ext cx="41148" cy="384048"/>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8304580"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3</a:t>
            </a:r>
          </a:p>
        </p:txBody>
      </p:sp>
      <p:sp>
        <p:nvSpPr>
          <p:cNvPr id="39" name="TextBox 38"/>
          <p:cNvSpPr txBox="1"/>
          <p:nvPr/>
        </p:nvSpPr>
        <p:spPr>
          <a:xfrm>
            <a:off x="8597188"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Foundry voice agent*</a:t>
            </a:r>
          </a:p>
        </p:txBody>
      </p:sp>
      <p:sp>
        <p:nvSpPr>
          <p:cNvPr id="40" name="Rectangle 39"/>
          <p:cNvSpPr/>
          <p:nvPr/>
        </p:nvSpPr>
        <p:spPr>
          <a:xfrm>
            <a:off x="8702801"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or built-in channel</a:t>
            </a:r>
          </a:p>
        </p:txBody>
      </p:sp>
      <p:cxnSp>
        <p:nvCxnSpPr>
          <p:cNvPr id="41" name="Connector 40"/>
          <p:cNvCxnSpPr/>
          <p:nvPr/>
        </p:nvCxnSpPr>
        <p:spPr>
          <a:xfrm>
            <a:off x="9937241" y="2743200"/>
            <a:ext cx="0" cy="137160"/>
          </a:xfrm>
          <a:prstGeom prst="line">
            <a:avLst/>
          </a:prstGeom>
          <a:ln w="13970">
            <a:solidFill>
              <a:srgbClr val="44495B"/>
            </a:solidFill>
            <a:tailEnd type="triangle" w="med" len="med"/>
          </a:ln>
        </p:spPr>
      </p:cxnSp>
      <p:sp>
        <p:nvSpPr>
          <p:cNvPr id="42" name="Rectangle 41"/>
          <p:cNvSpPr/>
          <p:nvPr/>
        </p:nvSpPr>
        <p:spPr>
          <a:xfrm>
            <a:off x="8702801"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agent (kind: voice)</a:t>
            </a:r>
          </a:p>
          <a:p>
            <a:pPr algn="ctr">
              <a:lnSpc>
                <a:spcPct val="112000"/>
              </a:lnSpc>
            </a:pPr>
            <a:r>
              <a:rPr sz="800" b="1" i="0" dirty="0">
                <a:solidFill>
                  <a:srgbClr val="FFFFFF"/>
                </a:solidFill>
                <a:latin typeface="Segoe UI"/>
                <a:cs typeface="Segoe UI"/>
              </a:rPr>
              <a:t>runs on Voice Live</a:t>
            </a:r>
          </a:p>
        </p:txBody>
      </p:sp>
      <p:cxnSp>
        <p:nvCxnSpPr>
          <p:cNvPr id="43" name="Connector 42"/>
          <p:cNvCxnSpPr/>
          <p:nvPr/>
        </p:nvCxnSpPr>
        <p:spPr>
          <a:xfrm>
            <a:off x="9937241" y="3246120"/>
            <a:ext cx="0" cy="137160"/>
          </a:xfrm>
          <a:prstGeom prst="line">
            <a:avLst/>
          </a:prstGeom>
          <a:ln w="13970">
            <a:solidFill>
              <a:srgbClr val="44495B"/>
            </a:solidFill>
            <a:tailEnd type="triangle" w="med" len="med"/>
          </a:ln>
        </p:spPr>
      </p:cxnSp>
      <p:sp>
        <p:nvSpPr>
          <p:cNvPr id="44" name="Rectangle 43"/>
          <p:cNvSpPr/>
          <p:nvPr/>
        </p:nvSpPr>
        <p:spPr>
          <a:xfrm>
            <a:off x="8702801"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 managed</a:t>
            </a:r>
          </a:p>
          <a:p>
            <a:pPr algn="ctr">
              <a:lnSpc>
                <a:spcPct val="112000"/>
              </a:lnSpc>
            </a:pPr>
            <a:r>
              <a:rPr sz="800" b="0" i="0" dirty="0">
                <a:solidFill>
                  <a:srgbClr val="101A3C"/>
                </a:solidFill>
                <a:latin typeface="Segoe UI"/>
                <a:cs typeface="Segoe UI"/>
              </a:rPr>
              <a:t>or self-deployed</a:t>
            </a:r>
          </a:p>
        </p:txBody>
      </p:sp>
      <p:cxnSp>
        <p:nvCxnSpPr>
          <p:cNvPr id="45" name="Connector 44"/>
          <p:cNvCxnSpPr/>
          <p:nvPr/>
        </p:nvCxnSpPr>
        <p:spPr>
          <a:xfrm>
            <a:off x="8139988" y="3877056"/>
            <a:ext cx="3594507" cy="0"/>
          </a:xfrm>
          <a:prstGeom prst="line">
            <a:avLst/>
          </a:prstGeom>
          <a:ln w="9525">
            <a:solidFill>
              <a:srgbClr val="E1E7F4"/>
            </a:solidFill>
          </a:ln>
        </p:spPr>
      </p:cxnSp>
      <p:sp>
        <p:nvSpPr>
          <p:cNvPr id="46" name="TextBox 45"/>
          <p:cNvSpPr txBox="1"/>
          <p:nvPr/>
        </p:nvSpPr>
        <p:spPr>
          <a:xfrm>
            <a:off x="8139988"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47" name="TextBox 46"/>
          <p:cNvSpPr txBox="1"/>
          <p:nvPr/>
        </p:nvSpPr>
        <p:spPr>
          <a:xfrm>
            <a:off x="8139988"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The voice agent definition — model, instructions, audio, tools, versioned</a:t>
            </a:r>
          </a:p>
        </p:txBody>
      </p:sp>
      <p:sp>
        <p:nvSpPr>
          <p:cNvPr id="48" name="TextBox 47"/>
          <p:cNvSpPr txBox="1"/>
          <p:nvPr/>
        </p:nvSpPr>
        <p:spPr>
          <a:xfrm>
            <a:off x="8139988"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49" name="TextBox 48"/>
          <p:cNvSpPr txBox="1"/>
          <p:nvPr/>
        </p:nvSpPr>
        <p:spPr>
          <a:xfrm>
            <a:off x="8139988"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New voice workloads — the path Microsoft recommends</a:t>
            </a:r>
          </a:p>
        </p:txBody>
      </p:sp>
      <p:sp>
        <p:nvSpPr>
          <p:cNvPr id="50" name="Rectangle 49"/>
          <p:cNvSpPr/>
          <p:nvPr/>
        </p:nvSpPr>
        <p:spPr>
          <a:xfrm>
            <a:off x="457200" y="4983480"/>
            <a:ext cx="11277295" cy="365760"/>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4983480"/>
            <a:ext cx="41148" cy="365760"/>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5084064"/>
            <a:ext cx="10856671" cy="182880"/>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Microsoft guidance, 24 Sep 2026: all approaches remain supported; voice agents are the recommended path for new enterprise voice workloads. Custom voice frameworks in a hosted agent: slide 9.</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Voice runtime or agent</a:t>
            </a:r>
          </a:p>
        </p:txBody>
      </p:sp>
      <p:sp>
        <p:nvSpPr>
          <p:cNvPr id="55" name="Rectangle 54"/>
          <p:cNvSpPr/>
          <p:nvPr/>
        </p:nvSpPr>
        <p:spPr>
          <a:xfrm>
            <a:off x="1920697"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2140153"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Model or agent</a:t>
            </a:r>
          </a:p>
        </p:txBody>
      </p:sp>
      <p:sp>
        <p:nvSpPr>
          <p:cNvPr id="57" name="Rectangle 56"/>
          <p:cNvSpPr/>
          <p:nvPr/>
        </p:nvSpPr>
        <p:spPr>
          <a:xfrm>
            <a:off x="2961741"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3181197"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app</a:t>
            </a:r>
          </a:p>
        </p:txBody>
      </p:sp>
      <p:cxnSp>
        <p:nvCxnSpPr>
          <p:cNvPr id="59" name="Connector 58"/>
          <p:cNvCxnSpPr/>
          <p:nvPr/>
        </p:nvCxnSpPr>
        <p:spPr>
          <a:xfrm>
            <a:off x="3949979" y="5591556"/>
            <a:ext cx="164592" cy="0"/>
          </a:xfrm>
          <a:prstGeom prst="line">
            <a:avLst/>
          </a:prstGeom>
          <a:ln w="13970">
            <a:solidFill>
              <a:srgbClr val="44495B"/>
            </a:solidFill>
          </a:ln>
        </p:spPr>
      </p:cxnSp>
      <p:sp>
        <p:nvSpPr>
          <p:cNvPr id="60" name="TextBox 59"/>
          <p:cNvSpPr txBox="1"/>
          <p:nvPr/>
        </p:nvSpPr>
        <p:spPr>
          <a:xfrm>
            <a:off x="4169435"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
        <p:nvSpPr>
          <p:cNvPr id="61" name="TextBox 60"/>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Live session flow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WebSocket connection carries audio, events and tool calls in both directions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learn.microsoft.com/azure/ai-services/speech-service/voice-live-how-to · voice-live-api-reference-2026-07-15</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4</a:t>
            </a:r>
          </a:p>
        </p:txBody>
      </p:sp>
      <p:sp>
        <p:nvSpPr>
          <p:cNvPr id="7" name="Rectangle 6"/>
          <p:cNvSpPr/>
          <p:nvPr/>
        </p:nvSpPr>
        <p:spPr>
          <a:xfrm>
            <a:off x="457200" y="1353312"/>
            <a:ext cx="1783080" cy="38404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Microsoft Entra ID</a:t>
            </a:r>
          </a:p>
        </p:txBody>
      </p:sp>
      <p:sp>
        <p:nvSpPr>
          <p:cNvPr id="8" name="Rectangle 7"/>
          <p:cNvSpPr/>
          <p:nvPr/>
        </p:nvSpPr>
        <p:spPr>
          <a:xfrm>
            <a:off x="457200" y="2057400"/>
            <a:ext cx="1783080" cy="2103120"/>
          </a:xfrm>
          <a:prstGeom prst="rect">
            <a:avLst/>
          </a:prstGeom>
          <a:solidFill>
            <a:srgbClr val="EBEFF7"/>
          </a:solidFill>
          <a:ln>
            <a:noFill/>
          </a:ln>
          <a:effectLst/>
        </p:spPr>
        <p:txBody>
          <a:bodyPr wrap="square" lIns="54864" tIns="18288" rIns="54864" bIns="18288" rtlCol="0" anchor="ctr"/>
          <a:lstStyle/>
          <a:p>
            <a:pPr algn="ctr">
              <a:lnSpc>
                <a:spcPct val="112000"/>
              </a:lnSpc>
            </a:pPr>
            <a:endParaRPr/>
          </a:p>
        </p:txBody>
      </p:sp>
      <p:sp>
        <p:nvSpPr>
          <p:cNvPr id="9" name="TextBox 8"/>
          <p:cNvSpPr txBox="1"/>
          <p:nvPr/>
        </p:nvSpPr>
        <p:spPr>
          <a:xfrm>
            <a:off x="585216" y="2697480"/>
            <a:ext cx="1527048" cy="822960"/>
          </a:xfrm>
          <a:prstGeom prst="rect">
            <a:avLst/>
          </a:prstGeom>
          <a:noFill/>
        </p:spPr>
        <p:txBody>
          <a:bodyPr wrap="square" lIns="0" tIns="0" rIns="0" bIns="0" anchor="t">
            <a:spAutoFit/>
          </a:bodyPr>
          <a:lstStyle/>
          <a:p>
            <a:pPr algn="ctr">
              <a:lnSpc>
                <a:spcPct val="115000"/>
              </a:lnSpc>
            </a:pPr>
            <a:r>
              <a:rPr sz="900" b="1" i="0" dirty="0">
                <a:solidFill>
                  <a:srgbClr val="101A3C"/>
                </a:solidFill>
                <a:latin typeface="Segoe UI"/>
                <a:cs typeface="Segoe UI"/>
              </a:rPr>
              <a:t>Client application</a:t>
            </a:r>
          </a:p>
          <a:p>
            <a:pPr algn="ctr">
              <a:lnSpc>
                <a:spcPct val="115000"/>
              </a:lnSpc>
            </a:pPr>
            <a:r>
              <a:rPr sz="800" b="0" i="0" dirty="0">
                <a:solidFill>
                  <a:srgbClr val="44495B"/>
                </a:solidFill>
                <a:latin typeface="Segoe UI"/>
                <a:cs typeface="Segoe UI"/>
              </a:rPr>
              <a:t>browser, mobile app or</a:t>
            </a:r>
          </a:p>
          <a:p>
            <a:pPr algn="ctr">
              <a:lnSpc>
                <a:spcPct val="115000"/>
              </a:lnSpc>
            </a:pPr>
            <a:r>
              <a:rPr sz="800" b="0" i="0" dirty="0">
                <a:solidFill>
                  <a:srgbClr val="44495B"/>
                </a:solidFill>
                <a:latin typeface="Segoe UI"/>
                <a:cs typeface="Segoe UI"/>
              </a:rPr>
              <a:t>middle-tier service</a:t>
            </a:r>
          </a:p>
        </p:txBody>
      </p:sp>
      <p:cxnSp>
        <p:nvCxnSpPr>
          <p:cNvPr id="10" name="Connector 9"/>
          <p:cNvCxnSpPr/>
          <p:nvPr/>
        </p:nvCxnSpPr>
        <p:spPr>
          <a:xfrm>
            <a:off x="1348740" y="1737360"/>
            <a:ext cx="0" cy="320040"/>
          </a:xfrm>
          <a:prstGeom prst="line">
            <a:avLst/>
          </a:prstGeom>
          <a:ln w="13970">
            <a:solidFill>
              <a:srgbClr val="44495B"/>
            </a:solidFill>
            <a:prstDash val="dash"/>
          </a:ln>
        </p:spPr>
      </p:cxnSp>
      <p:sp>
        <p:nvSpPr>
          <p:cNvPr id="11" name="Oval 10"/>
          <p:cNvSpPr/>
          <p:nvPr/>
        </p:nvSpPr>
        <p:spPr>
          <a:xfrm>
            <a:off x="1243584" y="17922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2" name="Rectangle 11"/>
          <p:cNvSpPr/>
          <p:nvPr/>
        </p:nvSpPr>
        <p:spPr>
          <a:xfrm>
            <a:off x="2697480" y="1353312"/>
            <a:ext cx="5806440" cy="2807208"/>
          </a:xfrm>
          <a:prstGeom prst="rect">
            <a:avLst/>
          </a:prstGeom>
          <a:solidFill>
            <a:srgbClr val="101A3C"/>
          </a:solidFill>
          <a:ln>
            <a:noFill/>
          </a:ln>
          <a:effectLst/>
        </p:spPr>
        <p:txBody>
          <a:bodyPr wrap="square" rtlCol="0" anchor="ctr"/>
          <a:lstStyle/>
          <a:p>
            <a:endParaRPr/>
          </a:p>
        </p:txBody>
      </p:sp>
      <p:sp>
        <p:nvSpPr>
          <p:cNvPr id="13" name="TextBox 12"/>
          <p:cNvSpPr txBox="1"/>
          <p:nvPr/>
        </p:nvSpPr>
        <p:spPr>
          <a:xfrm>
            <a:off x="2880360" y="1444752"/>
            <a:ext cx="2743200" cy="182880"/>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Voice Live runtime</a:t>
            </a:r>
          </a:p>
        </p:txBody>
      </p:sp>
      <p:sp>
        <p:nvSpPr>
          <p:cNvPr id="14" name="TextBox 13"/>
          <p:cNvSpPr txBox="1"/>
          <p:nvPr/>
        </p:nvSpPr>
        <p:spPr>
          <a:xfrm>
            <a:off x="2880360" y="1636776"/>
            <a:ext cx="3657600" cy="164592"/>
          </a:xfrm>
          <a:prstGeom prst="rect">
            <a:avLst/>
          </a:prstGeom>
          <a:noFill/>
        </p:spPr>
        <p:txBody>
          <a:bodyPr wrap="square" lIns="0" tIns="0" rIns="0" bIns="0" anchor="t">
            <a:spAutoFit/>
          </a:bodyPr>
          <a:lstStyle/>
          <a:p>
            <a:pPr algn="l">
              <a:lnSpc>
                <a:spcPct val="100000"/>
              </a:lnSpc>
            </a:pPr>
            <a:r>
              <a:rPr sz="750" b="0" i="0" dirty="0">
                <a:solidFill>
                  <a:srgbClr val="B9C2D6"/>
                </a:solidFill>
                <a:latin typeface="Segoe UI"/>
                <a:cs typeface="Segoe UI"/>
              </a:rPr>
              <a:t>managed — nothing to deploy or scale</a:t>
            </a:r>
          </a:p>
        </p:txBody>
      </p:sp>
      <p:sp>
        <p:nvSpPr>
          <p:cNvPr id="15" name="Rectangle 14"/>
          <p:cNvSpPr/>
          <p:nvPr/>
        </p:nvSpPr>
        <p:spPr>
          <a:xfrm>
            <a:off x="2907792"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Noise suppression and</a:t>
            </a:r>
          </a:p>
          <a:p>
            <a:pPr algn="ctr">
              <a:lnSpc>
                <a:spcPct val="110000"/>
              </a:lnSpc>
            </a:pPr>
            <a:r>
              <a:rPr sz="800" b="0" i="0" dirty="0">
                <a:solidFill>
                  <a:srgbClr val="101A3C"/>
                </a:solidFill>
                <a:latin typeface="Segoe UI"/>
                <a:cs typeface="Segoe UI"/>
              </a:rPr>
              <a:t>echo cancellation</a:t>
            </a:r>
          </a:p>
        </p:txBody>
      </p:sp>
      <p:cxnSp>
        <p:nvCxnSpPr>
          <p:cNvPr id="16" name="Connector 15"/>
          <p:cNvCxnSpPr/>
          <p:nvPr/>
        </p:nvCxnSpPr>
        <p:spPr>
          <a:xfrm>
            <a:off x="4553712" y="2148840"/>
            <a:ext cx="219456" cy="0"/>
          </a:xfrm>
          <a:prstGeom prst="line">
            <a:avLst/>
          </a:prstGeom>
          <a:ln w="13970">
            <a:solidFill>
              <a:srgbClr val="B9C2D6"/>
            </a:solidFill>
            <a:tailEnd type="triangle" w="med" len="med"/>
          </a:ln>
        </p:spPr>
      </p:cxnSp>
      <p:sp>
        <p:nvSpPr>
          <p:cNvPr id="17" name="Rectangle 16"/>
          <p:cNvSpPr/>
          <p:nvPr/>
        </p:nvSpPr>
        <p:spPr>
          <a:xfrm>
            <a:off x="4773168"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Turn detection</a:t>
            </a:r>
          </a:p>
          <a:p>
            <a:pPr algn="ctr">
              <a:lnSpc>
                <a:spcPct val="110000"/>
              </a:lnSpc>
            </a:pPr>
            <a:r>
              <a:rPr sz="800" b="0" i="0" dirty="0">
                <a:solidFill>
                  <a:srgbClr val="101A3C"/>
                </a:solidFill>
                <a:latin typeface="Segoe UI"/>
                <a:cs typeface="Segoe UI"/>
              </a:rPr>
              <a:t>end of turn, barge-in</a:t>
            </a:r>
          </a:p>
        </p:txBody>
      </p:sp>
      <p:cxnSp>
        <p:nvCxnSpPr>
          <p:cNvPr id="18" name="Connector 17"/>
          <p:cNvCxnSpPr/>
          <p:nvPr/>
        </p:nvCxnSpPr>
        <p:spPr>
          <a:xfrm>
            <a:off x="6419088" y="2148840"/>
            <a:ext cx="219456" cy="0"/>
          </a:xfrm>
          <a:prstGeom prst="line">
            <a:avLst/>
          </a:prstGeom>
          <a:ln w="13970">
            <a:solidFill>
              <a:srgbClr val="B9C2D6"/>
            </a:solidFill>
            <a:tailEnd type="triangle" w="med" len="med"/>
          </a:ln>
        </p:spPr>
      </p:cxnSp>
      <p:sp>
        <p:nvSpPr>
          <p:cNvPr id="19" name="Rectangle 18"/>
          <p:cNvSpPr/>
          <p:nvPr/>
        </p:nvSpPr>
        <p:spPr>
          <a:xfrm>
            <a:off x="6638544"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Speech recognition</a:t>
            </a:r>
          </a:p>
          <a:p>
            <a:pPr algn="ctr">
              <a:lnSpc>
                <a:spcPct val="110000"/>
              </a:lnSpc>
            </a:pPr>
            <a:r>
              <a:rPr sz="800" b="0" i="0" dirty="0">
                <a:solidFill>
                  <a:srgbClr val="101A3C"/>
                </a:solidFill>
                <a:latin typeface="Segoe UI"/>
                <a:cs typeface="Segoe UI"/>
              </a:rPr>
              <a:t>transcription</a:t>
            </a:r>
          </a:p>
        </p:txBody>
      </p:sp>
      <p:sp>
        <p:nvSpPr>
          <p:cNvPr id="20" name="Rectangle 19"/>
          <p:cNvSpPr/>
          <p:nvPr/>
        </p:nvSpPr>
        <p:spPr>
          <a:xfrm>
            <a:off x="6638544" y="278892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Generative model</a:t>
            </a:r>
          </a:p>
          <a:p>
            <a:pPr algn="ctr">
              <a:lnSpc>
                <a:spcPct val="110000"/>
              </a:lnSpc>
            </a:pPr>
            <a:r>
              <a:rPr sz="800" b="1" i="0" dirty="0">
                <a:solidFill>
                  <a:srgbClr val="101A3C"/>
                </a:solidFill>
                <a:latin typeface="Segoe UI"/>
                <a:cs typeface="Segoe UI"/>
              </a:rPr>
              <a:t>realtime or text</a:t>
            </a:r>
          </a:p>
        </p:txBody>
      </p:sp>
      <p:cxnSp>
        <p:nvCxnSpPr>
          <p:cNvPr id="21" name="Connector 20"/>
          <p:cNvCxnSpPr/>
          <p:nvPr/>
        </p:nvCxnSpPr>
        <p:spPr>
          <a:xfrm>
            <a:off x="7461504" y="2423160"/>
            <a:ext cx="0" cy="365760"/>
          </a:xfrm>
          <a:prstGeom prst="line">
            <a:avLst/>
          </a:prstGeom>
          <a:ln w="13970">
            <a:solidFill>
              <a:srgbClr val="B9C2D6"/>
            </a:solidFill>
            <a:tailEnd type="triangle" w="med" len="med"/>
          </a:ln>
        </p:spPr>
      </p:cxnSp>
      <p:sp>
        <p:nvSpPr>
          <p:cNvPr id="22" name="Oval 21"/>
          <p:cNvSpPr/>
          <p:nvPr/>
        </p:nvSpPr>
        <p:spPr>
          <a:xfrm>
            <a:off x="7356348" y="25008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3" name="Rectangle 22"/>
          <p:cNvSpPr/>
          <p:nvPr/>
        </p:nvSpPr>
        <p:spPr>
          <a:xfrm>
            <a:off x="6638544" y="352044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Speech synthesis</a:t>
            </a:r>
          </a:p>
          <a:p>
            <a:pPr algn="ctr">
              <a:lnSpc>
                <a:spcPct val="110000"/>
              </a:lnSpc>
            </a:pPr>
            <a:r>
              <a:rPr sz="800" b="0" i="0" dirty="0">
                <a:solidFill>
                  <a:srgbClr val="101A3C"/>
                </a:solidFill>
                <a:latin typeface="Segoe UI"/>
                <a:cs typeface="Segoe UI"/>
              </a:rPr>
              <a:t>Azure or custom voice</a:t>
            </a:r>
          </a:p>
        </p:txBody>
      </p:sp>
      <p:cxnSp>
        <p:nvCxnSpPr>
          <p:cNvPr id="24" name="Connector 23"/>
          <p:cNvCxnSpPr/>
          <p:nvPr/>
        </p:nvCxnSpPr>
        <p:spPr>
          <a:xfrm>
            <a:off x="7461504" y="3291840"/>
            <a:ext cx="0" cy="228600"/>
          </a:xfrm>
          <a:prstGeom prst="line">
            <a:avLst/>
          </a:prstGeom>
          <a:ln w="13970">
            <a:solidFill>
              <a:srgbClr val="B9C2D6"/>
            </a:solidFill>
            <a:tailEnd type="triangle" w="med" len="med"/>
          </a:ln>
        </p:spPr>
      </p:cxnSp>
      <p:sp>
        <p:nvSpPr>
          <p:cNvPr id="25" name="Rectangle 24"/>
          <p:cNvSpPr/>
          <p:nvPr/>
        </p:nvSpPr>
        <p:spPr>
          <a:xfrm>
            <a:off x="4773168" y="352044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Avatar video</a:t>
            </a:r>
          </a:p>
          <a:p>
            <a:pPr algn="ctr">
              <a:lnSpc>
                <a:spcPct val="110000"/>
              </a:lnSpc>
            </a:pPr>
            <a:r>
              <a:rPr sz="800" b="0" i="0" dirty="0">
                <a:solidFill>
                  <a:srgbClr val="101A3C"/>
                </a:solidFill>
                <a:latin typeface="Segoe UI"/>
                <a:cs typeface="Segoe UI"/>
              </a:rPr>
              <a:t>optional</a:t>
            </a:r>
          </a:p>
        </p:txBody>
      </p:sp>
      <p:cxnSp>
        <p:nvCxnSpPr>
          <p:cNvPr id="26" name="Connector 25"/>
          <p:cNvCxnSpPr/>
          <p:nvPr/>
        </p:nvCxnSpPr>
        <p:spPr>
          <a:xfrm flipH="1">
            <a:off x="6419088" y="3771900"/>
            <a:ext cx="219456" cy="0"/>
          </a:xfrm>
          <a:prstGeom prst="line">
            <a:avLst/>
          </a:prstGeom>
          <a:ln w="13970">
            <a:solidFill>
              <a:srgbClr val="B9C2D6"/>
            </a:solidFill>
            <a:tailEnd type="triangle" w="med" len="med"/>
          </a:ln>
        </p:spPr>
      </p:cxnSp>
      <p:cxnSp>
        <p:nvCxnSpPr>
          <p:cNvPr id="27" name="Connector 26"/>
          <p:cNvCxnSpPr/>
          <p:nvPr/>
        </p:nvCxnSpPr>
        <p:spPr>
          <a:xfrm>
            <a:off x="2240280" y="2148840"/>
            <a:ext cx="667512" cy="0"/>
          </a:xfrm>
          <a:prstGeom prst="line">
            <a:avLst/>
          </a:prstGeom>
          <a:ln w="13970">
            <a:solidFill>
              <a:srgbClr val="44495B"/>
            </a:solidFill>
            <a:tailEnd type="triangle" w="med" len="med"/>
          </a:ln>
        </p:spPr>
      </p:cxnSp>
      <p:sp>
        <p:nvSpPr>
          <p:cNvPr id="28" name="Oval 27"/>
          <p:cNvSpPr/>
          <p:nvPr/>
        </p:nvSpPr>
        <p:spPr>
          <a:xfrm>
            <a:off x="2363724" y="20436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29" name="Connector 28"/>
          <p:cNvCxnSpPr/>
          <p:nvPr/>
        </p:nvCxnSpPr>
        <p:spPr>
          <a:xfrm flipH="1">
            <a:off x="2240280" y="3771900"/>
            <a:ext cx="2532888" cy="0"/>
          </a:xfrm>
          <a:prstGeom prst="line">
            <a:avLst/>
          </a:prstGeom>
          <a:ln w="13970">
            <a:solidFill>
              <a:srgbClr val="44495B"/>
            </a:solidFill>
            <a:tailEnd type="triangle" w="med" len="med"/>
          </a:ln>
        </p:spPr>
      </p:cxnSp>
      <p:sp>
        <p:nvSpPr>
          <p:cNvPr id="30" name="Oval 29"/>
          <p:cNvSpPr/>
          <p:nvPr/>
        </p:nvSpPr>
        <p:spPr>
          <a:xfrm>
            <a:off x="2363724" y="366674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sp>
        <p:nvSpPr>
          <p:cNvPr id="31" name="Rectangle 30"/>
          <p:cNvSpPr/>
          <p:nvPr/>
        </p:nvSpPr>
        <p:spPr>
          <a:xfrm>
            <a:off x="8915400" y="1874519"/>
            <a:ext cx="2819095" cy="2148840"/>
          </a:xfrm>
          <a:prstGeom prst="rect">
            <a:avLst/>
          </a:prstGeom>
          <a:solidFill>
            <a:srgbClr val="F6F8FD"/>
          </a:solidFill>
          <a:ln w="9525">
            <a:solidFill>
              <a:srgbClr val="E1E7F4"/>
            </a:solidFill>
          </a:ln>
          <a:effectLst/>
        </p:spPr>
        <p:txBody>
          <a:bodyPr wrap="square" rtlCol="0" anchor="ctr"/>
          <a:lstStyle/>
          <a:p>
            <a:endParaRPr/>
          </a:p>
        </p:txBody>
      </p:sp>
      <p:sp>
        <p:nvSpPr>
          <p:cNvPr id="32" name="TextBox 31"/>
          <p:cNvSpPr txBox="1"/>
          <p:nvPr/>
        </p:nvSpPr>
        <p:spPr>
          <a:xfrm>
            <a:off x="9061704" y="1947672"/>
            <a:ext cx="2544775" cy="182880"/>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Tools and knowledge</a:t>
            </a:r>
          </a:p>
        </p:txBody>
      </p:sp>
      <p:sp>
        <p:nvSpPr>
          <p:cNvPr id="33" name="Rectangle 32"/>
          <p:cNvSpPr/>
          <p:nvPr/>
        </p:nvSpPr>
        <p:spPr>
          <a:xfrm>
            <a:off x="9061704" y="2240280"/>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Function calls run by the client</a:t>
            </a:r>
          </a:p>
        </p:txBody>
      </p:sp>
      <p:sp>
        <p:nvSpPr>
          <p:cNvPr id="34" name="Rectangle 33"/>
          <p:cNvSpPr/>
          <p:nvPr/>
        </p:nvSpPr>
        <p:spPr>
          <a:xfrm>
            <a:off x="9061704" y="2807208"/>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Remote MCP servers</a:t>
            </a:r>
          </a:p>
        </p:txBody>
      </p:sp>
      <p:sp>
        <p:nvSpPr>
          <p:cNvPr id="35" name="Rectangle 34"/>
          <p:cNvSpPr/>
          <p:nvPr/>
        </p:nvSpPr>
        <p:spPr>
          <a:xfrm>
            <a:off x="9061704" y="3374136"/>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Foundry agent or built-in search</a:t>
            </a:r>
          </a:p>
        </p:txBody>
      </p:sp>
      <p:cxnSp>
        <p:nvCxnSpPr>
          <p:cNvPr id="36" name="Connector 35"/>
          <p:cNvCxnSpPr/>
          <p:nvPr/>
        </p:nvCxnSpPr>
        <p:spPr>
          <a:xfrm>
            <a:off x="8284464" y="3044952"/>
            <a:ext cx="630936" cy="0"/>
          </a:xfrm>
          <a:prstGeom prst="line">
            <a:avLst/>
          </a:prstGeom>
          <a:ln w="13970">
            <a:solidFill>
              <a:srgbClr val="44495B"/>
            </a:solidFill>
            <a:tailEnd type="triangle" w="med" len="med"/>
          </a:ln>
        </p:spPr>
      </p:cxnSp>
      <p:sp>
        <p:nvSpPr>
          <p:cNvPr id="37" name="Oval 36"/>
          <p:cNvSpPr/>
          <p:nvPr/>
        </p:nvSpPr>
        <p:spPr>
          <a:xfrm>
            <a:off x="8508492" y="29397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38" name="TextBox 37"/>
          <p:cNvSpPr txBox="1"/>
          <p:nvPr/>
        </p:nvSpPr>
        <p:spPr>
          <a:xfrm>
            <a:off x="457200" y="4334256"/>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KEY EVENTS ON THE SESSION</a:t>
            </a:r>
          </a:p>
        </p:txBody>
      </p:sp>
      <p:sp>
        <p:nvSpPr>
          <p:cNvPr id="39" name="TextBox 38"/>
          <p:cNvSpPr txBox="1"/>
          <p:nvPr/>
        </p:nvSpPr>
        <p:spPr>
          <a:xfrm>
            <a:off x="457200" y="457200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Client sends</a:t>
            </a:r>
          </a:p>
        </p:txBody>
      </p:sp>
      <p:sp>
        <p:nvSpPr>
          <p:cNvPr id="40" name="TextBox 39"/>
          <p:cNvSpPr txBox="1"/>
          <p:nvPr/>
        </p:nvSpPr>
        <p:spPr>
          <a:xfrm>
            <a:off x="1697702" y="457200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session.update  ·  input_audio_buffer.append  ·  response.create  ·  response.cancel</a:t>
            </a:r>
          </a:p>
        </p:txBody>
      </p:sp>
      <p:cxnSp>
        <p:nvCxnSpPr>
          <p:cNvPr id="41" name="Connector 40"/>
          <p:cNvCxnSpPr/>
          <p:nvPr/>
        </p:nvCxnSpPr>
        <p:spPr>
          <a:xfrm>
            <a:off x="457200" y="4828032"/>
            <a:ext cx="11277295" cy="0"/>
          </a:xfrm>
          <a:prstGeom prst="line">
            <a:avLst/>
          </a:prstGeom>
          <a:ln w="9525">
            <a:solidFill>
              <a:srgbClr val="E1E7F4"/>
            </a:solidFill>
          </a:ln>
        </p:spPr>
      </p:cxnSp>
      <p:sp>
        <p:nvSpPr>
          <p:cNvPr id="42" name="TextBox 41"/>
          <p:cNvSpPr txBox="1"/>
          <p:nvPr/>
        </p:nvSpPr>
        <p:spPr>
          <a:xfrm>
            <a:off x="457200" y="484632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Service returns</a:t>
            </a:r>
          </a:p>
        </p:txBody>
      </p:sp>
      <p:sp>
        <p:nvSpPr>
          <p:cNvPr id="43" name="TextBox 42"/>
          <p:cNvSpPr txBox="1"/>
          <p:nvPr/>
        </p:nvSpPr>
        <p:spPr>
          <a:xfrm>
            <a:off x="1697702" y="484632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session.updated  ·  input_audio_buffer.speech_started / speech_stopped  ·  conversation.item.input_audio_transcription.completed  ·  response.audio.delta  ·  response.function_call_arguments.done  ·  response.done</a:t>
            </a:r>
          </a:p>
        </p:txBody>
      </p:sp>
      <p:cxnSp>
        <p:nvCxnSpPr>
          <p:cNvPr id="44" name="Connector 43"/>
          <p:cNvCxnSpPr/>
          <p:nvPr/>
        </p:nvCxnSpPr>
        <p:spPr>
          <a:xfrm>
            <a:off x="457200" y="5102352"/>
            <a:ext cx="11277295" cy="0"/>
          </a:xfrm>
          <a:prstGeom prst="line">
            <a:avLst/>
          </a:prstGeom>
          <a:ln w="9525">
            <a:solidFill>
              <a:srgbClr val="E1E7F4"/>
            </a:solidFill>
          </a:ln>
        </p:spPr>
      </p:cxnSp>
      <p:sp>
        <p:nvSpPr>
          <p:cNvPr id="45" name="TextBox 44"/>
          <p:cNvSpPr txBox="1"/>
          <p:nvPr/>
        </p:nvSpPr>
        <p:spPr>
          <a:xfrm>
            <a:off x="457200" y="512064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Barge-in</a:t>
            </a:r>
          </a:p>
        </p:txBody>
      </p:sp>
      <p:sp>
        <p:nvSpPr>
          <p:cNvPr id="46" name="TextBox 45"/>
          <p:cNvSpPr txBox="1"/>
          <p:nvPr/>
        </p:nvSpPr>
        <p:spPr>
          <a:xfrm>
            <a:off x="1697702" y="512064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If the caller speaks during playback, the current response is interrupted and the unplayed audio is truncated</a:t>
            </a:r>
          </a:p>
        </p:txBody>
      </p:sp>
      <p:cxnSp>
        <p:nvCxnSpPr>
          <p:cNvPr id="47" name="Connector 46"/>
          <p:cNvCxnSpPr/>
          <p:nvPr/>
        </p:nvCxnSpPr>
        <p:spPr>
          <a:xfrm>
            <a:off x="457200" y="5376672"/>
            <a:ext cx="11277295" cy="0"/>
          </a:xfrm>
          <a:prstGeom prst="line">
            <a:avLst/>
          </a:prstGeom>
          <a:ln w="9525">
            <a:solidFill>
              <a:srgbClr val="E1E7F4"/>
            </a:solidFill>
          </a:ln>
        </p:spPr>
      </p:cxnSp>
      <p:sp>
        <p:nvSpPr>
          <p:cNvPr id="48" name="Rectangle 47"/>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49" name="TextBox 48"/>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Service described</a:t>
            </a:r>
          </a:p>
        </p:txBody>
      </p:sp>
      <p:sp>
        <p:nvSpPr>
          <p:cNvPr id="50" name="Rectangle 49"/>
          <p:cNvSpPr/>
          <p:nvPr/>
        </p:nvSpPr>
        <p:spPr>
          <a:xfrm>
            <a:off x="1656664"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1" name="TextBox 50"/>
          <p:cNvSpPr txBox="1"/>
          <p:nvPr/>
        </p:nvSpPr>
        <p:spPr>
          <a:xfrm>
            <a:off x="18761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Stage or tool</a:t>
            </a:r>
          </a:p>
        </p:txBody>
      </p:sp>
      <p:sp>
        <p:nvSpPr>
          <p:cNvPr id="52" name="Rectangle 51"/>
          <p:cNvSpPr/>
          <p:nvPr/>
        </p:nvSpPr>
        <p:spPr>
          <a:xfrm>
            <a:off x="2644902" y="5545836"/>
            <a:ext cx="146304" cy="91440"/>
          </a:xfrm>
          <a:prstGeom prst="rect">
            <a:avLst/>
          </a:prstGeom>
          <a:solidFill>
            <a:srgbClr val="EBEFF7"/>
          </a:solidFill>
          <a:ln>
            <a:noFill/>
          </a:ln>
          <a:effectLst/>
        </p:spPr>
        <p:txBody>
          <a:bodyPr wrap="square" rtlCol="0" anchor="ctr"/>
          <a:lstStyle/>
          <a:p>
            <a:endParaRPr/>
          </a:p>
        </p:txBody>
      </p:sp>
      <p:sp>
        <p:nvSpPr>
          <p:cNvPr id="53" name="TextBox 52"/>
          <p:cNvSpPr txBox="1"/>
          <p:nvPr/>
        </p:nvSpPr>
        <p:spPr>
          <a:xfrm>
            <a:off x="286435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side</a:t>
            </a:r>
          </a:p>
        </p:txBody>
      </p:sp>
      <p:cxnSp>
        <p:nvCxnSpPr>
          <p:cNvPr id="54" name="Connector 53"/>
          <p:cNvCxnSpPr/>
          <p:nvPr/>
        </p:nvCxnSpPr>
        <p:spPr>
          <a:xfrm>
            <a:off x="3527526" y="5591556"/>
            <a:ext cx="164592" cy="0"/>
          </a:xfrm>
          <a:prstGeom prst="line">
            <a:avLst/>
          </a:prstGeom>
          <a:ln w="13970">
            <a:solidFill>
              <a:srgbClr val="44495B"/>
            </a:solidFill>
          </a:ln>
        </p:spPr>
      </p:cxnSp>
      <p:sp>
        <p:nvSpPr>
          <p:cNvPr id="55" name="TextBox 54"/>
          <p:cNvSpPr txBox="1"/>
          <p:nvPr/>
        </p:nvSpPr>
        <p:spPr>
          <a:xfrm>
            <a:off x="374698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Audio and events</a:t>
            </a:r>
          </a:p>
        </p:txBody>
      </p:sp>
      <p:cxnSp>
        <p:nvCxnSpPr>
          <p:cNvPr id="56" name="Connector 55"/>
          <p:cNvCxnSpPr/>
          <p:nvPr/>
        </p:nvCxnSpPr>
        <p:spPr>
          <a:xfrm>
            <a:off x="4674184" y="5591556"/>
            <a:ext cx="164592" cy="0"/>
          </a:xfrm>
          <a:prstGeom prst="line">
            <a:avLst/>
          </a:prstGeom>
          <a:ln w="13970">
            <a:solidFill>
              <a:srgbClr val="44495B"/>
            </a:solidFill>
            <a:prstDash val="dash"/>
          </a:ln>
        </p:spPr>
      </p:cxnSp>
      <p:sp>
        <p:nvSpPr>
          <p:cNvPr id="57" name="TextBox 56"/>
          <p:cNvSpPr txBox="1"/>
          <p:nvPr/>
        </p:nvSpPr>
        <p:spPr>
          <a:xfrm>
            <a:off x="489364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Model architectures and pricing tiers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selected model determines how audio is processed and which pricing tier applies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 · foundry/agents/overview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5</a:t>
            </a:r>
          </a:p>
        </p:txBody>
      </p:sp>
      <p:sp>
        <p:nvSpPr>
          <p:cNvPr id="7" name="TextBox 6"/>
          <p:cNvSpPr txBox="1"/>
          <p:nvPr/>
        </p:nvSpPr>
        <p:spPr>
          <a:xfrm>
            <a:off x="457200" y="138988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SINGLE SPEECH MODEL — AUDIO IN, AUDIO OUT</a:t>
            </a:r>
          </a:p>
        </p:txBody>
      </p:sp>
      <p:sp>
        <p:nvSpPr>
          <p:cNvPr id="8" name="Rectangle 7"/>
          <p:cNvSpPr/>
          <p:nvPr/>
        </p:nvSpPr>
        <p:spPr>
          <a:xfrm>
            <a:off x="457200" y="1682496"/>
            <a:ext cx="960120"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9" name="Connector 8"/>
          <p:cNvCxnSpPr/>
          <p:nvPr/>
        </p:nvCxnSpPr>
        <p:spPr>
          <a:xfrm>
            <a:off x="1417320" y="1938528"/>
            <a:ext cx="320040" cy="0"/>
          </a:xfrm>
          <a:prstGeom prst="line">
            <a:avLst/>
          </a:prstGeom>
          <a:ln w="13970">
            <a:solidFill>
              <a:srgbClr val="44495B"/>
            </a:solidFill>
            <a:tailEnd type="triangle" w="med" len="med"/>
          </a:ln>
        </p:spPr>
      </p:cxnSp>
      <p:sp>
        <p:nvSpPr>
          <p:cNvPr id="10" name="Rectangle 9"/>
          <p:cNvSpPr/>
          <p:nvPr/>
        </p:nvSpPr>
        <p:spPr>
          <a:xfrm>
            <a:off x="1737360" y="1682496"/>
            <a:ext cx="306324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Realtime speech model</a:t>
            </a:r>
          </a:p>
          <a:p>
            <a:pPr algn="ctr">
              <a:lnSpc>
                <a:spcPct val="112000"/>
              </a:lnSpc>
            </a:pPr>
            <a:r>
              <a:rPr sz="850" b="1" i="0" dirty="0">
                <a:solidFill>
                  <a:srgbClr val="101A3C"/>
                </a:solidFill>
                <a:latin typeface="Segoe UI"/>
                <a:cs typeface="Segoe UI"/>
              </a:rPr>
              <a:t>listens and speaks directly</a:t>
            </a:r>
          </a:p>
        </p:txBody>
      </p:sp>
      <p:cxnSp>
        <p:nvCxnSpPr>
          <p:cNvPr id="11" name="Connector 10"/>
          <p:cNvCxnSpPr/>
          <p:nvPr/>
        </p:nvCxnSpPr>
        <p:spPr>
          <a:xfrm>
            <a:off x="4800600" y="1938528"/>
            <a:ext cx="320040" cy="0"/>
          </a:xfrm>
          <a:prstGeom prst="line">
            <a:avLst/>
          </a:prstGeom>
          <a:ln w="13970">
            <a:solidFill>
              <a:srgbClr val="44495B"/>
            </a:solidFill>
            <a:tailEnd type="triangle" w="med" len="med"/>
          </a:ln>
        </p:spPr>
      </p:cxnSp>
      <p:sp>
        <p:nvSpPr>
          <p:cNvPr id="12" name="Rectangle 11"/>
          <p:cNvSpPr/>
          <p:nvPr/>
        </p:nvSpPr>
        <p:spPr>
          <a:xfrm>
            <a:off x="5120640" y="1682496"/>
            <a:ext cx="1097280"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13" name="Rectangle 12"/>
          <p:cNvSpPr/>
          <p:nvPr/>
        </p:nvSpPr>
        <p:spPr>
          <a:xfrm>
            <a:off x="457200" y="2304288"/>
            <a:ext cx="2816352"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Lowest latency, most natural turn-taking</a:t>
            </a:r>
          </a:p>
        </p:txBody>
      </p:sp>
      <p:sp>
        <p:nvSpPr>
          <p:cNvPr id="14" name="Rectangle 13"/>
          <p:cNvSpPr/>
          <p:nvPr/>
        </p:nvSpPr>
        <p:spPr>
          <a:xfrm>
            <a:off x="3364992" y="2304288"/>
            <a:ext cx="2852928"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Fewer text-model and voice choices</a:t>
            </a:r>
          </a:p>
        </p:txBody>
      </p:sp>
      <p:sp>
        <p:nvSpPr>
          <p:cNvPr id="15" name="TextBox 14"/>
          <p:cNvSpPr txBox="1"/>
          <p:nvPr/>
        </p:nvSpPr>
        <p:spPr>
          <a:xfrm>
            <a:off x="457200" y="2798064"/>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THREE STAGES — SPEECH RECOGNITION, TEXT MODEL, SPEECH SYNTHESIS</a:t>
            </a:r>
          </a:p>
        </p:txBody>
      </p:sp>
      <p:sp>
        <p:nvSpPr>
          <p:cNvPr id="16" name="Rectangle 15"/>
          <p:cNvSpPr/>
          <p:nvPr/>
        </p:nvSpPr>
        <p:spPr>
          <a:xfrm>
            <a:off x="457200" y="3090672"/>
            <a:ext cx="896112"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17" name="Connector 16"/>
          <p:cNvCxnSpPr/>
          <p:nvPr/>
        </p:nvCxnSpPr>
        <p:spPr>
          <a:xfrm>
            <a:off x="1353312" y="3346704"/>
            <a:ext cx="292608" cy="0"/>
          </a:xfrm>
          <a:prstGeom prst="line">
            <a:avLst/>
          </a:prstGeom>
          <a:ln w="13970">
            <a:solidFill>
              <a:srgbClr val="44495B"/>
            </a:solidFill>
            <a:tailEnd type="triangle" w="med" len="med"/>
          </a:ln>
        </p:spPr>
      </p:cxnSp>
      <p:sp>
        <p:nvSpPr>
          <p:cNvPr id="18" name="Rectangle 17"/>
          <p:cNvSpPr/>
          <p:nvPr/>
        </p:nvSpPr>
        <p:spPr>
          <a:xfrm>
            <a:off x="1645920"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Speech</a:t>
            </a:r>
          </a:p>
          <a:p>
            <a:pPr algn="ctr">
              <a:lnSpc>
                <a:spcPct val="112000"/>
              </a:lnSpc>
            </a:pPr>
            <a:r>
              <a:rPr sz="850" b="1" i="0" dirty="0">
                <a:solidFill>
                  <a:srgbClr val="101A3C"/>
                </a:solidFill>
                <a:latin typeface="Segoe UI"/>
                <a:cs typeface="Segoe UI"/>
              </a:rPr>
              <a:t>recognition</a:t>
            </a:r>
          </a:p>
        </p:txBody>
      </p:sp>
      <p:cxnSp>
        <p:nvCxnSpPr>
          <p:cNvPr id="19" name="Connector 18"/>
          <p:cNvCxnSpPr/>
          <p:nvPr/>
        </p:nvCxnSpPr>
        <p:spPr>
          <a:xfrm>
            <a:off x="2542032" y="3346704"/>
            <a:ext cx="274320" cy="0"/>
          </a:xfrm>
          <a:prstGeom prst="line">
            <a:avLst/>
          </a:prstGeom>
          <a:ln w="13970">
            <a:solidFill>
              <a:srgbClr val="44495B"/>
            </a:solidFill>
            <a:tailEnd type="triangle" w="med" len="med"/>
          </a:ln>
        </p:spPr>
      </p:cxnSp>
      <p:sp>
        <p:nvSpPr>
          <p:cNvPr id="20" name="Rectangle 19"/>
          <p:cNvSpPr/>
          <p:nvPr/>
        </p:nvSpPr>
        <p:spPr>
          <a:xfrm>
            <a:off x="2816352"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Text</a:t>
            </a:r>
          </a:p>
          <a:p>
            <a:pPr algn="ctr">
              <a:lnSpc>
                <a:spcPct val="112000"/>
              </a:lnSpc>
            </a:pPr>
            <a:r>
              <a:rPr sz="850" b="1" i="0" dirty="0">
                <a:solidFill>
                  <a:srgbClr val="101A3C"/>
                </a:solidFill>
                <a:latin typeface="Segoe UI"/>
                <a:cs typeface="Segoe UI"/>
              </a:rPr>
              <a:t>model</a:t>
            </a:r>
          </a:p>
        </p:txBody>
      </p:sp>
      <p:cxnSp>
        <p:nvCxnSpPr>
          <p:cNvPr id="21" name="Connector 20"/>
          <p:cNvCxnSpPr/>
          <p:nvPr/>
        </p:nvCxnSpPr>
        <p:spPr>
          <a:xfrm>
            <a:off x="3712464" y="3346704"/>
            <a:ext cx="274320" cy="0"/>
          </a:xfrm>
          <a:prstGeom prst="line">
            <a:avLst/>
          </a:prstGeom>
          <a:ln w="13970">
            <a:solidFill>
              <a:srgbClr val="44495B"/>
            </a:solidFill>
            <a:tailEnd type="triangle" w="med" len="med"/>
          </a:ln>
        </p:spPr>
      </p:cxnSp>
      <p:sp>
        <p:nvSpPr>
          <p:cNvPr id="22" name="Rectangle 21"/>
          <p:cNvSpPr/>
          <p:nvPr/>
        </p:nvSpPr>
        <p:spPr>
          <a:xfrm>
            <a:off x="3986784"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Speech</a:t>
            </a:r>
          </a:p>
          <a:p>
            <a:pPr algn="ctr">
              <a:lnSpc>
                <a:spcPct val="112000"/>
              </a:lnSpc>
            </a:pPr>
            <a:r>
              <a:rPr sz="850" b="1" i="0" dirty="0">
                <a:solidFill>
                  <a:srgbClr val="101A3C"/>
                </a:solidFill>
                <a:latin typeface="Segoe UI"/>
                <a:cs typeface="Segoe UI"/>
              </a:rPr>
              <a:t>synthesis</a:t>
            </a:r>
          </a:p>
        </p:txBody>
      </p:sp>
      <p:cxnSp>
        <p:nvCxnSpPr>
          <p:cNvPr id="23" name="Connector 22"/>
          <p:cNvCxnSpPr/>
          <p:nvPr/>
        </p:nvCxnSpPr>
        <p:spPr>
          <a:xfrm>
            <a:off x="4882896" y="3346704"/>
            <a:ext cx="274320" cy="0"/>
          </a:xfrm>
          <a:prstGeom prst="line">
            <a:avLst/>
          </a:prstGeom>
          <a:ln w="13970">
            <a:solidFill>
              <a:srgbClr val="44495B"/>
            </a:solidFill>
            <a:tailEnd type="triangle" w="med" len="med"/>
          </a:ln>
        </p:spPr>
      </p:cxnSp>
      <p:sp>
        <p:nvSpPr>
          <p:cNvPr id="24" name="Rectangle 23"/>
          <p:cNvSpPr/>
          <p:nvPr/>
        </p:nvSpPr>
        <p:spPr>
          <a:xfrm>
            <a:off x="5157216" y="3090672"/>
            <a:ext cx="1060704"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25" name="Rectangle 24"/>
          <p:cNvSpPr/>
          <p:nvPr/>
        </p:nvSpPr>
        <p:spPr>
          <a:xfrm>
            <a:off x="457200" y="3712463"/>
            <a:ext cx="2816352"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Broader text-model and Azure voice choice</a:t>
            </a:r>
          </a:p>
        </p:txBody>
      </p:sp>
      <p:sp>
        <p:nvSpPr>
          <p:cNvPr id="26" name="Rectangle 25"/>
          <p:cNvSpPr/>
          <p:nvPr/>
        </p:nvSpPr>
        <p:spPr>
          <a:xfrm>
            <a:off x="3364992" y="3712463"/>
            <a:ext cx="2852928"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Each stage adds to end-to-end latency</a:t>
            </a:r>
          </a:p>
        </p:txBody>
      </p:sp>
      <p:sp>
        <p:nvSpPr>
          <p:cNvPr id="27" name="Rectangle 26"/>
          <p:cNvSpPr/>
          <p:nvPr/>
        </p:nvSpPr>
        <p:spPr>
          <a:xfrm>
            <a:off x="457200" y="4005072"/>
            <a:ext cx="5760720"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Explicit control: phrase lists, custom speech, turn detection, interim responses</a:t>
            </a:r>
          </a:p>
        </p:txBody>
      </p:sp>
      <p:sp>
        <p:nvSpPr>
          <p:cNvPr id="28" name="Rectangle 27"/>
          <p:cNvSpPr/>
          <p:nvPr/>
        </p:nvSpPr>
        <p:spPr>
          <a:xfrm>
            <a:off x="457200" y="4462272"/>
            <a:ext cx="5760720" cy="896112"/>
          </a:xfrm>
          <a:prstGeom prst="rect">
            <a:avLst/>
          </a:prstGeom>
          <a:solidFill>
            <a:srgbClr val="EBEFF7"/>
          </a:solidFill>
          <a:ln>
            <a:noFill/>
          </a:ln>
          <a:effectLst/>
        </p:spPr>
        <p:txBody>
          <a:bodyPr wrap="square" rtlCol="0" anchor="ctr"/>
          <a:lstStyle/>
          <a:p>
            <a:endParaRPr/>
          </a:p>
        </p:txBody>
      </p:sp>
      <p:sp>
        <p:nvSpPr>
          <p:cNvPr id="29" name="Rectangle 28"/>
          <p:cNvSpPr/>
          <p:nvPr/>
        </p:nvSpPr>
        <p:spPr>
          <a:xfrm>
            <a:off x="457200" y="4462272"/>
            <a:ext cx="41148" cy="896112"/>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694944" y="4562856"/>
            <a:ext cx="5340096" cy="713232"/>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Selection guidance: a single speech model gives the lowest latency and the most natural conversation. Three stages give a wider choice of text models and Azure voices, custom speech recognition and phrase lists — with some added latency.</a:t>
            </a:r>
          </a:p>
        </p:txBody>
      </p:sp>
      <p:sp>
        <p:nvSpPr>
          <p:cNvPr id="31" name="TextBox 30"/>
          <p:cNvSpPr txBox="1"/>
          <p:nvPr/>
        </p:nvSpPr>
        <p:spPr>
          <a:xfrm>
            <a:off x="6583680" y="1389888"/>
            <a:ext cx="51508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PRICING TIER — SET AUTOMATICALLY BY THE MODEL</a:t>
            </a:r>
          </a:p>
        </p:txBody>
      </p:sp>
      <p:sp>
        <p:nvSpPr>
          <p:cNvPr id="32" name="Rectangle 31"/>
          <p:cNvSpPr/>
          <p:nvPr/>
        </p:nvSpPr>
        <p:spPr>
          <a:xfrm>
            <a:off x="6583680" y="1682496"/>
            <a:ext cx="5150815" cy="310896"/>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6711696" y="1760220"/>
            <a:ext cx="120784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Tier</a:t>
            </a:r>
          </a:p>
        </p:txBody>
      </p:sp>
      <p:sp>
        <p:nvSpPr>
          <p:cNvPr id="34" name="TextBox 33"/>
          <p:cNvSpPr txBox="1"/>
          <p:nvPr/>
        </p:nvSpPr>
        <p:spPr>
          <a:xfrm>
            <a:off x="8102416" y="1760220"/>
            <a:ext cx="357721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Models (examples)</a:t>
            </a:r>
          </a:p>
        </p:txBody>
      </p:sp>
      <p:sp>
        <p:nvSpPr>
          <p:cNvPr id="35" name="Rectangle 34"/>
          <p:cNvSpPr/>
          <p:nvPr/>
        </p:nvSpPr>
        <p:spPr>
          <a:xfrm>
            <a:off x="6583680" y="1993392"/>
            <a:ext cx="5150815" cy="640080"/>
          </a:xfrm>
          <a:prstGeom prst="rect">
            <a:avLst/>
          </a:prstGeom>
          <a:solidFill>
            <a:srgbClr val="F6F8FD"/>
          </a:solidFill>
          <a:ln>
            <a:noFill/>
          </a:ln>
          <a:effectLst/>
        </p:spPr>
        <p:txBody>
          <a:bodyPr wrap="square" rtlCol="0" anchor="ctr"/>
          <a:lstStyle/>
          <a:p>
            <a:endParaRPr/>
          </a:p>
        </p:txBody>
      </p:sp>
      <p:cxnSp>
        <p:nvCxnSpPr>
          <p:cNvPr id="36" name="Connector 35"/>
          <p:cNvCxnSpPr/>
          <p:nvPr/>
        </p:nvCxnSpPr>
        <p:spPr>
          <a:xfrm>
            <a:off x="6583680" y="2633472"/>
            <a:ext cx="5150815" cy="0"/>
          </a:xfrm>
          <a:prstGeom prst="line">
            <a:avLst/>
          </a:prstGeom>
          <a:ln w="9525">
            <a:solidFill>
              <a:srgbClr val="E1E7F4"/>
            </a:solidFill>
          </a:ln>
        </p:spPr>
      </p:cxnSp>
      <p:sp>
        <p:nvSpPr>
          <p:cNvPr id="37" name="TextBox 36"/>
          <p:cNvSpPr txBox="1"/>
          <p:nvPr/>
        </p:nvSpPr>
        <p:spPr>
          <a:xfrm>
            <a:off x="6711696" y="2043684"/>
            <a:ext cx="1171264" cy="55778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a:t>
            </a:r>
          </a:p>
        </p:txBody>
      </p:sp>
      <p:sp>
        <p:nvSpPr>
          <p:cNvPr id="38" name="TextBox 37"/>
          <p:cNvSpPr txBox="1"/>
          <p:nvPr/>
        </p:nvSpPr>
        <p:spPr>
          <a:xfrm>
            <a:off x="8102416" y="2043684"/>
            <a:ext cx="3540639" cy="55778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gpt-realtime, gpt-realtime-1.5, gpt-realtime-2.1, azure-realtime, gpt-4o, gpt-4.1, gpt-5 family (incl. gpt-5.6-terra)</a:t>
            </a:r>
          </a:p>
        </p:txBody>
      </p:sp>
      <p:cxnSp>
        <p:nvCxnSpPr>
          <p:cNvPr id="39" name="Connector 38"/>
          <p:cNvCxnSpPr/>
          <p:nvPr/>
        </p:nvCxnSpPr>
        <p:spPr>
          <a:xfrm>
            <a:off x="6583680" y="3163824"/>
            <a:ext cx="5150815" cy="0"/>
          </a:xfrm>
          <a:prstGeom prst="line">
            <a:avLst/>
          </a:prstGeom>
          <a:ln w="9525">
            <a:solidFill>
              <a:srgbClr val="E1E7F4"/>
            </a:solidFill>
          </a:ln>
        </p:spPr>
      </p:cxnSp>
      <p:sp>
        <p:nvSpPr>
          <p:cNvPr id="40" name="TextBox 39"/>
          <p:cNvSpPr txBox="1"/>
          <p:nvPr/>
        </p:nvSpPr>
        <p:spPr>
          <a:xfrm>
            <a:off x="6711696" y="2683764"/>
            <a:ext cx="1171264"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Standard</a:t>
            </a:r>
          </a:p>
        </p:txBody>
      </p:sp>
      <p:sp>
        <p:nvSpPr>
          <p:cNvPr id="41" name="TextBox 40"/>
          <p:cNvSpPr txBox="1"/>
          <p:nvPr/>
        </p:nvSpPr>
        <p:spPr>
          <a:xfrm>
            <a:off x="8102416" y="2683764"/>
            <a:ext cx="3540639"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gpt-realtime-mini, gpt-realtime-2.1-mini, gpt-4o-mini, gpt-4.1-mini, gpt-5-mini, gpt-5.6-luna</a:t>
            </a:r>
          </a:p>
        </p:txBody>
      </p:sp>
      <p:sp>
        <p:nvSpPr>
          <p:cNvPr id="42" name="Rectangle 41"/>
          <p:cNvSpPr/>
          <p:nvPr/>
        </p:nvSpPr>
        <p:spPr>
          <a:xfrm>
            <a:off x="6583680" y="3163824"/>
            <a:ext cx="5150815" cy="365760"/>
          </a:xfrm>
          <a:prstGeom prst="rect">
            <a:avLst/>
          </a:prstGeom>
          <a:solidFill>
            <a:srgbClr val="F6F8FD"/>
          </a:solidFill>
          <a:ln>
            <a:noFill/>
          </a:ln>
          <a:effectLst/>
        </p:spPr>
        <p:txBody>
          <a:bodyPr wrap="square" rtlCol="0" anchor="ctr"/>
          <a:lstStyle/>
          <a:p>
            <a:endParaRPr/>
          </a:p>
        </p:txBody>
      </p:sp>
      <p:cxnSp>
        <p:nvCxnSpPr>
          <p:cNvPr id="43" name="Connector 42"/>
          <p:cNvCxnSpPr/>
          <p:nvPr/>
        </p:nvCxnSpPr>
        <p:spPr>
          <a:xfrm>
            <a:off x="6583680" y="3529584"/>
            <a:ext cx="5150815" cy="0"/>
          </a:xfrm>
          <a:prstGeom prst="line">
            <a:avLst/>
          </a:prstGeom>
          <a:ln w="9525">
            <a:solidFill>
              <a:srgbClr val="E1E7F4"/>
            </a:solidFill>
          </a:ln>
        </p:spPr>
      </p:cxnSp>
      <p:sp>
        <p:nvSpPr>
          <p:cNvPr id="44" name="TextBox 43"/>
          <p:cNvSpPr txBox="1"/>
          <p:nvPr/>
        </p:nvSpPr>
        <p:spPr>
          <a:xfrm>
            <a:off x="6711696" y="3214116"/>
            <a:ext cx="1171264"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Lite</a:t>
            </a:r>
          </a:p>
        </p:txBody>
      </p:sp>
      <p:sp>
        <p:nvSpPr>
          <p:cNvPr id="45" name="TextBox 44"/>
          <p:cNvSpPr txBox="1"/>
          <p:nvPr/>
        </p:nvSpPr>
        <p:spPr>
          <a:xfrm>
            <a:off x="8102416" y="3214116"/>
            <a:ext cx="3540639"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gpt-4.1-nano, gpt-5-nano, phi4-mm-realtime*</a:t>
            </a:r>
          </a:p>
        </p:txBody>
      </p:sp>
      <p:cxnSp>
        <p:nvCxnSpPr>
          <p:cNvPr id="46" name="Connector 45"/>
          <p:cNvCxnSpPr/>
          <p:nvPr/>
        </p:nvCxnSpPr>
        <p:spPr>
          <a:xfrm>
            <a:off x="6583680" y="4059935"/>
            <a:ext cx="5150815" cy="0"/>
          </a:xfrm>
          <a:prstGeom prst="line">
            <a:avLst/>
          </a:prstGeom>
          <a:ln w="9525">
            <a:solidFill>
              <a:srgbClr val="E1E7F4"/>
            </a:solidFill>
          </a:ln>
        </p:spPr>
      </p:cxnSp>
      <p:sp>
        <p:nvSpPr>
          <p:cNvPr id="47" name="TextBox 46"/>
          <p:cNvSpPr txBox="1"/>
          <p:nvPr/>
        </p:nvSpPr>
        <p:spPr>
          <a:xfrm>
            <a:off x="6711696" y="3579876"/>
            <a:ext cx="1171264"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Self-deployed model*</a:t>
            </a:r>
          </a:p>
        </p:txBody>
      </p:sp>
      <p:sp>
        <p:nvSpPr>
          <p:cNvPr id="48" name="TextBox 47"/>
          <p:cNvSpPr txBox="1"/>
          <p:nvPr/>
        </p:nvSpPr>
        <p:spPr>
          <a:xfrm>
            <a:off x="8102416" y="3579876"/>
            <a:ext cx="3540639"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Deployed in the customer’s Foundry resource — for example gpt-5.5, gpt-5.4-mini</a:t>
            </a:r>
          </a:p>
        </p:txBody>
      </p:sp>
      <p:cxnSp>
        <p:nvCxnSpPr>
          <p:cNvPr id="49" name="Connector 48"/>
          <p:cNvCxnSpPr/>
          <p:nvPr/>
        </p:nvCxnSpPr>
        <p:spPr>
          <a:xfrm>
            <a:off x="7974400" y="1993392"/>
            <a:ext cx="0" cy="2066543"/>
          </a:xfrm>
          <a:prstGeom prst="line">
            <a:avLst/>
          </a:prstGeom>
          <a:ln w="9525">
            <a:solidFill>
              <a:srgbClr val="E1E7F4"/>
            </a:solidFill>
          </a:ln>
        </p:spPr>
      </p:cxnSp>
      <p:sp>
        <p:nvSpPr>
          <p:cNvPr id="50" name="TextBox 49"/>
          <p:cNvSpPr txBox="1"/>
          <p:nvPr/>
        </p:nvSpPr>
        <p:spPr>
          <a:xfrm>
            <a:off x="6583680" y="420624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Recognition</a:t>
            </a:r>
          </a:p>
        </p:txBody>
      </p:sp>
      <p:sp>
        <p:nvSpPr>
          <p:cNvPr id="51" name="TextBox 50"/>
          <p:cNvSpPr txBox="1"/>
          <p:nvPr/>
        </p:nvSpPr>
        <p:spPr>
          <a:xfrm>
            <a:off x="7716859" y="420624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azure-speech by default with text models; gpt-4o-transcribe family with gpt-realtime only</a:t>
            </a:r>
          </a:p>
        </p:txBody>
      </p:sp>
      <p:cxnSp>
        <p:nvCxnSpPr>
          <p:cNvPr id="52" name="Connector 51"/>
          <p:cNvCxnSpPr/>
          <p:nvPr/>
        </p:nvCxnSpPr>
        <p:spPr>
          <a:xfrm>
            <a:off x="6583680" y="4553712"/>
            <a:ext cx="5150815" cy="0"/>
          </a:xfrm>
          <a:prstGeom prst="line">
            <a:avLst/>
          </a:prstGeom>
          <a:ln w="9525">
            <a:solidFill>
              <a:srgbClr val="E1E7F4"/>
            </a:solidFill>
          </a:ln>
        </p:spPr>
      </p:cxnSp>
      <p:sp>
        <p:nvSpPr>
          <p:cNvPr id="53" name="TextBox 52"/>
          <p:cNvSpPr txBox="1"/>
          <p:nvPr/>
        </p:nvSpPr>
        <p:spPr>
          <a:xfrm>
            <a:off x="6583680" y="457200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Voices</a:t>
            </a:r>
          </a:p>
        </p:txBody>
      </p:sp>
      <p:sp>
        <p:nvSpPr>
          <p:cNvPr id="54" name="TextBox 53"/>
          <p:cNvSpPr txBox="1"/>
          <p:nvPr/>
        </p:nvSpPr>
        <p:spPr>
          <a:xfrm>
            <a:off x="7716859" y="457200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600+ standard voices in 150+ locales; custom voice is limited access</a:t>
            </a:r>
          </a:p>
        </p:txBody>
      </p:sp>
      <p:cxnSp>
        <p:nvCxnSpPr>
          <p:cNvPr id="55" name="Connector 54"/>
          <p:cNvCxnSpPr/>
          <p:nvPr/>
        </p:nvCxnSpPr>
        <p:spPr>
          <a:xfrm>
            <a:off x="6583680" y="4919472"/>
            <a:ext cx="5150815" cy="0"/>
          </a:xfrm>
          <a:prstGeom prst="line">
            <a:avLst/>
          </a:prstGeom>
          <a:ln w="9525">
            <a:solidFill>
              <a:srgbClr val="E1E7F4"/>
            </a:solidFill>
          </a:ln>
        </p:spPr>
      </p:cxnSp>
      <p:sp>
        <p:nvSpPr>
          <p:cNvPr id="56" name="TextBox 55"/>
          <p:cNvSpPr txBox="1"/>
          <p:nvPr/>
        </p:nvSpPr>
        <p:spPr>
          <a:xfrm>
            <a:off x="6583680" y="493776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Audio tokens</a:t>
            </a:r>
          </a:p>
        </p:txBody>
      </p:sp>
      <p:sp>
        <p:nvSpPr>
          <p:cNvPr id="57" name="TextBox 56"/>
          <p:cNvSpPr txBox="1"/>
          <p:nvPr/>
        </p:nvSpPr>
        <p:spPr>
          <a:xfrm>
            <a:off x="7716859" y="493776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About 10 in and 20 out per second of audio (Azure OpenAI models)</a:t>
            </a:r>
          </a:p>
        </p:txBody>
      </p:sp>
      <p:cxnSp>
        <p:nvCxnSpPr>
          <p:cNvPr id="58" name="Connector 57"/>
          <p:cNvCxnSpPr/>
          <p:nvPr/>
        </p:nvCxnSpPr>
        <p:spPr>
          <a:xfrm>
            <a:off x="6583680" y="5285232"/>
            <a:ext cx="5150815" cy="0"/>
          </a:xfrm>
          <a:prstGeom prst="line">
            <a:avLst/>
          </a:prstGeom>
          <a:ln w="9525">
            <a:solidFill>
              <a:srgbClr val="E1E7F4"/>
            </a:solidFill>
          </a:ln>
        </p:spPr>
      </p:cxnSp>
      <p:sp>
        <p:nvSpPr>
          <p:cNvPr id="59" name="Rectangle 58"/>
          <p:cNvSpPr/>
          <p:nvPr/>
        </p:nvSpPr>
        <p:spPr>
          <a:xfrm>
            <a:off x="457200"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60" name="TextBox 59"/>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61" name="Rectangle 60"/>
          <p:cNvSpPr/>
          <p:nvPr/>
        </p:nvSpPr>
        <p:spPr>
          <a:xfrm>
            <a:off x="1603857" y="5545836"/>
            <a:ext cx="146304" cy="91440"/>
          </a:xfrm>
          <a:prstGeom prst="rect">
            <a:avLst/>
          </a:prstGeom>
          <a:solidFill>
            <a:srgbClr val="EBEFF7"/>
          </a:solidFill>
          <a:ln>
            <a:noFill/>
          </a:ln>
          <a:effectLst/>
        </p:spPr>
        <p:txBody>
          <a:bodyPr wrap="square" rtlCol="0" anchor="ctr"/>
          <a:lstStyle/>
          <a:p>
            <a:endParaRPr/>
          </a:p>
        </p:txBody>
      </p:sp>
      <p:sp>
        <p:nvSpPr>
          <p:cNvPr id="62" name="TextBox 61"/>
          <p:cNvSpPr txBox="1"/>
          <p:nvPr/>
        </p:nvSpPr>
        <p:spPr>
          <a:xfrm>
            <a:off x="1823313"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side</a:t>
            </a:r>
          </a:p>
        </p:txBody>
      </p:sp>
      <p:cxnSp>
        <p:nvCxnSpPr>
          <p:cNvPr id="63" name="Connector 62"/>
          <p:cNvCxnSpPr/>
          <p:nvPr/>
        </p:nvCxnSpPr>
        <p:spPr>
          <a:xfrm>
            <a:off x="2486482" y="5591556"/>
            <a:ext cx="164592" cy="0"/>
          </a:xfrm>
          <a:prstGeom prst="line">
            <a:avLst/>
          </a:prstGeom>
          <a:ln w="13970">
            <a:solidFill>
              <a:srgbClr val="44495B"/>
            </a:solidFill>
          </a:ln>
        </p:spPr>
      </p:cxnSp>
      <p:sp>
        <p:nvSpPr>
          <p:cNvPr id="64" name="TextBox 63"/>
          <p:cNvSpPr txBox="1"/>
          <p:nvPr/>
        </p:nvSpPr>
        <p:spPr>
          <a:xfrm>
            <a:off x="270593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Audio path</a:t>
            </a:r>
          </a:p>
        </p:txBody>
      </p:sp>
      <p:sp>
        <p:nvSpPr>
          <p:cNvPr id="65" name="TextBox 64"/>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VOICE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agent definition*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new agent type in Foundry Agent Service: one versioned definition holds the model, instructions, audio settings and tools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learn.microsoft.com/azure/foundry/agents/how-to/configure-voice-agent · voice-agent-telephony-channels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6</a:t>
            </a:r>
          </a:p>
        </p:txBody>
      </p:sp>
      <p:sp>
        <p:nvSpPr>
          <p:cNvPr id="7" name="TextBox 6"/>
          <p:cNvSpPr txBox="1"/>
          <p:nvPr/>
        </p:nvSpPr>
        <p:spPr>
          <a:xfrm>
            <a:off x="457200" y="1371600"/>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DEFINITION, PART BY PART</a:t>
            </a:r>
          </a:p>
        </p:txBody>
      </p:sp>
      <p:sp>
        <p:nvSpPr>
          <p:cNvPr id="8" name="Rectangle 7"/>
          <p:cNvSpPr/>
          <p:nvPr/>
        </p:nvSpPr>
        <p:spPr>
          <a:xfrm>
            <a:off x="457200" y="1627632"/>
            <a:ext cx="6537960"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705356"/>
            <a:ext cx="79781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Part</a:t>
            </a:r>
          </a:p>
        </p:txBody>
      </p:sp>
      <p:sp>
        <p:nvSpPr>
          <p:cNvPr id="10" name="TextBox 9"/>
          <p:cNvSpPr txBox="1"/>
          <p:nvPr/>
        </p:nvSpPr>
        <p:spPr>
          <a:xfrm>
            <a:off x="1565910" y="1705356"/>
            <a:ext cx="217078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Properties</a:t>
            </a:r>
          </a:p>
        </p:txBody>
      </p:sp>
      <p:sp>
        <p:nvSpPr>
          <p:cNvPr id="11" name="TextBox 10"/>
          <p:cNvSpPr txBox="1"/>
          <p:nvPr/>
        </p:nvSpPr>
        <p:spPr>
          <a:xfrm>
            <a:off x="3919575" y="1705356"/>
            <a:ext cx="302072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What it controls</a:t>
            </a:r>
          </a:p>
        </p:txBody>
      </p:sp>
      <p:sp>
        <p:nvSpPr>
          <p:cNvPr id="12" name="Rectangle 11"/>
          <p:cNvSpPr/>
          <p:nvPr/>
        </p:nvSpPr>
        <p:spPr>
          <a:xfrm>
            <a:off x="457200" y="1938528"/>
            <a:ext cx="6537960" cy="438912"/>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377440"/>
            <a:ext cx="6537960" cy="0"/>
          </a:xfrm>
          <a:prstGeom prst="line">
            <a:avLst/>
          </a:prstGeom>
          <a:ln w="9525">
            <a:solidFill>
              <a:srgbClr val="E1E7F4"/>
            </a:solidFill>
          </a:ln>
        </p:spPr>
      </p:cxnSp>
      <p:sp>
        <p:nvSpPr>
          <p:cNvPr id="14" name="TextBox 13"/>
          <p:cNvSpPr txBox="1"/>
          <p:nvPr/>
        </p:nvSpPr>
        <p:spPr>
          <a:xfrm>
            <a:off x="585216" y="1988820"/>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a:t>
            </a:r>
          </a:p>
        </p:txBody>
      </p:sp>
      <p:sp>
        <p:nvSpPr>
          <p:cNvPr id="15" name="TextBox 14"/>
          <p:cNvSpPr txBox="1"/>
          <p:nvPr/>
        </p:nvSpPr>
        <p:spPr>
          <a:xfrm>
            <a:off x="1565910" y="1988820"/>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model_type, model</a:t>
            </a:r>
          </a:p>
        </p:txBody>
      </p:sp>
      <p:sp>
        <p:nvSpPr>
          <p:cNvPr id="16" name="TextBox 15"/>
          <p:cNvSpPr txBox="1"/>
          <p:nvPr/>
        </p:nvSpPr>
        <p:spPr>
          <a:xfrm>
            <a:off x="3919575" y="1988820"/>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managed model, or a self-deployed model</a:t>
            </a:r>
          </a:p>
        </p:txBody>
      </p:sp>
      <p:cxnSp>
        <p:nvCxnSpPr>
          <p:cNvPr id="17" name="Connector 16"/>
          <p:cNvCxnSpPr/>
          <p:nvPr/>
        </p:nvCxnSpPr>
        <p:spPr>
          <a:xfrm>
            <a:off x="457200" y="2816352"/>
            <a:ext cx="6537960" cy="0"/>
          </a:xfrm>
          <a:prstGeom prst="line">
            <a:avLst/>
          </a:prstGeom>
          <a:ln w="9525">
            <a:solidFill>
              <a:srgbClr val="E1E7F4"/>
            </a:solidFill>
          </a:ln>
        </p:spPr>
      </p:cxnSp>
      <p:sp>
        <p:nvSpPr>
          <p:cNvPr id="18" name="TextBox 17"/>
          <p:cNvSpPr txBox="1"/>
          <p:nvPr/>
        </p:nvSpPr>
        <p:spPr>
          <a:xfrm>
            <a:off x="585216" y="2427732"/>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Behaviour</a:t>
            </a:r>
          </a:p>
        </p:txBody>
      </p:sp>
      <p:sp>
        <p:nvSpPr>
          <p:cNvPr id="19" name="TextBox 18"/>
          <p:cNvSpPr txBox="1"/>
          <p:nvPr/>
        </p:nvSpPr>
        <p:spPr>
          <a:xfrm>
            <a:off x="1565910" y="2427732"/>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instructions, greeting, structured_inputs</a:t>
            </a:r>
          </a:p>
        </p:txBody>
      </p:sp>
      <p:sp>
        <p:nvSpPr>
          <p:cNvPr id="20" name="TextBox 19"/>
          <p:cNvSpPr txBox="1"/>
          <p:nvPr/>
        </p:nvSpPr>
        <p:spPr>
          <a:xfrm>
            <a:off x="3919575" y="2427732"/>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What the agent does, and what it says first</a:t>
            </a:r>
          </a:p>
        </p:txBody>
      </p:sp>
      <p:sp>
        <p:nvSpPr>
          <p:cNvPr id="21" name="Rectangle 20"/>
          <p:cNvSpPr/>
          <p:nvPr/>
        </p:nvSpPr>
        <p:spPr>
          <a:xfrm>
            <a:off x="457200" y="2816352"/>
            <a:ext cx="6537960" cy="438912"/>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3255264"/>
            <a:ext cx="6537960" cy="0"/>
          </a:xfrm>
          <a:prstGeom prst="line">
            <a:avLst/>
          </a:prstGeom>
          <a:ln w="9525">
            <a:solidFill>
              <a:srgbClr val="E1E7F4"/>
            </a:solidFill>
          </a:ln>
        </p:spPr>
      </p:cxnSp>
      <p:sp>
        <p:nvSpPr>
          <p:cNvPr id="23" name="TextBox 22"/>
          <p:cNvSpPr txBox="1"/>
          <p:nvPr/>
        </p:nvSpPr>
        <p:spPr>
          <a:xfrm>
            <a:off x="585216" y="2866644"/>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Listening</a:t>
            </a:r>
          </a:p>
        </p:txBody>
      </p:sp>
      <p:sp>
        <p:nvSpPr>
          <p:cNvPr id="24" name="TextBox 23"/>
          <p:cNvSpPr txBox="1"/>
          <p:nvPr/>
        </p:nvSpPr>
        <p:spPr>
          <a:xfrm>
            <a:off x="1565910" y="2866644"/>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audio.input</a:t>
            </a:r>
          </a:p>
        </p:txBody>
      </p:sp>
      <p:sp>
        <p:nvSpPr>
          <p:cNvPr id="25" name="TextBox 24"/>
          <p:cNvSpPr txBox="1"/>
          <p:nvPr/>
        </p:nvSpPr>
        <p:spPr>
          <a:xfrm>
            <a:off x="3919575" y="2866644"/>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Input format, turn detection, noise reduction, transcription</a:t>
            </a:r>
          </a:p>
        </p:txBody>
      </p:sp>
      <p:cxnSp>
        <p:nvCxnSpPr>
          <p:cNvPr id="26" name="Connector 25"/>
          <p:cNvCxnSpPr/>
          <p:nvPr/>
        </p:nvCxnSpPr>
        <p:spPr>
          <a:xfrm>
            <a:off x="457200" y="3694176"/>
            <a:ext cx="6537960" cy="0"/>
          </a:xfrm>
          <a:prstGeom prst="line">
            <a:avLst/>
          </a:prstGeom>
          <a:ln w="9525">
            <a:solidFill>
              <a:srgbClr val="E1E7F4"/>
            </a:solidFill>
          </a:ln>
        </p:spPr>
      </p:cxnSp>
      <p:sp>
        <p:nvSpPr>
          <p:cNvPr id="27" name="TextBox 26"/>
          <p:cNvSpPr txBox="1"/>
          <p:nvPr/>
        </p:nvSpPr>
        <p:spPr>
          <a:xfrm>
            <a:off x="585216" y="3305556"/>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Speaking</a:t>
            </a:r>
          </a:p>
        </p:txBody>
      </p:sp>
      <p:sp>
        <p:nvSpPr>
          <p:cNvPr id="28" name="TextBox 27"/>
          <p:cNvSpPr txBox="1"/>
          <p:nvPr/>
        </p:nvSpPr>
        <p:spPr>
          <a:xfrm>
            <a:off x="1565910" y="3305556"/>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audio.output, output_modalities</a:t>
            </a:r>
          </a:p>
        </p:txBody>
      </p:sp>
      <p:sp>
        <p:nvSpPr>
          <p:cNvPr id="29" name="TextBox 28"/>
          <p:cNvSpPr txBox="1"/>
          <p:nvPr/>
        </p:nvSpPr>
        <p:spPr>
          <a:xfrm>
            <a:off x="3919575" y="3305556"/>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Voice, locale and speed; audio or avatar output</a:t>
            </a:r>
          </a:p>
        </p:txBody>
      </p:sp>
      <p:sp>
        <p:nvSpPr>
          <p:cNvPr id="30" name="Rectangle 29"/>
          <p:cNvSpPr/>
          <p:nvPr/>
        </p:nvSpPr>
        <p:spPr>
          <a:xfrm>
            <a:off x="457200" y="3694176"/>
            <a:ext cx="6537960" cy="438912"/>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4133087"/>
            <a:ext cx="6537960" cy="0"/>
          </a:xfrm>
          <a:prstGeom prst="line">
            <a:avLst/>
          </a:prstGeom>
          <a:ln w="9525">
            <a:solidFill>
              <a:srgbClr val="E1E7F4"/>
            </a:solidFill>
          </a:ln>
        </p:spPr>
      </p:cxnSp>
      <p:sp>
        <p:nvSpPr>
          <p:cNvPr id="32" name="TextBox 31"/>
          <p:cNvSpPr txBox="1"/>
          <p:nvPr/>
        </p:nvSpPr>
        <p:spPr>
          <a:xfrm>
            <a:off x="585216" y="3744468"/>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Actions</a:t>
            </a:r>
          </a:p>
        </p:txBody>
      </p:sp>
      <p:sp>
        <p:nvSpPr>
          <p:cNvPr id="33" name="TextBox 32"/>
          <p:cNvSpPr txBox="1"/>
          <p:nvPr/>
        </p:nvSpPr>
        <p:spPr>
          <a:xfrm>
            <a:off x="1565910" y="3744468"/>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tools, tool_choice, parallel_tool_calls</a:t>
            </a:r>
          </a:p>
        </p:txBody>
      </p:sp>
      <p:sp>
        <p:nvSpPr>
          <p:cNvPr id="34" name="TextBox 33"/>
          <p:cNvSpPr txBox="1"/>
          <p:nvPr/>
        </p:nvSpPr>
        <p:spPr>
          <a:xfrm>
            <a:off x="3919575" y="3744468"/>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Which tools the agent can call, and how</a:t>
            </a:r>
          </a:p>
        </p:txBody>
      </p:sp>
      <p:cxnSp>
        <p:nvCxnSpPr>
          <p:cNvPr id="35" name="Connector 34"/>
          <p:cNvCxnSpPr/>
          <p:nvPr/>
        </p:nvCxnSpPr>
        <p:spPr>
          <a:xfrm>
            <a:off x="457200" y="4572000"/>
            <a:ext cx="6537960" cy="0"/>
          </a:xfrm>
          <a:prstGeom prst="line">
            <a:avLst/>
          </a:prstGeom>
          <a:ln w="9525">
            <a:solidFill>
              <a:srgbClr val="E1E7F4"/>
            </a:solidFill>
          </a:ln>
        </p:spPr>
      </p:cxnSp>
      <p:sp>
        <p:nvSpPr>
          <p:cNvPr id="36" name="TextBox 35"/>
          <p:cNvSpPr txBox="1"/>
          <p:nvPr/>
        </p:nvSpPr>
        <p:spPr>
          <a:xfrm>
            <a:off x="585216" y="4183379"/>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Latency</a:t>
            </a:r>
          </a:p>
        </p:txBody>
      </p:sp>
      <p:sp>
        <p:nvSpPr>
          <p:cNvPr id="37" name="TextBox 36"/>
          <p:cNvSpPr txBox="1"/>
          <p:nvPr/>
        </p:nvSpPr>
        <p:spPr>
          <a:xfrm>
            <a:off x="1565910" y="4183379"/>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interim_response</a:t>
            </a:r>
          </a:p>
        </p:txBody>
      </p:sp>
      <p:sp>
        <p:nvSpPr>
          <p:cNvPr id="38" name="TextBox 37"/>
          <p:cNvSpPr txBox="1"/>
          <p:nvPr/>
        </p:nvSpPr>
        <p:spPr>
          <a:xfrm>
            <a:off x="3919575" y="4183379"/>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What the agent says while a slow tool runs</a:t>
            </a:r>
          </a:p>
        </p:txBody>
      </p:sp>
      <p:sp>
        <p:nvSpPr>
          <p:cNvPr id="39" name="Rectangle 38"/>
          <p:cNvSpPr/>
          <p:nvPr/>
        </p:nvSpPr>
        <p:spPr>
          <a:xfrm>
            <a:off x="457200" y="4572000"/>
            <a:ext cx="6537960" cy="438912"/>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5010912"/>
            <a:ext cx="6537960" cy="0"/>
          </a:xfrm>
          <a:prstGeom prst="line">
            <a:avLst/>
          </a:prstGeom>
          <a:ln w="9525">
            <a:solidFill>
              <a:srgbClr val="E1E7F4"/>
            </a:solidFill>
          </a:ln>
        </p:spPr>
      </p:cxnSp>
      <p:sp>
        <p:nvSpPr>
          <p:cNvPr id="41" name="TextBox 40"/>
          <p:cNvSpPr txBox="1"/>
          <p:nvPr/>
        </p:nvSpPr>
        <p:spPr>
          <a:xfrm>
            <a:off x="585216" y="4622292"/>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Data</a:t>
            </a:r>
          </a:p>
        </p:txBody>
      </p:sp>
      <p:sp>
        <p:nvSpPr>
          <p:cNvPr id="42" name="TextBox 41"/>
          <p:cNvSpPr txBox="1"/>
          <p:nvPr/>
        </p:nvSpPr>
        <p:spPr>
          <a:xfrm>
            <a:off x="1565910" y="4622292"/>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store</a:t>
            </a:r>
          </a:p>
        </p:txBody>
      </p:sp>
      <p:sp>
        <p:nvSpPr>
          <p:cNvPr id="43" name="TextBox 42"/>
          <p:cNvSpPr txBox="1"/>
          <p:nvPr/>
        </p:nvSpPr>
        <p:spPr>
          <a:xfrm>
            <a:off x="3919575" y="4622292"/>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Whether transcripts and audio are kept — off by default</a:t>
            </a:r>
          </a:p>
        </p:txBody>
      </p:sp>
      <p:cxnSp>
        <p:nvCxnSpPr>
          <p:cNvPr id="44" name="Connector 43"/>
          <p:cNvCxnSpPr/>
          <p:nvPr/>
        </p:nvCxnSpPr>
        <p:spPr>
          <a:xfrm>
            <a:off x="1437894" y="1938528"/>
            <a:ext cx="0" cy="3072384"/>
          </a:xfrm>
          <a:prstGeom prst="line">
            <a:avLst/>
          </a:prstGeom>
          <a:ln w="9525">
            <a:solidFill>
              <a:srgbClr val="E1E7F4"/>
            </a:solidFill>
          </a:ln>
        </p:spPr>
      </p:cxnSp>
      <p:cxnSp>
        <p:nvCxnSpPr>
          <p:cNvPr id="45" name="Connector 44"/>
          <p:cNvCxnSpPr/>
          <p:nvPr/>
        </p:nvCxnSpPr>
        <p:spPr>
          <a:xfrm>
            <a:off x="3791559" y="1938528"/>
            <a:ext cx="0" cy="3072384"/>
          </a:xfrm>
          <a:prstGeom prst="line">
            <a:avLst/>
          </a:prstGeom>
          <a:ln w="9525">
            <a:solidFill>
              <a:srgbClr val="E1E7F4"/>
            </a:solidFill>
          </a:ln>
        </p:spPr>
      </p:cxnSp>
      <p:sp>
        <p:nvSpPr>
          <p:cNvPr id="46" name="TextBox 45"/>
          <p:cNvSpPr txBox="1"/>
          <p:nvPr/>
        </p:nvSpPr>
        <p:spPr>
          <a:xfrm>
            <a:off x="7269480" y="1371600"/>
            <a:ext cx="44650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LIFECYCLE</a:t>
            </a:r>
          </a:p>
        </p:txBody>
      </p:sp>
      <p:sp>
        <p:nvSpPr>
          <p:cNvPr id="47" name="Rectangle 46"/>
          <p:cNvSpPr/>
          <p:nvPr/>
        </p:nvSpPr>
        <p:spPr>
          <a:xfrm>
            <a:off x="7269480" y="1627632"/>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48" name="Rectangle 47"/>
          <p:cNvSpPr/>
          <p:nvPr/>
        </p:nvSpPr>
        <p:spPr>
          <a:xfrm>
            <a:off x="7269480" y="1627632"/>
            <a:ext cx="41148" cy="676656"/>
          </a:xfrm>
          <a:prstGeom prst="rect">
            <a:avLst/>
          </a:prstGeom>
          <a:solidFill>
            <a:srgbClr val="00B39F"/>
          </a:solidFill>
          <a:ln>
            <a:noFill/>
          </a:ln>
          <a:effectLst/>
        </p:spPr>
        <p:txBody>
          <a:bodyPr wrap="square" rtlCol="0" anchor="ctr"/>
          <a:lstStyle/>
          <a:p>
            <a:endParaRPr/>
          </a:p>
        </p:txBody>
      </p:sp>
      <p:sp>
        <p:nvSpPr>
          <p:cNvPr id="49" name="TextBox 48"/>
          <p:cNvSpPr txBox="1"/>
          <p:nvPr/>
        </p:nvSpPr>
        <p:spPr>
          <a:xfrm>
            <a:off x="7434072" y="1627632"/>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1</a:t>
            </a:r>
          </a:p>
        </p:txBody>
      </p:sp>
      <p:sp>
        <p:nvSpPr>
          <p:cNvPr id="50" name="TextBox 49"/>
          <p:cNvSpPr txBox="1"/>
          <p:nvPr/>
        </p:nvSpPr>
        <p:spPr>
          <a:xfrm>
            <a:off x="7799831" y="1728216"/>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Create a version</a:t>
            </a:r>
          </a:p>
        </p:txBody>
      </p:sp>
      <p:sp>
        <p:nvSpPr>
          <p:cNvPr id="51" name="TextBox 50"/>
          <p:cNvSpPr txBox="1"/>
          <p:nvPr/>
        </p:nvSpPr>
        <p:spPr>
          <a:xfrm>
            <a:off x="7799831" y="1938528"/>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Every create or update produces a new, immutable agent version</a:t>
            </a:r>
          </a:p>
        </p:txBody>
      </p:sp>
      <p:sp>
        <p:nvSpPr>
          <p:cNvPr id="52" name="Rectangle 51"/>
          <p:cNvSpPr/>
          <p:nvPr/>
        </p:nvSpPr>
        <p:spPr>
          <a:xfrm>
            <a:off x="7269480" y="2414016"/>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53" name="Rectangle 52"/>
          <p:cNvSpPr/>
          <p:nvPr/>
        </p:nvSpPr>
        <p:spPr>
          <a:xfrm>
            <a:off x="7269480" y="2414016"/>
            <a:ext cx="41148" cy="676656"/>
          </a:xfrm>
          <a:prstGeom prst="rect">
            <a:avLst/>
          </a:prstGeom>
          <a:solidFill>
            <a:srgbClr val="00B39F"/>
          </a:solidFill>
          <a:ln>
            <a:noFill/>
          </a:ln>
          <a:effectLst/>
        </p:spPr>
        <p:txBody>
          <a:bodyPr wrap="square" rtlCol="0" anchor="ctr"/>
          <a:lstStyle/>
          <a:p>
            <a:endParaRPr/>
          </a:p>
        </p:txBody>
      </p:sp>
      <p:sp>
        <p:nvSpPr>
          <p:cNvPr id="54" name="TextBox 53"/>
          <p:cNvSpPr txBox="1"/>
          <p:nvPr/>
        </p:nvSpPr>
        <p:spPr>
          <a:xfrm>
            <a:off x="7434072" y="2414016"/>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2</a:t>
            </a:r>
          </a:p>
        </p:txBody>
      </p:sp>
      <p:sp>
        <p:nvSpPr>
          <p:cNvPr id="55" name="TextBox 54"/>
          <p:cNvSpPr txBox="1"/>
          <p:nvPr/>
        </p:nvSpPr>
        <p:spPr>
          <a:xfrm>
            <a:off x="7799831" y="2514600"/>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Connect by name</a:t>
            </a:r>
          </a:p>
        </p:txBody>
      </p:sp>
      <p:sp>
        <p:nvSpPr>
          <p:cNvPr id="56" name="TextBox 55"/>
          <p:cNvSpPr txBox="1"/>
          <p:nvPr/>
        </p:nvSpPr>
        <p:spPr>
          <a:xfrm>
            <a:off x="7799831" y="2724912"/>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Clients open a real-time session by agent name; the SDK resolves the endpoint</a:t>
            </a:r>
          </a:p>
        </p:txBody>
      </p:sp>
      <p:sp>
        <p:nvSpPr>
          <p:cNvPr id="57" name="Rectangle 56"/>
          <p:cNvSpPr/>
          <p:nvPr/>
        </p:nvSpPr>
        <p:spPr>
          <a:xfrm>
            <a:off x="7269480" y="3200400"/>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58" name="Rectangle 57"/>
          <p:cNvSpPr/>
          <p:nvPr/>
        </p:nvSpPr>
        <p:spPr>
          <a:xfrm>
            <a:off x="7269480" y="3200400"/>
            <a:ext cx="41148" cy="676656"/>
          </a:xfrm>
          <a:prstGeom prst="rect">
            <a:avLst/>
          </a:prstGeom>
          <a:solidFill>
            <a:srgbClr val="00B39F"/>
          </a:solidFill>
          <a:ln>
            <a:noFill/>
          </a:ln>
          <a:effectLst/>
        </p:spPr>
        <p:txBody>
          <a:bodyPr wrap="square" rtlCol="0" anchor="ctr"/>
          <a:lstStyle/>
          <a:p>
            <a:endParaRPr/>
          </a:p>
        </p:txBody>
      </p:sp>
      <p:sp>
        <p:nvSpPr>
          <p:cNvPr id="59" name="TextBox 58"/>
          <p:cNvSpPr txBox="1"/>
          <p:nvPr/>
        </p:nvSpPr>
        <p:spPr>
          <a:xfrm>
            <a:off x="7434072" y="3200400"/>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3</a:t>
            </a:r>
          </a:p>
        </p:txBody>
      </p:sp>
      <p:sp>
        <p:nvSpPr>
          <p:cNvPr id="60" name="TextBox 59"/>
          <p:cNvSpPr txBox="1"/>
          <p:nvPr/>
        </p:nvSpPr>
        <p:spPr>
          <a:xfrm>
            <a:off x="7799831" y="3300984"/>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Override per session</a:t>
            </a:r>
          </a:p>
        </p:txBody>
      </p:sp>
      <p:sp>
        <p:nvSpPr>
          <p:cNvPr id="61" name="TextBox 60"/>
          <p:cNvSpPr txBox="1"/>
          <p:nvPr/>
        </p:nvSpPr>
        <p:spPr>
          <a:xfrm>
            <a:off x="7799831" y="3511296"/>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Audio and avatar values are defaults; session.update can override supported fields</a:t>
            </a:r>
          </a:p>
        </p:txBody>
      </p:sp>
      <p:sp>
        <p:nvSpPr>
          <p:cNvPr id="62" name="Rectangle 61"/>
          <p:cNvSpPr/>
          <p:nvPr/>
        </p:nvSpPr>
        <p:spPr>
          <a:xfrm>
            <a:off x="7269480" y="3986784"/>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63" name="Rectangle 62"/>
          <p:cNvSpPr/>
          <p:nvPr/>
        </p:nvSpPr>
        <p:spPr>
          <a:xfrm>
            <a:off x="7269480" y="3986784"/>
            <a:ext cx="41148" cy="676656"/>
          </a:xfrm>
          <a:prstGeom prst="rect">
            <a:avLst/>
          </a:prstGeom>
          <a:solidFill>
            <a:srgbClr val="00B39F"/>
          </a:solidFill>
          <a:ln>
            <a:noFill/>
          </a:ln>
          <a:effectLst/>
        </p:spPr>
        <p:txBody>
          <a:bodyPr wrap="square" rtlCol="0" anchor="ctr"/>
          <a:lstStyle/>
          <a:p>
            <a:endParaRPr/>
          </a:p>
        </p:txBody>
      </p:sp>
      <p:sp>
        <p:nvSpPr>
          <p:cNvPr id="64" name="TextBox 63"/>
          <p:cNvSpPr txBox="1"/>
          <p:nvPr/>
        </p:nvSpPr>
        <p:spPr>
          <a:xfrm>
            <a:off x="7434072" y="3986784"/>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4</a:t>
            </a:r>
          </a:p>
        </p:txBody>
      </p:sp>
      <p:sp>
        <p:nvSpPr>
          <p:cNvPr id="65" name="TextBox 64"/>
          <p:cNvSpPr txBox="1"/>
          <p:nvPr/>
        </p:nvSpPr>
        <p:spPr>
          <a:xfrm>
            <a:off x="7799831" y="4087368"/>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Publish to channels</a:t>
            </a:r>
          </a:p>
        </p:txBody>
      </p:sp>
      <p:sp>
        <p:nvSpPr>
          <p:cNvPr id="66" name="TextBox 65"/>
          <p:cNvSpPr txBox="1"/>
          <p:nvPr/>
        </p:nvSpPr>
        <p:spPr>
          <a:xfrm>
            <a:off x="7799831" y="4297680"/>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Web, Microsoft Teams, and phone through Teams Phone or Twilio, inbound and outbound</a:t>
            </a:r>
          </a:p>
        </p:txBody>
      </p:sp>
      <p:sp>
        <p:nvSpPr>
          <p:cNvPr id="67" name="Rectangle 66"/>
          <p:cNvSpPr/>
          <p:nvPr/>
        </p:nvSpPr>
        <p:spPr>
          <a:xfrm>
            <a:off x="7269480" y="4846320"/>
            <a:ext cx="4465015" cy="512064"/>
          </a:xfrm>
          <a:prstGeom prst="rect">
            <a:avLst/>
          </a:prstGeom>
          <a:solidFill>
            <a:srgbClr val="EBEFF7"/>
          </a:solidFill>
          <a:ln>
            <a:noFill/>
          </a:ln>
          <a:effectLst/>
        </p:spPr>
        <p:txBody>
          <a:bodyPr wrap="square" rtlCol="0" anchor="ctr"/>
          <a:lstStyle/>
          <a:p>
            <a:endParaRPr/>
          </a:p>
        </p:txBody>
      </p:sp>
      <p:sp>
        <p:nvSpPr>
          <p:cNvPr id="68" name="Rectangle 67"/>
          <p:cNvSpPr/>
          <p:nvPr/>
        </p:nvSpPr>
        <p:spPr>
          <a:xfrm>
            <a:off x="7269480" y="4846320"/>
            <a:ext cx="41148" cy="512064"/>
          </a:xfrm>
          <a:prstGeom prst="rect">
            <a:avLst/>
          </a:prstGeom>
          <a:solidFill>
            <a:srgbClr val="00B39F"/>
          </a:solidFill>
          <a:ln>
            <a:noFill/>
          </a:ln>
          <a:effectLst/>
        </p:spPr>
        <p:txBody>
          <a:bodyPr wrap="square" rtlCol="0" anchor="ctr"/>
          <a:lstStyle/>
          <a:p>
            <a:endParaRPr/>
          </a:p>
        </p:txBody>
      </p:sp>
      <p:sp>
        <p:nvSpPr>
          <p:cNvPr id="69" name="TextBox 68"/>
          <p:cNvSpPr txBox="1"/>
          <p:nvPr/>
        </p:nvSpPr>
        <p:spPr>
          <a:xfrm>
            <a:off x="7507224" y="4946904"/>
            <a:ext cx="4044391" cy="329184"/>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An existing text agent can’t be switched to voice. Keep it, and attach it to a new voice agent as a subagent.</a:t>
            </a:r>
          </a:p>
        </p:txBody>
      </p:sp>
      <p:sp>
        <p:nvSpPr>
          <p:cNvPr id="70" name="TextBox 69"/>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VOICE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Code examples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Connecting Voice Live to an existing Foundry agent, and configuring speech settings at the start of a session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learn.microsoft.com/azure/ai-services/speech-service/how-to-voice-agent-integration · voice-live-how-to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7</a:t>
            </a:r>
          </a:p>
        </p:txBody>
      </p:sp>
      <p:sp>
        <p:nvSpPr>
          <p:cNvPr id="7" name="Rectangle 6"/>
          <p:cNvSpPr/>
          <p:nvPr/>
        </p:nvSpPr>
        <p:spPr>
          <a:xfrm>
            <a:off x="457200" y="1371600"/>
            <a:ext cx="5487771" cy="3017520"/>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048859"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1 · PYTHON, AZURE-AI-VOICELIVE (ILLUSTRATIVE)</a:t>
            </a:r>
          </a:p>
        </p:txBody>
      </p:sp>
      <p:sp>
        <p:nvSpPr>
          <p:cNvPr id="9" name="TextBox 8"/>
          <p:cNvSpPr txBox="1"/>
          <p:nvPr/>
        </p:nvSpPr>
        <p:spPr>
          <a:xfrm>
            <a:off x="676656" y="1755648"/>
            <a:ext cx="5048859" cy="2505456"/>
          </a:xfrm>
          <a:prstGeom prst="rect">
            <a:avLst/>
          </a:prstGeom>
          <a:noFill/>
        </p:spPr>
        <p:txBody>
          <a:bodyPr wrap="none" lIns="0" tIns="0" rIns="0" bIns="0" anchor="t">
            <a:spAutoFit/>
          </a:bodyPr>
          <a:lstStyle/>
          <a:p>
            <a:pPr algn="l">
              <a:lnSpc>
                <a:spcPct val="128000"/>
              </a:lnSpc>
            </a:pPr>
            <a:r>
              <a:rPr sz="900" b="0" i="0" dirty="0">
                <a:solidFill>
                  <a:srgbClr val="D6DEEE"/>
                </a:solidFill>
                <a:latin typeface="Consolas"/>
                <a:cs typeface="Consolas"/>
              </a:rPr>
              <a:t>from azure.identity.aio import DefaultAzureCredential</a:t>
            </a:r>
          </a:p>
          <a:p>
            <a:pPr algn="l">
              <a:lnSpc>
                <a:spcPct val="128000"/>
              </a:lnSpc>
            </a:pPr>
            <a:r>
              <a:rPr sz="900" b="0" i="0" dirty="0">
                <a:solidFill>
                  <a:srgbClr val="D6DEEE"/>
                </a:solidFill>
                <a:latin typeface="Consolas"/>
                <a:cs typeface="Consolas"/>
              </a:rPr>
              <a:t>from azure.ai.voicelive.aio import connect</a:t>
            </a:r>
          </a:p>
          <a:p>
            <a:pPr algn="l">
              <a:lnSpc>
                <a:spcPct val="128000"/>
              </a:lnSpc>
            </a:pPr>
            <a:endParaRPr sz="900" b="0" i="0" dirty="0">
              <a:solidFill>
                <a:srgbClr val="D6DEEE"/>
              </a:solidFill>
              <a:latin typeface="Consolas"/>
              <a:cs typeface="Consolas"/>
            </a:endParaRPr>
          </a:p>
          <a:p>
            <a:pPr algn="l">
              <a:lnSpc>
                <a:spcPct val="128000"/>
              </a:lnSpc>
            </a:pPr>
            <a:r>
              <a:rPr sz="900" b="0" i="0" dirty="0">
                <a:solidFill>
                  <a:srgbClr val="D6DEEE"/>
                </a:solidFill>
                <a:latin typeface="Consolas"/>
                <a:cs typeface="Consolas"/>
              </a:rPr>
              <a:t>async with connect(</a:t>
            </a:r>
          </a:p>
          <a:p>
            <a:pPr algn="l">
              <a:lnSpc>
                <a:spcPct val="128000"/>
              </a:lnSpc>
            </a:pPr>
            <a:r>
              <a:rPr sz="900" b="0" i="0" dirty="0">
                <a:solidFill>
                  <a:srgbClr val="D6DEEE"/>
                </a:solidFill>
                <a:latin typeface="Consolas"/>
                <a:cs typeface="Consolas"/>
              </a:rPr>
              <a:t>    endpoint="https://&lt;resource&gt;.services.ai.azure.com",</a:t>
            </a:r>
          </a:p>
          <a:p>
            <a:pPr algn="l">
              <a:lnSpc>
                <a:spcPct val="128000"/>
              </a:lnSpc>
            </a:pPr>
            <a:r>
              <a:rPr sz="900" b="0" i="0" dirty="0">
                <a:solidFill>
                  <a:srgbClr val="D6DEEE"/>
                </a:solidFill>
                <a:latin typeface="Consolas"/>
                <a:cs typeface="Consolas"/>
              </a:rPr>
              <a:t>    credential=DefaultAzureCredential(),</a:t>
            </a:r>
          </a:p>
          <a:p>
            <a:pPr algn="l">
              <a:lnSpc>
                <a:spcPct val="128000"/>
              </a:lnSpc>
            </a:pPr>
            <a:r>
              <a:rPr sz="900" b="0" i="0" dirty="0">
                <a:solidFill>
                  <a:srgbClr val="D6DEEE"/>
                </a:solidFill>
                <a:latin typeface="Consolas"/>
                <a:cs typeface="Consolas"/>
              </a:rPr>
              <a:t>    api_version="2026-07-15",        # pin the version</a:t>
            </a:r>
          </a:p>
          <a:p>
            <a:pPr algn="l">
              <a:lnSpc>
                <a:spcPct val="128000"/>
              </a:lnSpc>
            </a:pPr>
            <a:r>
              <a:rPr sz="900" b="0" i="0" dirty="0">
                <a:solidFill>
                  <a:srgbClr val="D6DEEE"/>
                </a:solidFill>
                <a:latin typeface="Consolas"/>
                <a:cs typeface="Consolas"/>
              </a:rPr>
              <a:t>    agent_name="contoso-support",</a:t>
            </a:r>
          </a:p>
          <a:p>
            <a:pPr algn="l">
              <a:lnSpc>
                <a:spcPct val="128000"/>
              </a:lnSpc>
            </a:pPr>
            <a:r>
              <a:rPr sz="900" b="0" i="0" dirty="0">
                <a:solidFill>
                  <a:srgbClr val="D6DEEE"/>
                </a:solidFill>
                <a:latin typeface="Consolas"/>
                <a:cs typeface="Consolas"/>
              </a:rPr>
              <a:t>    project_name="contoso-project",</a:t>
            </a:r>
          </a:p>
          <a:p>
            <a:pPr algn="l">
              <a:lnSpc>
                <a:spcPct val="128000"/>
              </a:lnSpc>
            </a:pPr>
            <a:r>
              <a:rPr sz="900" b="0" i="0" dirty="0">
                <a:solidFill>
                  <a:srgbClr val="D6DEEE"/>
                </a:solidFill>
                <a:latin typeface="Consolas"/>
                <a:cs typeface="Consolas"/>
              </a:rPr>
              <a:t>    agent_version="3",               # optional: pin behaviour</a:t>
            </a:r>
          </a:p>
          <a:p>
            <a:pPr algn="l">
              <a:lnSpc>
                <a:spcPct val="128000"/>
              </a:lnSpc>
            </a:pPr>
            <a:r>
              <a:rPr sz="900" b="0" i="0" dirty="0">
                <a:solidFill>
                  <a:srgbClr val="D6DEEE"/>
                </a:solidFill>
                <a:latin typeface="Consolas"/>
                <a:cs typeface="Consolas"/>
              </a:rPr>
              <a:t>) as connection:</a:t>
            </a:r>
          </a:p>
          <a:p>
            <a:pPr algn="l">
              <a:lnSpc>
                <a:spcPct val="128000"/>
              </a:lnSpc>
            </a:pPr>
            <a:r>
              <a:rPr sz="900" b="0" i="0" dirty="0">
                <a:solidFill>
                  <a:srgbClr val="D6DEEE"/>
                </a:solidFill>
                <a:latin typeface="Consolas"/>
                <a:cs typeface="Consolas"/>
              </a:rPr>
              <a:t>    ...  # stream microphone audio, play response audio</a:t>
            </a:r>
          </a:p>
        </p:txBody>
      </p:sp>
      <p:sp>
        <p:nvSpPr>
          <p:cNvPr id="10" name="Rectangle 9"/>
          <p:cNvSpPr/>
          <p:nvPr/>
        </p:nvSpPr>
        <p:spPr>
          <a:xfrm>
            <a:off x="6246723" y="1371600"/>
            <a:ext cx="5487771" cy="3017520"/>
          </a:xfrm>
          <a:prstGeom prst="rect">
            <a:avLst/>
          </a:prstGeom>
          <a:solidFill>
            <a:srgbClr val="0B1229"/>
          </a:solidFill>
          <a:ln>
            <a:noFill/>
          </a:ln>
          <a:effectLst/>
        </p:spPr>
        <p:txBody>
          <a:bodyPr wrap="square" rtlCol="0" anchor="ctr"/>
          <a:lstStyle/>
          <a:p>
            <a:endParaRPr/>
          </a:p>
        </p:txBody>
      </p:sp>
      <p:sp>
        <p:nvSpPr>
          <p:cNvPr id="11" name="TextBox 10"/>
          <p:cNvSpPr txBox="1"/>
          <p:nvPr/>
        </p:nvSpPr>
        <p:spPr>
          <a:xfrm>
            <a:off x="6466179" y="1517904"/>
            <a:ext cx="5048859"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2 · FIRST CLIENT EVENT ON THE SESSION (ILLUSTRATIVE)</a:t>
            </a:r>
          </a:p>
        </p:txBody>
      </p:sp>
      <p:sp>
        <p:nvSpPr>
          <p:cNvPr id="12" name="TextBox 11"/>
          <p:cNvSpPr txBox="1"/>
          <p:nvPr/>
        </p:nvSpPr>
        <p:spPr>
          <a:xfrm>
            <a:off x="6466179" y="1755648"/>
            <a:ext cx="5048859" cy="2505456"/>
          </a:xfrm>
          <a:prstGeom prst="rect">
            <a:avLst/>
          </a:prstGeom>
          <a:noFill/>
        </p:spPr>
        <p:txBody>
          <a:bodyPr wrap="none" lIns="0" tIns="0" rIns="0" bIns="0" anchor="t">
            <a:spAutoFit/>
          </a:bodyPr>
          <a:lstStyle/>
          <a:p>
            <a:pPr algn="l">
              <a:lnSpc>
                <a:spcPct val="128000"/>
              </a:lnSpc>
            </a:pPr>
            <a:r>
              <a:rPr sz="900" b="0" i="0" dirty="0">
                <a:solidFill>
                  <a:srgbClr val="D6DEEE"/>
                </a:solidFill>
                <a:latin typeface="Consolas"/>
                <a:cs typeface="Consolas"/>
              </a:rPr>
              <a:t>{ "type": "session.update",</a:t>
            </a:r>
          </a:p>
          <a:p>
            <a:pPr algn="l">
              <a:lnSpc>
                <a:spcPct val="128000"/>
              </a:lnSpc>
            </a:pPr>
            <a:r>
              <a:rPr sz="900" b="0" i="0" dirty="0">
                <a:solidFill>
                  <a:srgbClr val="D6DEEE"/>
                </a:solidFill>
                <a:latin typeface="Consolas"/>
                <a:cs typeface="Consolas"/>
              </a:rPr>
              <a:t>  "session": {</a:t>
            </a:r>
          </a:p>
          <a:p>
            <a:pPr algn="l">
              <a:lnSpc>
                <a:spcPct val="128000"/>
              </a:lnSpc>
            </a:pPr>
            <a:r>
              <a:rPr sz="900" b="0" i="0" dirty="0">
                <a:solidFill>
                  <a:srgbClr val="D6DEEE"/>
                </a:solidFill>
                <a:latin typeface="Consolas"/>
                <a:cs typeface="Consolas"/>
              </a:rPr>
              <a:t>    "turn_detection": {</a:t>
            </a:r>
          </a:p>
          <a:p>
            <a:pPr algn="l">
              <a:lnSpc>
                <a:spcPct val="128000"/>
              </a:lnSpc>
            </a:pPr>
            <a:r>
              <a:rPr sz="900" b="0" i="0" dirty="0">
                <a:solidFill>
                  <a:srgbClr val="D6DEEE"/>
                </a:solidFill>
                <a:latin typeface="Consolas"/>
                <a:cs typeface="Consolas"/>
              </a:rPr>
              <a:t>      "type": "azure_semantic_vad",</a:t>
            </a:r>
          </a:p>
          <a:p>
            <a:pPr algn="l">
              <a:lnSpc>
                <a:spcPct val="128000"/>
              </a:lnSpc>
            </a:pPr>
            <a:r>
              <a:rPr sz="900" b="0" i="0" dirty="0">
                <a:solidFill>
                  <a:srgbClr val="D6DEEE"/>
                </a:solidFill>
                <a:latin typeface="Consolas"/>
                <a:cs typeface="Consolas"/>
              </a:rPr>
              <a:t>      "silence_duration_ms": 500,</a:t>
            </a:r>
          </a:p>
          <a:p>
            <a:pPr algn="l">
              <a:lnSpc>
                <a:spcPct val="128000"/>
              </a:lnSpc>
            </a:pPr>
            <a:r>
              <a:rPr sz="900" b="0" i="0" dirty="0">
                <a:solidFill>
                  <a:srgbClr val="D6DEEE"/>
                </a:solidFill>
                <a:latin typeface="Consolas"/>
                <a:cs typeface="Consolas"/>
              </a:rPr>
              <a:t>      "interrupt_response": true },</a:t>
            </a:r>
          </a:p>
          <a:p>
            <a:pPr algn="l">
              <a:lnSpc>
                <a:spcPct val="128000"/>
              </a:lnSpc>
            </a:pPr>
            <a:r>
              <a:rPr sz="900" b="0" i="0" dirty="0">
                <a:solidFill>
                  <a:srgbClr val="D6DEEE"/>
                </a:solidFill>
                <a:latin typeface="Consolas"/>
                <a:cs typeface="Consolas"/>
              </a:rPr>
              <a:t>    "input_audio_noise_reduction":</a:t>
            </a:r>
          </a:p>
          <a:p>
            <a:pPr algn="l">
              <a:lnSpc>
                <a:spcPct val="128000"/>
              </a:lnSpc>
            </a:pPr>
            <a:r>
              <a:rPr sz="900" b="0" i="0" dirty="0">
                <a:solidFill>
                  <a:srgbClr val="D6DEEE"/>
                </a:solidFill>
                <a:latin typeface="Consolas"/>
                <a:cs typeface="Consolas"/>
              </a:rPr>
              <a:t>      { "type": "azure_deep_noise_suppression" },</a:t>
            </a:r>
          </a:p>
          <a:p>
            <a:pPr algn="l">
              <a:lnSpc>
                <a:spcPct val="128000"/>
              </a:lnSpc>
            </a:pPr>
            <a:r>
              <a:rPr sz="900" b="0" i="0" dirty="0">
                <a:solidFill>
                  <a:srgbClr val="D6DEEE"/>
                </a:solidFill>
                <a:latin typeface="Consolas"/>
                <a:cs typeface="Consolas"/>
              </a:rPr>
              <a:t>    "input_audio_echo_cancellation":</a:t>
            </a:r>
          </a:p>
          <a:p>
            <a:pPr algn="l">
              <a:lnSpc>
                <a:spcPct val="128000"/>
              </a:lnSpc>
            </a:pPr>
            <a:r>
              <a:rPr sz="900" b="0" i="0" dirty="0">
                <a:solidFill>
                  <a:srgbClr val="D6DEEE"/>
                </a:solidFill>
                <a:latin typeface="Consolas"/>
                <a:cs typeface="Consolas"/>
              </a:rPr>
              <a:t>      { "type": "server_echo_cancellation" },</a:t>
            </a:r>
          </a:p>
          <a:p>
            <a:pPr algn="l">
              <a:lnSpc>
                <a:spcPct val="128000"/>
              </a:lnSpc>
            </a:pPr>
            <a:r>
              <a:rPr sz="900" b="0" i="0" dirty="0">
                <a:solidFill>
                  <a:srgbClr val="D6DEEE"/>
                </a:solidFill>
                <a:latin typeface="Consolas"/>
                <a:cs typeface="Consolas"/>
              </a:rPr>
              <a:t>    "voice": { "type": "azure-standard",</a:t>
            </a:r>
          </a:p>
          <a:p>
            <a:pPr algn="l">
              <a:lnSpc>
                <a:spcPct val="128000"/>
              </a:lnSpc>
            </a:pPr>
            <a:r>
              <a:rPr sz="900" b="0" i="0" dirty="0">
                <a:solidFill>
                  <a:srgbClr val="D6DEEE"/>
                </a:solidFill>
                <a:latin typeface="Consolas"/>
                <a:cs typeface="Consolas"/>
              </a:rPr>
              <a:t>      "name": "en-US-Ava:DragonHDLatestNeural" } } }</a:t>
            </a:r>
          </a:p>
        </p:txBody>
      </p:sp>
      <p:sp>
        <p:nvSpPr>
          <p:cNvPr id="13" name="Rectangle 12"/>
          <p:cNvSpPr/>
          <p:nvPr/>
        </p:nvSpPr>
        <p:spPr>
          <a:xfrm>
            <a:off x="457200"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4553712"/>
            <a:ext cx="41148" cy="804672"/>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03504"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Entra ID only</a:t>
            </a:r>
          </a:p>
        </p:txBody>
      </p:sp>
      <p:sp>
        <p:nvSpPr>
          <p:cNvPr id="16" name="TextBox 15"/>
          <p:cNvSpPr txBox="1"/>
          <p:nvPr/>
        </p:nvSpPr>
        <p:spPr>
          <a:xfrm>
            <a:off x="603504"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Agent mode doesn’t support key-based authentication</a:t>
            </a:r>
          </a:p>
        </p:txBody>
      </p:sp>
      <p:sp>
        <p:nvSpPr>
          <p:cNvPr id="17" name="Rectangle 16"/>
          <p:cNvSpPr/>
          <p:nvPr/>
        </p:nvSpPr>
        <p:spPr>
          <a:xfrm>
            <a:off x="3255949"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3255949" y="4553712"/>
            <a:ext cx="41148" cy="804672"/>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3402253"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instructions here</a:t>
            </a:r>
          </a:p>
        </p:txBody>
      </p:sp>
      <p:sp>
        <p:nvSpPr>
          <p:cNvPr id="20" name="TextBox 19"/>
          <p:cNvSpPr txBox="1"/>
          <p:nvPr/>
        </p:nvSpPr>
        <p:spPr>
          <a:xfrm>
            <a:off x="3402253"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agent owns its instructions; the session can’t set them</a:t>
            </a:r>
          </a:p>
        </p:txBody>
      </p:sp>
      <p:sp>
        <p:nvSpPr>
          <p:cNvPr id="21" name="Rectangle 20"/>
          <p:cNvSpPr/>
          <p:nvPr/>
        </p:nvSpPr>
        <p:spPr>
          <a:xfrm>
            <a:off x="6246723"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22" name="Rectangle 21"/>
          <p:cNvSpPr/>
          <p:nvPr/>
        </p:nvSpPr>
        <p:spPr>
          <a:xfrm>
            <a:off x="6246723" y="4553712"/>
            <a:ext cx="41148" cy="804672"/>
          </a:xfrm>
          <a:prstGeom prst="rect">
            <a:avLst/>
          </a:prstGeom>
          <a:solidFill>
            <a:srgbClr val="00B39F"/>
          </a:solidFill>
          <a:ln>
            <a:noFill/>
          </a:ln>
          <a:effectLst/>
        </p:spPr>
        <p:txBody>
          <a:bodyPr wrap="square" rtlCol="0" anchor="ctr"/>
          <a:lstStyle/>
          <a:p>
            <a:endParaRPr/>
          </a:p>
        </p:txBody>
      </p:sp>
      <p:sp>
        <p:nvSpPr>
          <p:cNvPr id="23" name="TextBox 22"/>
          <p:cNvSpPr txBox="1"/>
          <p:nvPr/>
        </p:nvSpPr>
        <p:spPr>
          <a:xfrm>
            <a:off x="6393027"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Voice Live specific</a:t>
            </a:r>
          </a:p>
        </p:txBody>
      </p:sp>
      <p:sp>
        <p:nvSpPr>
          <p:cNvPr id="24" name="TextBox 23"/>
          <p:cNvSpPr txBox="1"/>
          <p:nvPr/>
        </p:nvSpPr>
        <p:spPr>
          <a:xfrm>
            <a:off x="6393027"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azure_semantic_vad isn’t part of the Azure OpenAI Realtime API</a:t>
            </a:r>
          </a:p>
        </p:txBody>
      </p:sp>
      <p:sp>
        <p:nvSpPr>
          <p:cNvPr id="25" name="Rectangle 24"/>
          <p:cNvSpPr/>
          <p:nvPr/>
        </p:nvSpPr>
        <p:spPr>
          <a:xfrm>
            <a:off x="9045473"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9045473" y="4553712"/>
            <a:ext cx="41148" cy="804672"/>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9191777"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Confirmed by service</a:t>
            </a:r>
          </a:p>
        </p:txBody>
      </p:sp>
      <p:sp>
        <p:nvSpPr>
          <p:cNvPr id="28" name="TextBox 27"/>
          <p:cNvSpPr txBox="1"/>
          <p:nvPr/>
        </p:nvSpPr>
        <p:spPr>
          <a:xfrm>
            <a:off x="9191777"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service replies with session.updated before audio flows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real-time voice options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Azure OpenAI Realtime API, Voice Live API, Voice Live with a Foundry agent and Foundry voice agents, on the same criteria</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learn.microsoft.com/azure/ai-services/speech-service/voice-live-faq · foundry/agents/overview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8</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83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051264" y="1431036"/>
            <a:ext cx="19598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Azure OpenAI Realtime API</a:t>
            </a:r>
          </a:p>
        </p:txBody>
      </p:sp>
      <p:sp>
        <p:nvSpPr>
          <p:cNvPr id="10" name="TextBox 9"/>
          <p:cNvSpPr txBox="1"/>
          <p:nvPr/>
        </p:nvSpPr>
        <p:spPr>
          <a:xfrm>
            <a:off x="4193950" y="1431036"/>
            <a:ext cx="252367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Voice Live API</a:t>
            </a:r>
          </a:p>
        </p:txBody>
      </p:sp>
      <p:sp>
        <p:nvSpPr>
          <p:cNvPr id="11" name="TextBox 10"/>
          <p:cNvSpPr txBox="1"/>
          <p:nvPr/>
        </p:nvSpPr>
        <p:spPr>
          <a:xfrm>
            <a:off x="6900501"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Voice Live with a Foundry agent</a:t>
            </a:r>
          </a:p>
        </p:txBody>
      </p:sp>
      <p:sp>
        <p:nvSpPr>
          <p:cNvPr id="12" name="TextBox 11"/>
          <p:cNvSpPr txBox="1"/>
          <p:nvPr/>
        </p:nvSpPr>
        <p:spPr>
          <a:xfrm>
            <a:off x="9381506"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voice agent*</a:t>
            </a:r>
          </a:p>
        </p:txBody>
      </p:sp>
      <p:sp>
        <p:nvSpPr>
          <p:cNvPr id="13" name="Rectangle 12"/>
          <p:cNvSpPr/>
          <p:nvPr/>
        </p:nvSpPr>
        <p:spPr>
          <a:xfrm>
            <a:off x="457200" y="1664208"/>
            <a:ext cx="11277295" cy="457200"/>
          </a:xfrm>
          <a:prstGeom prst="rect">
            <a:avLst/>
          </a:prstGeom>
          <a:solidFill>
            <a:srgbClr val="F6F8FD"/>
          </a:solidFill>
          <a:ln>
            <a:noFill/>
          </a:ln>
          <a:effectLst/>
        </p:spPr>
        <p:txBody>
          <a:bodyPr wrap="square" rtlCol="0" anchor="ctr"/>
          <a:lstStyle/>
          <a:p>
            <a:endParaRPr/>
          </a:p>
        </p:txBody>
      </p:sp>
      <p:cxnSp>
        <p:nvCxnSpPr>
          <p:cNvPr id="14" name="Connector 13"/>
          <p:cNvCxnSpPr/>
          <p:nvPr/>
        </p:nvCxnSpPr>
        <p:spPr>
          <a:xfrm>
            <a:off x="457200" y="2121408"/>
            <a:ext cx="11277295" cy="0"/>
          </a:xfrm>
          <a:prstGeom prst="line">
            <a:avLst/>
          </a:prstGeom>
          <a:ln w="9525">
            <a:solidFill>
              <a:srgbClr val="E1E7F4"/>
            </a:solidFill>
          </a:ln>
        </p:spPr>
      </p:cxnSp>
      <p:sp>
        <p:nvSpPr>
          <p:cNvPr id="15" name="TextBox 14"/>
          <p:cNvSpPr txBox="1"/>
          <p:nvPr/>
        </p:nvSpPr>
        <p:spPr>
          <a:xfrm>
            <a:off x="585216" y="17145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Speech pipeline</a:t>
            </a:r>
          </a:p>
        </p:txBody>
      </p:sp>
      <p:sp>
        <p:nvSpPr>
          <p:cNvPr id="16" name="TextBox 15"/>
          <p:cNvSpPr txBox="1"/>
          <p:nvPr/>
        </p:nvSpPr>
        <p:spPr>
          <a:xfrm>
            <a:off x="2051264" y="17145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processes audio; other stages built by the application team</a:t>
            </a:r>
          </a:p>
        </p:txBody>
      </p:sp>
      <p:sp>
        <p:nvSpPr>
          <p:cNvPr id="17" name="TextBox 16"/>
          <p:cNvSpPr txBox="1"/>
          <p:nvPr/>
        </p:nvSpPr>
        <p:spPr>
          <a:xfrm>
            <a:off x="4193950" y="17145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recognition, turn-taking, synthesis</a:t>
            </a:r>
          </a:p>
        </p:txBody>
      </p:sp>
      <p:sp>
        <p:nvSpPr>
          <p:cNvPr id="18" name="TextBox 17"/>
          <p:cNvSpPr txBox="1"/>
          <p:nvPr/>
        </p:nvSpPr>
        <p:spPr>
          <a:xfrm>
            <a:off x="6900501" y="1714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in front of an existing agent</a:t>
            </a:r>
          </a:p>
        </p:txBody>
      </p:sp>
      <p:sp>
        <p:nvSpPr>
          <p:cNvPr id="19" name="TextBox 18"/>
          <p:cNvSpPr txBox="1"/>
          <p:nvPr/>
        </p:nvSpPr>
        <p:spPr>
          <a:xfrm>
            <a:off x="9381506" y="1714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configured by the agent definition</a:t>
            </a:r>
          </a:p>
        </p:txBody>
      </p:sp>
      <p:cxnSp>
        <p:nvCxnSpPr>
          <p:cNvPr id="20" name="Connector 19"/>
          <p:cNvCxnSpPr/>
          <p:nvPr/>
        </p:nvCxnSpPr>
        <p:spPr>
          <a:xfrm>
            <a:off x="457200" y="2578608"/>
            <a:ext cx="11277295" cy="0"/>
          </a:xfrm>
          <a:prstGeom prst="line">
            <a:avLst/>
          </a:prstGeom>
          <a:ln w="9525">
            <a:solidFill>
              <a:srgbClr val="E1E7F4"/>
            </a:solidFill>
          </a:ln>
        </p:spPr>
      </p:cxnSp>
      <p:sp>
        <p:nvSpPr>
          <p:cNvPr id="21" name="TextBox 20"/>
          <p:cNvSpPr txBox="1"/>
          <p:nvPr/>
        </p:nvSpPr>
        <p:spPr>
          <a:xfrm>
            <a:off x="585216" y="21717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Conversation logic</a:t>
            </a:r>
          </a:p>
        </p:txBody>
      </p:sp>
      <p:sp>
        <p:nvSpPr>
          <p:cNvPr id="22" name="TextBox 21"/>
          <p:cNvSpPr txBox="1"/>
          <p:nvPr/>
        </p:nvSpPr>
        <p:spPr>
          <a:xfrm>
            <a:off x="2051264" y="21717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Client application</a:t>
            </a:r>
          </a:p>
        </p:txBody>
      </p:sp>
      <p:sp>
        <p:nvSpPr>
          <p:cNvPr id="23" name="TextBox 22"/>
          <p:cNvSpPr txBox="1"/>
          <p:nvPr/>
        </p:nvSpPr>
        <p:spPr>
          <a:xfrm>
            <a:off x="4193950" y="21717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Client application, sent in session.update</a:t>
            </a:r>
          </a:p>
        </p:txBody>
      </p:sp>
      <p:sp>
        <p:nvSpPr>
          <p:cNvPr id="24" name="TextBox 23"/>
          <p:cNvSpPr txBox="1"/>
          <p:nvPr/>
        </p:nvSpPr>
        <p:spPr>
          <a:xfrm>
            <a:off x="6900501" y="2171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existing prompt or hosted agent</a:t>
            </a:r>
          </a:p>
        </p:txBody>
      </p:sp>
      <p:sp>
        <p:nvSpPr>
          <p:cNvPr id="25" name="TextBox 24"/>
          <p:cNvSpPr txBox="1"/>
          <p:nvPr/>
        </p:nvSpPr>
        <p:spPr>
          <a:xfrm>
            <a:off x="9381506" y="2171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voice agent definition, versioned</a:t>
            </a:r>
          </a:p>
        </p:txBody>
      </p:sp>
      <p:sp>
        <p:nvSpPr>
          <p:cNvPr id="26" name="Rectangle 25"/>
          <p:cNvSpPr/>
          <p:nvPr/>
        </p:nvSpPr>
        <p:spPr>
          <a:xfrm>
            <a:off x="457200" y="2578608"/>
            <a:ext cx="11277295" cy="457200"/>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035808"/>
            <a:ext cx="11277295" cy="0"/>
          </a:xfrm>
          <a:prstGeom prst="line">
            <a:avLst/>
          </a:prstGeom>
          <a:ln w="9525">
            <a:solidFill>
              <a:srgbClr val="E1E7F4"/>
            </a:solidFill>
          </a:ln>
        </p:spPr>
      </p:cxnSp>
      <p:sp>
        <p:nvSpPr>
          <p:cNvPr id="28" name="TextBox 27"/>
          <p:cNvSpPr txBox="1"/>
          <p:nvPr/>
        </p:nvSpPr>
        <p:spPr>
          <a:xfrm>
            <a:off x="585216" y="26289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Models</a:t>
            </a:r>
          </a:p>
        </p:txBody>
      </p:sp>
      <p:sp>
        <p:nvSpPr>
          <p:cNvPr id="29" name="TextBox 28"/>
          <p:cNvSpPr txBox="1"/>
          <p:nvPr/>
        </p:nvSpPr>
        <p:spPr>
          <a:xfrm>
            <a:off x="2051264" y="26289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speech models</a:t>
            </a:r>
          </a:p>
        </p:txBody>
      </p:sp>
      <p:sp>
        <p:nvSpPr>
          <p:cNvPr id="30" name="TextBox 29"/>
          <p:cNvSpPr txBox="1"/>
          <p:nvPr/>
        </p:nvSpPr>
        <p:spPr>
          <a:xfrm>
            <a:off x="4193950" y="26289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and text models in three tiers; self-deployed*</a:t>
            </a:r>
          </a:p>
        </p:txBody>
      </p:sp>
      <p:sp>
        <p:nvSpPr>
          <p:cNvPr id="31" name="TextBox 30"/>
          <p:cNvSpPr txBox="1"/>
          <p:nvPr/>
        </p:nvSpPr>
        <p:spPr>
          <a:xfrm>
            <a:off x="6900501" y="26289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text agent’s model</a:t>
            </a:r>
          </a:p>
        </p:txBody>
      </p:sp>
      <p:sp>
        <p:nvSpPr>
          <p:cNvPr id="32" name="TextBox 31"/>
          <p:cNvSpPr txBox="1"/>
          <p:nvPr/>
        </p:nvSpPr>
        <p:spPr>
          <a:xfrm>
            <a:off x="9381506" y="26289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Speech-to-speech and text; managed or self-deployed</a:t>
            </a:r>
          </a:p>
        </p:txBody>
      </p:sp>
      <p:cxnSp>
        <p:nvCxnSpPr>
          <p:cNvPr id="33" name="Connector 32"/>
          <p:cNvCxnSpPr/>
          <p:nvPr/>
        </p:nvCxnSpPr>
        <p:spPr>
          <a:xfrm>
            <a:off x="457200" y="3493008"/>
            <a:ext cx="11277295" cy="0"/>
          </a:xfrm>
          <a:prstGeom prst="line">
            <a:avLst/>
          </a:prstGeom>
          <a:ln w="9525">
            <a:solidFill>
              <a:srgbClr val="E1E7F4"/>
            </a:solidFill>
          </a:ln>
        </p:spPr>
      </p:cxnSp>
      <p:sp>
        <p:nvSpPr>
          <p:cNvPr id="34" name="TextBox 33"/>
          <p:cNvSpPr txBox="1"/>
          <p:nvPr/>
        </p:nvSpPr>
        <p:spPr>
          <a:xfrm>
            <a:off x="585216" y="30861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Voice and audio</a:t>
            </a:r>
          </a:p>
        </p:txBody>
      </p:sp>
      <p:sp>
        <p:nvSpPr>
          <p:cNvPr id="35" name="TextBox 34"/>
          <p:cNvSpPr txBox="1"/>
          <p:nvPr/>
        </p:nvSpPr>
        <p:spPr>
          <a:xfrm>
            <a:off x="2051264" y="30861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model’s built-in voices</a:t>
            </a:r>
          </a:p>
        </p:txBody>
      </p:sp>
      <p:sp>
        <p:nvSpPr>
          <p:cNvPr id="36" name="TextBox 35"/>
          <p:cNvSpPr txBox="1"/>
          <p:nvPr/>
        </p:nvSpPr>
        <p:spPr>
          <a:xfrm>
            <a:off x="4193950" y="30861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600+ Azure voices, custom voice, avatar, noise and echo control, semantic turn detection</a:t>
            </a:r>
          </a:p>
        </p:txBody>
      </p:sp>
      <p:sp>
        <p:nvSpPr>
          <p:cNvPr id="37" name="TextBox 36"/>
          <p:cNvSpPr txBox="1"/>
          <p:nvPr/>
        </p:nvSpPr>
        <p:spPr>
          <a:xfrm>
            <a:off x="6900501" y="30861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Same as Voice Live API</a:t>
            </a:r>
          </a:p>
        </p:txBody>
      </p:sp>
      <p:sp>
        <p:nvSpPr>
          <p:cNvPr id="38" name="TextBox 37"/>
          <p:cNvSpPr txBox="1"/>
          <p:nvPr/>
        </p:nvSpPr>
        <p:spPr>
          <a:xfrm>
            <a:off x="9381506" y="30861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Same, set as defaults in the definition</a:t>
            </a:r>
          </a:p>
        </p:txBody>
      </p:sp>
      <p:sp>
        <p:nvSpPr>
          <p:cNvPr id="39" name="Rectangle 38"/>
          <p:cNvSpPr/>
          <p:nvPr/>
        </p:nvSpPr>
        <p:spPr>
          <a:xfrm>
            <a:off x="457200" y="3493008"/>
            <a:ext cx="11277295" cy="457200"/>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3950208"/>
            <a:ext cx="11277295" cy="0"/>
          </a:xfrm>
          <a:prstGeom prst="line">
            <a:avLst/>
          </a:prstGeom>
          <a:ln w="9525">
            <a:solidFill>
              <a:srgbClr val="E1E7F4"/>
            </a:solidFill>
          </a:ln>
        </p:spPr>
      </p:cxnSp>
      <p:sp>
        <p:nvSpPr>
          <p:cNvPr id="41" name="TextBox 40"/>
          <p:cNvSpPr txBox="1"/>
          <p:nvPr/>
        </p:nvSpPr>
        <p:spPr>
          <a:xfrm>
            <a:off x="585216" y="35433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Telephony</a:t>
            </a:r>
          </a:p>
        </p:txBody>
      </p:sp>
      <p:sp>
        <p:nvSpPr>
          <p:cNvPr id="42" name="TextBox 41"/>
          <p:cNvSpPr txBox="1"/>
          <p:nvPr/>
        </p:nvSpPr>
        <p:spPr>
          <a:xfrm>
            <a:off x="2051264" y="35433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Provider integration built by the application team</a:t>
            </a:r>
          </a:p>
        </p:txBody>
      </p:sp>
      <p:sp>
        <p:nvSpPr>
          <p:cNvPr id="43" name="TextBox 42"/>
          <p:cNvSpPr txBox="1"/>
          <p:nvPr/>
        </p:nvSpPr>
        <p:spPr>
          <a:xfrm>
            <a:off x="4193950" y="35433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Communication Services and partner audio connectors</a:t>
            </a:r>
          </a:p>
        </p:txBody>
      </p:sp>
      <p:sp>
        <p:nvSpPr>
          <p:cNvPr id="44" name="TextBox 43"/>
          <p:cNvSpPr txBox="1"/>
          <p:nvPr/>
        </p:nvSpPr>
        <p:spPr>
          <a:xfrm>
            <a:off x="6900501" y="35433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Provider integration built by the application team</a:t>
            </a:r>
          </a:p>
        </p:txBody>
      </p:sp>
      <p:sp>
        <p:nvSpPr>
          <p:cNvPr id="45" name="TextBox 44"/>
          <p:cNvSpPr txBox="1"/>
          <p:nvPr/>
        </p:nvSpPr>
        <p:spPr>
          <a:xfrm>
            <a:off x="9381506" y="35433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in: Teams Phone and Twilio, inbound and outbound</a:t>
            </a:r>
          </a:p>
        </p:txBody>
      </p:sp>
      <p:cxnSp>
        <p:nvCxnSpPr>
          <p:cNvPr id="46" name="Connector 45"/>
          <p:cNvCxnSpPr/>
          <p:nvPr/>
        </p:nvCxnSpPr>
        <p:spPr>
          <a:xfrm>
            <a:off x="457200" y="4407408"/>
            <a:ext cx="11277295" cy="0"/>
          </a:xfrm>
          <a:prstGeom prst="line">
            <a:avLst/>
          </a:prstGeom>
          <a:ln w="9525">
            <a:solidFill>
              <a:srgbClr val="E1E7F4"/>
            </a:solidFill>
          </a:ln>
        </p:spPr>
      </p:cxnSp>
      <p:sp>
        <p:nvSpPr>
          <p:cNvPr id="47" name="TextBox 46"/>
          <p:cNvSpPr txBox="1"/>
          <p:nvPr/>
        </p:nvSpPr>
        <p:spPr>
          <a:xfrm>
            <a:off x="585216" y="40005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Voice tracing</a:t>
            </a:r>
          </a:p>
        </p:txBody>
      </p:sp>
      <p:sp>
        <p:nvSpPr>
          <p:cNvPr id="48" name="TextBox 47"/>
          <p:cNvSpPr txBox="1"/>
          <p:nvPr/>
        </p:nvSpPr>
        <p:spPr>
          <a:xfrm>
            <a:off x="2051264" y="40005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by the application team</a:t>
            </a:r>
          </a:p>
        </p:txBody>
      </p:sp>
      <p:sp>
        <p:nvSpPr>
          <p:cNvPr id="49" name="TextBox 48"/>
          <p:cNvSpPr txBox="1"/>
          <p:nvPr/>
        </p:nvSpPr>
        <p:spPr>
          <a:xfrm>
            <a:off x="4193950" y="40005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by the application team</a:t>
            </a:r>
          </a:p>
        </p:txBody>
      </p:sp>
      <p:sp>
        <p:nvSpPr>
          <p:cNvPr id="50" name="TextBox 49"/>
          <p:cNvSpPr txBox="1"/>
          <p:nvPr/>
        </p:nvSpPr>
        <p:spPr>
          <a:xfrm>
            <a:off x="6900501" y="4000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Text-model traces only — no turn detection or audio</a:t>
            </a:r>
          </a:p>
        </p:txBody>
      </p:sp>
      <p:sp>
        <p:nvSpPr>
          <p:cNvPr id="51" name="TextBox 50"/>
          <p:cNvSpPr txBox="1"/>
          <p:nvPr/>
        </p:nvSpPr>
        <p:spPr>
          <a:xfrm>
            <a:off x="9381506" y="4000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Whole voice pipeline: turn detection, audio, model, tools</a:t>
            </a:r>
          </a:p>
        </p:txBody>
      </p:sp>
      <p:sp>
        <p:nvSpPr>
          <p:cNvPr id="52" name="Rectangle 51"/>
          <p:cNvSpPr/>
          <p:nvPr/>
        </p:nvSpPr>
        <p:spPr>
          <a:xfrm>
            <a:off x="457200" y="4407408"/>
            <a:ext cx="11277295" cy="457200"/>
          </a:xfrm>
          <a:prstGeom prst="rect">
            <a:avLst/>
          </a:prstGeom>
          <a:solidFill>
            <a:srgbClr val="F6F8FD"/>
          </a:solidFill>
          <a:ln>
            <a:noFill/>
          </a:ln>
          <a:effectLst/>
        </p:spPr>
        <p:txBody>
          <a:bodyPr wrap="square" rtlCol="0" anchor="ctr"/>
          <a:lstStyle/>
          <a:p>
            <a:endParaRPr/>
          </a:p>
        </p:txBody>
      </p:sp>
      <p:cxnSp>
        <p:nvCxnSpPr>
          <p:cNvPr id="53" name="Connector 52"/>
          <p:cNvCxnSpPr/>
          <p:nvPr/>
        </p:nvCxnSpPr>
        <p:spPr>
          <a:xfrm>
            <a:off x="457200" y="4864608"/>
            <a:ext cx="11277295" cy="0"/>
          </a:xfrm>
          <a:prstGeom prst="line">
            <a:avLst/>
          </a:prstGeom>
          <a:ln w="9525">
            <a:solidFill>
              <a:srgbClr val="E1E7F4"/>
            </a:solidFill>
          </a:ln>
        </p:spPr>
      </p:cxnSp>
      <p:sp>
        <p:nvSpPr>
          <p:cNvPr id="54" name="TextBox 53"/>
          <p:cNvSpPr txBox="1"/>
          <p:nvPr/>
        </p:nvSpPr>
        <p:spPr>
          <a:xfrm>
            <a:off x="585216" y="44577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Authentication</a:t>
            </a:r>
          </a:p>
        </p:txBody>
      </p:sp>
      <p:sp>
        <p:nvSpPr>
          <p:cNvPr id="55" name="TextBox 54"/>
          <p:cNvSpPr txBox="1"/>
          <p:nvPr/>
        </p:nvSpPr>
        <p:spPr>
          <a:xfrm>
            <a:off x="2051264" y="44577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Key or Microsoft Entra ID</a:t>
            </a:r>
          </a:p>
        </p:txBody>
      </p:sp>
      <p:sp>
        <p:nvSpPr>
          <p:cNvPr id="56" name="TextBox 55"/>
          <p:cNvSpPr txBox="1"/>
          <p:nvPr/>
        </p:nvSpPr>
        <p:spPr>
          <a:xfrm>
            <a:off x="4193950" y="44577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Key or Microsoft Entra ID</a:t>
            </a:r>
          </a:p>
        </p:txBody>
      </p:sp>
      <p:sp>
        <p:nvSpPr>
          <p:cNvPr id="57" name="TextBox 56"/>
          <p:cNvSpPr txBox="1"/>
          <p:nvPr/>
        </p:nvSpPr>
        <p:spPr>
          <a:xfrm>
            <a:off x="6900501" y="4457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ID only</a:t>
            </a:r>
          </a:p>
        </p:txBody>
      </p:sp>
      <p:sp>
        <p:nvSpPr>
          <p:cNvPr id="58" name="TextBox 57"/>
          <p:cNvSpPr txBox="1"/>
          <p:nvPr/>
        </p:nvSpPr>
        <p:spPr>
          <a:xfrm>
            <a:off x="9381506" y="4457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ID</a:t>
            </a:r>
          </a:p>
        </p:txBody>
      </p:sp>
      <p:cxnSp>
        <p:nvCxnSpPr>
          <p:cNvPr id="59" name="Connector 58"/>
          <p:cNvCxnSpPr/>
          <p:nvPr/>
        </p:nvCxnSpPr>
        <p:spPr>
          <a:xfrm>
            <a:off x="1923248" y="1664208"/>
            <a:ext cx="0" cy="3200400"/>
          </a:xfrm>
          <a:prstGeom prst="line">
            <a:avLst/>
          </a:prstGeom>
          <a:ln w="9525">
            <a:solidFill>
              <a:srgbClr val="E1E7F4"/>
            </a:solidFill>
          </a:ln>
        </p:spPr>
      </p:cxnSp>
      <p:cxnSp>
        <p:nvCxnSpPr>
          <p:cNvPr id="60" name="Connector 59"/>
          <p:cNvCxnSpPr/>
          <p:nvPr/>
        </p:nvCxnSpPr>
        <p:spPr>
          <a:xfrm>
            <a:off x="4065934" y="1664208"/>
            <a:ext cx="0" cy="3200400"/>
          </a:xfrm>
          <a:prstGeom prst="line">
            <a:avLst/>
          </a:prstGeom>
          <a:ln w="9525">
            <a:solidFill>
              <a:srgbClr val="E1E7F4"/>
            </a:solidFill>
          </a:ln>
        </p:spPr>
      </p:cxnSp>
      <p:cxnSp>
        <p:nvCxnSpPr>
          <p:cNvPr id="61" name="Connector 60"/>
          <p:cNvCxnSpPr/>
          <p:nvPr/>
        </p:nvCxnSpPr>
        <p:spPr>
          <a:xfrm>
            <a:off x="6772485" y="1664208"/>
            <a:ext cx="0" cy="3200400"/>
          </a:xfrm>
          <a:prstGeom prst="line">
            <a:avLst/>
          </a:prstGeom>
          <a:ln w="9525">
            <a:solidFill>
              <a:srgbClr val="E1E7F4"/>
            </a:solidFill>
          </a:ln>
        </p:spPr>
      </p:cxnSp>
      <p:cxnSp>
        <p:nvCxnSpPr>
          <p:cNvPr id="62" name="Connector 61"/>
          <p:cNvCxnSpPr/>
          <p:nvPr/>
        </p:nvCxnSpPr>
        <p:spPr>
          <a:xfrm>
            <a:off x="9253490" y="1664208"/>
            <a:ext cx="0" cy="3200400"/>
          </a:xfrm>
          <a:prstGeom prst="line">
            <a:avLst/>
          </a:prstGeom>
          <a:ln w="9525">
            <a:solidFill>
              <a:srgbClr val="E1E7F4"/>
            </a:solidFill>
          </a:ln>
        </p:spPr>
      </p:cxnSp>
      <p:sp>
        <p:nvSpPr>
          <p:cNvPr id="63" name="Rectangle 62"/>
          <p:cNvSpPr/>
          <p:nvPr/>
        </p:nvSpPr>
        <p:spPr>
          <a:xfrm>
            <a:off x="457200" y="4983480"/>
            <a:ext cx="11277295" cy="365760"/>
          </a:xfrm>
          <a:prstGeom prst="rect">
            <a:avLst/>
          </a:prstGeom>
          <a:solidFill>
            <a:srgbClr val="EBEFF7"/>
          </a:solidFill>
          <a:ln>
            <a:noFill/>
          </a:ln>
          <a:effectLst/>
        </p:spPr>
        <p:txBody>
          <a:bodyPr wrap="square" rtlCol="0" anchor="ctr"/>
          <a:lstStyle/>
          <a:p>
            <a:endParaRPr/>
          </a:p>
        </p:txBody>
      </p:sp>
      <p:sp>
        <p:nvSpPr>
          <p:cNvPr id="64" name="Rectangle 63"/>
          <p:cNvSpPr/>
          <p:nvPr/>
        </p:nvSpPr>
        <p:spPr>
          <a:xfrm>
            <a:off x="457200" y="4983480"/>
            <a:ext cx="41148" cy="365760"/>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694944" y="5084064"/>
            <a:ext cx="10856671" cy="182880"/>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Voice Live uses the same event model as the Azure OpenAI Realtime API, so existing Realtime clients can adopt the added capabilities without architectural change.</a:t>
            </a:r>
          </a:p>
        </p:txBody>
      </p:sp>
      <p:sp>
        <p:nvSpPr>
          <p:cNvPr id="66" name="TextBox 65"/>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Selection guidance, limits and status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questions to select an option; limits per Foundry resource and release status as of 2 October 2026</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learn.microsoft.com/azure/ai-services/speech-service/speech-services-quotas-and-limits · 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9</a:t>
            </a:r>
          </a:p>
        </p:txBody>
      </p:sp>
      <p:sp>
        <p:nvSpPr>
          <p:cNvPr id="7" name="TextBox 6"/>
          <p:cNvSpPr txBox="1"/>
          <p:nvPr/>
        </p:nvSpPr>
        <p:spPr>
          <a:xfrm>
            <a:off x="457200" y="1371600"/>
            <a:ext cx="4069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SELECTION QUESTIONS</a:t>
            </a:r>
          </a:p>
        </p:txBody>
      </p:sp>
      <p:sp>
        <p:nvSpPr>
          <p:cNvPr id="8" name="Rectangle 7"/>
          <p:cNvSpPr/>
          <p:nvPr/>
        </p:nvSpPr>
        <p:spPr>
          <a:xfrm>
            <a:off x="457200" y="164592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9" name="Rectangle 8"/>
          <p:cNvSpPr/>
          <p:nvPr/>
        </p:nvSpPr>
        <p:spPr>
          <a:xfrm>
            <a:off x="457200" y="1645920"/>
            <a:ext cx="41148" cy="877824"/>
          </a:xfrm>
          <a:prstGeom prst="rect">
            <a:avLst/>
          </a:prstGeom>
          <a:solidFill>
            <a:srgbClr val="00B39F"/>
          </a:solidFill>
          <a:ln>
            <a:noFill/>
          </a:ln>
          <a:effectLst/>
        </p:spPr>
        <p:txBody>
          <a:bodyPr wrap="square" rtlCol="0" anchor="ctr"/>
          <a:lstStyle/>
          <a:p>
            <a:endParaRPr/>
          </a:p>
        </p:txBody>
      </p:sp>
      <p:sp>
        <p:nvSpPr>
          <p:cNvPr id="10" name="TextBox 9"/>
          <p:cNvSpPr txBox="1"/>
          <p:nvPr/>
        </p:nvSpPr>
        <p:spPr>
          <a:xfrm>
            <a:off x="621792" y="164592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1</a:t>
            </a:r>
          </a:p>
        </p:txBody>
      </p:sp>
      <p:sp>
        <p:nvSpPr>
          <p:cNvPr id="11" name="TextBox 10"/>
          <p:cNvSpPr txBox="1"/>
          <p:nvPr/>
        </p:nvSpPr>
        <p:spPr>
          <a:xfrm>
            <a:off x="969264" y="175564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Existing Foundry agent in place?</a:t>
            </a:r>
          </a:p>
        </p:txBody>
      </p:sp>
      <p:sp>
        <p:nvSpPr>
          <p:cNvPr id="12" name="TextBox 11"/>
          <p:cNvSpPr txBox="1"/>
          <p:nvPr/>
        </p:nvSpPr>
        <p:spPr>
          <a:xfrm>
            <a:off x="969264" y="199339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connect Voice Live to it by agent name. No — start with a voice agent*.</a:t>
            </a:r>
          </a:p>
        </p:txBody>
      </p:sp>
      <p:sp>
        <p:nvSpPr>
          <p:cNvPr id="13" name="Rectangle 12"/>
          <p:cNvSpPr/>
          <p:nvPr/>
        </p:nvSpPr>
        <p:spPr>
          <a:xfrm>
            <a:off x="457200" y="265176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2651760"/>
            <a:ext cx="41148" cy="877824"/>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21792" y="265176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2</a:t>
            </a:r>
          </a:p>
        </p:txBody>
      </p:sp>
      <p:sp>
        <p:nvSpPr>
          <p:cNvPr id="16" name="TextBox 15"/>
          <p:cNvSpPr txBox="1"/>
          <p:nvPr/>
        </p:nvSpPr>
        <p:spPr>
          <a:xfrm>
            <a:off x="969264" y="276148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Custom voice framework required?</a:t>
            </a:r>
          </a:p>
        </p:txBody>
      </p:sp>
      <p:sp>
        <p:nvSpPr>
          <p:cNvPr id="17" name="TextBox 16"/>
          <p:cNvSpPr txBox="1"/>
          <p:nvPr/>
        </p:nvSpPr>
        <p:spPr>
          <a:xfrm>
            <a:off x="969264" y="299923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run Pipecat, LiveKit or Voice Live in a hosted agent over the Invocations WebSocket protocol.</a:t>
            </a:r>
          </a:p>
        </p:txBody>
      </p:sp>
      <p:sp>
        <p:nvSpPr>
          <p:cNvPr id="18" name="Rectangle 17"/>
          <p:cNvSpPr/>
          <p:nvPr/>
        </p:nvSpPr>
        <p:spPr>
          <a:xfrm>
            <a:off x="457200" y="365760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57200" y="3657600"/>
            <a:ext cx="41148" cy="877824"/>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621792" y="365760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3</a:t>
            </a:r>
          </a:p>
        </p:txBody>
      </p:sp>
      <p:sp>
        <p:nvSpPr>
          <p:cNvPr id="21" name="TextBox 20"/>
          <p:cNvSpPr txBox="1"/>
          <p:nvPr/>
        </p:nvSpPr>
        <p:spPr>
          <a:xfrm>
            <a:off x="969264" y="376732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Service level agreement required now?</a:t>
            </a:r>
          </a:p>
        </p:txBody>
      </p:sp>
      <p:sp>
        <p:nvSpPr>
          <p:cNvPr id="22" name="TextBox 21"/>
          <p:cNvSpPr txBox="1"/>
          <p:nvPr/>
        </p:nvSpPr>
        <p:spPr>
          <a:xfrm>
            <a:off x="969264" y="400507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use the Voice Live API, alone or with an agent. Voice agents are in preview.</a:t>
            </a:r>
          </a:p>
        </p:txBody>
      </p:sp>
      <p:sp>
        <p:nvSpPr>
          <p:cNvPr id="23" name="TextBox 22"/>
          <p:cNvSpPr txBox="1"/>
          <p:nvPr/>
        </p:nvSpPr>
        <p:spPr>
          <a:xfrm>
            <a:off x="4800600" y="1371600"/>
            <a:ext cx="3329787"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OPERATING LIMITS (STANDARD S0)</a:t>
            </a:r>
          </a:p>
        </p:txBody>
      </p:sp>
      <p:sp>
        <p:nvSpPr>
          <p:cNvPr id="24" name="TextBox 23"/>
          <p:cNvSpPr txBox="1"/>
          <p:nvPr/>
        </p:nvSpPr>
        <p:spPr>
          <a:xfrm>
            <a:off x="4800600" y="1645920"/>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New connections</a:t>
            </a:r>
          </a:p>
        </p:txBody>
      </p:sp>
      <p:sp>
        <p:nvSpPr>
          <p:cNvPr id="25" name="TextBox 24"/>
          <p:cNvSpPr txBox="1"/>
          <p:nvPr/>
        </p:nvSpPr>
        <p:spPr>
          <a:xfrm>
            <a:off x="6132515" y="1645920"/>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100 per minute</a:t>
            </a:r>
          </a:p>
        </p:txBody>
      </p:sp>
      <p:cxnSp>
        <p:nvCxnSpPr>
          <p:cNvPr id="26" name="Connector 25"/>
          <p:cNvCxnSpPr/>
          <p:nvPr/>
        </p:nvCxnSpPr>
        <p:spPr>
          <a:xfrm>
            <a:off x="4800600" y="2103120"/>
            <a:ext cx="3329787" cy="0"/>
          </a:xfrm>
          <a:prstGeom prst="line">
            <a:avLst/>
          </a:prstGeom>
          <a:ln w="9525">
            <a:solidFill>
              <a:srgbClr val="E1E7F4"/>
            </a:solidFill>
          </a:ln>
        </p:spPr>
      </p:cxnSp>
      <p:sp>
        <p:nvSpPr>
          <p:cNvPr id="27" name="TextBox 26"/>
          <p:cNvSpPr txBox="1"/>
          <p:nvPr/>
        </p:nvSpPr>
        <p:spPr>
          <a:xfrm>
            <a:off x="4800600" y="2121408"/>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Session length</a:t>
            </a:r>
          </a:p>
        </p:txBody>
      </p:sp>
      <p:sp>
        <p:nvSpPr>
          <p:cNvPr id="28" name="TextBox 27"/>
          <p:cNvSpPr txBox="1"/>
          <p:nvPr/>
        </p:nvSpPr>
        <p:spPr>
          <a:xfrm>
            <a:off x="6132515" y="2121408"/>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60 minutes</a:t>
            </a:r>
          </a:p>
        </p:txBody>
      </p:sp>
      <p:cxnSp>
        <p:nvCxnSpPr>
          <p:cNvPr id="29" name="Connector 28"/>
          <p:cNvCxnSpPr/>
          <p:nvPr/>
        </p:nvCxnSpPr>
        <p:spPr>
          <a:xfrm>
            <a:off x="4800600" y="2578608"/>
            <a:ext cx="3329787" cy="0"/>
          </a:xfrm>
          <a:prstGeom prst="line">
            <a:avLst/>
          </a:prstGeom>
          <a:ln w="9525">
            <a:solidFill>
              <a:srgbClr val="E1E7F4"/>
            </a:solidFill>
          </a:ln>
        </p:spPr>
      </p:cxnSp>
      <p:sp>
        <p:nvSpPr>
          <p:cNvPr id="30" name="TextBox 29"/>
          <p:cNvSpPr txBox="1"/>
          <p:nvPr/>
        </p:nvSpPr>
        <p:spPr>
          <a:xfrm>
            <a:off x="4800600" y="2596896"/>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Tokens per minute</a:t>
            </a:r>
          </a:p>
        </p:txBody>
      </p:sp>
      <p:sp>
        <p:nvSpPr>
          <p:cNvPr id="31" name="TextBox 30"/>
          <p:cNvSpPr txBox="1"/>
          <p:nvPr/>
        </p:nvSpPr>
        <p:spPr>
          <a:xfrm>
            <a:off x="6132515" y="2596896"/>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120,000</a:t>
            </a:r>
          </a:p>
        </p:txBody>
      </p:sp>
      <p:cxnSp>
        <p:nvCxnSpPr>
          <p:cNvPr id="32" name="Connector 31"/>
          <p:cNvCxnSpPr/>
          <p:nvPr/>
        </p:nvCxnSpPr>
        <p:spPr>
          <a:xfrm>
            <a:off x="4800600" y="3054096"/>
            <a:ext cx="3329787" cy="0"/>
          </a:xfrm>
          <a:prstGeom prst="line">
            <a:avLst/>
          </a:prstGeom>
          <a:ln w="9525">
            <a:solidFill>
              <a:srgbClr val="E1E7F4"/>
            </a:solidFill>
          </a:ln>
        </p:spPr>
      </p:cxnSp>
      <p:sp>
        <p:nvSpPr>
          <p:cNvPr id="33" name="TextBox 32"/>
          <p:cNvSpPr txBox="1"/>
          <p:nvPr/>
        </p:nvSpPr>
        <p:spPr>
          <a:xfrm>
            <a:off x="4800600" y="3072384"/>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Authentication</a:t>
            </a:r>
          </a:p>
        </p:txBody>
      </p:sp>
      <p:sp>
        <p:nvSpPr>
          <p:cNvPr id="34" name="TextBox 33"/>
          <p:cNvSpPr txBox="1"/>
          <p:nvPr/>
        </p:nvSpPr>
        <p:spPr>
          <a:xfrm>
            <a:off x="6132515" y="3072384"/>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Microsoft Entra ID recommended</a:t>
            </a:r>
          </a:p>
        </p:txBody>
      </p:sp>
      <p:cxnSp>
        <p:nvCxnSpPr>
          <p:cNvPr id="35" name="Connector 34"/>
          <p:cNvCxnSpPr/>
          <p:nvPr/>
        </p:nvCxnSpPr>
        <p:spPr>
          <a:xfrm>
            <a:off x="4800600" y="3529584"/>
            <a:ext cx="3329787" cy="0"/>
          </a:xfrm>
          <a:prstGeom prst="line">
            <a:avLst/>
          </a:prstGeom>
          <a:ln w="9525">
            <a:solidFill>
              <a:srgbClr val="E1E7F4"/>
            </a:solidFill>
          </a:ln>
        </p:spPr>
      </p:cxnSp>
      <p:sp>
        <p:nvSpPr>
          <p:cNvPr id="36" name="TextBox 35"/>
          <p:cNvSpPr txBox="1"/>
          <p:nvPr/>
        </p:nvSpPr>
        <p:spPr>
          <a:xfrm>
            <a:off x="4800600" y="3547872"/>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Agent regions</a:t>
            </a:r>
          </a:p>
        </p:txBody>
      </p:sp>
      <p:sp>
        <p:nvSpPr>
          <p:cNvPr id="37" name="TextBox 36"/>
          <p:cNvSpPr txBox="1"/>
          <p:nvPr/>
        </p:nvSpPr>
        <p:spPr>
          <a:xfrm>
            <a:off x="6132515" y="3547872"/>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20, incl. Switzerland North, West Europe, Sweden Central</a:t>
            </a:r>
          </a:p>
        </p:txBody>
      </p:sp>
      <p:cxnSp>
        <p:nvCxnSpPr>
          <p:cNvPr id="38" name="Connector 37"/>
          <p:cNvCxnSpPr/>
          <p:nvPr/>
        </p:nvCxnSpPr>
        <p:spPr>
          <a:xfrm>
            <a:off x="4800600" y="4005072"/>
            <a:ext cx="3329787" cy="0"/>
          </a:xfrm>
          <a:prstGeom prst="line">
            <a:avLst/>
          </a:prstGeom>
          <a:ln w="9525">
            <a:solidFill>
              <a:srgbClr val="E1E7F4"/>
            </a:solidFill>
          </a:ln>
        </p:spPr>
      </p:cxnSp>
      <p:sp>
        <p:nvSpPr>
          <p:cNvPr id="39" name="TextBox 38"/>
          <p:cNvSpPr txBox="1"/>
          <p:nvPr/>
        </p:nvSpPr>
        <p:spPr>
          <a:xfrm>
            <a:off x="4800600" y="4023360"/>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Billing</a:t>
            </a:r>
          </a:p>
        </p:txBody>
      </p:sp>
      <p:sp>
        <p:nvSpPr>
          <p:cNvPr id="40" name="TextBox 39"/>
          <p:cNvSpPr txBox="1"/>
          <p:nvPr/>
        </p:nvSpPr>
        <p:spPr>
          <a:xfrm>
            <a:off x="6132515" y="4023360"/>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token: text, audio and native audio</a:t>
            </a:r>
          </a:p>
        </p:txBody>
      </p:sp>
      <p:cxnSp>
        <p:nvCxnSpPr>
          <p:cNvPr id="41" name="Connector 40"/>
          <p:cNvCxnSpPr/>
          <p:nvPr/>
        </p:nvCxnSpPr>
        <p:spPr>
          <a:xfrm>
            <a:off x="4800600" y="4480560"/>
            <a:ext cx="3329787" cy="0"/>
          </a:xfrm>
          <a:prstGeom prst="line">
            <a:avLst/>
          </a:prstGeom>
          <a:ln w="9525">
            <a:solidFill>
              <a:srgbClr val="E1E7F4"/>
            </a:solidFill>
          </a:ln>
        </p:spPr>
      </p:cxnSp>
      <p:sp>
        <p:nvSpPr>
          <p:cNvPr id="42" name="TextBox 41"/>
          <p:cNvSpPr txBox="1"/>
          <p:nvPr/>
        </p:nvSpPr>
        <p:spPr>
          <a:xfrm>
            <a:off x="8404707" y="1371600"/>
            <a:ext cx="3329787"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STATUS</a:t>
            </a:r>
          </a:p>
        </p:txBody>
      </p:sp>
      <p:sp>
        <p:nvSpPr>
          <p:cNvPr id="43" name="TextBox 42"/>
          <p:cNvSpPr txBox="1"/>
          <p:nvPr/>
        </p:nvSpPr>
        <p:spPr>
          <a:xfrm>
            <a:off x="8404707" y="1645920"/>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API</a:t>
            </a:r>
          </a:p>
        </p:txBody>
      </p:sp>
      <p:sp>
        <p:nvSpPr>
          <p:cNvPr id="44" name="TextBox 43"/>
          <p:cNvSpPr txBox="1"/>
          <p:nvPr/>
        </p:nvSpPr>
        <p:spPr>
          <a:xfrm>
            <a:off x="10003005" y="1645920"/>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November 2025</a:t>
            </a:r>
          </a:p>
        </p:txBody>
      </p:sp>
      <p:cxnSp>
        <p:nvCxnSpPr>
          <p:cNvPr id="45" name="Connector 44"/>
          <p:cNvCxnSpPr/>
          <p:nvPr/>
        </p:nvCxnSpPr>
        <p:spPr>
          <a:xfrm>
            <a:off x="8404707" y="2103120"/>
            <a:ext cx="3329788" cy="0"/>
          </a:xfrm>
          <a:prstGeom prst="line">
            <a:avLst/>
          </a:prstGeom>
          <a:ln w="9525">
            <a:solidFill>
              <a:srgbClr val="E1E7F4"/>
            </a:solidFill>
          </a:ln>
        </p:spPr>
      </p:cxnSp>
      <p:sp>
        <p:nvSpPr>
          <p:cNvPr id="46" name="TextBox 45"/>
          <p:cNvSpPr txBox="1"/>
          <p:nvPr/>
        </p:nvSpPr>
        <p:spPr>
          <a:xfrm>
            <a:off x="8404707" y="2121408"/>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with prompt agents</a:t>
            </a:r>
          </a:p>
        </p:txBody>
      </p:sp>
      <p:sp>
        <p:nvSpPr>
          <p:cNvPr id="47" name="TextBox 46"/>
          <p:cNvSpPr txBox="1"/>
          <p:nvPr/>
        </p:nvSpPr>
        <p:spPr>
          <a:xfrm>
            <a:off x="10003005" y="2121408"/>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April 2026</a:t>
            </a:r>
          </a:p>
        </p:txBody>
      </p:sp>
      <p:cxnSp>
        <p:nvCxnSpPr>
          <p:cNvPr id="48" name="Connector 47"/>
          <p:cNvCxnSpPr/>
          <p:nvPr/>
        </p:nvCxnSpPr>
        <p:spPr>
          <a:xfrm>
            <a:off x="8404707" y="2578608"/>
            <a:ext cx="3329788" cy="0"/>
          </a:xfrm>
          <a:prstGeom prst="line">
            <a:avLst/>
          </a:prstGeom>
          <a:ln w="9525">
            <a:solidFill>
              <a:srgbClr val="E1E7F4"/>
            </a:solidFill>
          </a:ln>
        </p:spPr>
      </p:cxnSp>
      <p:sp>
        <p:nvSpPr>
          <p:cNvPr id="49" name="TextBox 48"/>
          <p:cNvSpPr txBox="1"/>
          <p:nvPr/>
        </p:nvSpPr>
        <p:spPr>
          <a:xfrm>
            <a:off x="8404707" y="2596896"/>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with hosted agents</a:t>
            </a:r>
          </a:p>
        </p:txBody>
      </p:sp>
      <p:sp>
        <p:nvSpPr>
          <p:cNvPr id="50" name="TextBox 49"/>
          <p:cNvSpPr txBox="1"/>
          <p:nvPr/>
        </p:nvSpPr>
        <p:spPr>
          <a:xfrm>
            <a:off x="10003005" y="2596896"/>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September 2026</a:t>
            </a:r>
          </a:p>
        </p:txBody>
      </p:sp>
      <p:cxnSp>
        <p:nvCxnSpPr>
          <p:cNvPr id="51" name="Connector 50"/>
          <p:cNvCxnSpPr/>
          <p:nvPr/>
        </p:nvCxnSpPr>
        <p:spPr>
          <a:xfrm>
            <a:off x="8404707" y="3054096"/>
            <a:ext cx="3329788" cy="0"/>
          </a:xfrm>
          <a:prstGeom prst="line">
            <a:avLst/>
          </a:prstGeom>
          <a:ln w="9525">
            <a:solidFill>
              <a:srgbClr val="E1E7F4"/>
            </a:solidFill>
          </a:ln>
        </p:spPr>
      </p:cxnSp>
      <p:sp>
        <p:nvSpPr>
          <p:cNvPr id="52" name="TextBox 51"/>
          <p:cNvSpPr txBox="1"/>
          <p:nvPr/>
        </p:nvSpPr>
        <p:spPr>
          <a:xfrm>
            <a:off x="8404707" y="3072384"/>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Foundry voice agents*</a:t>
            </a:r>
          </a:p>
        </p:txBody>
      </p:sp>
      <p:sp>
        <p:nvSpPr>
          <p:cNvPr id="53" name="TextBox 52"/>
          <p:cNvSpPr txBox="1"/>
          <p:nvPr/>
        </p:nvSpPr>
        <p:spPr>
          <a:xfrm>
            <a:off x="10003005" y="3072384"/>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Public preview since 24 September 2026</a:t>
            </a:r>
          </a:p>
        </p:txBody>
      </p:sp>
      <p:cxnSp>
        <p:nvCxnSpPr>
          <p:cNvPr id="54" name="Connector 53"/>
          <p:cNvCxnSpPr/>
          <p:nvPr/>
        </p:nvCxnSpPr>
        <p:spPr>
          <a:xfrm>
            <a:off x="8404707" y="3529584"/>
            <a:ext cx="3329788" cy="0"/>
          </a:xfrm>
          <a:prstGeom prst="line">
            <a:avLst/>
          </a:prstGeom>
          <a:ln w="9525">
            <a:solidFill>
              <a:srgbClr val="E1E7F4"/>
            </a:solidFill>
          </a:ln>
        </p:spPr>
      </p:cxnSp>
      <p:sp>
        <p:nvSpPr>
          <p:cNvPr id="55" name="TextBox 54"/>
          <p:cNvSpPr txBox="1"/>
          <p:nvPr/>
        </p:nvSpPr>
        <p:spPr>
          <a:xfrm>
            <a:off x="8404707" y="3547872"/>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WebRTC transport*</a:t>
            </a:r>
          </a:p>
        </p:txBody>
      </p:sp>
      <p:sp>
        <p:nvSpPr>
          <p:cNvPr id="56" name="TextBox 55"/>
          <p:cNvSpPr txBox="1"/>
          <p:nvPr/>
        </p:nvSpPr>
        <p:spPr>
          <a:xfrm>
            <a:off x="10003005" y="3547872"/>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Preview</a:t>
            </a:r>
          </a:p>
        </p:txBody>
      </p:sp>
      <p:cxnSp>
        <p:nvCxnSpPr>
          <p:cNvPr id="57" name="Connector 56"/>
          <p:cNvCxnSpPr/>
          <p:nvPr/>
        </p:nvCxnSpPr>
        <p:spPr>
          <a:xfrm>
            <a:off x="8404707" y="4005072"/>
            <a:ext cx="3329788" cy="0"/>
          </a:xfrm>
          <a:prstGeom prst="line">
            <a:avLst/>
          </a:prstGeom>
          <a:ln w="9525">
            <a:solidFill>
              <a:srgbClr val="E1E7F4"/>
            </a:solidFill>
          </a:ln>
        </p:spPr>
      </p:cxnSp>
      <p:sp>
        <p:nvSpPr>
          <p:cNvPr id="58" name="TextBox 57"/>
          <p:cNvSpPr txBox="1"/>
          <p:nvPr/>
        </p:nvSpPr>
        <p:spPr>
          <a:xfrm>
            <a:off x="8404707" y="4023360"/>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MAI-Transcribe, MAI-Voice-2-Flash*</a:t>
            </a:r>
          </a:p>
        </p:txBody>
      </p:sp>
      <p:sp>
        <p:nvSpPr>
          <p:cNvPr id="59" name="TextBox 58"/>
          <p:cNvSpPr txBox="1"/>
          <p:nvPr/>
        </p:nvSpPr>
        <p:spPr>
          <a:xfrm>
            <a:off x="10003005" y="4023360"/>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Preview</a:t>
            </a:r>
          </a:p>
        </p:txBody>
      </p:sp>
      <p:cxnSp>
        <p:nvCxnSpPr>
          <p:cNvPr id="60" name="Connector 59"/>
          <p:cNvCxnSpPr/>
          <p:nvPr/>
        </p:nvCxnSpPr>
        <p:spPr>
          <a:xfrm>
            <a:off x="8404707" y="4480560"/>
            <a:ext cx="3329788" cy="0"/>
          </a:xfrm>
          <a:prstGeom prst="line">
            <a:avLst/>
          </a:prstGeom>
          <a:ln w="9525">
            <a:solidFill>
              <a:srgbClr val="E1E7F4"/>
            </a:solidFill>
          </a:ln>
        </p:spPr>
      </p:cxnSp>
      <p:sp>
        <p:nvSpPr>
          <p:cNvPr id="61" name="Rectangle 60"/>
          <p:cNvSpPr/>
          <p:nvPr/>
        </p:nvSpPr>
        <p:spPr>
          <a:xfrm>
            <a:off x="457200" y="4754880"/>
            <a:ext cx="11277295" cy="603504"/>
          </a:xfrm>
          <a:prstGeom prst="rect">
            <a:avLst/>
          </a:prstGeom>
          <a:solidFill>
            <a:srgbClr val="EBEFF7"/>
          </a:solidFill>
          <a:ln>
            <a:noFill/>
          </a:ln>
          <a:effectLst/>
        </p:spPr>
        <p:txBody>
          <a:bodyPr wrap="square" rtlCol="0" anchor="ctr"/>
          <a:lstStyle/>
          <a:p>
            <a:endParaRPr/>
          </a:p>
        </p:txBody>
      </p:sp>
      <p:sp>
        <p:nvSpPr>
          <p:cNvPr id="62" name="Rectangle 61"/>
          <p:cNvSpPr/>
          <p:nvPr/>
        </p:nvSpPr>
        <p:spPr>
          <a:xfrm>
            <a:off x="457200" y="4754880"/>
            <a:ext cx="41148" cy="603504"/>
          </a:xfrm>
          <a:prstGeom prst="rect">
            <a:avLst/>
          </a:prstGeom>
          <a:solidFill>
            <a:srgbClr val="00B39F"/>
          </a:solidFill>
          <a:ln>
            <a:noFill/>
          </a:ln>
          <a:effectLst/>
        </p:spPr>
        <p:txBody>
          <a:bodyPr wrap="square" rtlCol="0" anchor="ctr"/>
          <a:lstStyle/>
          <a:p>
            <a:endParaRPr/>
          </a:p>
        </p:txBody>
      </p:sp>
      <p:sp>
        <p:nvSpPr>
          <p:cNvPr id="63" name="TextBox 62"/>
          <p:cNvSpPr txBox="1"/>
          <p:nvPr/>
        </p:nvSpPr>
        <p:spPr>
          <a:xfrm>
            <a:off x="694944" y="4855464"/>
            <a:ext cx="10856671" cy="420624"/>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Start here on Microsoft Learn: speech-service/voice-live (overview)  ·  speech-service/voice-live-how-to  ·  speech-service/how-to-voice-agent-integration  ·  foundry/agents/how-to/configure-voice-agent  ·  samples: github.com/microsoft-foundry/voicelive-samples</a:t>
            </a:r>
          </a:p>
        </p:txBody>
      </p:sp>
      <p:sp>
        <p:nvSpPr>
          <p:cNvPr id="64" name="TextBox 63"/>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4442</Words>
  <Application>Microsoft Office PowerPoint</Application>
  <PresentationFormat>Widescreen</PresentationFormat>
  <Paragraphs>435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5</cp:revision>
  <dcterms:created xsi:type="dcterms:W3CDTF">2013-01-27T09:14:16Z</dcterms:created>
  <dcterms:modified xsi:type="dcterms:W3CDTF">2026-10-11T09:30:22Z</dcterms:modified>
  <cp:category/>
</cp:coreProperties>
</file>