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1282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session covers the Agent2Agent protocol at specification level and its implementation in Microsoft Foundry Agent Service. The objective is that participants can evaluate A2A against alternative integration mechanisms, and configure it correctly.</a:t>
            </a:r>
          </a:p>
          <a:p>
            <a:r>
              <a:t>Three points of context. A2A is a vendor-neutral specification. It originated at Google in April 2025, transferred to the Linux Foundation in June 2025, and since 27 August 2026 has been a Growth Stage project at the Agentic AI Foundation, which also hosts the Model Context Protocol. Microsoft holds one of eight technical steering committee seats.</a:t>
            </a:r>
          </a:p>
          <a:p>
            <a:r>
              <a:t>Version precision matters throughout. Version 1.0 introduced breaking changes to method naming, the content model and enumeration values relative to version 0.3. Published material predating March 2026 describes the earlier wire format. Unless stated otherwise, all content here describes version 1.0.</a:t>
            </a:r>
          </a:p>
          <a:p>
            <a:r>
              <a:t>Microsoft Foundry implements two distinct capabilities: outbound invocation of a remote agent, and inbound exposure of a Foundry agent. They carry different release status and are addressed separately in section three.</a:t>
            </a:r>
          </a:p>
          <a:p>
            <a:r>
              <a:t>Anticipated question: does A2A supersede the Model Context Protocol? It does not. Section five addresses the distinction in detail.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sequence is specification-first by design. A2A is an open standard with a defined object model, operation set and lifecycle. Those elements are invariant across implementations, and configuring the Microsoft Foundry surface without understanding them produces integrations that fail at the protocol boundary rather than at the service boundary.</a:t>
            </a:r>
          </a:p>
          <a:p>
            <a:r>
              <a:t>Sections one and two are vendor-neutral and apply regardless of where the remote agent executes. Section three introduces the Microsoft Foundry implementation and distinguishes the two supported directions. Section four covers the material that determines whether a design passes a security and operations review: authentication methods, identity propagation, documented service constraints and telemetry.</a:t>
            </a:r>
          </a:p>
          <a:p>
            <a:r>
              <a:t>Section five is the selection material. It contains the protocol comparison against the Model Context Protocol, the choice between A2A and the alternative orchestration mechanisms available in Foundry, and explicit applicability criteria. Section six covers phased adoption and current release status.</a:t>
            </a:r>
          </a:p>
          <a:p>
            <a:r>
              <a:t>Where time is constrained, slides 8, 11 and 14 carry the highest density: the operation set, the implementation architecture and the authentication model respectively.</a:t>
            </a:r>
          </a:p>
          <a:p>
            <a:r>
              <a:t>Anticipated question: are reference implementations available? Yes. Slide 21 identifies the canonical repositories.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definition is deliberately narrow. A2A standardises three things: how an agent describes itself, how a unit of work is identified and tracked through a defined state machine, and how content moves between the two parties. It does not standardise reasoning, planning, memory or tool invocation.</a:t>
            </a:r>
          </a:p>
          <a:p>
            <a:r>
              <a:t>The principle with the greatest architectural consequence is opaque execution. Neither party exposes its prompts, plans or tool implementations. This is what permits integration across organisational boundaries without disclosing implementation detail, and it is also why A2A cannot be used to inspect or debug a remote agent's behaviour.</a:t>
            </a:r>
          </a:p>
          <a:p>
            <a:r>
              <a:t>Asynchronous-first is the second principle to note. Interruption for additional input or credentials is modelled as a normal state, not an error. Integrations built on the assumption that a call either returns a result or fails will not handle this correctly.</a:t>
            </a:r>
          </a:p>
          <a:p>
            <a:r>
              <a:t>The out-of-scope items are equally significant for design. In particular, the absence of a standard registry interface means that discovery at scale remains an implementation decision, typically the well-known URI or direct configuration.</a:t>
            </a:r>
          </a:p>
          <a:p>
            <a:r>
              <a:t>Anticipated question: does opacity prevent compliance auditing? No. Task state transitions and exchanged artifacts are observable; only internal reasoning is not.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states the engineering case rather than the narrative one. Each row is a constraint that appears in practice when agents developed by separate teams are integrated without a common protocol.</a:t>
            </a:r>
          </a:p>
          <a:p>
            <a:r>
              <a:t>The first row is the most consequential. Exposing an agent through a tool interface constrains the interaction to a single stateless exchange. An agent that legitimately needs to request clarification before proceeding has no way to express that; the integration either fails or returns a degraded result. The task state machine addresses this directly by modelling suspension as a defined state.</a:t>
            </a:r>
          </a:p>
          <a:p>
            <a:r>
              <a:t>The third row concerns integration cost. With bespoke contracts, the number of integration artefacts grows with the number of pairings rather than with the number of agents, and every interface change requires coordinated updates at each counterpart.</a:t>
            </a:r>
          </a:p>
          <a:p>
            <a:r>
              <a:t>The fifth row is typically the one that determines whether a design is approved. Without a declared security scheme, each integration establishes its own credential handling, and the resulting inconsistency is difficult to audit.</a:t>
            </a:r>
          </a:p>
          <a:p>
            <a:r>
              <a:t>Anticipated question: can these constraints be addressed without adopting a protocol? They can, for a small and stable set of integrations. The cost becomes significant when counterparts are externally owned and change independently.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 protocols address different integration axes and are routinely used together in the same system.</a:t>
            </a:r>
          </a:p>
          <a:p>
            <a:r>
              <a:t>The Model Context Protocol connects one agent to the tools, resources and context it uses to perform its own work. Those endpoints have fixed schemas, are typically stateless, and usually sit within the same ownership boundary as the agent itself. A2A connects agents to each other, where the counterpart performs its own reasoning, maintains state across turns, and is frequently operated by a different party.</a:t>
            </a:r>
          </a:p>
          <a:p>
            <a:r>
              <a:t>The dashed boundaries in the diagram carry the architectural point. Every A2A connection shown crosses one; no Model Context Protocol connection does. That is the practical selection criterion, and it is organisational as much as technical.</a:t>
            </a:r>
          </a:p>
          <a:p>
            <a:r>
              <a:t>The specification describes the relationship in terms of depth and reach: the Model Context Protocol increases the capability of an individual agent, while A2A increases the set of agents a system can coordinate.</a:t>
            </a:r>
          </a:p>
          <a:p>
            <a:r>
              <a:t>Since 27 August 2026 both specifications are hosted by the Agentic AI Foundation, which removes any question of competing direction.</a:t>
            </a:r>
          </a:p>
          <a:p>
            <a:r>
              <a:t>Anticipated question: can an A2A server also expose its skills through the Model Context Protocol? Yes, for well-defined stateless skills. The stateful task lifecycle is not preserved in that form.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six objects constitute the complete data model. Every operation in the protocol accepts or returns some combination of them.</a:t>
            </a:r>
          </a:p>
          <a:p>
            <a:r>
              <a:t>The distinction between Message and Artifact is the one most often implemented incorrectly, and the specification is explicit about it. Messages carry the conversational exchange; artifacts carry the result. Where an implementation returns its output inside message text, every consumer must parse unstructured content to extract it, which defeats the purpose of a typed content model.</a:t>
            </a:r>
          </a:p>
          <a:p>
            <a:r>
              <a:t>Two further points. Task identifiers are always generated by the server; a client cannot supply one when creating work, which affects how idempotency is designed. Context identifiers are the value to carry in application logs, because one user-visible conversation typically produces several tasks, and refining a completed task requires creating a new one within the same context.</a:t>
            </a:r>
          </a:p>
          <a:p>
            <a:r>
              <a:t>The Part object is the most significant breaking change relative to version 0.3. The earlier TextPart, FilePart and DataPart types were consolidated into a single object discriminated by which content field is populated, with mimeType renamed to mediaType.</a:t>
            </a:r>
          </a:p>
          <a:p>
            <a:r>
              <a:t>Anticipated question: is there a maximum content size? The specification does not define one; the transport and the implementation do.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Agent Card is the first object a client retrieves and it determines everything that follows: which endpoint to call, which binding and protocol version to use, which content types are accepted, and which security scheme applies.</a:t>
            </a:r>
          </a:p>
          <a:p>
            <a:r>
              <a:t>Two fields deserve attention. supportedInterfaces is an ordered list, and the ordering is normative: clients select the first interface whose binding they support, so the server expresses preference through sequence. Version 1.0 consolidated the earlier url, preferredTransport and additionalInterfaces fields into this single structure, and moved protocolVersion from the card onto each interface, which permits one agent to serve multiple protocol versions concurrently.</a:t>
            </a:r>
          </a:p>
          <a:p>
            <a:r>
              <a:t>capabilities declares what the agent supports rather than what it will do. A client that requires streaming must verify capabilities.streaming before subscribing, rather than attempting the call and handling the failure.</a:t>
            </a:r>
          </a:p>
          <a:p>
            <a:r>
              <a:t>Card signing is optional but relevant where cards are retrieved from a registry rather than directly from the agent's own domain, since it allows a consumer to verify the card was not modified in transit.</a:t>
            </a:r>
          </a:p>
          <a:p>
            <a:r>
              <a:t>Anticipated question: how should cards be cached? Using standard HTTP cache headers and entity tags, with the card version monitored for change.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Version 1.0 restructured the specification into three layers: a canonical data model defined in protocol buffers, an abstract operation set, and bindings that map those operations onto a concrete transport. The operations are identical across bindings; only their expression differs.</a:t>
            </a:r>
          </a:p>
          <a:p>
            <a:r>
              <a:t>The right-hand column documents the 0.3 method names because that is where most migration effort is spent. Version 1.0 replaced the namespaced, lowercase form with the PascalCase operation name, so message/send became SendMessage. Software development kits distinguish the two by inspecting the method name and dispatching accordingly, which means a version mismatch produces an incorrect dispatch rather than an explicit error.</a:t>
            </a:r>
          </a:p>
          <a:p>
            <a:r>
              <a:t>Note the version negotiation rule in the lower right. An absent A2A-Version header is interpreted as version 0.3, in accordance with the specification. A client built against 1.0 that omits the header will therefore be served the earlier protocol version, with different method names and a different content model.</a:t>
            </a:r>
          </a:p>
          <a:p>
            <a:r>
              <a:t>The push notification configuration operations are frequently overlooked. They exist because a webhook registration is itself a managed resource with a lifecycle.</a:t>
            </a:r>
          </a:p>
          <a:p>
            <a:r>
              <a:t>Anticipated question: which binding should be selected? Where Microsoft Foundry is a participant, JSON-RPC, since it is the only binding supported at protocol version 1.0.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state machine is owned by the server and is not advisory. Both parties interpret the same set of states, which is what makes uniform monitoring across heterogeneous agents possible.</a:t>
            </a:r>
          </a:p>
          <a:p>
            <a:r>
              <a:t>Three transitions matter in design. First, submitted to working, which is when the server has accepted the task and generated its identifier. Second, working to an interrupted state: the agent requires additional input from the user, or credentials for a downstream system, and suspends rather than failing. A client that treats any non-terminal return as an error will handle this incorrectly. Third, the transition into one of the four terminal states, after which the task is immutable.</a:t>
            </a:r>
          </a:p>
          <a:p>
            <a:r>
              <a:t>Terminal immutability has a direct consequence for application design. A request to refine a completed result is a new task, carrying the same context identifier. Implementations that attempt to send a further message to a terminal task receive an unsupported-operation error.</a:t>
            </a:r>
          </a:p>
          <a:p>
            <a:r>
              <a:t>The enumeration table is included because these are the literal serialised values in version 1.0. Code written against the 0.3 lowercase forms will not match.</a:t>
            </a:r>
          </a:p>
          <a:p>
            <a:r>
              <a:t>Anticipated question: how is a dropped connection recovered? By subscribing to the task again; the stream restarts with a complete Task object so no state is lost.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 is determined by the expected duration of the remote work and by whether the calling process can hold a connection for that duration.</a:t>
            </a:r>
          </a:p>
          <a:p>
            <a:r>
              <a:t>The synchronous mode is governed by the returnImmediately parameter, and the specification is precise: with the value false, the operation waits until the task is terminal or interrupted. Interrupted counts as a return condition, which is why an agent requesting additional input does not block indefinitely. Version 1.0 replaced the earlier blocking parameter with returnImmediately and inverted its sense, which is a common porting defect.</a:t>
            </a:r>
          </a:p>
          <a:p>
            <a:r>
              <a:t>Streaming uses Server-Sent Events. Ordering is normative — events must be delivered in the order generated and must not be reordered — and multiple concurrent subscriptions to one task each receive the full event sequence. Reconnection returns a complete Task object as the first event, by design, so that no state is lost between a read and a subscription.</a:t>
            </a:r>
          </a:p>
          <a:p>
            <a:r>
              <a:t>Push notification is the mode with a security consideration. The specification warns that a server should not issue requests to an arbitrary client-supplied URL, since this is a server-side request forgery and traffic amplification vector. Domain allow-listing and ownership verification are required.</a:t>
            </a:r>
          </a:p>
          <a:p>
            <a:r>
              <a:t>Anticipated question: does the Foundry constraint prevent long-running delegation? In practice yes; the remote unit of work must fit within the caller's timeout.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two independent capabilities with different release status, and conflating them is the most frequent misunderstanding in design review.</a:t>
            </a:r>
          </a:p>
          <a:p>
            <a:r>
              <a:t>Steps one and two describe the inbound path, in which the Foundry agent acts as the A2A server. An external client retrieves the Agent Card that Foundry publishes, authenticates with Microsoft Entra ID, and submits a task to the endpoint under the agent's protocols path. Inbound exposure requires the responses protocol, which prompt agents support by default, and is currently in preview.</a:t>
            </a:r>
          </a:p>
          <a:p>
            <a:r>
              <a:t>Steps three and four describe the outbound path, in which the Foundry agent acts as the A2A client. The agent carries an a2a tool that resolves a project connection of kind RemoteA2A, holding the target endpoint, the audience and the credential. This direction is generally available at protocol version 1.0.</a:t>
            </a:r>
          </a:p>
          <a:p>
            <a:r>
              <a:t>The identity layer at the base of the diagram is not decorative. On the Foundry side every A2A endpoint requires Entra ID authentication and anonymous retrieval of the agent card is not permitted, which differs from the open protocol where anonymous card retrieval is normal.</a:t>
            </a:r>
          </a:p>
          <a:p>
            <a:r>
              <a:t>Anticipated question: can one Foundry agent call another? Yes — expose the target for inbound A2A and configure a connection to 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Outbound integration is a configuration exercise rather than a development one. The decisions that matter are held in the connection, not in the agent code.</a:t>
            </a:r>
          </a:p>
          <a:p>
            <a:r>
              <a:t>On the connection: the authentication type is the significant choice, selected from key-based, the agent's own Entra identity, the project managed identity, OAuth identity passthrough, or unauthenticated. Only OAuth identity passthrough preserves the calling user's context to the remote agent. Where the remote side enforces per-user authorisation, no other option is functionally adequate, and this should be established before development rather than at review.</a:t>
            </a:r>
          </a:p>
          <a:p>
            <a:r>
              <a:t>On the tool definition: send_credentials_for_agent_card defaults to false, meaning the card is retrieved anonymously. It must be set to true where the remote agent protects its card path — which, as noted, Microsoft Foundry itself does. Credentials are transmitted only to the host named in base_url and only over HTTPS.</a:t>
            </a:r>
          </a:p>
          <a:p>
            <a:r>
              <a:t>On versioning: the generally available tool type is a2a. Note that the Azure Developer CLI toolbox flow and several published samples still create the preview type at protocol 0.3.</a:t>
            </a:r>
          </a:p>
          <a:p>
            <a:r>
              <a:t>Anticipated question: how many such tools can one agent carry? The documented limit is 128 registered tools per agent, with no A2A-specific quota published.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Enabling inbound exposure is a single operation, but the defaults it establishes require attention.</a:t>
            </a:r>
          </a:p>
          <a:p>
            <a:r>
              <a:t>The PATCH sets two structures. The agent_card supplies the description, version and the skills to be advertised. The agent_endpoint protocol_configuration must include responses alongside a2a, because inbound A2A is implemented over the responses protocol; an agent that does not support responses cannot be exposed this way.</a:t>
            </a:r>
          </a:p>
          <a:p>
            <a:r>
              <a:t>The behaviour to communicate to consumers is version selection. Where a request does not state a protocol version, Foundry serves preview version 0.3, consistent with the specification's rule that an absent version header denotes 0.3. A client built against version 1.0 that omits the header therefore receives the earlier method names, content model and enumeration values without any explicit error. Consumers should either perform card-based discovery against the 1.0 card path or send the version header explicitly.</a:t>
            </a:r>
          </a:p>
          <a:p>
            <a:r>
              <a:t>The Entra-only constraint is a design input for partner integration: the open protocol anticipates anonymous card retrieval, Foundry does not permit it, so a partner requires an identity in the tenant and a role assignment before they can retrieve the card.</a:t>
            </a:r>
          </a:p>
          <a:p>
            <a:r>
              <a:t>Anticipated question: how long is task state retained? Sixty days from the most recent write, with each write resetting the period.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five outbound methods preserves the identity of the end user, and that single property determines most A2A authorisation designs.</a:t>
            </a:r>
          </a:p>
          <a:p>
            <a:r>
              <a:t>The underlying protocol principle is that A2A payloads carry no identity. Identity is established at the transport layer using schemes declared in the Agent Card, which is why the card must be retrieved before the first authenticated call.</a:t>
            </a:r>
          </a:p>
          <a:p>
            <a:r>
              <a:t>For outbound integration the selection rule is straightforward. Where the remote agent needs only to establish that a trusted system is calling, the agent identity or project managed identity is sufficient. Where it must enforce what a specific user is permitted to access, OAuth identity passthrough is required, and the calling user needs the Foundry Agent Consumer role. Note also that before an agent is published all agents within a project share a common identity; after publication each receives a distinct one.</a:t>
            </a:r>
          </a:p>
          <a:p>
            <a:r>
              <a:t>Inbound is more restrictive than the open protocol: Entra ID only, no key-based authentication, and no anonymous card retrieval.</a:t>
            </a:r>
          </a:p>
          <a:p>
            <a:r>
              <a:t>The unresolved item is network placement, where the isolation matrix and the troubleshooting guidance are not consistent.</a:t>
            </a:r>
          </a:p>
          <a:p>
            <a:r>
              <a:t>Anticipated question: can a remote agent sit behind a private endpoint? Verify against your own topology; the documentation is currently ambiguous.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protocol constraints at the top of the left column exclude a class of designs and should be checked before any commitment is made.</a:t>
            </a:r>
          </a:p>
          <a:p>
            <a:r>
              <a:t>Text-only is the most restrictive. A scenario requiring a document to be transmitted to a remote agent for field extraction cannot be implemented directly; a reference is passed instead, and the remote agent retrieves the content itself. The absence of Server-Sent Events means no intermediate progress is available from a remote agent, which constrains what can be presented to a user during execution.</a:t>
            </a:r>
          </a:p>
          <a:p>
            <a:r>
              <a:t>Sixty-day retention is generous but finite and resets on each write. Where an audit record must be retained longer, task identifiers and outcomes should be copied into an application-owned store as tasks complete.</a:t>
            </a:r>
          </a:p>
          <a:p>
            <a:r>
              <a:t>On instrumentation: the specification's own enterprise guidance directs implementers toward OpenTelemetry and W3C Trace Context, logging task identifier, session identifier and correlation identifiers, and auditing task creation and critical state transitions. Agent card version should be added to that set, since the counterpart can change its declared surface without notification.</a:t>
            </a:r>
          </a:p>
          <a:p>
            <a:r>
              <a:t>Anticipated question: what is the per-request timeout? It is not documented. Measure it in the target environment before designing around a value.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selection criterion is the nature of the counterpart. Where it is a function with a fixed schema, the Model Context Protocol applies. Where it is an autonomous agent, A2A applies.</a:t>
            </a:r>
          </a:p>
          <a:p>
            <a:r>
              <a:t>The row on expressive range carries the substantive difference. A tool invocation states an operation and its arguments. An A2A task states an objective, and the protocol accepts the response that further input is required before the objective can be met, without treating that as a failure. This capability is discarded when an agent is exposed through a tool interface, and it is the principal reason the specification exists.</a:t>
            </a:r>
          </a:p>
          <a:p>
            <a:r>
              <a:t>The ownership row is the practical discriminator in architecture review. Where the counterpart is maintained by a party that changes it independently, a declared capability manifest, a versioned contract and a common task model have measurable value. Within a single codebase, they add a network hop and a protocol to something a direct invocation already performs.</a:t>
            </a:r>
          </a:p>
          <a:p>
            <a:r>
              <a:t>Both specifications have been hosted by the Agentic AI Foundation since 27 August 2026, which settles any question of competing direction.</a:t>
            </a:r>
          </a:p>
          <a:p>
            <a:r>
              <a:t>Anticipated question: can an A2A agent be exposed as a Model Context Protocol tool? For stateless, well-defined skills, yes; the task lifecycle is not preserved.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A2A tool is appropriate where a calling agent delegates a discrete objective and retains control of the interaction. Where a defined multi-step process is required — branching, approval, compensation across several agents — that is orchestration, and belongs in a workflow rather than a tool invocation.</a:t>
            </a:r>
          </a:p>
          <a:p>
            <a:r>
              <a:t>The published guidance is explicit. For lightweight delegation without a formal process, an agent is exposed for inbound A2A and called directly. For orchestration logic maintained on a code-first runtime, Microsoft Agent Framework is identified as the closest equivalent to the retiring workflow designer. For a visual low-code designer, Azure Logic Apps.</a:t>
            </a:r>
          </a:p>
          <a:p>
            <a:r>
              <a:t>These mechanisms are not mutually exclusive. Within Microsoft Agent Framework a remote A2A agent is represented as an agent object in application code and participates in sequential, concurrent, hand-off and group-chat workflows. The common composition is therefore a workflow that orchestrates, with one or more participants reached over A2A.</a:t>
            </a:r>
          </a:p>
          <a:p>
            <a:r>
              <a:t>The withdrawal of Connected Agents should be raised early with any team currently building on the classic API.</a:t>
            </a:r>
          </a:p>
          <a:p>
            <a:r>
              <a:t>Anticipated question: is Microsoft Agent Framework generally available? The .NET A2A packages remain prerelease even though the protocol itself is stable; verify package status before committing to a delivery date.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A2A justifies its additional complexity where the counterpart is not under the caller's control. Within a single codebase the cost generally exceeds the benefit.</a:t>
            </a:r>
          </a:p>
          <a:p>
            <a:r>
              <a:t>The strongest indicator is organisational rather than technical. Where the counterpart is maintained by a party that alters its behaviour without consultation, a declared capability manifest, a versioned contract and an observable task model have direct operational value. Where it is a module in the same repository, A2A introduces a network boundary and a protocol in place of a direct invocation.</a:t>
            </a:r>
          </a:p>
          <a:p>
            <a:r>
              <a:t>The two lower entries in the right-hand column are constraints of the Microsoft Foundry implementation rather than of the specification. The open protocol carries file and structured data parts and supports streaming. Where a scenario requires those capabilities today, the accurate statement is that the Foundry implementation does not yet carry them, not that A2A cannot.</a:t>
            </a:r>
          </a:p>
          <a:p>
            <a:r>
              <a:t>The selection test at the base of the slide is the formulation to use in design sessions, as it separates the cases reliably without requiring familiarity with the specification.</a:t>
            </a:r>
          </a:p>
          <a:p>
            <a:r>
              <a:t>Anticipated question: should an agent be exposed externally at the outset? Rarely. Outbound consumption is generally available while inbound exposure is preview and creates a versioned public contract.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ordering is the substance of this slide. Each phase exists because omitting it produces a specific and predictable failure later.</a:t>
            </a:r>
          </a:p>
          <a:p>
            <a:r>
              <a:t>Phase one is deliberately minimal: one tool, one endpoint under known ownership, one completed task. It validates connectivity, card resolution and credential handling together.</a:t>
            </a:r>
          </a:p>
          <a:p>
            <a:r>
              <a:t>Phase two is where pilot implementations most often fail. A demonstration is built against an unauthenticated or key-based endpoint, and it emerges at security review that the remote agent must enforce per-user authorisation, for which OAuth identity passthrough is the only adequate mechanism. Validating that path early costs approximately one day; establishing it late requires rework of the integration.</a:t>
            </a:r>
          </a:p>
          <a:p>
            <a:r>
              <a:t>Phase three precedes phase four because observability cannot be retrofitted into a distributed task graph once several agents are in place.</a:t>
            </a:r>
          </a:p>
          <a:p>
            <a:r>
              <a:t>Phase five is last deliberately. Inbound exposure is preview, it establishes a versioned public contract with the associated maintenance obligation, and each consumer requires an identity in the tenant and a role assignment.</a:t>
            </a:r>
          </a:p>
          <a:p>
            <a:r>
              <a:t>The advisory at the base is the supply-chain consideration and belongs in any governance discussion.</a:t>
            </a:r>
          </a:p>
          <a:p>
            <a:r>
              <a:t>Anticipated question: what is a realistic duration for phase one? Approximately one day where role assignments already exist; the role assignments are typically the longer lead time.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A2A material available publicly predates version 1.0, and the changes listed on the left are sufficient to cause failure rather than a compatibility warning.</a:t>
            </a:r>
          </a:p>
          <a:p>
            <a:r>
              <a:t>On the specification: the published version is 1.0.1, but only the major and minor components participate in negotiation, so clients state 1.0. Patch releases are corrections and do not affect compatibility.</a:t>
            </a:r>
          </a:p>
          <a:p>
            <a:r>
              <a:t>The governance position is worth stating to any customer who identifies A2A as a Google project. It has not been one since June 2025, when it transferred to the Linux Foundation, and since August 2026 it has been a Growth Stage project at the Agentic AI Foundation, which also hosts the Model Context Protocol. Microsoft holds one of eight technical steering committee seats.</a:t>
            </a:r>
          </a:p>
          <a:p>
            <a:r>
              <a:t>On the Foundry side the distinction to communicate precisely is that outbound consumption is generally available while inbound exposure is preview, and that the earlier preview tool type remains available for existing integrations.</a:t>
            </a:r>
          </a:p>
          <a:p>
            <a:r>
              <a:t>The verification note in the lower right describes a genuine inconsistency between samples and documentation that will affect a developer who begins from a repository.</a:t>
            </a:r>
          </a:p>
          <a:p>
            <a:r>
              <a:t>Anticipated question: should development target 1.0 or 0.3? Version 1.0, with the version header stated explicitly on every request.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content traces to these pages, retrieved on 17 September 2026. Two items for whoever presents this subsequently.</a:t>
            </a:r>
          </a:p>
          <a:p>
            <a:r>
              <a:t>First, the volatile facts. Release status, the regional availability list, the sixty-day retention period and the software development kit version floors change on Microsoft's release cadence. The A2A tool page and the migration page carry the majority of the status claims in this deck and should be re-checked before presentation.</a:t>
            </a:r>
          </a:p>
          <a:p>
            <a:r>
              <a:t>Second, the items that could not be resolved and were therefore deliberately excluded from the slides. No per-request timeout is documented for A2A in Microsoft Foundry, so a value should be measured rather than quoted. Whether a remote A2A target may be reached through a private endpoint is ambiguous: the toolbox network isolation matrix lists A2A as supported through a delegated subnet, while the troubleshooting guidance assumes a publicly resolvable endpoint. And no published documentation relates the A2A task lifecycle to Foundry's long-running agent capability; where that question is raised, the accurate answer is that the relationship is not currently documented.</a:t>
            </a:r>
          </a:p>
          <a:p>
            <a:r>
              <a:t>Anticipated question: where should a developer begin? The delegation sample in the foundry-samples repository, having first read the A2A tool page, since the sample creates the preview tool type.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MICROSOFT FOUNDRY  ·  TECHNICAL DEEP DIVE</a:t>
            </a:r>
          </a:p>
        </p:txBody>
      </p:sp>
      <p:sp>
        <p:nvSpPr>
          <p:cNvPr id="5" name="TextBox 4"/>
          <p:cNvSpPr txBox="1"/>
          <p:nvPr/>
        </p:nvSpPr>
        <p:spPr>
          <a:xfrm>
            <a:off x="914400" y="2203704"/>
            <a:ext cx="10058400" cy="658368"/>
          </a:xfrm>
          <a:prstGeom prst="rect">
            <a:avLst/>
          </a:prstGeom>
          <a:noFill/>
        </p:spPr>
        <p:txBody>
          <a:bodyPr wrap="square" lIns="0" tIns="0" rIns="0" bIns="0" anchor="t">
            <a:spAutoFit/>
          </a:bodyPr>
          <a:lstStyle/>
          <a:p>
            <a:pPr algn="l">
              <a:lnSpc>
                <a:spcPct val="100000"/>
              </a:lnSpc>
            </a:pPr>
            <a:r>
              <a:rPr sz="4400" b="1" i="0" dirty="0">
                <a:solidFill>
                  <a:srgbClr val="FFFFFF"/>
                </a:solidFill>
                <a:latin typeface="Segoe UI"/>
                <a:cs typeface="Segoe UI"/>
              </a:rPr>
              <a:t>Agent2Agent (A2A)</a:t>
            </a:r>
          </a:p>
        </p:txBody>
      </p:sp>
      <p:sp>
        <p:nvSpPr>
          <p:cNvPr id="6" name="TextBox 5"/>
          <p:cNvSpPr txBox="1"/>
          <p:nvPr/>
        </p:nvSpPr>
        <p:spPr>
          <a:xfrm>
            <a:off x="914400" y="2962656"/>
            <a:ext cx="9692640" cy="566928"/>
          </a:xfrm>
          <a:prstGeom prst="rect">
            <a:avLst/>
          </a:prstGeom>
          <a:noFill/>
        </p:spPr>
        <p:txBody>
          <a:bodyPr wrap="square" lIns="0" tIns="0" rIns="0" bIns="0" anchor="t">
            <a:spAutoFit/>
          </a:bodyPr>
          <a:lstStyle/>
          <a:p>
            <a:pPr algn="l">
              <a:lnSpc>
                <a:spcPct val="132000"/>
              </a:lnSpc>
            </a:pPr>
            <a:r>
              <a:rPr sz="1500" b="0" i="0" dirty="0">
                <a:solidFill>
                  <a:srgbClr val="B9C2D6"/>
                </a:solidFill>
                <a:latin typeface="Segoe UI"/>
                <a:cs typeface="Segoe UI"/>
              </a:rPr>
              <a:t>Protocol specification, interaction model, and the implementation</a:t>
            </a:r>
          </a:p>
          <a:p>
            <a:pPr algn="l">
              <a:lnSpc>
                <a:spcPct val="132000"/>
              </a:lnSpc>
            </a:pPr>
            <a:r>
              <a:rPr sz="1500" b="0" i="0" dirty="0">
                <a:solidFill>
                  <a:srgbClr val="B9C2D6"/>
                </a:solidFill>
                <a:latin typeface="Segoe UI"/>
                <a:cs typeface="Segoe UI"/>
              </a:rPr>
              <a:t>provided by Microsoft Foundry Agent Service</a:t>
            </a:r>
          </a:p>
        </p:txBody>
      </p:sp>
      <p:cxnSp>
        <p:nvCxnSpPr>
          <p:cNvPr id="7" name="Connector 6"/>
          <p:cNvCxnSpPr/>
          <p:nvPr/>
        </p:nvCxnSpPr>
        <p:spPr>
          <a:xfrm>
            <a:off x="914400" y="3895344"/>
            <a:ext cx="2011680" cy="0"/>
          </a:xfrm>
          <a:prstGeom prst="line">
            <a:avLst/>
          </a:prstGeom>
          <a:ln w="25400">
            <a:solidFill>
              <a:srgbClr val="00B39F"/>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Solution architects, developers,</a:t>
            </a:r>
          </a:p>
          <a:p>
            <a:pPr algn="l">
              <a:lnSpc>
                <a:spcPct val="128000"/>
              </a:lnSpc>
            </a:pPr>
            <a:r>
              <a:rPr sz="950" b="0" i="0" dirty="0">
                <a:solidFill>
                  <a:srgbClr val="B9C2D6"/>
                </a:solidFill>
                <a:latin typeface="Segoe UI"/>
                <a:cs typeface="Segoe UI"/>
              </a:rPr>
              <a:t>technical decision makers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PROTOCOL VERSION</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A2A 1.0  ·  specification 1.0.1</a:t>
            </a:r>
          </a:p>
          <a:p>
            <a:pPr algn="l">
              <a:lnSpc>
                <a:spcPct val="128000"/>
              </a:lnSpc>
            </a:pPr>
            <a:r>
              <a:rPr sz="950" b="0" i="0" dirty="0">
                <a:solidFill>
                  <a:srgbClr val="B9C2D6"/>
                </a:solidFill>
                <a:latin typeface="Segoe UI"/>
                <a:cs typeface="Segoe UI"/>
              </a:rPr>
              <a:t>Governed by the Agentic AI Foundation</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 VERIFIED</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17 September 2026</a:t>
            </a:r>
          </a:p>
          <a:p>
            <a:pPr algn="l">
              <a:lnSpc>
                <a:spcPct val="128000"/>
              </a:lnSpc>
            </a:pPr>
            <a:r>
              <a:rPr sz="950" b="0" i="0" dirty="0">
                <a:solidFill>
                  <a:srgbClr val="B9C2D6"/>
                </a:solidFill>
                <a:latin typeface="Segoe UI"/>
                <a:cs typeface="Segoe UI"/>
              </a:rPr>
              <a:t>Microsoft Learn, a2a-protocol.org, GitHub</a:t>
            </a:r>
          </a:p>
        </p:txBody>
      </p:sp>
      <p:sp>
        <p:nvSpPr>
          <p:cNvPr id="14" name="TextBox 13"/>
          <p:cNvSpPr txBox="1"/>
          <p:nvPr/>
        </p:nvSpPr>
        <p:spPr>
          <a:xfrm>
            <a:off x="914400" y="5897880"/>
            <a:ext cx="7315200" cy="146194"/>
          </a:xfrm>
          <a:prstGeom prst="rect">
            <a:avLst/>
          </a:prstGeom>
          <a:noFill/>
        </p:spPr>
        <p:txBody>
          <a:bodyPr wrap="square" lIns="0" tIns="0" rIns="0" bIns="0" anchor="t">
            <a:spAutoFit/>
          </a:bodyPr>
          <a:lstStyle/>
          <a:p>
            <a:pPr algn="l">
              <a:lnSpc>
                <a:spcPct val="100000"/>
              </a:lnSpc>
            </a:pPr>
            <a:r>
              <a:rPr lang="en-GB" sz="950" b="0" i="0" dirty="0">
                <a:solidFill>
                  <a:srgbClr val="B9C2D6"/>
                </a:solidFill>
                <a:latin typeface="Segoe UI"/>
                <a:cs typeface="Segoe UI"/>
              </a:rPr>
              <a:t>September 2026</a:t>
            </a:r>
            <a:endParaRPr sz="950" b="0" i="0" dirty="0">
              <a:solidFill>
                <a:srgbClr val="B9C2D6"/>
              </a:solidFill>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AGENDA</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Structure of this session</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Specification first, then the Microsoft Foundry implementation, then selection and adoption criteria</a:t>
            </a:r>
          </a:p>
        </p:txBody>
      </p:sp>
      <p:sp>
        <p:nvSpPr>
          <p:cNvPr id="5" name="TextBox 4"/>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2</a:t>
            </a:r>
          </a:p>
        </p:txBody>
      </p:sp>
      <p:sp>
        <p:nvSpPr>
          <p:cNvPr id="6" name="Rectangle 5"/>
          <p:cNvSpPr/>
          <p:nvPr/>
        </p:nvSpPr>
        <p:spPr>
          <a:xfrm>
            <a:off x="457200" y="1463040"/>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7" name="Rectangle 6"/>
          <p:cNvSpPr/>
          <p:nvPr/>
        </p:nvSpPr>
        <p:spPr>
          <a:xfrm>
            <a:off x="457200" y="1463040"/>
            <a:ext cx="3547872" cy="41148"/>
          </a:xfrm>
          <a:prstGeom prst="rect">
            <a:avLst/>
          </a:prstGeom>
          <a:solidFill>
            <a:srgbClr val="00B39F"/>
          </a:solidFill>
          <a:ln>
            <a:noFill/>
          </a:ln>
          <a:effectLst/>
        </p:spPr>
        <p:txBody>
          <a:bodyPr wrap="square" rtlCol="0" anchor="ctr"/>
          <a:lstStyle/>
          <a:p>
            <a:endParaRPr/>
          </a:p>
        </p:txBody>
      </p:sp>
      <p:sp>
        <p:nvSpPr>
          <p:cNvPr id="8" name="TextBox 7"/>
          <p:cNvSpPr txBox="1"/>
          <p:nvPr/>
        </p:nvSpPr>
        <p:spPr>
          <a:xfrm>
            <a:off x="658368" y="1645920"/>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01</a:t>
            </a:r>
          </a:p>
        </p:txBody>
      </p:sp>
      <p:sp>
        <p:nvSpPr>
          <p:cNvPr id="9" name="TextBox 8"/>
          <p:cNvSpPr txBox="1"/>
          <p:nvPr/>
        </p:nvSpPr>
        <p:spPr>
          <a:xfrm>
            <a:off x="658368" y="2029968"/>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Protocol foundations</a:t>
            </a:r>
          </a:p>
        </p:txBody>
      </p:sp>
      <p:sp>
        <p:nvSpPr>
          <p:cNvPr id="10" name="TextBox 9"/>
          <p:cNvSpPr txBox="1"/>
          <p:nvPr/>
        </p:nvSpPr>
        <p:spPr>
          <a:xfrm>
            <a:off x="658368" y="2340864"/>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Formal definition, design principles,</a:t>
            </a:r>
          </a:p>
          <a:p>
            <a:pPr algn="l">
              <a:lnSpc>
                <a:spcPct val="124000"/>
              </a:lnSpc>
            </a:pPr>
            <a:r>
              <a:rPr sz="850" b="0" i="0" dirty="0">
                <a:solidFill>
                  <a:srgbClr val="44495B"/>
                </a:solidFill>
                <a:latin typeface="Segoe UI"/>
                <a:cs typeface="Segoe UI"/>
              </a:rPr>
              <a:t>declared scope, and the integration</a:t>
            </a:r>
          </a:p>
          <a:p>
            <a:pPr algn="l">
              <a:lnSpc>
                <a:spcPct val="124000"/>
              </a:lnSpc>
            </a:pPr>
            <a:r>
              <a:rPr sz="850" b="0" i="0" dirty="0">
                <a:solidFill>
                  <a:srgbClr val="44495B"/>
                </a:solidFill>
                <a:latin typeface="Segoe UI"/>
                <a:cs typeface="Segoe UI"/>
              </a:rPr>
              <a:t>constraints the specification addresses</a:t>
            </a:r>
          </a:p>
        </p:txBody>
      </p:sp>
      <p:sp>
        <p:nvSpPr>
          <p:cNvPr id="11" name="Rectangle 10"/>
          <p:cNvSpPr/>
          <p:nvPr/>
        </p:nvSpPr>
        <p:spPr>
          <a:xfrm>
            <a:off x="2852928" y="2944368"/>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3–5</a:t>
            </a:r>
          </a:p>
        </p:txBody>
      </p:sp>
      <p:sp>
        <p:nvSpPr>
          <p:cNvPr id="12" name="Rectangle 11"/>
          <p:cNvSpPr/>
          <p:nvPr/>
        </p:nvSpPr>
        <p:spPr>
          <a:xfrm>
            <a:off x="4315968" y="1463040"/>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13" name="Rectangle 12"/>
          <p:cNvSpPr/>
          <p:nvPr/>
        </p:nvSpPr>
        <p:spPr>
          <a:xfrm>
            <a:off x="4315968" y="1463040"/>
            <a:ext cx="3547872" cy="41148"/>
          </a:xfrm>
          <a:prstGeom prst="rect">
            <a:avLst/>
          </a:prstGeom>
          <a:solidFill>
            <a:srgbClr val="00B39F"/>
          </a:solidFill>
          <a:ln>
            <a:noFill/>
          </a:ln>
          <a:effectLst/>
        </p:spPr>
        <p:txBody>
          <a:bodyPr wrap="square" rtlCol="0" anchor="ctr"/>
          <a:lstStyle/>
          <a:p>
            <a:endParaRPr/>
          </a:p>
        </p:txBody>
      </p:sp>
      <p:sp>
        <p:nvSpPr>
          <p:cNvPr id="14" name="TextBox 13"/>
          <p:cNvSpPr txBox="1"/>
          <p:nvPr/>
        </p:nvSpPr>
        <p:spPr>
          <a:xfrm>
            <a:off x="4517136" y="1645920"/>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02</a:t>
            </a:r>
          </a:p>
        </p:txBody>
      </p:sp>
      <p:sp>
        <p:nvSpPr>
          <p:cNvPr id="15" name="TextBox 14"/>
          <p:cNvSpPr txBox="1"/>
          <p:nvPr/>
        </p:nvSpPr>
        <p:spPr>
          <a:xfrm>
            <a:off x="4517136" y="2029968"/>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Protocol mechanics</a:t>
            </a:r>
          </a:p>
        </p:txBody>
      </p:sp>
      <p:sp>
        <p:nvSpPr>
          <p:cNvPr id="16" name="TextBox 15"/>
          <p:cNvSpPr txBox="1"/>
          <p:nvPr/>
        </p:nvSpPr>
        <p:spPr>
          <a:xfrm>
            <a:off x="4517136" y="2340864"/>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Data model, Agent Card structure,</a:t>
            </a:r>
          </a:p>
          <a:p>
            <a:pPr algn="l">
              <a:lnSpc>
                <a:spcPct val="124000"/>
              </a:lnSpc>
            </a:pPr>
            <a:r>
              <a:rPr sz="850" b="0" i="0" dirty="0">
                <a:solidFill>
                  <a:srgbClr val="44495B"/>
                </a:solidFill>
                <a:latin typeface="Segoe UI"/>
                <a:cs typeface="Segoe UI"/>
              </a:rPr>
              <a:t>operation set and transport bindings,</a:t>
            </a:r>
          </a:p>
          <a:p>
            <a:pPr algn="l">
              <a:lnSpc>
                <a:spcPct val="124000"/>
              </a:lnSpc>
            </a:pPr>
            <a:r>
              <a:rPr sz="850" b="0" i="0" dirty="0">
                <a:solidFill>
                  <a:srgbClr val="44495B"/>
                </a:solidFill>
                <a:latin typeface="Segoe UI"/>
                <a:cs typeface="Segoe UI"/>
              </a:rPr>
              <a:t>task state model, interaction modes</a:t>
            </a:r>
          </a:p>
        </p:txBody>
      </p:sp>
      <p:sp>
        <p:nvSpPr>
          <p:cNvPr id="17" name="Rectangle 16"/>
          <p:cNvSpPr/>
          <p:nvPr/>
        </p:nvSpPr>
        <p:spPr>
          <a:xfrm>
            <a:off x="6711696" y="2944368"/>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6–10</a:t>
            </a:r>
          </a:p>
        </p:txBody>
      </p:sp>
      <p:sp>
        <p:nvSpPr>
          <p:cNvPr id="18" name="Rectangle 17"/>
          <p:cNvSpPr/>
          <p:nvPr/>
        </p:nvSpPr>
        <p:spPr>
          <a:xfrm>
            <a:off x="8174736" y="1463040"/>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19" name="Rectangle 18"/>
          <p:cNvSpPr/>
          <p:nvPr/>
        </p:nvSpPr>
        <p:spPr>
          <a:xfrm>
            <a:off x="8174736" y="1463040"/>
            <a:ext cx="3547872" cy="41148"/>
          </a:xfrm>
          <a:prstGeom prst="rect">
            <a:avLst/>
          </a:prstGeom>
          <a:solidFill>
            <a:srgbClr val="00B39F"/>
          </a:solidFill>
          <a:ln>
            <a:noFill/>
          </a:ln>
          <a:effectLst/>
        </p:spPr>
        <p:txBody>
          <a:bodyPr wrap="square" rtlCol="0" anchor="ctr"/>
          <a:lstStyle/>
          <a:p>
            <a:endParaRPr/>
          </a:p>
        </p:txBody>
      </p:sp>
      <p:sp>
        <p:nvSpPr>
          <p:cNvPr id="20" name="TextBox 19"/>
          <p:cNvSpPr txBox="1"/>
          <p:nvPr/>
        </p:nvSpPr>
        <p:spPr>
          <a:xfrm>
            <a:off x="8375904" y="1645920"/>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03</a:t>
            </a:r>
          </a:p>
        </p:txBody>
      </p:sp>
      <p:sp>
        <p:nvSpPr>
          <p:cNvPr id="21" name="TextBox 20"/>
          <p:cNvSpPr txBox="1"/>
          <p:nvPr/>
        </p:nvSpPr>
        <p:spPr>
          <a:xfrm>
            <a:off x="8375904" y="2029968"/>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Foundry implementation</a:t>
            </a:r>
          </a:p>
        </p:txBody>
      </p:sp>
      <p:sp>
        <p:nvSpPr>
          <p:cNvPr id="22" name="TextBox 21"/>
          <p:cNvSpPr txBox="1"/>
          <p:nvPr/>
        </p:nvSpPr>
        <p:spPr>
          <a:xfrm>
            <a:off x="8375904" y="2340864"/>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Implementation architecture, outbound</a:t>
            </a:r>
          </a:p>
          <a:p>
            <a:pPr algn="l">
              <a:lnSpc>
                <a:spcPct val="124000"/>
              </a:lnSpc>
            </a:pPr>
            <a:r>
              <a:rPr sz="850" b="0" i="0" dirty="0">
                <a:solidFill>
                  <a:srgbClr val="44495B"/>
                </a:solidFill>
                <a:latin typeface="Segoe UI"/>
                <a:cs typeface="Segoe UI"/>
              </a:rPr>
              <a:t>consumption of a remote agent, inbound</a:t>
            </a:r>
          </a:p>
          <a:p>
            <a:pPr algn="l">
              <a:lnSpc>
                <a:spcPct val="124000"/>
              </a:lnSpc>
            </a:pPr>
            <a:r>
              <a:rPr sz="850" b="0" i="0" dirty="0">
                <a:solidFill>
                  <a:srgbClr val="44495B"/>
                </a:solidFill>
                <a:latin typeface="Segoe UI"/>
                <a:cs typeface="Segoe UI"/>
              </a:rPr>
              <a:t>exposure of a Foundry agent</a:t>
            </a:r>
          </a:p>
        </p:txBody>
      </p:sp>
      <p:sp>
        <p:nvSpPr>
          <p:cNvPr id="23" name="Rectangle 22"/>
          <p:cNvSpPr/>
          <p:nvPr/>
        </p:nvSpPr>
        <p:spPr>
          <a:xfrm>
            <a:off x="10570464" y="2944368"/>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11–13</a:t>
            </a:r>
          </a:p>
        </p:txBody>
      </p:sp>
      <p:sp>
        <p:nvSpPr>
          <p:cNvPr id="24" name="Rectangle 23"/>
          <p:cNvSpPr/>
          <p:nvPr/>
        </p:nvSpPr>
        <p:spPr>
          <a:xfrm>
            <a:off x="457200" y="3584448"/>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25" name="Rectangle 24"/>
          <p:cNvSpPr/>
          <p:nvPr/>
        </p:nvSpPr>
        <p:spPr>
          <a:xfrm>
            <a:off x="457200" y="3584448"/>
            <a:ext cx="3547872" cy="41148"/>
          </a:xfrm>
          <a:prstGeom prst="rect">
            <a:avLst/>
          </a:prstGeom>
          <a:solidFill>
            <a:srgbClr val="00B39F"/>
          </a:solidFill>
          <a:ln>
            <a:noFill/>
          </a:ln>
          <a:effectLst/>
        </p:spPr>
        <p:txBody>
          <a:bodyPr wrap="square" rtlCol="0" anchor="ctr"/>
          <a:lstStyle/>
          <a:p>
            <a:endParaRPr/>
          </a:p>
        </p:txBody>
      </p:sp>
      <p:sp>
        <p:nvSpPr>
          <p:cNvPr id="26" name="TextBox 25"/>
          <p:cNvSpPr txBox="1"/>
          <p:nvPr/>
        </p:nvSpPr>
        <p:spPr>
          <a:xfrm>
            <a:off x="658368" y="3767328"/>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04</a:t>
            </a:r>
          </a:p>
        </p:txBody>
      </p:sp>
      <p:sp>
        <p:nvSpPr>
          <p:cNvPr id="27" name="TextBox 26"/>
          <p:cNvSpPr txBox="1"/>
          <p:nvPr/>
        </p:nvSpPr>
        <p:spPr>
          <a:xfrm>
            <a:off x="658368" y="4151376"/>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Security and operations</a:t>
            </a:r>
          </a:p>
        </p:txBody>
      </p:sp>
      <p:sp>
        <p:nvSpPr>
          <p:cNvPr id="28" name="TextBox 27"/>
          <p:cNvSpPr txBox="1"/>
          <p:nvPr/>
        </p:nvSpPr>
        <p:spPr>
          <a:xfrm>
            <a:off x="658368" y="4462272"/>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Authentication methods, identity</a:t>
            </a:r>
          </a:p>
          <a:p>
            <a:pPr algn="l">
              <a:lnSpc>
                <a:spcPct val="124000"/>
              </a:lnSpc>
            </a:pPr>
            <a:r>
              <a:rPr sz="850" b="0" i="0" dirty="0">
                <a:solidFill>
                  <a:srgbClr val="44495B"/>
                </a:solidFill>
                <a:latin typeface="Segoe UI"/>
                <a:cs typeface="Segoe UI"/>
              </a:rPr>
              <a:t>propagation, network boundaries,</a:t>
            </a:r>
          </a:p>
          <a:p>
            <a:pPr algn="l">
              <a:lnSpc>
                <a:spcPct val="124000"/>
              </a:lnSpc>
            </a:pPr>
            <a:r>
              <a:rPr sz="850" b="0" i="0" dirty="0">
                <a:solidFill>
                  <a:srgbClr val="44495B"/>
                </a:solidFill>
                <a:latin typeface="Segoe UI"/>
                <a:cs typeface="Segoe UI"/>
              </a:rPr>
              <a:t>service constraints, observability</a:t>
            </a:r>
          </a:p>
        </p:txBody>
      </p:sp>
      <p:sp>
        <p:nvSpPr>
          <p:cNvPr id="29" name="Rectangle 28"/>
          <p:cNvSpPr/>
          <p:nvPr/>
        </p:nvSpPr>
        <p:spPr>
          <a:xfrm>
            <a:off x="2852928" y="5065776"/>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14–15</a:t>
            </a:r>
          </a:p>
        </p:txBody>
      </p:sp>
      <p:sp>
        <p:nvSpPr>
          <p:cNvPr id="30" name="Rectangle 29"/>
          <p:cNvSpPr/>
          <p:nvPr/>
        </p:nvSpPr>
        <p:spPr>
          <a:xfrm>
            <a:off x="4315968" y="3584448"/>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31" name="Rectangle 30"/>
          <p:cNvSpPr/>
          <p:nvPr/>
        </p:nvSpPr>
        <p:spPr>
          <a:xfrm>
            <a:off x="4315968" y="3584448"/>
            <a:ext cx="3547872" cy="41148"/>
          </a:xfrm>
          <a:prstGeom prst="rect">
            <a:avLst/>
          </a:prstGeom>
          <a:solidFill>
            <a:srgbClr val="00B39F"/>
          </a:solidFill>
          <a:ln>
            <a:noFill/>
          </a:ln>
          <a:effectLst/>
        </p:spPr>
        <p:txBody>
          <a:bodyPr wrap="square" rtlCol="0" anchor="ctr"/>
          <a:lstStyle/>
          <a:p>
            <a:endParaRPr/>
          </a:p>
        </p:txBody>
      </p:sp>
      <p:sp>
        <p:nvSpPr>
          <p:cNvPr id="32" name="TextBox 31"/>
          <p:cNvSpPr txBox="1"/>
          <p:nvPr/>
        </p:nvSpPr>
        <p:spPr>
          <a:xfrm>
            <a:off x="4517136" y="3767328"/>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05</a:t>
            </a:r>
          </a:p>
        </p:txBody>
      </p:sp>
      <p:sp>
        <p:nvSpPr>
          <p:cNvPr id="33" name="TextBox 32"/>
          <p:cNvSpPr txBox="1"/>
          <p:nvPr/>
        </p:nvSpPr>
        <p:spPr>
          <a:xfrm>
            <a:off x="4517136" y="4151376"/>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Architectural positioning</a:t>
            </a:r>
          </a:p>
        </p:txBody>
      </p:sp>
      <p:sp>
        <p:nvSpPr>
          <p:cNvPr id="34" name="TextBox 33"/>
          <p:cNvSpPr txBox="1"/>
          <p:nvPr/>
        </p:nvSpPr>
        <p:spPr>
          <a:xfrm>
            <a:off x="4517136" y="4462272"/>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Comparison with the Model Context</a:t>
            </a:r>
          </a:p>
          <a:p>
            <a:pPr algn="l">
              <a:lnSpc>
                <a:spcPct val="124000"/>
              </a:lnSpc>
            </a:pPr>
            <a:r>
              <a:rPr sz="850" b="0" i="0" dirty="0">
                <a:solidFill>
                  <a:srgbClr val="44495B"/>
                </a:solidFill>
                <a:latin typeface="Segoe UI"/>
                <a:cs typeface="Segoe UI"/>
              </a:rPr>
              <a:t>Protocol, mechanism selection within</a:t>
            </a:r>
          </a:p>
          <a:p>
            <a:pPr algn="l">
              <a:lnSpc>
                <a:spcPct val="124000"/>
              </a:lnSpc>
            </a:pPr>
            <a:r>
              <a:rPr sz="850" b="0" i="0" dirty="0">
                <a:solidFill>
                  <a:srgbClr val="44495B"/>
                </a:solidFill>
                <a:latin typeface="Segoe UI"/>
                <a:cs typeface="Segoe UI"/>
              </a:rPr>
              <a:t>Foundry, applicability criteria</a:t>
            </a:r>
          </a:p>
        </p:txBody>
      </p:sp>
      <p:sp>
        <p:nvSpPr>
          <p:cNvPr id="35" name="Rectangle 34"/>
          <p:cNvSpPr/>
          <p:nvPr/>
        </p:nvSpPr>
        <p:spPr>
          <a:xfrm>
            <a:off x="6711696" y="5065776"/>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16–18</a:t>
            </a:r>
          </a:p>
        </p:txBody>
      </p:sp>
      <p:sp>
        <p:nvSpPr>
          <p:cNvPr id="36" name="Rectangle 35"/>
          <p:cNvSpPr/>
          <p:nvPr/>
        </p:nvSpPr>
        <p:spPr>
          <a:xfrm>
            <a:off x="8174736" y="3584448"/>
            <a:ext cx="3547872" cy="1883664"/>
          </a:xfrm>
          <a:prstGeom prst="rect">
            <a:avLst/>
          </a:prstGeom>
          <a:solidFill>
            <a:srgbClr val="F6F8FD"/>
          </a:solidFill>
          <a:ln w="9525">
            <a:solidFill>
              <a:srgbClr val="E1E7F4"/>
            </a:solidFill>
          </a:ln>
          <a:effectLst/>
        </p:spPr>
        <p:txBody>
          <a:bodyPr wrap="square" rtlCol="0" anchor="ctr"/>
          <a:lstStyle/>
          <a:p>
            <a:endParaRPr/>
          </a:p>
        </p:txBody>
      </p:sp>
      <p:sp>
        <p:nvSpPr>
          <p:cNvPr id="37" name="Rectangle 36"/>
          <p:cNvSpPr/>
          <p:nvPr/>
        </p:nvSpPr>
        <p:spPr>
          <a:xfrm>
            <a:off x="8174736" y="3584448"/>
            <a:ext cx="3547872" cy="41148"/>
          </a:xfrm>
          <a:prstGeom prst="rect">
            <a:avLst/>
          </a:prstGeom>
          <a:solidFill>
            <a:srgbClr val="00B39F"/>
          </a:solidFill>
          <a:ln>
            <a:noFill/>
          </a:ln>
          <a:effectLst/>
        </p:spPr>
        <p:txBody>
          <a:bodyPr wrap="square" rtlCol="0" anchor="ctr"/>
          <a:lstStyle/>
          <a:p>
            <a:endParaRPr/>
          </a:p>
        </p:txBody>
      </p:sp>
      <p:sp>
        <p:nvSpPr>
          <p:cNvPr id="38" name="TextBox 37"/>
          <p:cNvSpPr txBox="1"/>
          <p:nvPr/>
        </p:nvSpPr>
        <p:spPr>
          <a:xfrm>
            <a:off x="8375904" y="3767328"/>
            <a:ext cx="731520" cy="274320"/>
          </a:xfrm>
          <a:prstGeom prst="rect">
            <a:avLst/>
          </a:prstGeom>
          <a:noFill/>
        </p:spPr>
        <p:txBody>
          <a:bodyPr wrap="square" lIns="0" tIns="0" rIns="0" bIns="0" anchor="t">
            <a:spAutoFit/>
          </a:bodyPr>
          <a:lstStyle/>
          <a:p>
            <a:pPr algn="l">
              <a:lnSpc>
                <a:spcPct val="100000"/>
              </a:lnSpc>
            </a:pPr>
            <a:r>
              <a:rPr sz="1700" b="1" i="0" dirty="0">
                <a:solidFill>
                  <a:srgbClr val="008173"/>
                </a:solidFill>
                <a:latin typeface="Segoe UI"/>
                <a:cs typeface="Segoe UI"/>
              </a:rPr>
              <a:t>06</a:t>
            </a:r>
          </a:p>
        </p:txBody>
      </p:sp>
      <p:sp>
        <p:nvSpPr>
          <p:cNvPr id="39" name="TextBox 38"/>
          <p:cNvSpPr txBox="1"/>
          <p:nvPr/>
        </p:nvSpPr>
        <p:spPr>
          <a:xfrm>
            <a:off x="8375904" y="4151376"/>
            <a:ext cx="3145536" cy="237744"/>
          </a:xfrm>
          <a:prstGeom prst="rect">
            <a:avLst/>
          </a:prstGeom>
          <a:noFill/>
        </p:spPr>
        <p:txBody>
          <a:bodyPr wrap="square" lIns="0" tIns="0" rIns="0" bIns="0" anchor="t">
            <a:spAutoFit/>
          </a:bodyPr>
          <a:lstStyle/>
          <a:p>
            <a:pPr algn="l">
              <a:lnSpc>
                <a:spcPct val="100000"/>
              </a:lnSpc>
            </a:pPr>
            <a:r>
              <a:rPr sz="1250" b="1" i="0" dirty="0">
                <a:solidFill>
                  <a:srgbClr val="101A3C"/>
                </a:solidFill>
                <a:latin typeface="Segoe UI"/>
                <a:cs typeface="Segoe UI"/>
              </a:rPr>
              <a:t>Adoption and status</a:t>
            </a:r>
          </a:p>
        </p:txBody>
      </p:sp>
      <p:sp>
        <p:nvSpPr>
          <p:cNvPr id="40" name="TextBox 39"/>
          <p:cNvSpPr txBox="1"/>
          <p:nvPr/>
        </p:nvSpPr>
        <p:spPr>
          <a:xfrm>
            <a:off x="8375904" y="4462272"/>
            <a:ext cx="3145536" cy="731520"/>
          </a:xfrm>
          <a:prstGeom prst="rect">
            <a:avLst/>
          </a:prstGeom>
          <a:noFill/>
        </p:spPr>
        <p:txBody>
          <a:bodyPr wrap="square" lIns="0" tIns="0" rIns="0" bIns="0" anchor="t">
            <a:spAutoFit/>
          </a:bodyPr>
          <a:lstStyle/>
          <a:p>
            <a:pPr algn="l">
              <a:lnSpc>
                <a:spcPct val="124000"/>
              </a:lnSpc>
            </a:pPr>
            <a:r>
              <a:rPr sz="850" b="0" i="0" dirty="0">
                <a:solidFill>
                  <a:srgbClr val="44495B"/>
                </a:solidFill>
                <a:latin typeface="Segoe UI"/>
                <a:cs typeface="Segoe UI"/>
              </a:rPr>
              <a:t>Phased implementation sequence,</a:t>
            </a:r>
          </a:p>
          <a:p>
            <a:pPr algn="l">
              <a:lnSpc>
                <a:spcPct val="124000"/>
              </a:lnSpc>
            </a:pPr>
            <a:r>
              <a:rPr sz="850" b="0" i="0" dirty="0">
                <a:solidFill>
                  <a:srgbClr val="44495B"/>
                </a:solidFill>
                <a:latin typeface="Segoe UI"/>
                <a:cs typeface="Segoe UI"/>
              </a:rPr>
              <a:t>release status, version compatibility,</a:t>
            </a:r>
          </a:p>
          <a:p>
            <a:pPr algn="l">
              <a:lnSpc>
                <a:spcPct val="124000"/>
              </a:lnSpc>
            </a:pPr>
            <a:r>
              <a:rPr sz="850" b="0" i="0" dirty="0">
                <a:solidFill>
                  <a:srgbClr val="44495B"/>
                </a:solidFill>
                <a:latin typeface="Segoe UI"/>
                <a:cs typeface="Segoe UI"/>
              </a:rPr>
              <a:t>and source references</a:t>
            </a:r>
          </a:p>
        </p:txBody>
      </p:sp>
      <p:sp>
        <p:nvSpPr>
          <p:cNvPr id="41" name="Rectangle 40"/>
          <p:cNvSpPr/>
          <p:nvPr/>
        </p:nvSpPr>
        <p:spPr>
          <a:xfrm>
            <a:off x="10570464" y="5065776"/>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19–21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PROTOCOL FOUNDATIONS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Definition, design principles and declared scope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What the specification standardises, the principles it is built on, and what it deliberately excludes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a2a-protocol.org/latest/specification</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3</a:t>
            </a:r>
          </a:p>
        </p:txBody>
      </p:sp>
      <p:sp>
        <p:nvSpPr>
          <p:cNvPr id="7" name="Rectangle 6"/>
          <p:cNvSpPr/>
          <p:nvPr/>
        </p:nvSpPr>
        <p:spPr>
          <a:xfrm>
            <a:off x="457200" y="1335024"/>
            <a:ext cx="11277295" cy="548640"/>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713232" y="1453896"/>
            <a:ext cx="10765231" cy="365760"/>
          </a:xfrm>
          <a:prstGeom prst="rect">
            <a:avLst/>
          </a:prstGeom>
          <a:noFill/>
        </p:spPr>
        <p:txBody>
          <a:bodyPr wrap="square" lIns="0" tIns="0" rIns="0" bIns="0" anchor="t">
            <a:spAutoFit/>
          </a:bodyPr>
          <a:lstStyle/>
          <a:p>
            <a:pPr algn="l">
              <a:lnSpc>
                <a:spcPct val="124000"/>
              </a:lnSpc>
            </a:pPr>
            <a:r>
              <a:rPr sz="1050" b="0" i="0" dirty="0">
                <a:solidFill>
                  <a:srgbClr val="FFFFFF"/>
                </a:solidFill>
                <a:latin typeface="Segoe UI"/>
                <a:cs typeface="Segoe UI"/>
              </a:rPr>
              <a:t>An open standard enabling independent, opaque agent systems to discover each other’s declared capabilities, negotiate interaction modalities, and manage a shared task — without access to each other’s internal state, memory or tool implementations.</a:t>
            </a:r>
          </a:p>
        </p:txBody>
      </p:sp>
      <p:sp>
        <p:nvSpPr>
          <p:cNvPr id="9" name="TextBox 8"/>
          <p:cNvSpPr txBox="1"/>
          <p:nvPr/>
        </p:nvSpPr>
        <p:spPr>
          <a:xfrm>
            <a:off x="457200" y="2066543"/>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DESIGN PRINCIPLES STATED BY THE SPECIFICATION</a:t>
            </a:r>
          </a:p>
        </p:txBody>
      </p:sp>
      <p:sp>
        <p:nvSpPr>
          <p:cNvPr id="10" name="Rectangle 9"/>
          <p:cNvSpPr/>
          <p:nvPr/>
        </p:nvSpPr>
        <p:spPr>
          <a:xfrm>
            <a:off x="457200" y="2304288"/>
            <a:ext cx="2148840" cy="1207008"/>
          </a:xfrm>
          <a:prstGeom prst="rect">
            <a:avLst/>
          </a:prstGeom>
          <a:solidFill>
            <a:srgbClr val="F6F8FD"/>
          </a:solidFill>
          <a:ln w="9525">
            <a:solidFill>
              <a:srgbClr val="E1E7F4"/>
            </a:solidFill>
          </a:ln>
          <a:effectLst/>
        </p:spPr>
        <p:txBody>
          <a:bodyPr wrap="square" rtlCol="0" anchor="ctr"/>
          <a:lstStyle/>
          <a:p>
            <a:endParaRPr/>
          </a:p>
        </p:txBody>
      </p:sp>
      <p:sp>
        <p:nvSpPr>
          <p:cNvPr id="11" name="Rectangle 10"/>
          <p:cNvSpPr/>
          <p:nvPr/>
        </p:nvSpPr>
        <p:spPr>
          <a:xfrm>
            <a:off x="457200" y="2304288"/>
            <a:ext cx="2148840" cy="41148"/>
          </a:xfrm>
          <a:prstGeom prst="rect">
            <a:avLst/>
          </a:prstGeom>
          <a:solidFill>
            <a:srgbClr val="00B39F"/>
          </a:solidFill>
          <a:ln>
            <a:noFill/>
          </a:ln>
          <a:effectLst/>
        </p:spPr>
        <p:txBody>
          <a:bodyPr wrap="square" rtlCol="0" anchor="ctr"/>
          <a:lstStyle/>
          <a:p>
            <a:endParaRPr/>
          </a:p>
        </p:txBody>
      </p:sp>
      <p:sp>
        <p:nvSpPr>
          <p:cNvPr id="12" name="TextBox 11"/>
          <p:cNvSpPr txBox="1"/>
          <p:nvPr/>
        </p:nvSpPr>
        <p:spPr>
          <a:xfrm>
            <a:off x="621792" y="2468880"/>
            <a:ext cx="1819656"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Simple</a:t>
            </a:r>
          </a:p>
        </p:txBody>
      </p:sp>
      <p:sp>
        <p:nvSpPr>
          <p:cNvPr id="13" name="TextBox 12"/>
          <p:cNvSpPr txBox="1"/>
          <p:nvPr/>
        </p:nvSpPr>
        <p:spPr>
          <a:xfrm>
            <a:off x="621792" y="2743200"/>
            <a:ext cx="1819656"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Reuses HTTP, JSON-RPC 2.0 and</a:t>
            </a:r>
          </a:p>
          <a:p>
            <a:pPr algn="l">
              <a:lnSpc>
                <a:spcPct val="120000"/>
              </a:lnSpc>
            </a:pPr>
            <a:r>
              <a:rPr sz="800" b="0" i="0" dirty="0">
                <a:solidFill>
                  <a:srgbClr val="44495B"/>
                </a:solidFill>
                <a:latin typeface="Segoe UI"/>
                <a:cs typeface="Segoe UI"/>
              </a:rPr>
              <a:t>Server-Sent Events rather than</a:t>
            </a:r>
          </a:p>
          <a:p>
            <a:pPr algn="l">
              <a:lnSpc>
                <a:spcPct val="120000"/>
              </a:lnSpc>
            </a:pPr>
            <a:r>
              <a:rPr sz="800" b="0" i="0" dirty="0">
                <a:solidFill>
                  <a:srgbClr val="44495B"/>
                </a:solidFill>
                <a:latin typeface="Segoe UI"/>
                <a:cs typeface="Segoe UI"/>
              </a:rPr>
              <a:t>defining new transport machinery.</a:t>
            </a:r>
          </a:p>
        </p:txBody>
      </p:sp>
      <p:sp>
        <p:nvSpPr>
          <p:cNvPr id="14" name="Rectangle 13"/>
          <p:cNvSpPr/>
          <p:nvPr/>
        </p:nvSpPr>
        <p:spPr>
          <a:xfrm>
            <a:off x="2724912" y="2304288"/>
            <a:ext cx="2148840" cy="1207008"/>
          </a:xfrm>
          <a:prstGeom prst="rect">
            <a:avLst/>
          </a:prstGeom>
          <a:solidFill>
            <a:srgbClr val="F6F8FD"/>
          </a:solidFill>
          <a:ln w="9525">
            <a:solidFill>
              <a:srgbClr val="E1E7F4"/>
            </a:solidFill>
          </a:ln>
          <a:effectLst/>
        </p:spPr>
        <p:txBody>
          <a:bodyPr wrap="square" rtlCol="0" anchor="ctr"/>
          <a:lstStyle/>
          <a:p>
            <a:endParaRPr/>
          </a:p>
        </p:txBody>
      </p:sp>
      <p:sp>
        <p:nvSpPr>
          <p:cNvPr id="15" name="Rectangle 14"/>
          <p:cNvSpPr/>
          <p:nvPr/>
        </p:nvSpPr>
        <p:spPr>
          <a:xfrm>
            <a:off x="2724912" y="2304288"/>
            <a:ext cx="2148840" cy="41148"/>
          </a:xfrm>
          <a:prstGeom prst="rect">
            <a:avLst/>
          </a:prstGeom>
          <a:solidFill>
            <a:srgbClr val="00B39F"/>
          </a:solidFill>
          <a:ln>
            <a:noFill/>
          </a:ln>
          <a:effectLst/>
        </p:spPr>
        <p:txBody>
          <a:bodyPr wrap="square" rtlCol="0" anchor="ctr"/>
          <a:lstStyle/>
          <a:p>
            <a:endParaRPr/>
          </a:p>
        </p:txBody>
      </p:sp>
      <p:sp>
        <p:nvSpPr>
          <p:cNvPr id="16" name="TextBox 15"/>
          <p:cNvSpPr txBox="1"/>
          <p:nvPr/>
        </p:nvSpPr>
        <p:spPr>
          <a:xfrm>
            <a:off x="2889504" y="2468880"/>
            <a:ext cx="1819656"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Enterprise ready</a:t>
            </a:r>
          </a:p>
        </p:txBody>
      </p:sp>
      <p:sp>
        <p:nvSpPr>
          <p:cNvPr id="17" name="TextBox 16"/>
          <p:cNvSpPr txBox="1"/>
          <p:nvPr/>
        </p:nvSpPr>
        <p:spPr>
          <a:xfrm>
            <a:off x="2889504" y="2743200"/>
            <a:ext cx="1819656"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Authentication, authorisation and</a:t>
            </a:r>
          </a:p>
          <a:p>
            <a:pPr algn="l">
              <a:lnSpc>
                <a:spcPct val="120000"/>
              </a:lnSpc>
            </a:pPr>
            <a:r>
              <a:rPr sz="800" b="0" i="0" dirty="0">
                <a:solidFill>
                  <a:srgbClr val="44495B"/>
                </a:solidFill>
                <a:latin typeface="Segoe UI"/>
                <a:cs typeface="Segoe UI"/>
              </a:rPr>
              <a:t>observability use established</a:t>
            </a:r>
          </a:p>
          <a:p>
            <a:pPr algn="l">
              <a:lnSpc>
                <a:spcPct val="120000"/>
              </a:lnSpc>
            </a:pPr>
            <a:r>
              <a:rPr sz="800" b="0" i="0" dirty="0">
                <a:solidFill>
                  <a:srgbClr val="44495B"/>
                </a:solidFill>
                <a:latin typeface="Segoe UI"/>
                <a:cs typeface="Segoe UI"/>
              </a:rPr>
              <a:t>standards, not protocol-specific ones.</a:t>
            </a:r>
          </a:p>
        </p:txBody>
      </p:sp>
      <p:sp>
        <p:nvSpPr>
          <p:cNvPr id="18" name="Rectangle 17"/>
          <p:cNvSpPr/>
          <p:nvPr/>
        </p:nvSpPr>
        <p:spPr>
          <a:xfrm>
            <a:off x="4992624" y="2304288"/>
            <a:ext cx="2148840" cy="1207008"/>
          </a:xfrm>
          <a:prstGeom prst="rect">
            <a:avLst/>
          </a:prstGeom>
          <a:solidFill>
            <a:srgbClr val="F6F8FD"/>
          </a:solidFill>
          <a:ln w="9525">
            <a:solidFill>
              <a:srgbClr val="E1E7F4"/>
            </a:solidFill>
          </a:ln>
          <a:effectLst/>
        </p:spPr>
        <p:txBody>
          <a:bodyPr wrap="square" rtlCol="0" anchor="ctr"/>
          <a:lstStyle/>
          <a:p>
            <a:endParaRPr/>
          </a:p>
        </p:txBody>
      </p:sp>
      <p:sp>
        <p:nvSpPr>
          <p:cNvPr id="19" name="Rectangle 18"/>
          <p:cNvSpPr/>
          <p:nvPr/>
        </p:nvSpPr>
        <p:spPr>
          <a:xfrm>
            <a:off x="4992624" y="2304288"/>
            <a:ext cx="2148840" cy="41148"/>
          </a:xfrm>
          <a:prstGeom prst="rect">
            <a:avLst/>
          </a:prstGeom>
          <a:solidFill>
            <a:srgbClr val="00B39F"/>
          </a:solidFill>
          <a:ln>
            <a:noFill/>
          </a:ln>
          <a:effectLst/>
        </p:spPr>
        <p:txBody>
          <a:bodyPr wrap="square" rtlCol="0" anchor="ctr"/>
          <a:lstStyle/>
          <a:p>
            <a:endParaRPr/>
          </a:p>
        </p:txBody>
      </p:sp>
      <p:sp>
        <p:nvSpPr>
          <p:cNvPr id="20" name="TextBox 19"/>
          <p:cNvSpPr txBox="1"/>
          <p:nvPr/>
        </p:nvSpPr>
        <p:spPr>
          <a:xfrm>
            <a:off x="5157216" y="2468880"/>
            <a:ext cx="1819656"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Asynchronous first</a:t>
            </a:r>
          </a:p>
        </p:txBody>
      </p:sp>
      <p:sp>
        <p:nvSpPr>
          <p:cNvPr id="21" name="TextBox 20"/>
          <p:cNvSpPr txBox="1"/>
          <p:nvPr/>
        </p:nvSpPr>
        <p:spPr>
          <a:xfrm>
            <a:off x="5157216" y="2743200"/>
            <a:ext cx="1819656"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The task model assumes long-running</a:t>
            </a:r>
          </a:p>
          <a:p>
            <a:pPr algn="l">
              <a:lnSpc>
                <a:spcPct val="120000"/>
              </a:lnSpc>
            </a:pPr>
            <a:r>
              <a:rPr sz="800" b="0" i="0" dirty="0">
                <a:solidFill>
                  <a:srgbClr val="44495B"/>
                </a:solidFill>
                <a:latin typeface="Segoe UI"/>
                <a:cs typeface="Segoe UI"/>
              </a:rPr>
              <a:t>work and interruption for human or</a:t>
            </a:r>
          </a:p>
          <a:p>
            <a:pPr algn="l">
              <a:lnSpc>
                <a:spcPct val="120000"/>
              </a:lnSpc>
            </a:pPr>
            <a:r>
              <a:rPr sz="800" b="0" i="0" dirty="0">
                <a:solidFill>
                  <a:srgbClr val="44495B"/>
                </a:solidFill>
                <a:latin typeface="Segoe UI"/>
                <a:cs typeface="Segoe UI"/>
              </a:rPr>
              <a:t>system input as normal conditions.</a:t>
            </a:r>
          </a:p>
        </p:txBody>
      </p:sp>
      <p:sp>
        <p:nvSpPr>
          <p:cNvPr id="22" name="Rectangle 21"/>
          <p:cNvSpPr/>
          <p:nvPr/>
        </p:nvSpPr>
        <p:spPr>
          <a:xfrm>
            <a:off x="7260336" y="2304288"/>
            <a:ext cx="2148840" cy="1207008"/>
          </a:xfrm>
          <a:prstGeom prst="rect">
            <a:avLst/>
          </a:prstGeom>
          <a:solidFill>
            <a:srgbClr val="F6F8FD"/>
          </a:solidFill>
          <a:ln w="9525">
            <a:solidFill>
              <a:srgbClr val="E1E7F4"/>
            </a:solidFill>
          </a:ln>
          <a:effectLst/>
        </p:spPr>
        <p:txBody>
          <a:bodyPr wrap="square" rtlCol="0" anchor="ctr"/>
          <a:lstStyle/>
          <a:p>
            <a:endParaRPr/>
          </a:p>
        </p:txBody>
      </p:sp>
      <p:sp>
        <p:nvSpPr>
          <p:cNvPr id="23" name="Rectangle 22"/>
          <p:cNvSpPr/>
          <p:nvPr/>
        </p:nvSpPr>
        <p:spPr>
          <a:xfrm>
            <a:off x="7260336" y="2304288"/>
            <a:ext cx="2148840" cy="41148"/>
          </a:xfrm>
          <a:prstGeom prst="rect">
            <a:avLst/>
          </a:prstGeom>
          <a:solidFill>
            <a:srgbClr val="00B39F"/>
          </a:solidFill>
          <a:ln>
            <a:noFill/>
          </a:ln>
          <a:effectLst/>
        </p:spPr>
        <p:txBody>
          <a:bodyPr wrap="square" rtlCol="0" anchor="ctr"/>
          <a:lstStyle/>
          <a:p>
            <a:endParaRPr/>
          </a:p>
        </p:txBody>
      </p:sp>
      <p:sp>
        <p:nvSpPr>
          <p:cNvPr id="24" name="TextBox 23"/>
          <p:cNvSpPr txBox="1"/>
          <p:nvPr/>
        </p:nvSpPr>
        <p:spPr>
          <a:xfrm>
            <a:off x="7424927" y="2468880"/>
            <a:ext cx="1819656"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Modality agnostic</a:t>
            </a:r>
          </a:p>
        </p:txBody>
      </p:sp>
      <p:sp>
        <p:nvSpPr>
          <p:cNvPr id="25" name="TextBox 24"/>
          <p:cNvSpPr txBox="1"/>
          <p:nvPr/>
        </p:nvSpPr>
        <p:spPr>
          <a:xfrm>
            <a:off x="7424927" y="2743200"/>
            <a:ext cx="1819656"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Content is carried as typed parts:</a:t>
            </a:r>
          </a:p>
          <a:p>
            <a:pPr algn="l">
              <a:lnSpc>
                <a:spcPct val="120000"/>
              </a:lnSpc>
            </a:pPr>
            <a:r>
              <a:rPr sz="800" b="0" i="0" dirty="0">
                <a:solidFill>
                  <a:srgbClr val="44495B"/>
                </a:solidFill>
                <a:latin typeface="Segoe UI"/>
                <a:cs typeface="Segoe UI"/>
              </a:rPr>
              <a:t>text, binary, referenced files or</a:t>
            </a:r>
          </a:p>
          <a:p>
            <a:pPr algn="l">
              <a:lnSpc>
                <a:spcPct val="120000"/>
              </a:lnSpc>
            </a:pPr>
            <a:r>
              <a:rPr sz="800" b="0" i="0" dirty="0">
                <a:solidFill>
                  <a:srgbClr val="44495B"/>
                </a:solidFill>
                <a:latin typeface="Segoe UI"/>
                <a:cs typeface="Segoe UI"/>
              </a:rPr>
              <a:t>structured data.</a:t>
            </a:r>
          </a:p>
        </p:txBody>
      </p:sp>
      <p:sp>
        <p:nvSpPr>
          <p:cNvPr id="26" name="Rectangle 25"/>
          <p:cNvSpPr/>
          <p:nvPr/>
        </p:nvSpPr>
        <p:spPr>
          <a:xfrm>
            <a:off x="9528048" y="2304288"/>
            <a:ext cx="2148840" cy="1207008"/>
          </a:xfrm>
          <a:prstGeom prst="rect">
            <a:avLst/>
          </a:prstGeom>
          <a:solidFill>
            <a:srgbClr val="F6F8FD"/>
          </a:solidFill>
          <a:ln w="9525">
            <a:solidFill>
              <a:srgbClr val="E1E7F4"/>
            </a:solidFill>
          </a:ln>
          <a:effectLst/>
        </p:spPr>
        <p:txBody>
          <a:bodyPr wrap="square" rtlCol="0" anchor="ctr"/>
          <a:lstStyle/>
          <a:p>
            <a:endParaRPr/>
          </a:p>
        </p:txBody>
      </p:sp>
      <p:sp>
        <p:nvSpPr>
          <p:cNvPr id="27" name="Rectangle 26"/>
          <p:cNvSpPr/>
          <p:nvPr/>
        </p:nvSpPr>
        <p:spPr>
          <a:xfrm>
            <a:off x="9528048" y="2304288"/>
            <a:ext cx="2148840" cy="41148"/>
          </a:xfrm>
          <a:prstGeom prst="rect">
            <a:avLst/>
          </a:prstGeom>
          <a:solidFill>
            <a:srgbClr val="00B39F"/>
          </a:solidFill>
          <a:ln>
            <a:noFill/>
          </a:ln>
          <a:effectLst/>
        </p:spPr>
        <p:txBody>
          <a:bodyPr wrap="square" rtlCol="0" anchor="ctr"/>
          <a:lstStyle/>
          <a:p>
            <a:endParaRPr/>
          </a:p>
        </p:txBody>
      </p:sp>
      <p:sp>
        <p:nvSpPr>
          <p:cNvPr id="28" name="TextBox 27"/>
          <p:cNvSpPr txBox="1"/>
          <p:nvPr/>
        </p:nvSpPr>
        <p:spPr>
          <a:xfrm>
            <a:off x="9692640" y="2468880"/>
            <a:ext cx="1819656"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Opaque execution</a:t>
            </a:r>
          </a:p>
        </p:txBody>
      </p:sp>
      <p:sp>
        <p:nvSpPr>
          <p:cNvPr id="29" name="TextBox 28"/>
          <p:cNvSpPr txBox="1"/>
          <p:nvPr/>
        </p:nvSpPr>
        <p:spPr>
          <a:xfrm>
            <a:off x="9692640" y="2743200"/>
            <a:ext cx="1819656"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Collaboration is based on declared</a:t>
            </a:r>
          </a:p>
          <a:p>
            <a:pPr algn="l">
              <a:lnSpc>
                <a:spcPct val="120000"/>
              </a:lnSpc>
            </a:pPr>
            <a:r>
              <a:rPr sz="800" b="0" i="0" dirty="0">
                <a:solidFill>
                  <a:srgbClr val="44495B"/>
                </a:solidFill>
                <a:latin typeface="Segoe UI"/>
                <a:cs typeface="Segoe UI"/>
              </a:rPr>
              <a:t>capability and exchanged content,</a:t>
            </a:r>
          </a:p>
          <a:p>
            <a:pPr algn="l">
              <a:lnSpc>
                <a:spcPct val="120000"/>
              </a:lnSpc>
            </a:pPr>
            <a:r>
              <a:rPr sz="800" b="0" i="0" dirty="0">
                <a:solidFill>
                  <a:srgbClr val="44495B"/>
                </a:solidFill>
                <a:latin typeface="Segoe UI"/>
                <a:cs typeface="Segoe UI"/>
              </a:rPr>
              <a:t>not on shared internal reasoning.</a:t>
            </a:r>
          </a:p>
        </p:txBody>
      </p:sp>
      <p:sp>
        <p:nvSpPr>
          <p:cNvPr id="30" name="TextBox 29"/>
          <p:cNvSpPr txBox="1"/>
          <p:nvPr/>
        </p:nvSpPr>
        <p:spPr>
          <a:xfrm>
            <a:off x="457200" y="3749039"/>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DECLARED OUT OF SCOPE</a:t>
            </a:r>
          </a:p>
        </p:txBody>
      </p:sp>
      <p:sp>
        <p:nvSpPr>
          <p:cNvPr id="31" name="Rectangle 30"/>
          <p:cNvSpPr/>
          <p:nvPr/>
        </p:nvSpPr>
        <p:spPr>
          <a:xfrm>
            <a:off x="457200" y="3986784"/>
            <a:ext cx="2651760" cy="1133856"/>
          </a:xfrm>
          <a:prstGeom prst="rect">
            <a:avLst/>
          </a:prstGeom>
          <a:solidFill>
            <a:srgbClr val="FFFFFF"/>
          </a:solidFill>
          <a:ln w="9525">
            <a:solidFill>
              <a:srgbClr val="E1E7F4"/>
            </a:solidFill>
          </a:ln>
          <a:effectLst/>
        </p:spPr>
        <p:txBody>
          <a:bodyPr wrap="square" rtlCol="0" anchor="ctr"/>
          <a:lstStyle/>
          <a:p>
            <a:endParaRPr/>
          </a:p>
        </p:txBody>
      </p:sp>
      <p:sp>
        <p:nvSpPr>
          <p:cNvPr id="32" name="Rectangle 31"/>
          <p:cNvSpPr/>
          <p:nvPr/>
        </p:nvSpPr>
        <p:spPr>
          <a:xfrm>
            <a:off x="457200" y="3986784"/>
            <a:ext cx="41148" cy="1133856"/>
          </a:xfrm>
          <a:prstGeom prst="rect">
            <a:avLst/>
          </a:prstGeom>
          <a:solidFill>
            <a:srgbClr val="8A91A6"/>
          </a:solidFill>
          <a:ln>
            <a:noFill/>
          </a:ln>
          <a:effectLst/>
        </p:spPr>
        <p:txBody>
          <a:bodyPr wrap="square" rtlCol="0" anchor="ctr"/>
          <a:lstStyle/>
          <a:p>
            <a:endParaRPr/>
          </a:p>
        </p:txBody>
      </p:sp>
      <p:sp>
        <p:nvSpPr>
          <p:cNvPr id="33" name="TextBox 32"/>
          <p:cNvSpPr txBox="1"/>
          <p:nvPr/>
        </p:nvSpPr>
        <p:spPr>
          <a:xfrm>
            <a:off x="640080" y="4133087"/>
            <a:ext cx="230428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Internal agent state</a:t>
            </a:r>
          </a:p>
        </p:txBody>
      </p:sp>
      <p:sp>
        <p:nvSpPr>
          <p:cNvPr id="34" name="TextBox 33"/>
          <p:cNvSpPr txBox="1"/>
          <p:nvPr/>
        </p:nvSpPr>
        <p:spPr>
          <a:xfrm>
            <a:off x="640080" y="4370832"/>
            <a:ext cx="2304288" cy="676656"/>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Prompts, plans, memory and tool implementations are never exposed. Opacity is a design requirement, not an omission.</a:t>
            </a:r>
          </a:p>
        </p:txBody>
      </p:sp>
      <p:sp>
        <p:nvSpPr>
          <p:cNvPr id="35" name="Rectangle 34"/>
          <p:cNvSpPr/>
          <p:nvPr/>
        </p:nvSpPr>
        <p:spPr>
          <a:xfrm>
            <a:off x="3300984" y="3986784"/>
            <a:ext cx="2651760" cy="1133856"/>
          </a:xfrm>
          <a:prstGeom prst="rect">
            <a:avLst/>
          </a:prstGeom>
          <a:solidFill>
            <a:srgbClr val="FFFFFF"/>
          </a:solidFill>
          <a:ln w="9525">
            <a:solidFill>
              <a:srgbClr val="E1E7F4"/>
            </a:solidFill>
          </a:ln>
          <a:effectLst/>
        </p:spPr>
        <p:txBody>
          <a:bodyPr wrap="square" rtlCol="0" anchor="ctr"/>
          <a:lstStyle/>
          <a:p>
            <a:endParaRPr/>
          </a:p>
        </p:txBody>
      </p:sp>
      <p:sp>
        <p:nvSpPr>
          <p:cNvPr id="36" name="Rectangle 35"/>
          <p:cNvSpPr/>
          <p:nvPr/>
        </p:nvSpPr>
        <p:spPr>
          <a:xfrm>
            <a:off x="3300984" y="3986784"/>
            <a:ext cx="41148" cy="1133856"/>
          </a:xfrm>
          <a:prstGeom prst="rect">
            <a:avLst/>
          </a:prstGeom>
          <a:solidFill>
            <a:srgbClr val="8A91A6"/>
          </a:solidFill>
          <a:ln>
            <a:noFill/>
          </a:ln>
          <a:effectLst/>
        </p:spPr>
        <p:txBody>
          <a:bodyPr wrap="square" rtlCol="0" anchor="ctr"/>
          <a:lstStyle/>
          <a:p>
            <a:endParaRPr/>
          </a:p>
        </p:txBody>
      </p:sp>
      <p:sp>
        <p:nvSpPr>
          <p:cNvPr id="37" name="TextBox 36"/>
          <p:cNvSpPr txBox="1"/>
          <p:nvPr/>
        </p:nvSpPr>
        <p:spPr>
          <a:xfrm>
            <a:off x="3483864" y="4133087"/>
            <a:ext cx="230428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Registry interface</a:t>
            </a:r>
          </a:p>
        </p:txBody>
      </p:sp>
      <p:sp>
        <p:nvSpPr>
          <p:cNvPr id="38" name="TextBox 37"/>
          <p:cNvSpPr txBox="1"/>
          <p:nvPr/>
        </p:nvSpPr>
        <p:spPr>
          <a:xfrm>
            <a:off x="3483864" y="4370832"/>
            <a:ext cx="2304288" cy="676656"/>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The specification defines the Agent Card but does not prescribe an API for curated registries.</a:t>
            </a:r>
          </a:p>
        </p:txBody>
      </p:sp>
      <p:sp>
        <p:nvSpPr>
          <p:cNvPr id="39" name="Rectangle 38"/>
          <p:cNvSpPr/>
          <p:nvPr/>
        </p:nvSpPr>
        <p:spPr>
          <a:xfrm>
            <a:off x="6144768" y="3986784"/>
            <a:ext cx="2651760" cy="1133856"/>
          </a:xfrm>
          <a:prstGeom prst="rect">
            <a:avLst/>
          </a:prstGeom>
          <a:solidFill>
            <a:srgbClr val="FFFFFF"/>
          </a:solidFill>
          <a:ln w="9525">
            <a:solidFill>
              <a:srgbClr val="E1E7F4"/>
            </a:solidFill>
          </a:ln>
          <a:effectLst/>
        </p:spPr>
        <p:txBody>
          <a:bodyPr wrap="square" rtlCol="0" anchor="ctr"/>
          <a:lstStyle/>
          <a:p>
            <a:endParaRPr/>
          </a:p>
        </p:txBody>
      </p:sp>
      <p:sp>
        <p:nvSpPr>
          <p:cNvPr id="40" name="Rectangle 39"/>
          <p:cNvSpPr/>
          <p:nvPr/>
        </p:nvSpPr>
        <p:spPr>
          <a:xfrm>
            <a:off x="6144768" y="3986784"/>
            <a:ext cx="41148" cy="1133856"/>
          </a:xfrm>
          <a:prstGeom prst="rect">
            <a:avLst/>
          </a:prstGeom>
          <a:solidFill>
            <a:srgbClr val="8A91A6"/>
          </a:solidFill>
          <a:ln>
            <a:noFill/>
          </a:ln>
          <a:effectLst/>
        </p:spPr>
        <p:txBody>
          <a:bodyPr wrap="square" rtlCol="0" anchor="ctr"/>
          <a:lstStyle/>
          <a:p>
            <a:endParaRPr/>
          </a:p>
        </p:txBody>
      </p:sp>
      <p:sp>
        <p:nvSpPr>
          <p:cNvPr id="41" name="TextBox 40"/>
          <p:cNvSpPr txBox="1"/>
          <p:nvPr/>
        </p:nvSpPr>
        <p:spPr>
          <a:xfrm>
            <a:off x="6327648" y="4133087"/>
            <a:ext cx="230428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Credential acquisition</a:t>
            </a:r>
          </a:p>
        </p:txBody>
      </p:sp>
      <p:sp>
        <p:nvSpPr>
          <p:cNvPr id="42" name="TextBox 41"/>
          <p:cNvSpPr txBox="1"/>
          <p:nvPr/>
        </p:nvSpPr>
        <p:spPr>
          <a:xfrm>
            <a:off x="6327648" y="4370832"/>
            <a:ext cx="2304288" cy="676656"/>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Clients obtain credentials through processes external to the protocol; A2A defines only how they are presented.</a:t>
            </a:r>
          </a:p>
        </p:txBody>
      </p:sp>
      <p:sp>
        <p:nvSpPr>
          <p:cNvPr id="43" name="Rectangle 42"/>
          <p:cNvSpPr/>
          <p:nvPr/>
        </p:nvSpPr>
        <p:spPr>
          <a:xfrm>
            <a:off x="8988552" y="3986784"/>
            <a:ext cx="2651760" cy="1133856"/>
          </a:xfrm>
          <a:prstGeom prst="rect">
            <a:avLst/>
          </a:prstGeom>
          <a:solidFill>
            <a:srgbClr val="FFFFFF"/>
          </a:solidFill>
          <a:ln w="9525">
            <a:solidFill>
              <a:srgbClr val="E1E7F4"/>
            </a:solidFill>
          </a:ln>
          <a:effectLst/>
        </p:spPr>
        <p:txBody>
          <a:bodyPr wrap="square" rtlCol="0" anchor="ctr"/>
          <a:lstStyle/>
          <a:p>
            <a:endParaRPr/>
          </a:p>
        </p:txBody>
      </p:sp>
      <p:sp>
        <p:nvSpPr>
          <p:cNvPr id="44" name="Rectangle 43"/>
          <p:cNvSpPr/>
          <p:nvPr/>
        </p:nvSpPr>
        <p:spPr>
          <a:xfrm>
            <a:off x="8988552" y="3986784"/>
            <a:ext cx="41148" cy="1133856"/>
          </a:xfrm>
          <a:prstGeom prst="rect">
            <a:avLst/>
          </a:prstGeom>
          <a:solidFill>
            <a:srgbClr val="8A91A6"/>
          </a:solidFill>
          <a:ln>
            <a:noFill/>
          </a:ln>
          <a:effectLst/>
        </p:spPr>
        <p:txBody>
          <a:bodyPr wrap="square" rtlCol="0" anchor="ctr"/>
          <a:lstStyle/>
          <a:p>
            <a:endParaRPr/>
          </a:p>
        </p:txBody>
      </p:sp>
      <p:sp>
        <p:nvSpPr>
          <p:cNvPr id="45" name="TextBox 44"/>
          <p:cNvSpPr txBox="1"/>
          <p:nvPr/>
        </p:nvSpPr>
        <p:spPr>
          <a:xfrm>
            <a:off x="9171432" y="4133087"/>
            <a:ext cx="230428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Task restart</a:t>
            </a:r>
          </a:p>
        </p:txBody>
      </p:sp>
      <p:sp>
        <p:nvSpPr>
          <p:cNvPr id="46" name="TextBox 45"/>
          <p:cNvSpPr txBox="1"/>
          <p:nvPr/>
        </p:nvSpPr>
        <p:spPr>
          <a:xfrm>
            <a:off x="9171432" y="4370832"/>
            <a:ext cx="2304288" cy="676656"/>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A task in a terminal state cannot resume. Refinement requires a new task within the same context.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PROTOCOL FOUNDATIONS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The integration problem the specification addresses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Constraints of point-to-point agent integration, their technical consequence, and the corresponding protocol provision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a2a-protocol.org/latest/topics/what-is-a2a</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4</a:t>
            </a:r>
          </a:p>
        </p:txBody>
      </p:sp>
      <p:sp>
        <p:nvSpPr>
          <p:cNvPr id="7" name="Rectangle 6"/>
          <p:cNvSpPr/>
          <p:nvPr/>
        </p:nvSpPr>
        <p:spPr>
          <a:xfrm>
            <a:off x="457200" y="1389888"/>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67612"/>
            <a:ext cx="2523670" cy="182880"/>
          </a:xfrm>
          <a:prstGeom prst="rect">
            <a:avLst/>
          </a:prstGeom>
          <a:noFill/>
        </p:spPr>
        <p:txBody>
          <a:bodyPr wrap="none" lIns="0" tIns="0" rIns="0" bIns="0" anchor="t">
            <a:spAutoFit/>
          </a:bodyPr>
          <a:lstStyle/>
          <a:p>
            <a:pPr algn="l">
              <a:lnSpc>
                <a:spcPct val="100000"/>
              </a:lnSpc>
            </a:pPr>
            <a:r>
              <a:rPr sz="950" b="1" i="0" dirty="0">
                <a:solidFill>
                  <a:srgbClr val="FFFFFF"/>
                </a:solidFill>
                <a:latin typeface="Segoe UI"/>
                <a:cs typeface="Segoe UI"/>
              </a:rPr>
              <a:t>Integration constraint</a:t>
            </a:r>
          </a:p>
        </p:txBody>
      </p:sp>
      <p:sp>
        <p:nvSpPr>
          <p:cNvPr id="9" name="TextBox 8"/>
          <p:cNvSpPr txBox="1"/>
          <p:nvPr/>
        </p:nvSpPr>
        <p:spPr>
          <a:xfrm>
            <a:off x="3291766" y="1467612"/>
            <a:ext cx="4328038" cy="182880"/>
          </a:xfrm>
          <a:prstGeom prst="rect">
            <a:avLst/>
          </a:prstGeom>
          <a:noFill/>
        </p:spPr>
        <p:txBody>
          <a:bodyPr wrap="none" lIns="0" tIns="0" rIns="0" bIns="0" anchor="t">
            <a:spAutoFit/>
          </a:bodyPr>
          <a:lstStyle/>
          <a:p>
            <a:pPr algn="l">
              <a:lnSpc>
                <a:spcPct val="100000"/>
              </a:lnSpc>
            </a:pPr>
            <a:r>
              <a:rPr sz="950" b="1" i="0" dirty="0">
                <a:solidFill>
                  <a:srgbClr val="FFFFFF"/>
                </a:solidFill>
                <a:latin typeface="Segoe UI"/>
                <a:cs typeface="Segoe UI"/>
              </a:rPr>
              <a:t>Technical consequence</a:t>
            </a:r>
          </a:p>
        </p:txBody>
      </p:sp>
      <p:sp>
        <p:nvSpPr>
          <p:cNvPr id="10" name="TextBox 9"/>
          <p:cNvSpPr txBox="1"/>
          <p:nvPr/>
        </p:nvSpPr>
        <p:spPr>
          <a:xfrm>
            <a:off x="7802684" y="1467612"/>
            <a:ext cx="3876946" cy="182880"/>
          </a:xfrm>
          <a:prstGeom prst="rect">
            <a:avLst/>
          </a:prstGeom>
          <a:noFill/>
        </p:spPr>
        <p:txBody>
          <a:bodyPr wrap="none" lIns="0" tIns="0" rIns="0" bIns="0" anchor="t">
            <a:spAutoFit/>
          </a:bodyPr>
          <a:lstStyle/>
          <a:p>
            <a:pPr algn="l">
              <a:lnSpc>
                <a:spcPct val="100000"/>
              </a:lnSpc>
            </a:pPr>
            <a:r>
              <a:rPr sz="950" b="1" i="0" dirty="0">
                <a:solidFill>
                  <a:srgbClr val="FFFFFF"/>
                </a:solidFill>
                <a:latin typeface="Segoe UI"/>
                <a:cs typeface="Segoe UI"/>
              </a:rPr>
              <a:t>Provision in the A2A specification</a:t>
            </a:r>
          </a:p>
        </p:txBody>
      </p:sp>
      <p:sp>
        <p:nvSpPr>
          <p:cNvPr id="11" name="Rectangle 10"/>
          <p:cNvSpPr/>
          <p:nvPr/>
        </p:nvSpPr>
        <p:spPr>
          <a:xfrm>
            <a:off x="457200" y="1700784"/>
            <a:ext cx="11277295" cy="786384"/>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48716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1751076"/>
            <a:ext cx="2487094" cy="70408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Agent exposed as a callable tool</a:t>
            </a:r>
          </a:p>
        </p:txBody>
      </p:sp>
      <p:sp>
        <p:nvSpPr>
          <p:cNvPr id="14" name="TextBox 13"/>
          <p:cNvSpPr txBox="1"/>
          <p:nvPr/>
        </p:nvSpPr>
        <p:spPr>
          <a:xfrm>
            <a:off x="3291766" y="1751076"/>
            <a:ext cx="4291462"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Interaction is reduced to a stateless request and response. No clarification turn, no intermediate progress, no resumption after disconnection.</a:t>
            </a:r>
          </a:p>
        </p:txBody>
      </p:sp>
      <p:sp>
        <p:nvSpPr>
          <p:cNvPr id="15" name="TextBox 14"/>
          <p:cNvSpPr txBox="1"/>
          <p:nvPr/>
        </p:nvSpPr>
        <p:spPr>
          <a:xfrm>
            <a:off x="7802684" y="1751076"/>
            <a:ext cx="3840370"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 Task object with a server-owned state machine, including an input-required state that suspends rather than fails.</a:t>
            </a:r>
          </a:p>
        </p:txBody>
      </p:sp>
      <p:cxnSp>
        <p:nvCxnSpPr>
          <p:cNvPr id="16" name="Connector 15"/>
          <p:cNvCxnSpPr/>
          <p:nvPr/>
        </p:nvCxnSpPr>
        <p:spPr>
          <a:xfrm>
            <a:off x="457200" y="327355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5216" y="2537460"/>
            <a:ext cx="2487094" cy="70408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No machine-readable capability descriptor</a:t>
            </a:r>
          </a:p>
        </p:txBody>
      </p:sp>
      <p:sp>
        <p:nvSpPr>
          <p:cNvPr id="18" name="TextBox 17"/>
          <p:cNvSpPr txBox="1"/>
          <p:nvPr/>
        </p:nvSpPr>
        <p:spPr>
          <a:xfrm>
            <a:off x="3291766" y="2537460"/>
            <a:ext cx="4291462"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Supported operations, content modalities and authentication requirements are communicated by documentation and discovered at integration time.</a:t>
            </a:r>
          </a:p>
        </p:txBody>
      </p:sp>
      <p:sp>
        <p:nvSpPr>
          <p:cNvPr id="19" name="TextBox 18"/>
          <p:cNvSpPr txBox="1"/>
          <p:nvPr/>
        </p:nvSpPr>
        <p:spPr>
          <a:xfrm>
            <a:off x="7802684" y="2537460"/>
            <a:ext cx="3840370"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An Agent Card published at a well-known URI, declaring skills, capabilities, interfaces and security schemes.</a:t>
            </a:r>
          </a:p>
        </p:txBody>
      </p:sp>
      <p:sp>
        <p:nvSpPr>
          <p:cNvPr id="20" name="Rectangle 19"/>
          <p:cNvSpPr/>
          <p:nvPr/>
        </p:nvSpPr>
        <p:spPr>
          <a:xfrm>
            <a:off x="457200" y="3273552"/>
            <a:ext cx="11277295" cy="786384"/>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4059936"/>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3323844"/>
            <a:ext cx="2487094" cy="70408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 bespoke contract for each pairing</a:t>
            </a:r>
          </a:p>
        </p:txBody>
      </p:sp>
      <p:sp>
        <p:nvSpPr>
          <p:cNvPr id="23" name="TextBox 22"/>
          <p:cNvSpPr txBox="1"/>
          <p:nvPr/>
        </p:nvSpPr>
        <p:spPr>
          <a:xfrm>
            <a:off x="3291766" y="3323844"/>
            <a:ext cx="4291462"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Integration effort scales with the number of agent pairs, and a change at either end propagates manually to every counterpart.</a:t>
            </a:r>
          </a:p>
        </p:txBody>
      </p:sp>
      <p:sp>
        <p:nvSpPr>
          <p:cNvPr id="24" name="TextBox 23"/>
          <p:cNvSpPr txBox="1"/>
          <p:nvPr/>
        </p:nvSpPr>
        <p:spPr>
          <a:xfrm>
            <a:off x="7802684" y="3323844"/>
            <a:ext cx="3840370"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One operation set and one data model applied uniformly to every peer, irrespective of framework or vendor.</a:t>
            </a:r>
          </a:p>
        </p:txBody>
      </p:sp>
      <p:cxnSp>
        <p:nvCxnSpPr>
          <p:cNvPr id="25" name="Connector 24"/>
          <p:cNvCxnSpPr/>
          <p:nvPr/>
        </p:nvCxnSpPr>
        <p:spPr>
          <a:xfrm>
            <a:off x="457200" y="4846320"/>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5216" y="4110228"/>
            <a:ext cx="2487094" cy="70408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No shared task identity</a:t>
            </a:r>
          </a:p>
        </p:txBody>
      </p:sp>
      <p:sp>
        <p:nvSpPr>
          <p:cNvPr id="27" name="TextBox 26"/>
          <p:cNvSpPr txBox="1"/>
          <p:nvPr/>
        </p:nvSpPr>
        <p:spPr>
          <a:xfrm>
            <a:off x="3291766" y="4110228"/>
            <a:ext cx="4291462"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Correlation, monitoring and audit are implemented separately for each integration, with incompatible identifiers and result shapes.</a:t>
            </a:r>
          </a:p>
        </p:txBody>
      </p:sp>
      <p:sp>
        <p:nvSpPr>
          <p:cNvPr id="28" name="TextBox 27"/>
          <p:cNvSpPr txBox="1"/>
          <p:nvPr/>
        </p:nvSpPr>
        <p:spPr>
          <a:xfrm>
            <a:off x="7802684" y="4110228"/>
            <a:ext cx="3840370"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Server-generated task and context identifiers, consistent across peers and carried through every operation.</a:t>
            </a:r>
          </a:p>
        </p:txBody>
      </p:sp>
      <p:sp>
        <p:nvSpPr>
          <p:cNvPr id="29" name="Rectangle 28"/>
          <p:cNvSpPr/>
          <p:nvPr/>
        </p:nvSpPr>
        <p:spPr>
          <a:xfrm>
            <a:off x="457200" y="4846320"/>
            <a:ext cx="11277295" cy="786384"/>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5632704"/>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85216" y="4896612"/>
            <a:ext cx="2487094" cy="70408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Per-integration authentication</a:t>
            </a:r>
          </a:p>
        </p:txBody>
      </p:sp>
      <p:sp>
        <p:nvSpPr>
          <p:cNvPr id="32" name="TextBox 31"/>
          <p:cNvSpPr txBox="1"/>
          <p:nvPr/>
        </p:nvSpPr>
        <p:spPr>
          <a:xfrm>
            <a:off x="3291766" y="4896612"/>
            <a:ext cx="4291462"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Credential handling, transport requirements and audit differ per counterpart, and gaps surface during review rather than design.</a:t>
            </a:r>
          </a:p>
        </p:txBody>
      </p:sp>
      <p:sp>
        <p:nvSpPr>
          <p:cNvPr id="33" name="TextBox 32"/>
          <p:cNvSpPr txBox="1"/>
          <p:nvPr/>
        </p:nvSpPr>
        <p:spPr>
          <a:xfrm>
            <a:off x="7802684" y="4896612"/>
            <a:ext cx="3840370" cy="70408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Security schemes declared in the Agent Card; identity established at the transport layer using established standards.</a:t>
            </a:r>
          </a:p>
        </p:txBody>
      </p:sp>
      <p:cxnSp>
        <p:nvCxnSpPr>
          <p:cNvPr id="34" name="Connector 33"/>
          <p:cNvCxnSpPr/>
          <p:nvPr/>
        </p:nvCxnSpPr>
        <p:spPr>
          <a:xfrm>
            <a:off x="3163750" y="1700784"/>
            <a:ext cx="0" cy="39319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674668" y="1700784"/>
            <a:ext cx="0" cy="39319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PROTOCOL FOUNDATIONS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Protocol layering in a multi-agent system</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A2A governs delegation between agents across ownership boundaries; the Model Context Protocol governs resource access within one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a2a-protocol.org/latest/topics/a2a-and-mcp</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5</a:t>
            </a:r>
          </a:p>
        </p:txBody>
      </p:sp>
      <p:sp>
        <p:nvSpPr>
          <p:cNvPr id="7" name="Rectangle 6"/>
          <p:cNvSpPr/>
          <p:nvPr/>
        </p:nvSpPr>
        <p:spPr>
          <a:xfrm>
            <a:off x="457200" y="1408176"/>
            <a:ext cx="11277295" cy="457200"/>
          </a:xfrm>
          <a:prstGeom prst="rect">
            <a:avLst/>
          </a:prstGeom>
          <a:solidFill>
            <a:srgbClr val="00B39F"/>
          </a:solidFill>
          <a:ln>
            <a:noFill/>
          </a:ln>
          <a:effectLst/>
        </p:spPr>
        <p:txBody>
          <a:bodyPr wrap="square" rtlCol="0" anchor="ctr"/>
          <a:lstStyle/>
          <a:p>
            <a:endParaRPr/>
          </a:p>
        </p:txBody>
      </p:sp>
      <p:sp>
        <p:nvSpPr>
          <p:cNvPr id="8" name="TextBox 7"/>
          <p:cNvSpPr txBox="1"/>
          <p:nvPr/>
        </p:nvSpPr>
        <p:spPr>
          <a:xfrm>
            <a:off x="694944" y="1490472"/>
            <a:ext cx="10801807" cy="292608"/>
          </a:xfrm>
          <a:prstGeom prst="rect">
            <a:avLst/>
          </a:prstGeom>
          <a:noFill/>
        </p:spPr>
        <p:txBody>
          <a:bodyPr wrap="square" lIns="0" tIns="0" rIns="0" bIns="0" anchor="t">
            <a:spAutoFit/>
          </a:bodyPr>
          <a:lstStyle/>
          <a:p>
            <a:pPr algn="l">
              <a:lnSpc>
                <a:spcPct val="100000"/>
              </a:lnSpc>
            </a:pPr>
            <a:r>
              <a:rPr sz="1000" b="1" i="0" dirty="0">
                <a:solidFill>
                  <a:srgbClr val="FFFFFF"/>
                </a:solidFill>
                <a:latin typeface="Segoe UI"/>
                <a:cs typeface="Segoe UI"/>
              </a:rPr>
              <a:t>A2A  —  task delegation between autonomous agents, across framework, vendor and ownership boundaries</a:t>
            </a:r>
          </a:p>
        </p:txBody>
      </p:sp>
      <p:sp>
        <p:nvSpPr>
          <p:cNvPr id="9" name="Rectangle 8"/>
          <p:cNvSpPr/>
          <p:nvPr/>
        </p:nvSpPr>
        <p:spPr>
          <a:xfrm>
            <a:off x="566928" y="2066543"/>
            <a:ext cx="3511296" cy="2359152"/>
          </a:xfrm>
          <a:prstGeom prst="rect">
            <a:avLst/>
          </a:prstGeom>
          <a:noFill/>
          <a:ln w="9525">
            <a:solidFill>
              <a:srgbClr val="44495B"/>
            </a:solidFill>
            <a:prstDash val="dash"/>
          </a:ln>
          <a:effectLst/>
        </p:spPr>
        <p:txBody>
          <a:bodyPr wrap="square" rtlCol="0" anchor="ctr"/>
          <a:lstStyle/>
          <a:p>
            <a:endParaRPr/>
          </a:p>
        </p:txBody>
      </p:sp>
      <p:sp>
        <p:nvSpPr>
          <p:cNvPr id="10" name="TextBox 9"/>
          <p:cNvSpPr txBox="1"/>
          <p:nvPr/>
        </p:nvSpPr>
        <p:spPr>
          <a:xfrm>
            <a:off x="713232" y="2130552"/>
            <a:ext cx="2286000" cy="164592"/>
          </a:xfrm>
          <a:prstGeom prst="rect">
            <a:avLst/>
          </a:prstGeom>
          <a:noFill/>
        </p:spPr>
        <p:txBody>
          <a:bodyPr wrap="square" lIns="0" tIns="0" rIns="0" bIns="0" anchor="t">
            <a:spAutoFit/>
          </a:bodyPr>
          <a:lstStyle/>
          <a:p>
            <a:pPr algn="l">
              <a:lnSpc>
                <a:spcPct val="100000"/>
              </a:lnSpc>
            </a:pPr>
            <a:r>
              <a:rPr sz="750" b="1" i="0" spc="110" dirty="0">
                <a:solidFill>
                  <a:srgbClr val="44495B"/>
                </a:solidFill>
                <a:latin typeface="Segoe UI"/>
                <a:cs typeface="Segoe UI"/>
              </a:rPr>
              <a:t>YOUR PROJECT</a:t>
            </a:r>
          </a:p>
        </p:txBody>
      </p:sp>
      <p:cxnSp>
        <p:nvCxnSpPr>
          <p:cNvPr id="11" name="Connector 10"/>
          <p:cNvCxnSpPr/>
          <p:nvPr/>
        </p:nvCxnSpPr>
        <p:spPr>
          <a:xfrm>
            <a:off x="3218688" y="1865376"/>
            <a:ext cx="0" cy="475488"/>
          </a:xfrm>
          <a:prstGeom prst="line">
            <a:avLst/>
          </a:prstGeom>
          <a:ln w="17780">
            <a:solidFill>
              <a:srgbClr val="008173"/>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218688" y="1883664"/>
            <a:ext cx="0" cy="457200"/>
          </a:xfrm>
          <a:prstGeom prst="line">
            <a:avLst/>
          </a:prstGeom>
          <a:ln w="17780">
            <a:solidFill>
              <a:srgbClr val="00817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13232" y="2340864"/>
            <a:ext cx="3218688" cy="713232"/>
          </a:xfrm>
          <a:prstGeom prst="rect">
            <a:avLst/>
          </a:prstGeom>
          <a:solidFill>
            <a:srgbClr val="101A3C"/>
          </a:solidFill>
          <a:ln>
            <a:noFill/>
          </a:ln>
          <a:effectLst/>
        </p:spPr>
        <p:txBody>
          <a:bodyPr wrap="square" lIns="54864" tIns="18288" rIns="54864" bIns="18288" rtlCol="0" anchor="ctr"/>
          <a:lstStyle/>
          <a:p>
            <a:pPr algn="ctr">
              <a:lnSpc>
                <a:spcPct val="122000"/>
              </a:lnSpc>
            </a:pPr>
            <a:r>
              <a:rPr sz="1100" b="1" i="0" dirty="0">
                <a:solidFill>
                  <a:srgbClr val="FFFFFF"/>
                </a:solidFill>
                <a:latin typeface="Segoe UI"/>
                <a:cs typeface="Segoe UI"/>
              </a:rPr>
              <a:t>Concierge agent</a:t>
            </a:r>
          </a:p>
          <a:p>
            <a:pPr algn="ctr">
              <a:lnSpc>
                <a:spcPct val="122000"/>
              </a:lnSpc>
            </a:pPr>
            <a:r>
              <a:rPr sz="800" b="0" i="0" dirty="0">
                <a:solidFill>
                  <a:srgbClr val="B9C2D6"/>
                </a:solidFill>
                <a:latin typeface="Segoe UI"/>
                <a:cs typeface="Segoe UI"/>
              </a:rPr>
              <a:t>Microsoft Agent Framework</a:t>
            </a:r>
          </a:p>
        </p:txBody>
      </p:sp>
      <p:cxnSp>
        <p:nvCxnSpPr>
          <p:cNvPr id="14" name="Connector 13"/>
          <p:cNvCxnSpPr/>
          <p:nvPr/>
        </p:nvCxnSpPr>
        <p:spPr>
          <a:xfrm>
            <a:off x="1463040"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13232"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Policy database</a:t>
            </a:r>
          </a:p>
        </p:txBody>
      </p:sp>
      <p:cxnSp>
        <p:nvCxnSpPr>
          <p:cNvPr id="16" name="Connector 15"/>
          <p:cNvCxnSpPr/>
          <p:nvPr/>
        </p:nvCxnSpPr>
        <p:spPr>
          <a:xfrm>
            <a:off x="3145536"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395728"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Pricing API</a:t>
            </a:r>
          </a:p>
        </p:txBody>
      </p:sp>
      <p:sp>
        <p:nvSpPr>
          <p:cNvPr id="18" name="Rectangle 17"/>
          <p:cNvSpPr/>
          <p:nvPr/>
        </p:nvSpPr>
        <p:spPr>
          <a:xfrm>
            <a:off x="4315968" y="2066543"/>
            <a:ext cx="3511296" cy="2359152"/>
          </a:xfrm>
          <a:prstGeom prst="rect">
            <a:avLst/>
          </a:prstGeom>
          <a:noFill/>
          <a:ln w="9525">
            <a:solidFill>
              <a:srgbClr val="44495B"/>
            </a:solidFill>
            <a:prstDash val="dash"/>
          </a:ln>
          <a:effectLst/>
        </p:spPr>
        <p:txBody>
          <a:bodyPr wrap="square" rtlCol="0" anchor="ctr"/>
          <a:lstStyle/>
          <a:p>
            <a:endParaRPr/>
          </a:p>
        </p:txBody>
      </p:sp>
      <p:sp>
        <p:nvSpPr>
          <p:cNvPr id="19" name="TextBox 18"/>
          <p:cNvSpPr txBox="1"/>
          <p:nvPr/>
        </p:nvSpPr>
        <p:spPr>
          <a:xfrm>
            <a:off x="4462272" y="2130552"/>
            <a:ext cx="2286000" cy="164592"/>
          </a:xfrm>
          <a:prstGeom prst="rect">
            <a:avLst/>
          </a:prstGeom>
          <a:noFill/>
        </p:spPr>
        <p:txBody>
          <a:bodyPr wrap="square" lIns="0" tIns="0" rIns="0" bIns="0" anchor="t">
            <a:spAutoFit/>
          </a:bodyPr>
          <a:lstStyle/>
          <a:p>
            <a:pPr algn="l">
              <a:lnSpc>
                <a:spcPct val="100000"/>
              </a:lnSpc>
            </a:pPr>
            <a:r>
              <a:rPr sz="750" b="1" i="0" spc="110" dirty="0">
                <a:solidFill>
                  <a:srgbClr val="44495B"/>
                </a:solidFill>
                <a:latin typeface="Segoe UI"/>
                <a:cs typeface="Segoe UI"/>
              </a:rPr>
              <a:t>ANOTHER BUSINESS UNIT</a:t>
            </a:r>
          </a:p>
        </p:txBody>
      </p:sp>
      <p:cxnSp>
        <p:nvCxnSpPr>
          <p:cNvPr id="20" name="Connector 19"/>
          <p:cNvCxnSpPr/>
          <p:nvPr/>
        </p:nvCxnSpPr>
        <p:spPr>
          <a:xfrm>
            <a:off x="6967727" y="1865376"/>
            <a:ext cx="0" cy="475488"/>
          </a:xfrm>
          <a:prstGeom prst="line">
            <a:avLst/>
          </a:prstGeom>
          <a:ln w="17780">
            <a:solidFill>
              <a:srgbClr val="00817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6967727" y="1883664"/>
            <a:ext cx="0" cy="457200"/>
          </a:xfrm>
          <a:prstGeom prst="line">
            <a:avLst/>
          </a:prstGeom>
          <a:ln w="17780">
            <a:solidFill>
              <a:srgbClr val="00817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4462272" y="2340864"/>
            <a:ext cx="3218688" cy="713232"/>
          </a:xfrm>
          <a:prstGeom prst="rect">
            <a:avLst/>
          </a:prstGeom>
          <a:solidFill>
            <a:srgbClr val="101A3C"/>
          </a:solidFill>
          <a:ln>
            <a:noFill/>
          </a:ln>
          <a:effectLst/>
        </p:spPr>
        <p:txBody>
          <a:bodyPr wrap="square" lIns="54864" tIns="18288" rIns="54864" bIns="18288" rtlCol="0" anchor="ctr"/>
          <a:lstStyle/>
          <a:p>
            <a:pPr algn="ctr">
              <a:lnSpc>
                <a:spcPct val="122000"/>
              </a:lnSpc>
            </a:pPr>
            <a:r>
              <a:rPr sz="1100" b="1" i="0" dirty="0">
                <a:solidFill>
                  <a:srgbClr val="FFFFFF"/>
                </a:solidFill>
                <a:latin typeface="Segoe UI"/>
                <a:cs typeface="Segoe UI"/>
              </a:rPr>
              <a:t>Claims agent</a:t>
            </a:r>
          </a:p>
          <a:p>
            <a:pPr algn="ctr">
              <a:lnSpc>
                <a:spcPct val="122000"/>
              </a:lnSpc>
            </a:pPr>
            <a:r>
              <a:rPr sz="800" b="0" i="0" dirty="0">
                <a:solidFill>
                  <a:srgbClr val="B9C2D6"/>
                </a:solidFill>
                <a:latin typeface="Segoe UI"/>
                <a:cs typeface="Segoe UI"/>
              </a:rPr>
              <a:t>Foundry Agent Service</a:t>
            </a:r>
          </a:p>
        </p:txBody>
      </p:sp>
      <p:cxnSp>
        <p:nvCxnSpPr>
          <p:cNvPr id="23" name="Connector 22"/>
          <p:cNvCxnSpPr/>
          <p:nvPr/>
        </p:nvCxnSpPr>
        <p:spPr>
          <a:xfrm>
            <a:off x="5212080"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462272"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Claims system</a:t>
            </a:r>
          </a:p>
        </p:txBody>
      </p:sp>
      <p:cxnSp>
        <p:nvCxnSpPr>
          <p:cNvPr id="25" name="Connector 24"/>
          <p:cNvCxnSpPr/>
          <p:nvPr/>
        </p:nvCxnSpPr>
        <p:spPr>
          <a:xfrm>
            <a:off x="6894576"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144768"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Document store</a:t>
            </a:r>
          </a:p>
        </p:txBody>
      </p:sp>
      <p:sp>
        <p:nvSpPr>
          <p:cNvPr id="27" name="Rectangle 26"/>
          <p:cNvSpPr/>
          <p:nvPr/>
        </p:nvSpPr>
        <p:spPr>
          <a:xfrm>
            <a:off x="8065008" y="2066543"/>
            <a:ext cx="3511296" cy="2359152"/>
          </a:xfrm>
          <a:prstGeom prst="rect">
            <a:avLst/>
          </a:prstGeom>
          <a:noFill/>
          <a:ln w="9525">
            <a:solidFill>
              <a:srgbClr val="44495B"/>
            </a:solidFill>
            <a:prstDash val="dash"/>
          </a:ln>
          <a:effectLst/>
        </p:spPr>
        <p:txBody>
          <a:bodyPr wrap="square" rtlCol="0" anchor="ctr"/>
          <a:lstStyle/>
          <a:p>
            <a:endParaRPr/>
          </a:p>
        </p:txBody>
      </p:sp>
      <p:sp>
        <p:nvSpPr>
          <p:cNvPr id="28" name="TextBox 27"/>
          <p:cNvSpPr txBox="1"/>
          <p:nvPr/>
        </p:nvSpPr>
        <p:spPr>
          <a:xfrm>
            <a:off x="8211312" y="2130552"/>
            <a:ext cx="2286000" cy="164592"/>
          </a:xfrm>
          <a:prstGeom prst="rect">
            <a:avLst/>
          </a:prstGeom>
          <a:noFill/>
        </p:spPr>
        <p:txBody>
          <a:bodyPr wrap="square" lIns="0" tIns="0" rIns="0" bIns="0" anchor="t">
            <a:spAutoFit/>
          </a:bodyPr>
          <a:lstStyle/>
          <a:p>
            <a:pPr algn="l">
              <a:lnSpc>
                <a:spcPct val="100000"/>
              </a:lnSpc>
            </a:pPr>
            <a:r>
              <a:rPr sz="750" b="1" i="0" spc="110" dirty="0">
                <a:solidFill>
                  <a:srgbClr val="44495B"/>
                </a:solidFill>
                <a:latin typeface="Segoe UI"/>
                <a:cs typeface="Segoe UI"/>
              </a:rPr>
              <a:t>PARTNER ORGANISATION</a:t>
            </a:r>
          </a:p>
        </p:txBody>
      </p:sp>
      <p:cxnSp>
        <p:nvCxnSpPr>
          <p:cNvPr id="29" name="Connector 28"/>
          <p:cNvCxnSpPr/>
          <p:nvPr/>
        </p:nvCxnSpPr>
        <p:spPr>
          <a:xfrm>
            <a:off x="10716768" y="1865376"/>
            <a:ext cx="0" cy="475488"/>
          </a:xfrm>
          <a:prstGeom prst="line">
            <a:avLst/>
          </a:prstGeom>
          <a:ln w="17780">
            <a:solidFill>
              <a:srgbClr val="008173"/>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0716768" y="1883664"/>
            <a:ext cx="0" cy="457200"/>
          </a:xfrm>
          <a:prstGeom prst="line">
            <a:avLst/>
          </a:prstGeom>
          <a:ln w="17780">
            <a:solidFill>
              <a:srgbClr val="00817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211312" y="2340864"/>
            <a:ext cx="3218688" cy="713232"/>
          </a:xfrm>
          <a:prstGeom prst="rect">
            <a:avLst/>
          </a:prstGeom>
          <a:solidFill>
            <a:srgbClr val="101A3C"/>
          </a:solidFill>
          <a:ln>
            <a:noFill/>
          </a:ln>
          <a:effectLst/>
        </p:spPr>
        <p:txBody>
          <a:bodyPr wrap="square" lIns="54864" tIns="18288" rIns="54864" bIns="18288" rtlCol="0" anchor="ctr"/>
          <a:lstStyle/>
          <a:p>
            <a:pPr algn="ctr">
              <a:lnSpc>
                <a:spcPct val="122000"/>
              </a:lnSpc>
            </a:pPr>
            <a:r>
              <a:rPr sz="1100" b="1" i="0" dirty="0">
                <a:solidFill>
                  <a:srgbClr val="FFFFFF"/>
                </a:solidFill>
                <a:latin typeface="Segoe UI"/>
                <a:cs typeface="Segoe UI"/>
              </a:rPr>
              <a:t>Logistics agent</a:t>
            </a:r>
          </a:p>
          <a:p>
            <a:pPr algn="ctr">
              <a:lnSpc>
                <a:spcPct val="122000"/>
              </a:lnSpc>
            </a:pPr>
            <a:r>
              <a:rPr sz="800" b="0" i="0" dirty="0">
                <a:solidFill>
                  <a:srgbClr val="B9C2D6"/>
                </a:solidFill>
                <a:latin typeface="Segoe UI"/>
                <a:cs typeface="Segoe UI"/>
              </a:rPr>
              <a:t>Third-party runtime</a:t>
            </a:r>
          </a:p>
        </p:txBody>
      </p:sp>
      <p:cxnSp>
        <p:nvCxnSpPr>
          <p:cNvPr id="32" name="Connector 31"/>
          <p:cNvCxnSpPr/>
          <p:nvPr/>
        </p:nvCxnSpPr>
        <p:spPr>
          <a:xfrm>
            <a:off x="8961120"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211312"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Carrier API</a:t>
            </a:r>
          </a:p>
        </p:txBody>
      </p:sp>
      <p:cxnSp>
        <p:nvCxnSpPr>
          <p:cNvPr id="34" name="Connector 33"/>
          <p:cNvCxnSpPr/>
          <p:nvPr/>
        </p:nvCxnSpPr>
        <p:spPr>
          <a:xfrm>
            <a:off x="10643616" y="3054096"/>
            <a:ext cx="0" cy="804672"/>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893808" y="3858768"/>
            <a:ext cx="153619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Shipment tracking</a:t>
            </a:r>
          </a:p>
        </p:txBody>
      </p:sp>
      <p:sp>
        <p:nvSpPr>
          <p:cNvPr id="36" name="TextBox 35"/>
          <p:cNvSpPr txBox="1"/>
          <p:nvPr/>
        </p:nvSpPr>
        <p:spPr>
          <a:xfrm>
            <a:off x="457200" y="4517136"/>
            <a:ext cx="11277295" cy="182880"/>
          </a:xfrm>
          <a:prstGeom prst="rect">
            <a:avLst/>
          </a:prstGeom>
          <a:noFill/>
        </p:spPr>
        <p:txBody>
          <a:bodyPr wrap="square" lIns="0" tIns="0" rIns="0" bIns="0" anchor="t">
            <a:spAutoFit/>
          </a:bodyPr>
          <a:lstStyle/>
          <a:p>
            <a:pPr algn="ctr">
              <a:lnSpc>
                <a:spcPct val="100000"/>
              </a:lnSpc>
            </a:pPr>
            <a:r>
              <a:rPr sz="850" b="1" i="0" dirty="0">
                <a:solidFill>
                  <a:srgbClr val="44495B"/>
                </a:solidFill>
                <a:latin typeface="Segoe UI"/>
                <a:cs typeface="Segoe UI"/>
              </a:rPr>
              <a:t>Model Context Protocol  —  tool, resource and context access within a single agent boundary</a:t>
            </a:r>
          </a:p>
        </p:txBody>
      </p:sp>
      <p:sp>
        <p:nvSpPr>
          <p:cNvPr id="37" name="TextBox 36"/>
          <p:cNvSpPr txBox="1"/>
          <p:nvPr/>
        </p:nvSpPr>
        <p:spPr>
          <a:xfrm>
            <a:off x="457200" y="4846320"/>
            <a:ext cx="358444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Boundary crossed</a:t>
            </a:r>
          </a:p>
        </p:txBody>
      </p:sp>
      <p:sp>
        <p:nvSpPr>
          <p:cNvPr id="38" name="TextBox 37"/>
          <p:cNvSpPr txBox="1"/>
          <p:nvPr/>
        </p:nvSpPr>
        <p:spPr>
          <a:xfrm>
            <a:off x="457200" y="5065776"/>
            <a:ext cx="3584448" cy="40233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A2A is used where the counterpart is operated by another team, business unit or organisation and changes independently.</a:t>
            </a:r>
          </a:p>
        </p:txBody>
      </p:sp>
      <p:sp>
        <p:nvSpPr>
          <p:cNvPr id="39" name="TextBox 38"/>
          <p:cNvSpPr txBox="1"/>
          <p:nvPr/>
        </p:nvSpPr>
        <p:spPr>
          <a:xfrm>
            <a:off x="4279392" y="4846320"/>
            <a:ext cx="358444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Interaction granularity</a:t>
            </a:r>
          </a:p>
        </p:txBody>
      </p:sp>
      <p:sp>
        <p:nvSpPr>
          <p:cNvPr id="40" name="TextBox 39"/>
          <p:cNvSpPr txBox="1"/>
          <p:nvPr/>
        </p:nvSpPr>
        <p:spPr>
          <a:xfrm>
            <a:off x="4279392" y="5065776"/>
            <a:ext cx="3584448" cy="40233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A2A carries a task with a lifecycle; the Model Context Protocol carries an operation with a fixed input and output schema.</a:t>
            </a:r>
          </a:p>
        </p:txBody>
      </p:sp>
      <p:sp>
        <p:nvSpPr>
          <p:cNvPr id="41" name="TextBox 40"/>
          <p:cNvSpPr txBox="1"/>
          <p:nvPr/>
        </p:nvSpPr>
        <p:spPr>
          <a:xfrm>
            <a:off x="8101583" y="4846320"/>
            <a:ext cx="3584448"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Composition</a:t>
            </a:r>
          </a:p>
        </p:txBody>
      </p:sp>
      <p:sp>
        <p:nvSpPr>
          <p:cNvPr id="42" name="TextBox 41"/>
          <p:cNvSpPr txBox="1"/>
          <p:nvPr/>
        </p:nvSpPr>
        <p:spPr>
          <a:xfrm>
            <a:off x="8101583" y="5065776"/>
            <a:ext cx="3584448" cy="40233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 single agent is typically a Model Context Protocol client for its own resources and an A2A client or server toward its peers.</a:t>
            </a:r>
          </a:p>
        </p:txBody>
      </p:sp>
      <p:sp>
        <p:nvSpPr>
          <p:cNvPr id="43" name="Rectangle 42"/>
          <p:cNvSpPr/>
          <p:nvPr/>
        </p:nvSpPr>
        <p:spPr>
          <a:xfrm>
            <a:off x="457200" y="5536692"/>
            <a:ext cx="146304" cy="91440"/>
          </a:xfrm>
          <a:prstGeom prst="rect">
            <a:avLst/>
          </a:prstGeom>
          <a:solidFill>
            <a:srgbClr val="101A3C"/>
          </a:solidFill>
          <a:ln>
            <a:noFill/>
          </a:ln>
          <a:effectLst/>
        </p:spPr>
        <p:txBody>
          <a:bodyPr wrap="square" rtlCol="0" anchor="ctr"/>
          <a:lstStyle/>
          <a:p>
            <a:endParaRPr/>
          </a:p>
        </p:txBody>
      </p:sp>
      <p:sp>
        <p:nvSpPr>
          <p:cNvPr id="44" name="TextBox 43"/>
          <p:cNvSpPr txBox="1"/>
          <p:nvPr/>
        </p:nvSpPr>
        <p:spPr>
          <a:xfrm>
            <a:off x="676656" y="5509259"/>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Agent</a:t>
            </a:r>
          </a:p>
        </p:txBody>
      </p:sp>
      <p:sp>
        <p:nvSpPr>
          <p:cNvPr id="45" name="Rectangle 44"/>
          <p:cNvSpPr/>
          <p:nvPr/>
        </p:nvSpPr>
        <p:spPr>
          <a:xfrm>
            <a:off x="1022984" y="5536692"/>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46" name="TextBox 45"/>
          <p:cNvSpPr txBox="1"/>
          <p:nvPr/>
        </p:nvSpPr>
        <p:spPr>
          <a:xfrm>
            <a:off x="1242441" y="5509259"/>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Tool or data source</a:t>
            </a:r>
          </a:p>
        </p:txBody>
      </p:sp>
      <p:sp>
        <p:nvSpPr>
          <p:cNvPr id="47" name="Rectangle 46"/>
          <p:cNvSpPr/>
          <p:nvPr/>
        </p:nvSpPr>
        <p:spPr>
          <a:xfrm>
            <a:off x="2328062" y="5522975"/>
            <a:ext cx="146304" cy="118872"/>
          </a:xfrm>
          <a:prstGeom prst="rect">
            <a:avLst/>
          </a:prstGeom>
          <a:noFill/>
          <a:ln w="9525">
            <a:solidFill>
              <a:srgbClr val="44495B"/>
            </a:solidFill>
            <a:prstDash val="dash"/>
          </a:ln>
          <a:effectLst/>
        </p:spPr>
        <p:txBody>
          <a:bodyPr wrap="square" rtlCol="0" anchor="ctr"/>
          <a:lstStyle/>
          <a:p>
            <a:endParaRPr/>
          </a:p>
        </p:txBody>
      </p:sp>
      <p:sp>
        <p:nvSpPr>
          <p:cNvPr id="48" name="TextBox 47"/>
          <p:cNvSpPr txBox="1"/>
          <p:nvPr/>
        </p:nvSpPr>
        <p:spPr>
          <a:xfrm>
            <a:off x="2547518" y="5509259"/>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Ownership boundary</a:t>
            </a:r>
          </a:p>
        </p:txBody>
      </p:sp>
      <p:sp>
        <p:nvSpPr>
          <p:cNvPr id="49" name="Rectangle 48"/>
          <p:cNvSpPr/>
          <p:nvPr/>
        </p:nvSpPr>
        <p:spPr>
          <a:xfrm>
            <a:off x="3580333" y="5536692"/>
            <a:ext cx="146304" cy="91440"/>
          </a:xfrm>
          <a:prstGeom prst="rect">
            <a:avLst/>
          </a:prstGeom>
          <a:solidFill>
            <a:srgbClr val="00B39F"/>
          </a:solidFill>
          <a:ln>
            <a:noFill/>
          </a:ln>
          <a:effectLst/>
        </p:spPr>
        <p:txBody>
          <a:bodyPr wrap="square" rtlCol="0" anchor="ctr"/>
          <a:lstStyle/>
          <a:p>
            <a:endParaRPr/>
          </a:p>
        </p:txBody>
      </p:sp>
      <p:sp>
        <p:nvSpPr>
          <p:cNvPr id="50" name="TextBox 49"/>
          <p:cNvSpPr txBox="1"/>
          <p:nvPr/>
        </p:nvSpPr>
        <p:spPr>
          <a:xfrm>
            <a:off x="3799789" y="5509259"/>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A2A delegation</a:t>
            </a:r>
          </a:p>
        </p:txBody>
      </p:sp>
      <p:cxnSp>
        <p:nvCxnSpPr>
          <p:cNvPr id="51" name="Connector 50"/>
          <p:cNvCxnSpPr/>
          <p:nvPr/>
        </p:nvCxnSpPr>
        <p:spPr>
          <a:xfrm>
            <a:off x="4621377" y="5582412"/>
            <a:ext cx="164592" cy="0"/>
          </a:xfrm>
          <a:prstGeom prst="line">
            <a:avLst/>
          </a:prstGeom>
          <a:ln w="13970">
            <a:solidFill>
              <a:srgbClr val="44495B"/>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840833" y="5509259"/>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Invocation direction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PROTOCOL MECHANICS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Core data model</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Six objects define the entire protocol surface in version 1.0</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github.com/a2aproject/A2A — specification/a2a.proto</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6</a:t>
            </a:r>
          </a:p>
        </p:txBody>
      </p:sp>
      <p:sp>
        <p:nvSpPr>
          <p:cNvPr id="7" name="Rectangle 6"/>
          <p:cNvSpPr/>
          <p:nvPr/>
        </p:nvSpPr>
        <p:spPr>
          <a:xfrm>
            <a:off x="457200" y="1389888"/>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389888"/>
            <a:ext cx="41148" cy="1554480"/>
          </a:xfrm>
          <a:prstGeom prst="rect">
            <a:avLst/>
          </a:prstGeom>
          <a:solidFill>
            <a:srgbClr val="00B39F"/>
          </a:solidFill>
          <a:ln>
            <a:noFill/>
          </a:ln>
          <a:effectLst/>
        </p:spPr>
        <p:txBody>
          <a:bodyPr wrap="square" rtlCol="0" anchor="ctr"/>
          <a:lstStyle/>
          <a:p>
            <a:endParaRPr/>
          </a:p>
        </p:txBody>
      </p:sp>
      <p:sp>
        <p:nvSpPr>
          <p:cNvPr id="9" name="TextBox 8"/>
          <p:cNvSpPr txBox="1"/>
          <p:nvPr/>
        </p:nvSpPr>
        <p:spPr>
          <a:xfrm>
            <a:off x="658368" y="1527048"/>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AgentCard</a:t>
            </a:r>
          </a:p>
        </p:txBody>
      </p:sp>
      <p:sp>
        <p:nvSpPr>
          <p:cNvPr id="10" name="TextBox 9"/>
          <p:cNvSpPr txBox="1"/>
          <p:nvPr/>
        </p:nvSpPr>
        <p:spPr>
          <a:xfrm>
            <a:off x="658368" y="1792224"/>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CAPABILITY MANIFEST</a:t>
            </a:r>
          </a:p>
        </p:txBody>
      </p:sp>
      <p:sp>
        <p:nvSpPr>
          <p:cNvPr id="11" name="TextBox 10"/>
          <p:cNvSpPr txBox="1"/>
          <p:nvPr/>
        </p:nvSpPr>
        <p:spPr>
          <a:xfrm>
            <a:off x="658368" y="2029967"/>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Declares name, version, skills, capabilities, supported interfaces and security schemes. Published at a well-known URI and optionally signed as a JSON Web Signature.</a:t>
            </a:r>
          </a:p>
        </p:txBody>
      </p:sp>
      <p:sp>
        <p:nvSpPr>
          <p:cNvPr id="12" name="Rectangle 11"/>
          <p:cNvSpPr/>
          <p:nvPr/>
        </p:nvSpPr>
        <p:spPr>
          <a:xfrm>
            <a:off x="4297680" y="1389888"/>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13" name="Rectangle 12"/>
          <p:cNvSpPr/>
          <p:nvPr/>
        </p:nvSpPr>
        <p:spPr>
          <a:xfrm>
            <a:off x="4297680" y="1389888"/>
            <a:ext cx="41148" cy="1554480"/>
          </a:xfrm>
          <a:prstGeom prst="rect">
            <a:avLst/>
          </a:prstGeom>
          <a:solidFill>
            <a:srgbClr val="00B39F"/>
          </a:solidFill>
          <a:ln>
            <a:noFill/>
          </a:ln>
          <a:effectLst/>
        </p:spPr>
        <p:txBody>
          <a:bodyPr wrap="square" rtlCol="0" anchor="ctr"/>
          <a:lstStyle/>
          <a:p>
            <a:endParaRPr/>
          </a:p>
        </p:txBody>
      </p:sp>
      <p:sp>
        <p:nvSpPr>
          <p:cNvPr id="14" name="TextBox 13"/>
          <p:cNvSpPr txBox="1"/>
          <p:nvPr/>
        </p:nvSpPr>
        <p:spPr>
          <a:xfrm>
            <a:off x="4498848" y="1527048"/>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Task</a:t>
            </a:r>
          </a:p>
        </p:txBody>
      </p:sp>
      <p:sp>
        <p:nvSpPr>
          <p:cNvPr id="15" name="TextBox 14"/>
          <p:cNvSpPr txBox="1"/>
          <p:nvPr/>
        </p:nvSpPr>
        <p:spPr>
          <a:xfrm>
            <a:off x="4498848" y="1792224"/>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UNIT OF WORK</a:t>
            </a:r>
          </a:p>
        </p:txBody>
      </p:sp>
      <p:sp>
        <p:nvSpPr>
          <p:cNvPr id="16" name="TextBox 15"/>
          <p:cNvSpPr txBox="1"/>
          <p:nvPr/>
        </p:nvSpPr>
        <p:spPr>
          <a:xfrm>
            <a:off x="4498848" y="2029967"/>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Carries a server-generated identifier, a state, a message history and a set of artifacts. Client-supplied identifiers are not accepted when creating a task.</a:t>
            </a:r>
          </a:p>
        </p:txBody>
      </p:sp>
      <p:sp>
        <p:nvSpPr>
          <p:cNvPr id="17" name="Rectangle 16"/>
          <p:cNvSpPr/>
          <p:nvPr/>
        </p:nvSpPr>
        <p:spPr>
          <a:xfrm>
            <a:off x="8138160" y="1389888"/>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18" name="Rectangle 17"/>
          <p:cNvSpPr/>
          <p:nvPr/>
        </p:nvSpPr>
        <p:spPr>
          <a:xfrm>
            <a:off x="8138160" y="1389888"/>
            <a:ext cx="41148" cy="1554480"/>
          </a:xfrm>
          <a:prstGeom prst="rect">
            <a:avLst/>
          </a:prstGeom>
          <a:solidFill>
            <a:srgbClr val="00B39F"/>
          </a:solidFill>
          <a:ln>
            <a:noFill/>
          </a:ln>
          <a:effectLst/>
        </p:spPr>
        <p:txBody>
          <a:bodyPr wrap="square" rtlCol="0" anchor="ctr"/>
          <a:lstStyle/>
          <a:p>
            <a:endParaRPr/>
          </a:p>
        </p:txBody>
      </p:sp>
      <p:sp>
        <p:nvSpPr>
          <p:cNvPr id="19" name="TextBox 18"/>
          <p:cNvSpPr txBox="1"/>
          <p:nvPr/>
        </p:nvSpPr>
        <p:spPr>
          <a:xfrm>
            <a:off x="8339328" y="1527048"/>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Message</a:t>
            </a:r>
          </a:p>
        </p:txBody>
      </p:sp>
      <p:sp>
        <p:nvSpPr>
          <p:cNvPr id="20" name="TextBox 19"/>
          <p:cNvSpPr txBox="1"/>
          <p:nvPr/>
        </p:nvSpPr>
        <p:spPr>
          <a:xfrm>
            <a:off x="8339328" y="1792224"/>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CONVERSATIONAL TURN</a:t>
            </a:r>
          </a:p>
        </p:txBody>
      </p:sp>
      <p:sp>
        <p:nvSpPr>
          <p:cNvPr id="21" name="TextBox 20"/>
          <p:cNvSpPr txBox="1"/>
          <p:nvPr/>
        </p:nvSpPr>
        <p:spPr>
          <a:xfrm>
            <a:off x="8339328" y="2029967"/>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Carries a message identifier, a role of user or agent, and one or more parts. Messages convey the exchange; the specification directs that results are not returned this way.</a:t>
            </a:r>
          </a:p>
        </p:txBody>
      </p:sp>
      <p:sp>
        <p:nvSpPr>
          <p:cNvPr id="22" name="Rectangle 21"/>
          <p:cNvSpPr/>
          <p:nvPr/>
        </p:nvSpPr>
        <p:spPr>
          <a:xfrm>
            <a:off x="457200" y="3145536"/>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23" name="Rectangle 22"/>
          <p:cNvSpPr/>
          <p:nvPr/>
        </p:nvSpPr>
        <p:spPr>
          <a:xfrm>
            <a:off x="457200" y="3145536"/>
            <a:ext cx="41148" cy="1554480"/>
          </a:xfrm>
          <a:prstGeom prst="rect">
            <a:avLst/>
          </a:prstGeom>
          <a:solidFill>
            <a:srgbClr val="00B39F"/>
          </a:solidFill>
          <a:ln>
            <a:noFill/>
          </a:ln>
          <a:effectLst/>
        </p:spPr>
        <p:txBody>
          <a:bodyPr wrap="square" rtlCol="0" anchor="ctr"/>
          <a:lstStyle/>
          <a:p>
            <a:endParaRPr/>
          </a:p>
        </p:txBody>
      </p:sp>
      <p:sp>
        <p:nvSpPr>
          <p:cNvPr id="24" name="TextBox 23"/>
          <p:cNvSpPr txBox="1"/>
          <p:nvPr/>
        </p:nvSpPr>
        <p:spPr>
          <a:xfrm>
            <a:off x="658368" y="3282696"/>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Part</a:t>
            </a:r>
          </a:p>
        </p:txBody>
      </p:sp>
      <p:sp>
        <p:nvSpPr>
          <p:cNvPr id="25" name="TextBox 24"/>
          <p:cNvSpPr txBox="1"/>
          <p:nvPr/>
        </p:nvSpPr>
        <p:spPr>
          <a:xfrm>
            <a:off x="658368" y="3547872"/>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CONTENT UNIT</a:t>
            </a:r>
          </a:p>
        </p:txBody>
      </p:sp>
      <p:sp>
        <p:nvSpPr>
          <p:cNvPr id="26" name="TextBox 25"/>
          <p:cNvSpPr txBox="1"/>
          <p:nvPr/>
        </p:nvSpPr>
        <p:spPr>
          <a:xfrm>
            <a:off x="658368" y="3785615"/>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Holds exactly one of text, raw bytes, a referenced URL or structured data, with optional media type and filename. Version 1.0 consolidated three earlier part types into this one.</a:t>
            </a:r>
          </a:p>
        </p:txBody>
      </p:sp>
      <p:sp>
        <p:nvSpPr>
          <p:cNvPr id="27" name="Rectangle 26"/>
          <p:cNvSpPr/>
          <p:nvPr/>
        </p:nvSpPr>
        <p:spPr>
          <a:xfrm>
            <a:off x="4297680" y="3145536"/>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28" name="Rectangle 27"/>
          <p:cNvSpPr/>
          <p:nvPr/>
        </p:nvSpPr>
        <p:spPr>
          <a:xfrm>
            <a:off x="4297680" y="3145536"/>
            <a:ext cx="41148" cy="1554480"/>
          </a:xfrm>
          <a:prstGeom prst="rect">
            <a:avLst/>
          </a:prstGeom>
          <a:solidFill>
            <a:srgbClr val="00B39F"/>
          </a:solidFill>
          <a:ln>
            <a:noFill/>
          </a:ln>
          <a:effectLst/>
        </p:spPr>
        <p:txBody>
          <a:bodyPr wrap="square" rtlCol="0" anchor="ctr"/>
          <a:lstStyle/>
          <a:p>
            <a:endParaRPr/>
          </a:p>
        </p:txBody>
      </p:sp>
      <p:sp>
        <p:nvSpPr>
          <p:cNvPr id="29" name="TextBox 28"/>
          <p:cNvSpPr txBox="1"/>
          <p:nvPr/>
        </p:nvSpPr>
        <p:spPr>
          <a:xfrm>
            <a:off x="4498848" y="3282696"/>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Artifact</a:t>
            </a:r>
          </a:p>
        </p:txBody>
      </p:sp>
      <p:sp>
        <p:nvSpPr>
          <p:cNvPr id="30" name="TextBox 29"/>
          <p:cNvSpPr txBox="1"/>
          <p:nvPr/>
        </p:nvSpPr>
        <p:spPr>
          <a:xfrm>
            <a:off x="4498848" y="3547872"/>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TASK OUTPUT</a:t>
            </a:r>
          </a:p>
        </p:txBody>
      </p:sp>
      <p:sp>
        <p:nvSpPr>
          <p:cNvPr id="31" name="TextBox 30"/>
          <p:cNvSpPr txBox="1"/>
          <p:nvPr/>
        </p:nvSpPr>
        <p:spPr>
          <a:xfrm>
            <a:off x="4498848" y="3785615"/>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Carries an artifact identifier, an optional name and one or more parts. This is the defined mechanism for returning the result of a task.</a:t>
            </a:r>
          </a:p>
        </p:txBody>
      </p:sp>
      <p:sp>
        <p:nvSpPr>
          <p:cNvPr id="32" name="Rectangle 31"/>
          <p:cNvSpPr/>
          <p:nvPr/>
        </p:nvSpPr>
        <p:spPr>
          <a:xfrm>
            <a:off x="8138160" y="3145536"/>
            <a:ext cx="3639312" cy="1554480"/>
          </a:xfrm>
          <a:prstGeom prst="rect">
            <a:avLst/>
          </a:prstGeom>
          <a:solidFill>
            <a:srgbClr val="F6F8FD"/>
          </a:solidFill>
          <a:ln w="9525">
            <a:solidFill>
              <a:srgbClr val="E1E7F4"/>
            </a:solidFill>
          </a:ln>
          <a:effectLst/>
        </p:spPr>
        <p:txBody>
          <a:bodyPr wrap="square" rtlCol="0" anchor="ctr"/>
          <a:lstStyle/>
          <a:p>
            <a:endParaRPr/>
          </a:p>
        </p:txBody>
      </p:sp>
      <p:sp>
        <p:nvSpPr>
          <p:cNvPr id="33" name="Rectangle 32"/>
          <p:cNvSpPr/>
          <p:nvPr/>
        </p:nvSpPr>
        <p:spPr>
          <a:xfrm>
            <a:off x="8138160" y="3145536"/>
            <a:ext cx="41148" cy="1554480"/>
          </a:xfrm>
          <a:prstGeom prst="rect">
            <a:avLst/>
          </a:prstGeom>
          <a:solidFill>
            <a:srgbClr val="00B39F"/>
          </a:solidFill>
          <a:ln>
            <a:noFill/>
          </a:ln>
          <a:effectLst/>
        </p:spPr>
        <p:txBody>
          <a:bodyPr wrap="square" rtlCol="0" anchor="ctr"/>
          <a:lstStyle/>
          <a:p>
            <a:endParaRPr/>
          </a:p>
        </p:txBody>
      </p:sp>
      <p:sp>
        <p:nvSpPr>
          <p:cNvPr id="34" name="TextBox 33"/>
          <p:cNvSpPr txBox="1"/>
          <p:nvPr/>
        </p:nvSpPr>
        <p:spPr>
          <a:xfrm>
            <a:off x="8339328" y="3282696"/>
            <a:ext cx="3236976" cy="219456"/>
          </a:xfrm>
          <a:prstGeom prst="rect">
            <a:avLst/>
          </a:prstGeom>
          <a:noFill/>
        </p:spPr>
        <p:txBody>
          <a:bodyPr wrap="square" lIns="0" tIns="0" rIns="0" bIns="0" anchor="t">
            <a:spAutoFit/>
          </a:bodyPr>
          <a:lstStyle/>
          <a:p>
            <a:pPr algn="l">
              <a:lnSpc>
                <a:spcPct val="100000"/>
              </a:lnSpc>
            </a:pPr>
            <a:r>
              <a:rPr sz="1200" b="1" i="0" dirty="0">
                <a:solidFill>
                  <a:srgbClr val="101A3C"/>
                </a:solidFill>
                <a:latin typeface="Segoe UI"/>
                <a:cs typeface="Segoe UI"/>
              </a:rPr>
              <a:t>Context</a:t>
            </a:r>
          </a:p>
        </p:txBody>
      </p:sp>
      <p:sp>
        <p:nvSpPr>
          <p:cNvPr id="35" name="TextBox 34"/>
          <p:cNvSpPr txBox="1"/>
          <p:nvPr/>
        </p:nvSpPr>
        <p:spPr>
          <a:xfrm>
            <a:off x="8339328" y="3547872"/>
            <a:ext cx="3236976"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CORRELATION SCOPE</a:t>
            </a:r>
          </a:p>
        </p:txBody>
      </p:sp>
      <p:sp>
        <p:nvSpPr>
          <p:cNvPr id="36" name="TextBox 35"/>
          <p:cNvSpPr txBox="1"/>
          <p:nvPr/>
        </p:nvSpPr>
        <p:spPr>
          <a:xfrm>
            <a:off x="8339328" y="3785615"/>
            <a:ext cx="3236976" cy="768096"/>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A context identifier groups tasks and messages belonging to one logical conversation, including the successor task required to refine a completed result.</a:t>
            </a:r>
          </a:p>
        </p:txBody>
      </p:sp>
      <p:sp>
        <p:nvSpPr>
          <p:cNvPr id="37" name="Rectangle 36"/>
          <p:cNvSpPr/>
          <p:nvPr/>
        </p:nvSpPr>
        <p:spPr>
          <a:xfrm>
            <a:off x="457200" y="4919472"/>
            <a:ext cx="11277295" cy="566928"/>
          </a:xfrm>
          <a:prstGeom prst="rect">
            <a:avLst/>
          </a:prstGeom>
          <a:solidFill>
            <a:srgbClr val="EBEFF7"/>
          </a:solidFill>
          <a:ln>
            <a:noFill/>
          </a:ln>
          <a:effectLst/>
        </p:spPr>
        <p:txBody>
          <a:bodyPr wrap="square" rtlCol="0" anchor="ctr"/>
          <a:lstStyle/>
          <a:p>
            <a:endParaRPr/>
          </a:p>
        </p:txBody>
      </p:sp>
      <p:sp>
        <p:nvSpPr>
          <p:cNvPr id="38" name="Rectangle 37"/>
          <p:cNvSpPr/>
          <p:nvPr/>
        </p:nvSpPr>
        <p:spPr>
          <a:xfrm>
            <a:off x="457200" y="4919472"/>
            <a:ext cx="41148" cy="566928"/>
          </a:xfrm>
          <a:prstGeom prst="rect">
            <a:avLst/>
          </a:prstGeom>
          <a:solidFill>
            <a:srgbClr val="00B39F"/>
          </a:solidFill>
          <a:ln>
            <a:noFill/>
          </a:ln>
          <a:effectLst/>
        </p:spPr>
        <p:txBody>
          <a:bodyPr wrap="square" rtlCol="0" anchor="ctr"/>
          <a:lstStyle/>
          <a:p>
            <a:endParaRPr/>
          </a:p>
        </p:txBody>
      </p:sp>
      <p:sp>
        <p:nvSpPr>
          <p:cNvPr id="39" name="TextBox 38"/>
          <p:cNvSpPr txBox="1"/>
          <p:nvPr/>
        </p:nvSpPr>
        <p:spPr>
          <a:xfrm>
            <a:off x="694944" y="5020056"/>
            <a:ext cx="10856671" cy="384048"/>
          </a:xfrm>
          <a:prstGeom prst="rect">
            <a:avLst/>
          </a:prstGeom>
          <a:noFill/>
        </p:spPr>
        <p:txBody>
          <a:bodyPr wrap="square" lIns="0" tIns="0" rIns="0" bIns="0" anchor="t">
            <a:spAutoFit/>
          </a:bodyPr>
          <a:lstStyle/>
          <a:p>
            <a:pPr algn="l">
              <a:lnSpc>
                <a:spcPct val="120000"/>
              </a:lnSpc>
            </a:pPr>
            <a:r>
              <a:rPr sz="900" b="0" i="0" dirty="0">
                <a:solidFill>
                  <a:srgbClr val="101A3C"/>
                </a:solidFill>
                <a:latin typeface="Segoe UI"/>
                <a:cs typeface="Segoe UI"/>
              </a:rPr>
              <a:t>The separation between Message and Artifact is normative: “Messages SHOULD NOT be used to deliver task outputs. Results SHOULD BE returned using Artifacts associated with a Task.” Implementations that return results in message text force consumers to parse prose.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PROTOCOL MECHANICS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Agent Card: structure and discovery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machine-readable manifest a client retrieves before it interacts with an agent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a2a-protocol.org/latest/topics/agent-discovery</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7</a:t>
            </a:r>
          </a:p>
        </p:txBody>
      </p:sp>
      <p:sp>
        <p:nvSpPr>
          <p:cNvPr id="7" name="Rectangle 6"/>
          <p:cNvSpPr/>
          <p:nvPr/>
        </p:nvSpPr>
        <p:spPr>
          <a:xfrm>
            <a:off x="457200" y="1371600"/>
            <a:ext cx="5760720" cy="3163824"/>
          </a:xfrm>
          <a:prstGeom prst="rect">
            <a:avLst/>
          </a:prstGeom>
          <a:solidFill>
            <a:srgbClr val="0B1229"/>
          </a:solidFill>
          <a:ln>
            <a:noFill/>
          </a:ln>
          <a:effectLst/>
        </p:spPr>
        <p:txBody>
          <a:bodyPr wrap="square" rtlCol="0" anchor="ctr"/>
          <a:lstStyle/>
          <a:p>
            <a:endParaRPr/>
          </a:p>
        </p:txBody>
      </p:sp>
      <p:sp>
        <p:nvSpPr>
          <p:cNvPr id="8" name="TextBox 7"/>
          <p:cNvSpPr txBox="1"/>
          <p:nvPr/>
        </p:nvSpPr>
        <p:spPr>
          <a:xfrm>
            <a:off x="676656" y="1517904"/>
            <a:ext cx="5321808"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AGENT CARD — ABRIDGED</a:t>
            </a:r>
          </a:p>
        </p:txBody>
      </p:sp>
      <p:sp>
        <p:nvSpPr>
          <p:cNvPr id="9" name="TextBox 8"/>
          <p:cNvSpPr txBox="1"/>
          <p:nvPr/>
        </p:nvSpPr>
        <p:spPr>
          <a:xfrm>
            <a:off x="676656" y="1755648"/>
            <a:ext cx="5321808" cy="2651760"/>
          </a:xfrm>
          <a:prstGeom prst="rect">
            <a:avLst/>
          </a:prstGeom>
          <a:noFill/>
        </p:spPr>
        <p:txBody>
          <a:bodyPr wrap="none" lIns="0" tIns="0" rIns="0" bIns="0" anchor="t">
            <a:spAutoFit/>
          </a:bodyPr>
          <a:lstStyle/>
          <a:p>
            <a:pPr algn="l">
              <a:lnSpc>
                <a:spcPct val="128000"/>
              </a:lnSpc>
            </a:pPr>
            <a:r>
              <a:rPr sz="750" b="0" i="0" dirty="0">
                <a:solidFill>
                  <a:srgbClr val="D6DEEE"/>
                </a:solidFill>
                <a:latin typeface="Consolas"/>
                <a:cs typeface="Consolas"/>
              </a:rPr>
              <a:t>GET https://agent.example.com/.well-known/agent-card.json</a:t>
            </a:r>
          </a:p>
          <a:p>
            <a:pPr algn="l">
              <a:lnSpc>
                <a:spcPct val="128000"/>
              </a:lnSpc>
            </a:pPr>
            <a:endParaRPr sz="750" b="0" i="0" dirty="0">
              <a:solidFill>
                <a:srgbClr val="D6DEEE"/>
              </a:solidFill>
              <a:latin typeface="Consolas"/>
              <a:cs typeface="Consolas"/>
            </a:endParaRPr>
          </a:p>
          <a:p>
            <a:pPr algn="l">
              <a:lnSpc>
                <a:spcPct val="128000"/>
              </a:lnSpc>
            </a:pPr>
            <a:r>
              <a:rPr sz="750" b="0" i="0" dirty="0">
                <a:solidFill>
                  <a:srgbClr val="D6DEEE"/>
                </a:solidFill>
                <a:latin typeface="Consolas"/>
                <a:cs typeface="Consolas"/>
              </a:rPr>
              <a:t>{ "name": "Claims Assessment Agent",</a:t>
            </a:r>
          </a:p>
          <a:p>
            <a:pPr algn="l">
              <a:lnSpc>
                <a:spcPct val="128000"/>
              </a:lnSpc>
            </a:pPr>
            <a:r>
              <a:rPr sz="750" b="0" i="0" dirty="0">
                <a:solidFill>
                  <a:srgbClr val="D6DEEE"/>
                </a:solidFill>
                <a:latin typeface="Consolas"/>
                <a:cs typeface="Consolas"/>
              </a:rPr>
              <a:t>  "description": "Assesses submitted insurance claims",</a:t>
            </a:r>
          </a:p>
          <a:p>
            <a:pPr algn="l">
              <a:lnSpc>
                <a:spcPct val="128000"/>
              </a:lnSpc>
            </a:pPr>
            <a:r>
              <a:rPr sz="750" b="0" i="0" dirty="0">
                <a:solidFill>
                  <a:srgbClr val="D6DEEE"/>
                </a:solidFill>
                <a:latin typeface="Consolas"/>
                <a:cs typeface="Consolas"/>
              </a:rPr>
              <a:t>  "version": "2.1.0",</a:t>
            </a:r>
          </a:p>
          <a:p>
            <a:pPr algn="l">
              <a:lnSpc>
                <a:spcPct val="128000"/>
              </a:lnSpc>
            </a:pPr>
            <a:r>
              <a:rPr sz="750" b="0" i="0" dirty="0">
                <a:solidFill>
                  <a:srgbClr val="D6DEEE"/>
                </a:solidFill>
                <a:latin typeface="Consolas"/>
                <a:cs typeface="Consolas"/>
              </a:rPr>
              <a:t>  "supportedInterfaces": [</a:t>
            </a:r>
          </a:p>
          <a:p>
            <a:pPr algn="l">
              <a:lnSpc>
                <a:spcPct val="128000"/>
              </a:lnSpc>
            </a:pPr>
            <a:r>
              <a:rPr sz="750" b="0" i="0" dirty="0">
                <a:solidFill>
                  <a:srgbClr val="D6DEEE"/>
                </a:solidFill>
                <a:latin typeface="Consolas"/>
                <a:cs typeface="Consolas"/>
              </a:rPr>
              <a:t>    { "url": "https://agent.example.com/a2a",</a:t>
            </a:r>
          </a:p>
          <a:p>
            <a:pPr algn="l">
              <a:lnSpc>
                <a:spcPct val="128000"/>
              </a:lnSpc>
            </a:pPr>
            <a:r>
              <a:rPr sz="750" b="0" i="0" dirty="0">
                <a:solidFill>
                  <a:srgbClr val="D6DEEE"/>
                </a:solidFill>
                <a:latin typeface="Consolas"/>
                <a:cs typeface="Consolas"/>
              </a:rPr>
              <a:t>      "protocolBinding": "JSONRPC",</a:t>
            </a:r>
          </a:p>
          <a:p>
            <a:pPr algn="l">
              <a:lnSpc>
                <a:spcPct val="128000"/>
              </a:lnSpc>
            </a:pPr>
            <a:r>
              <a:rPr sz="750" b="0" i="0" dirty="0">
                <a:solidFill>
                  <a:srgbClr val="D6DEEE"/>
                </a:solidFill>
                <a:latin typeface="Consolas"/>
                <a:cs typeface="Consolas"/>
              </a:rPr>
              <a:t>      "protocolVersion": "1.0" } ],</a:t>
            </a:r>
          </a:p>
          <a:p>
            <a:pPr algn="l">
              <a:lnSpc>
                <a:spcPct val="128000"/>
              </a:lnSpc>
            </a:pPr>
            <a:r>
              <a:rPr sz="750" b="0" i="0" dirty="0">
                <a:solidFill>
                  <a:srgbClr val="D6DEEE"/>
                </a:solidFill>
                <a:latin typeface="Consolas"/>
                <a:cs typeface="Consolas"/>
              </a:rPr>
              <a:t>  "capabilities": { "streaming": true,</a:t>
            </a:r>
          </a:p>
          <a:p>
            <a:pPr algn="l">
              <a:lnSpc>
                <a:spcPct val="128000"/>
              </a:lnSpc>
            </a:pPr>
            <a:r>
              <a:rPr sz="750" b="0" i="0" dirty="0">
                <a:solidFill>
                  <a:srgbClr val="D6DEEE"/>
                </a:solidFill>
                <a:latin typeface="Consolas"/>
                <a:cs typeface="Consolas"/>
              </a:rPr>
              <a:t>                    "pushNotifications": true,</a:t>
            </a:r>
          </a:p>
          <a:p>
            <a:pPr algn="l">
              <a:lnSpc>
                <a:spcPct val="128000"/>
              </a:lnSpc>
            </a:pPr>
            <a:r>
              <a:rPr sz="750" b="0" i="0" dirty="0">
                <a:solidFill>
                  <a:srgbClr val="D6DEEE"/>
                </a:solidFill>
                <a:latin typeface="Consolas"/>
                <a:cs typeface="Consolas"/>
              </a:rPr>
              <a:t>                    "extendedAgentCard": false },</a:t>
            </a:r>
          </a:p>
          <a:p>
            <a:pPr algn="l">
              <a:lnSpc>
                <a:spcPct val="128000"/>
              </a:lnSpc>
            </a:pPr>
            <a:r>
              <a:rPr sz="750" b="0" i="0" dirty="0">
                <a:solidFill>
                  <a:srgbClr val="D6DEEE"/>
                </a:solidFill>
                <a:latin typeface="Consolas"/>
                <a:cs typeface="Consolas"/>
              </a:rPr>
              <a:t>  "defaultInputModes":  ["text/plain"],</a:t>
            </a:r>
          </a:p>
          <a:p>
            <a:pPr algn="l">
              <a:lnSpc>
                <a:spcPct val="128000"/>
              </a:lnSpc>
            </a:pPr>
            <a:r>
              <a:rPr sz="750" b="0" i="0" dirty="0">
                <a:solidFill>
                  <a:srgbClr val="D6DEEE"/>
                </a:solidFill>
                <a:latin typeface="Consolas"/>
                <a:cs typeface="Consolas"/>
              </a:rPr>
              <a:t>  "defaultOutputModes": ["text/plain"],</a:t>
            </a:r>
          </a:p>
          <a:p>
            <a:pPr algn="l">
              <a:lnSpc>
                <a:spcPct val="128000"/>
              </a:lnSpc>
            </a:pPr>
            <a:r>
              <a:rPr sz="750" b="0" i="0" dirty="0">
                <a:solidFill>
                  <a:srgbClr val="D6DEEE"/>
                </a:solidFill>
                <a:latin typeface="Consolas"/>
                <a:cs typeface="Consolas"/>
              </a:rPr>
              <a:t>  "skills": [ { "id": "assess-claim",</a:t>
            </a:r>
          </a:p>
          <a:p>
            <a:pPr algn="l">
              <a:lnSpc>
                <a:spcPct val="128000"/>
              </a:lnSpc>
            </a:pPr>
            <a:r>
              <a:rPr sz="750" b="0" i="0" dirty="0">
                <a:solidFill>
                  <a:srgbClr val="D6DEEE"/>
                </a:solidFill>
                <a:latin typeface="Consolas"/>
                <a:cs typeface="Consolas"/>
              </a:rPr>
              <a:t>                "name": "Assess a claim",</a:t>
            </a:r>
          </a:p>
          <a:p>
            <a:pPr algn="l">
              <a:lnSpc>
                <a:spcPct val="128000"/>
              </a:lnSpc>
            </a:pPr>
            <a:r>
              <a:rPr sz="750" b="0" i="0" dirty="0">
                <a:solidFill>
                  <a:srgbClr val="D6DEEE"/>
                </a:solidFill>
                <a:latin typeface="Consolas"/>
                <a:cs typeface="Consolas"/>
              </a:rPr>
              <a:t>                "tags": ["insurance"] } ],</a:t>
            </a:r>
          </a:p>
          <a:p>
            <a:pPr algn="l">
              <a:lnSpc>
                <a:spcPct val="128000"/>
              </a:lnSpc>
            </a:pPr>
            <a:r>
              <a:rPr sz="750" b="0" i="0" dirty="0">
                <a:solidFill>
                  <a:srgbClr val="D6DEEE"/>
                </a:solidFill>
                <a:latin typeface="Consolas"/>
                <a:cs typeface="Consolas"/>
              </a:rPr>
              <a:t>  "securitySchemes": { "entra": { "type": "openIdConnect" } } }</a:t>
            </a:r>
          </a:p>
        </p:txBody>
      </p:sp>
      <p:sp>
        <p:nvSpPr>
          <p:cNvPr id="10" name="TextBox 9"/>
          <p:cNvSpPr txBox="1"/>
          <p:nvPr/>
        </p:nvSpPr>
        <p:spPr>
          <a:xfrm>
            <a:off x="6528816" y="1371600"/>
            <a:ext cx="52120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REQUIRED FIELDS</a:t>
            </a:r>
          </a:p>
        </p:txBody>
      </p:sp>
      <p:sp>
        <p:nvSpPr>
          <p:cNvPr id="11" name="TextBox 10"/>
          <p:cNvSpPr txBox="1"/>
          <p:nvPr/>
        </p:nvSpPr>
        <p:spPr>
          <a:xfrm>
            <a:off x="6528816" y="160934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name, description</a:t>
            </a:r>
          </a:p>
        </p:txBody>
      </p:sp>
      <p:sp>
        <p:nvSpPr>
          <p:cNvPr id="12" name="TextBox 11"/>
          <p:cNvSpPr txBox="1"/>
          <p:nvPr/>
        </p:nvSpPr>
        <p:spPr>
          <a:xfrm>
            <a:off x="8609990" y="160934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Human-readable identification</a:t>
            </a:r>
          </a:p>
        </p:txBody>
      </p:sp>
      <p:cxnSp>
        <p:nvCxnSpPr>
          <p:cNvPr id="13" name="Connector 12"/>
          <p:cNvCxnSpPr/>
          <p:nvPr/>
        </p:nvCxnSpPr>
        <p:spPr>
          <a:xfrm>
            <a:off x="6528816" y="195681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28816" y="197510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version</a:t>
            </a:r>
          </a:p>
        </p:txBody>
      </p:sp>
      <p:sp>
        <p:nvSpPr>
          <p:cNvPr id="15" name="TextBox 14"/>
          <p:cNvSpPr txBox="1"/>
          <p:nvPr/>
        </p:nvSpPr>
        <p:spPr>
          <a:xfrm>
            <a:off x="8609990" y="197510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Version of the agent, not of the protocol</a:t>
            </a:r>
          </a:p>
        </p:txBody>
      </p:sp>
      <p:cxnSp>
        <p:nvCxnSpPr>
          <p:cNvPr id="16" name="Connector 15"/>
          <p:cNvCxnSpPr/>
          <p:nvPr/>
        </p:nvCxnSpPr>
        <p:spPr>
          <a:xfrm>
            <a:off x="6528816" y="232257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28816" y="234086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supportedInterfaces</a:t>
            </a:r>
          </a:p>
        </p:txBody>
      </p:sp>
      <p:sp>
        <p:nvSpPr>
          <p:cNvPr id="18" name="TextBox 17"/>
          <p:cNvSpPr txBox="1"/>
          <p:nvPr/>
        </p:nvSpPr>
        <p:spPr>
          <a:xfrm>
            <a:off x="8609990" y="234086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Ordered list; the first entry is preferred</a:t>
            </a:r>
          </a:p>
        </p:txBody>
      </p:sp>
      <p:cxnSp>
        <p:nvCxnSpPr>
          <p:cNvPr id="19" name="Connector 18"/>
          <p:cNvCxnSpPr/>
          <p:nvPr/>
        </p:nvCxnSpPr>
        <p:spPr>
          <a:xfrm>
            <a:off x="6528816" y="268833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28816" y="270662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capabilities</a:t>
            </a:r>
          </a:p>
        </p:txBody>
      </p:sp>
      <p:sp>
        <p:nvSpPr>
          <p:cNvPr id="21" name="TextBox 20"/>
          <p:cNvSpPr txBox="1"/>
          <p:nvPr/>
        </p:nvSpPr>
        <p:spPr>
          <a:xfrm>
            <a:off x="8609990" y="270662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Streaming, push notification, extended card</a:t>
            </a:r>
          </a:p>
        </p:txBody>
      </p:sp>
      <p:cxnSp>
        <p:nvCxnSpPr>
          <p:cNvPr id="22" name="Connector 21"/>
          <p:cNvCxnSpPr/>
          <p:nvPr/>
        </p:nvCxnSpPr>
        <p:spPr>
          <a:xfrm>
            <a:off x="6528816" y="305409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28816" y="307238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defaultInput / OutputModes</a:t>
            </a:r>
          </a:p>
        </p:txBody>
      </p:sp>
      <p:sp>
        <p:nvSpPr>
          <p:cNvPr id="24" name="TextBox 23"/>
          <p:cNvSpPr txBox="1"/>
          <p:nvPr/>
        </p:nvSpPr>
        <p:spPr>
          <a:xfrm>
            <a:off x="8609990" y="307238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Media types accepted and produced</a:t>
            </a:r>
          </a:p>
        </p:txBody>
      </p:sp>
      <p:cxnSp>
        <p:nvCxnSpPr>
          <p:cNvPr id="25" name="Connector 24"/>
          <p:cNvCxnSpPr/>
          <p:nvPr/>
        </p:nvCxnSpPr>
        <p:spPr>
          <a:xfrm>
            <a:off x="6528816" y="341985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528816" y="3438144"/>
            <a:ext cx="1989734"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skills</a:t>
            </a:r>
          </a:p>
        </p:txBody>
      </p:sp>
      <p:sp>
        <p:nvSpPr>
          <p:cNvPr id="27" name="TextBox 26"/>
          <p:cNvSpPr txBox="1"/>
          <p:nvPr/>
        </p:nvSpPr>
        <p:spPr>
          <a:xfrm>
            <a:off x="8609990" y="3438144"/>
            <a:ext cx="3121761"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Identifier, name and tags per declared skill</a:t>
            </a:r>
          </a:p>
        </p:txBody>
      </p:sp>
      <p:cxnSp>
        <p:nvCxnSpPr>
          <p:cNvPr id="28" name="Connector 27"/>
          <p:cNvCxnSpPr/>
          <p:nvPr/>
        </p:nvCxnSpPr>
        <p:spPr>
          <a:xfrm>
            <a:off x="6528816" y="3785616"/>
            <a:ext cx="520293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528816" y="3968496"/>
            <a:ext cx="52120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DISCOVERY STRATEGIES</a:t>
            </a:r>
          </a:p>
        </p:txBody>
      </p:sp>
      <p:sp>
        <p:nvSpPr>
          <p:cNvPr id="30" name="Rectangle 29"/>
          <p:cNvSpPr/>
          <p:nvPr/>
        </p:nvSpPr>
        <p:spPr>
          <a:xfrm>
            <a:off x="6528816" y="4206240"/>
            <a:ext cx="5202936" cy="420624"/>
          </a:xfrm>
          <a:prstGeom prst="rect">
            <a:avLst/>
          </a:prstGeom>
          <a:solidFill>
            <a:srgbClr val="F6F8FD"/>
          </a:solidFill>
          <a:ln w="9525">
            <a:solidFill>
              <a:srgbClr val="E1E7F4"/>
            </a:solidFill>
          </a:ln>
          <a:effectLst/>
        </p:spPr>
        <p:txBody>
          <a:bodyPr wrap="square" rtlCol="0" anchor="ctr"/>
          <a:lstStyle/>
          <a:p>
            <a:endParaRPr/>
          </a:p>
        </p:txBody>
      </p:sp>
      <p:sp>
        <p:nvSpPr>
          <p:cNvPr id="31" name="TextBox 30"/>
          <p:cNvSpPr txBox="1"/>
          <p:nvPr/>
        </p:nvSpPr>
        <p:spPr>
          <a:xfrm>
            <a:off x="6693408" y="4251959"/>
            <a:ext cx="1572768"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Well-known URI</a:t>
            </a:r>
          </a:p>
        </p:txBody>
      </p:sp>
      <p:sp>
        <p:nvSpPr>
          <p:cNvPr id="32" name="TextBox 31"/>
          <p:cNvSpPr txBox="1"/>
          <p:nvPr/>
        </p:nvSpPr>
        <p:spPr>
          <a:xfrm>
            <a:off x="8375904" y="4251959"/>
            <a:ext cx="3200400" cy="329184"/>
          </a:xfrm>
          <a:prstGeom prst="rect">
            <a:avLst/>
          </a:prstGeom>
          <a:noFill/>
        </p:spPr>
        <p:txBody>
          <a:bodyPr wrap="square" lIns="0" tIns="0" rIns="0" bIns="0" anchor="ctr">
            <a:spAutoFit/>
          </a:bodyPr>
          <a:lstStyle/>
          <a:p>
            <a:pPr algn="l">
              <a:lnSpc>
                <a:spcPct val="114000"/>
              </a:lnSpc>
            </a:pPr>
            <a:r>
              <a:rPr sz="750" b="0" i="0" dirty="0">
                <a:solidFill>
                  <a:srgbClr val="44495B"/>
                </a:solidFill>
                <a:latin typeface="Segoe UI"/>
                <a:cs typeface="Segoe UI"/>
              </a:rPr>
              <a:t>An HTTP GET to /.well-known/agent-card.json, following RFC 8615. The default mechanism.</a:t>
            </a:r>
          </a:p>
        </p:txBody>
      </p:sp>
      <p:sp>
        <p:nvSpPr>
          <p:cNvPr id="33" name="Rectangle 32"/>
          <p:cNvSpPr/>
          <p:nvPr/>
        </p:nvSpPr>
        <p:spPr>
          <a:xfrm>
            <a:off x="6528816" y="4681727"/>
            <a:ext cx="5202936" cy="420624"/>
          </a:xfrm>
          <a:prstGeom prst="rect">
            <a:avLst/>
          </a:prstGeom>
          <a:solidFill>
            <a:srgbClr val="FFFFFF"/>
          </a:solidFill>
          <a:ln w="9525">
            <a:solidFill>
              <a:srgbClr val="E1E7F4"/>
            </a:solidFill>
          </a:ln>
          <a:effectLst/>
        </p:spPr>
        <p:txBody>
          <a:bodyPr wrap="square" rtlCol="0" anchor="ctr"/>
          <a:lstStyle/>
          <a:p>
            <a:endParaRPr/>
          </a:p>
        </p:txBody>
      </p:sp>
      <p:sp>
        <p:nvSpPr>
          <p:cNvPr id="34" name="TextBox 33"/>
          <p:cNvSpPr txBox="1"/>
          <p:nvPr/>
        </p:nvSpPr>
        <p:spPr>
          <a:xfrm>
            <a:off x="6693408" y="4727447"/>
            <a:ext cx="1572768"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Curated registry</a:t>
            </a:r>
          </a:p>
        </p:txBody>
      </p:sp>
      <p:sp>
        <p:nvSpPr>
          <p:cNvPr id="35" name="TextBox 34"/>
          <p:cNvSpPr txBox="1"/>
          <p:nvPr/>
        </p:nvSpPr>
        <p:spPr>
          <a:xfrm>
            <a:off x="8375904" y="4727447"/>
            <a:ext cx="3200400" cy="329184"/>
          </a:xfrm>
          <a:prstGeom prst="rect">
            <a:avLst/>
          </a:prstGeom>
          <a:noFill/>
        </p:spPr>
        <p:txBody>
          <a:bodyPr wrap="square" lIns="0" tIns="0" rIns="0" bIns="0" anchor="ctr">
            <a:spAutoFit/>
          </a:bodyPr>
          <a:lstStyle/>
          <a:p>
            <a:pPr algn="l">
              <a:lnSpc>
                <a:spcPct val="114000"/>
              </a:lnSpc>
            </a:pPr>
            <a:r>
              <a:rPr sz="750" b="0" i="0" dirty="0">
                <a:solidFill>
                  <a:srgbClr val="44495B"/>
                </a:solidFill>
                <a:latin typeface="Segoe UI"/>
                <a:cs typeface="Segoe UI"/>
              </a:rPr>
              <a:t>A catalogue queried by skill, tag or provider. The specification does not define a registry interface.</a:t>
            </a:r>
          </a:p>
        </p:txBody>
      </p:sp>
      <p:sp>
        <p:nvSpPr>
          <p:cNvPr id="36" name="Rectangle 35"/>
          <p:cNvSpPr/>
          <p:nvPr/>
        </p:nvSpPr>
        <p:spPr>
          <a:xfrm>
            <a:off x="6528816" y="5157216"/>
            <a:ext cx="5202936" cy="420624"/>
          </a:xfrm>
          <a:prstGeom prst="rect">
            <a:avLst/>
          </a:prstGeom>
          <a:solidFill>
            <a:srgbClr val="F6F8FD"/>
          </a:solidFill>
          <a:ln w="9525">
            <a:solidFill>
              <a:srgbClr val="E1E7F4"/>
            </a:solidFill>
          </a:ln>
          <a:effectLst/>
        </p:spPr>
        <p:txBody>
          <a:bodyPr wrap="square" rtlCol="0" anchor="ctr"/>
          <a:lstStyle/>
          <a:p>
            <a:endParaRPr/>
          </a:p>
        </p:txBody>
      </p:sp>
      <p:sp>
        <p:nvSpPr>
          <p:cNvPr id="37" name="TextBox 36"/>
          <p:cNvSpPr txBox="1"/>
          <p:nvPr/>
        </p:nvSpPr>
        <p:spPr>
          <a:xfrm>
            <a:off x="6693408" y="5202936"/>
            <a:ext cx="1572768"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Direct configuration</a:t>
            </a:r>
          </a:p>
        </p:txBody>
      </p:sp>
      <p:sp>
        <p:nvSpPr>
          <p:cNvPr id="38" name="TextBox 37"/>
          <p:cNvSpPr txBox="1"/>
          <p:nvPr/>
        </p:nvSpPr>
        <p:spPr>
          <a:xfrm>
            <a:off x="8375904" y="5202936"/>
            <a:ext cx="3200400" cy="329184"/>
          </a:xfrm>
          <a:prstGeom prst="rect">
            <a:avLst/>
          </a:prstGeom>
          <a:noFill/>
        </p:spPr>
        <p:txBody>
          <a:bodyPr wrap="square" lIns="0" tIns="0" rIns="0" bIns="0" anchor="ctr">
            <a:spAutoFit/>
          </a:bodyPr>
          <a:lstStyle/>
          <a:p>
            <a:pPr algn="l">
              <a:lnSpc>
                <a:spcPct val="114000"/>
              </a:lnSpc>
            </a:pPr>
            <a:r>
              <a:rPr sz="750" b="0" i="0" dirty="0">
                <a:solidFill>
                  <a:srgbClr val="44495B"/>
                </a:solidFill>
                <a:latin typeface="Segoe UI"/>
                <a:cs typeface="Segoe UI"/>
              </a:rPr>
              <a:t>Endpoint and credentials supplied through configuration or environment. Used for private integrations.</a:t>
            </a:r>
          </a:p>
        </p:txBody>
      </p:sp>
      <p:sp>
        <p:nvSpPr>
          <p:cNvPr id="39" name="Rectangle 38"/>
          <p:cNvSpPr/>
          <p:nvPr/>
        </p:nvSpPr>
        <p:spPr>
          <a:xfrm>
            <a:off x="457200" y="4663440"/>
            <a:ext cx="5760720" cy="841248"/>
          </a:xfrm>
          <a:prstGeom prst="rect">
            <a:avLst/>
          </a:prstGeom>
          <a:solidFill>
            <a:srgbClr val="EBEFF7"/>
          </a:solidFill>
          <a:ln>
            <a:noFill/>
          </a:ln>
          <a:effectLst/>
        </p:spPr>
        <p:txBody>
          <a:bodyPr wrap="square" rtlCol="0" anchor="ctr"/>
          <a:lstStyle/>
          <a:p>
            <a:endParaRPr/>
          </a:p>
        </p:txBody>
      </p:sp>
      <p:sp>
        <p:nvSpPr>
          <p:cNvPr id="40" name="Rectangle 39"/>
          <p:cNvSpPr/>
          <p:nvPr/>
        </p:nvSpPr>
        <p:spPr>
          <a:xfrm>
            <a:off x="457200" y="4663440"/>
            <a:ext cx="41148" cy="841248"/>
          </a:xfrm>
          <a:prstGeom prst="rect">
            <a:avLst/>
          </a:prstGeom>
          <a:solidFill>
            <a:srgbClr val="00B39F"/>
          </a:solidFill>
          <a:ln>
            <a:noFill/>
          </a:ln>
          <a:effectLst/>
        </p:spPr>
        <p:txBody>
          <a:bodyPr wrap="square" rtlCol="0" anchor="ctr"/>
          <a:lstStyle/>
          <a:p>
            <a:endParaRPr/>
          </a:p>
        </p:txBody>
      </p:sp>
      <p:sp>
        <p:nvSpPr>
          <p:cNvPr id="41" name="TextBox 40"/>
          <p:cNvSpPr txBox="1"/>
          <p:nvPr/>
        </p:nvSpPr>
        <p:spPr>
          <a:xfrm>
            <a:off x="694944" y="4764024"/>
            <a:ext cx="5340096" cy="658368"/>
          </a:xfrm>
          <a:prstGeom prst="rect">
            <a:avLst/>
          </a:prstGeom>
          <a:noFill/>
        </p:spPr>
        <p:txBody>
          <a:bodyPr wrap="square" lIns="0" tIns="0" rIns="0" bIns="0" anchor="t">
            <a:spAutoFit/>
          </a:bodyPr>
          <a:lstStyle/>
          <a:p>
            <a:pPr algn="l">
              <a:lnSpc>
                <a:spcPct val="120000"/>
              </a:lnSpc>
            </a:pPr>
            <a:r>
              <a:rPr sz="800" b="0" i="0" dirty="0">
                <a:solidFill>
                  <a:srgbClr val="101A3C"/>
                </a:solidFill>
                <a:latin typeface="Segoe UI"/>
                <a:cs typeface="Segoe UI"/>
              </a:rPr>
              <a:t>Version 1.0 consolidated the earlier url, preferredTransport and additionalInterfaces fields into supportedInterfaces, and moved protocolVersion from the card onto each interface — which allows one agent to serve several protocol versions concurrently. Signed cards follow RFC 7515 over an RFC 8785 canonicalised form of the card, excluding the signatures field itself.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PROTOCOL MECHANICS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Operation set and transport bindings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Eleven operations, expressed identically across three standard bindings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a2a-protocol.org/latest/specification · a2a.proto</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8</a:t>
            </a:r>
          </a:p>
        </p:txBody>
      </p:sp>
      <p:sp>
        <p:nvSpPr>
          <p:cNvPr id="7" name="Rectangle 6"/>
          <p:cNvSpPr/>
          <p:nvPr/>
        </p:nvSpPr>
        <p:spPr>
          <a:xfrm>
            <a:off x="457200" y="1353312"/>
            <a:ext cx="7973568"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276734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Operation · JSON-RPC method name in 1.0</a:t>
            </a:r>
          </a:p>
        </p:txBody>
      </p:sp>
      <p:sp>
        <p:nvSpPr>
          <p:cNvPr id="9" name="TextBox 8"/>
          <p:cNvSpPr txBox="1"/>
          <p:nvPr/>
        </p:nvSpPr>
        <p:spPr>
          <a:xfrm>
            <a:off x="3535436" y="1431036"/>
            <a:ext cx="2607868"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HTTP+JSON binding</a:t>
            </a:r>
          </a:p>
        </p:txBody>
      </p:sp>
      <p:sp>
        <p:nvSpPr>
          <p:cNvPr id="10" name="TextBox 9"/>
          <p:cNvSpPr txBox="1"/>
          <p:nvPr/>
        </p:nvSpPr>
        <p:spPr>
          <a:xfrm>
            <a:off x="6326184" y="1431036"/>
            <a:ext cx="204971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Method name in version 0.3</a:t>
            </a:r>
          </a:p>
        </p:txBody>
      </p:sp>
      <p:sp>
        <p:nvSpPr>
          <p:cNvPr id="11" name="Rectangle 10"/>
          <p:cNvSpPr/>
          <p:nvPr/>
        </p:nvSpPr>
        <p:spPr>
          <a:xfrm>
            <a:off x="457200" y="1664208"/>
            <a:ext cx="7973568" cy="315468"/>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1979676"/>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1714500"/>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SendMessage</a:t>
            </a:r>
          </a:p>
        </p:txBody>
      </p:sp>
      <p:sp>
        <p:nvSpPr>
          <p:cNvPr id="14" name="TextBox 13"/>
          <p:cNvSpPr txBox="1"/>
          <p:nvPr/>
        </p:nvSpPr>
        <p:spPr>
          <a:xfrm>
            <a:off x="3535436" y="1714500"/>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POST /message:send</a:t>
            </a:r>
          </a:p>
        </p:txBody>
      </p:sp>
      <p:sp>
        <p:nvSpPr>
          <p:cNvPr id="15" name="TextBox 14"/>
          <p:cNvSpPr txBox="1"/>
          <p:nvPr/>
        </p:nvSpPr>
        <p:spPr>
          <a:xfrm>
            <a:off x="6326184" y="1714500"/>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message/send</a:t>
            </a:r>
          </a:p>
        </p:txBody>
      </p:sp>
      <p:cxnSp>
        <p:nvCxnSpPr>
          <p:cNvPr id="16" name="Connector 15"/>
          <p:cNvCxnSpPr/>
          <p:nvPr/>
        </p:nvCxnSpPr>
        <p:spPr>
          <a:xfrm>
            <a:off x="457200" y="2295144"/>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5216" y="2029968"/>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SendStreamingMessage</a:t>
            </a:r>
          </a:p>
        </p:txBody>
      </p:sp>
      <p:sp>
        <p:nvSpPr>
          <p:cNvPr id="18" name="TextBox 17"/>
          <p:cNvSpPr txBox="1"/>
          <p:nvPr/>
        </p:nvSpPr>
        <p:spPr>
          <a:xfrm>
            <a:off x="3535436" y="2029968"/>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POST /message:stream</a:t>
            </a:r>
          </a:p>
        </p:txBody>
      </p:sp>
      <p:sp>
        <p:nvSpPr>
          <p:cNvPr id="19" name="TextBox 18"/>
          <p:cNvSpPr txBox="1"/>
          <p:nvPr/>
        </p:nvSpPr>
        <p:spPr>
          <a:xfrm>
            <a:off x="6326184" y="2029968"/>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message/stream</a:t>
            </a:r>
          </a:p>
        </p:txBody>
      </p:sp>
      <p:sp>
        <p:nvSpPr>
          <p:cNvPr id="20" name="Rectangle 19"/>
          <p:cNvSpPr/>
          <p:nvPr/>
        </p:nvSpPr>
        <p:spPr>
          <a:xfrm>
            <a:off x="457200" y="2295144"/>
            <a:ext cx="7973568" cy="315468"/>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2610611"/>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2345436"/>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GetTask</a:t>
            </a:r>
          </a:p>
        </p:txBody>
      </p:sp>
      <p:sp>
        <p:nvSpPr>
          <p:cNvPr id="23" name="TextBox 22"/>
          <p:cNvSpPr txBox="1"/>
          <p:nvPr/>
        </p:nvSpPr>
        <p:spPr>
          <a:xfrm>
            <a:off x="3535436" y="2345436"/>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/tasks/{id}</a:t>
            </a:r>
          </a:p>
        </p:txBody>
      </p:sp>
      <p:sp>
        <p:nvSpPr>
          <p:cNvPr id="24" name="TextBox 23"/>
          <p:cNvSpPr txBox="1"/>
          <p:nvPr/>
        </p:nvSpPr>
        <p:spPr>
          <a:xfrm>
            <a:off x="6326184" y="2345436"/>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tasks/get</a:t>
            </a:r>
          </a:p>
        </p:txBody>
      </p:sp>
      <p:cxnSp>
        <p:nvCxnSpPr>
          <p:cNvPr id="25" name="Connector 24"/>
          <p:cNvCxnSpPr/>
          <p:nvPr/>
        </p:nvCxnSpPr>
        <p:spPr>
          <a:xfrm>
            <a:off x="457200" y="2926079"/>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5216" y="2660903"/>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ListTasks</a:t>
            </a:r>
          </a:p>
        </p:txBody>
      </p:sp>
      <p:sp>
        <p:nvSpPr>
          <p:cNvPr id="27" name="TextBox 26"/>
          <p:cNvSpPr txBox="1"/>
          <p:nvPr/>
        </p:nvSpPr>
        <p:spPr>
          <a:xfrm>
            <a:off x="3535436" y="2660903"/>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/tasks</a:t>
            </a:r>
          </a:p>
        </p:txBody>
      </p:sp>
      <p:sp>
        <p:nvSpPr>
          <p:cNvPr id="28" name="TextBox 27"/>
          <p:cNvSpPr txBox="1"/>
          <p:nvPr/>
        </p:nvSpPr>
        <p:spPr>
          <a:xfrm>
            <a:off x="6326184" y="2660903"/>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tasks/list</a:t>
            </a:r>
          </a:p>
        </p:txBody>
      </p:sp>
      <p:sp>
        <p:nvSpPr>
          <p:cNvPr id="29" name="Rectangle 28"/>
          <p:cNvSpPr/>
          <p:nvPr/>
        </p:nvSpPr>
        <p:spPr>
          <a:xfrm>
            <a:off x="457200" y="2926079"/>
            <a:ext cx="7973568" cy="315468"/>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241547"/>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85216" y="2976371"/>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CancelTask</a:t>
            </a:r>
          </a:p>
        </p:txBody>
      </p:sp>
      <p:sp>
        <p:nvSpPr>
          <p:cNvPr id="32" name="TextBox 31"/>
          <p:cNvSpPr txBox="1"/>
          <p:nvPr/>
        </p:nvSpPr>
        <p:spPr>
          <a:xfrm>
            <a:off x="3535436" y="2976371"/>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POST /tasks/{id}:cancel</a:t>
            </a:r>
          </a:p>
        </p:txBody>
      </p:sp>
      <p:sp>
        <p:nvSpPr>
          <p:cNvPr id="33" name="TextBox 32"/>
          <p:cNvSpPr txBox="1"/>
          <p:nvPr/>
        </p:nvSpPr>
        <p:spPr>
          <a:xfrm>
            <a:off x="6326184" y="2976371"/>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tasks/cancel</a:t>
            </a:r>
          </a:p>
        </p:txBody>
      </p:sp>
      <p:cxnSp>
        <p:nvCxnSpPr>
          <p:cNvPr id="34" name="Connector 33"/>
          <p:cNvCxnSpPr/>
          <p:nvPr/>
        </p:nvCxnSpPr>
        <p:spPr>
          <a:xfrm>
            <a:off x="457200" y="3557015"/>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85216" y="3291839"/>
            <a:ext cx="2730764" cy="233172"/>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SubscribeToTask</a:t>
            </a:r>
          </a:p>
        </p:txBody>
      </p:sp>
      <p:sp>
        <p:nvSpPr>
          <p:cNvPr id="36" name="TextBox 35"/>
          <p:cNvSpPr txBox="1"/>
          <p:nvPr/>
        </p:nvSpPr>
        <p:spPr>
          <a:xfrm>
            <a:off x="3535436" y="3291839"/>
            <a:ext cx="2571292"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/tasks/{id}:subscribe</a:t>
            </a:r>
          </a:p>
        </p:txBody>
      </p:sp>
      <p:sp>
        <p:nvSpPr>
          <p:cNvPr id="37" name="TextBox 36"/>
          <p:cNvSpPr txBox="1"/>
          <p:nvPr/>
        </p:nvSpPr>
        <p:spPr>
          <a:xfrm>
            <a:off x="6326184" y="3291839"/>
            <a:ext cx="2013143" cy="233172"/>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tasks/resubscribe</a:t>
            </a:r>
          </a:p>
        </p:txBody>
      </p:sp>
      <p:sp>
        <p:nvSpPr>
          <p:cNvPr id="38" name="Rectangle 37"/>
          <p:cNvSpPr/>
          <p:nvPr/>
        </p:nvSpPr>
        <p:spPr>
          <a:xfrm>
            <a:off x="457200" y="3557015"/>
            <a:ext cx="7973568" cy="329184"/>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3886199"/>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5216" y="3607307"/>
            <a:ext cx="2730764" cy="246888"/>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CreateTaskPushNotificationConfig</a:t>
            </a:r>
          </a:p>
        </p:txBody>
      </p:sp>
      <p:sp>
        <p:nvSpPr>
          <p:cNvPr id="41" name="TextBox 40"/>
          <p:cNvSpPr txBox="1"/>
          <p:nvPr/>
        </p:nvSpPr>
        <p:spPr>
          <a:xfrm>
            <a:off x="3535436" y="3607307"/>
            <a:ext cx="2571292"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POST /tasks/{id}/pushNotificationConfigs</a:t>
            </a:r>
          </a:p>
        </p:txBody>
      </p:sp>
      <p:sp>
        <p:nvSpPr>
          <p:cNvPr id="42" name="TextBox 41"/>
          <p:cNvSpPr txBox="1"/>
          <p:nvPr/>
        </p:nvSpPr>
        <p:spPr>
          <a:xfrm>
            <a:off x="6326184" y="3607307"/>
            <a:ext cx="2013143"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tasks/pushNotificationConfig/set</a:t>
            </a:r>
          </a:p>
        </p:txBody>
      </p:sp>
      <p:cxnSp>
        <p:nvCxnSpPr>
          <p:cNvPr id="43" name="Connector 42"/>
          <p:cNvCxnSpPr/>
          <p:nvPr/>
        </p:nvCxnSpPr>
        <p:spPr>
          <a:xfrm>
            <a:off x="457200" y="4215383"/>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85216" y="3936491"/>
            <a:ext cx="2730764" cy="246888"/>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GetTaskPushNotificationConfig</a:t>
            </a:r>
          </a:p>
        </p:txBody>
      </p:sp>
      <p:sp>
        <p:nvSpPr>
          <p:cNvPr id="45" name="TextBox 44"/>
          <p:cNvSpPr txBox="1"/>
          <p:nvPr/>
        </p:nvSpPr>
        <p:spPr>
          <a:xfrm>
            <a:off x="3535436" y="3936491"/>
            <a:ext cx="2571292"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/tasks/{id}/pushNotificationConfigs/{cfg}</a:t>
            </a:r>
          </a:p>
        </p:txBody>
      </p:sp>
      <p:sp>
        <p:nvSpPr>
          <p:cNvPr id="46" name="TextBox 45"/>
          <p:cNvSpPr txBox="1"/>
          <p:nvPr/>
        </p:nvSpPr>
        <p:spPr>
          <a:xfrm>
            <a:off x="6326184" y="3936491"/>
            <a:ext cx="2013143"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tasks/pushNotificationConfig/get</a:t>
            </a:r>
          </a:p>
        </p:txBody>
      </p:sp>
      <p:sp>
        <p:nvSpPr>
          <p:cNvPr id="47" name="Rectangle 46"/>
          <p:cNvSpPr/>
          <p:nvPr/>
        </p:nvSpPr>
        <p:spPr>
          <a:xfrm>
            <a:off x="457200" y="4215383"/>
            <a:ext cx="7973568" cy="329184"/>
          </a:xfrm>
          <a:prstGeom prst="rect">
            <a:avLst/>
          </a:prstGeom>
          <a:solidFill>
            <a:srgbClr val="F6F8FD"/>
          </a:solidFill>
          <a:ln>
            <a:noFill/>
          </a:ln>
          <a:effectLst/>
        </p:spPr>
        <p:txBody>
          <a:bodyPr wrap="square" rtlCol="0" anchor="ctr"/>
          <a:lstStyle/>
          <a:p>
            <a:endParaRPr/>
          </a:p>
        </p:txBody>
      </p:sp>
      <p:cxnSp>
        <p:nvCxnSpPr>
          <p:cNvPr id="48" name="Connector 47"/>
          <p:cNvCxnSpPr/>
          <p:nvPr/>
        </p:nvCxnSpPr>
        <p:spPr>
          <a:xfrm>
            <a:off x="457200" y="4544568"/>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85216" y="4265675"/>
            <a:ext cx="2730764" cy="246888"/>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ListTaskPushNotificationConfigs</a:t>
            </a:r>
          </a:p>
        </p:txBody>
      </p:sp>
      <p:sp>
        <p:nvSpPr>
          <p:cNvPr id="50" name="TextBox 49"/>
          <p:cNvSpPr txBox="1"/>
          <p:nvPr/>
        </p:nvSpPr>
        <p:spPr>
          <a:xfrm>
            <a:off x="3535436" y="4265675"/>
            <a:ext cx="2571292"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/tasks/{id}/pushNotificationConfigs</a:t>
            </a:r>
          </a:p>
        </p:txBody>
      </p:sp>
      <p:sp>
        <p:nvSpPr>
          <p:cNvPr id="51" name="TextBox 50"/>
          <p:cNvSpPr txBox="1"/>
          <p:nvPr/>
        </p:nvSpPr>
        <p:spPr>
          <a:xfrm>
            <a:off x="6326184" y="4265675"/>
            <a:ext cx="2013143"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tasks/pushNotificationConfig/list</a:t>
            </a:r>
          </a:p>
        </p:txBody>
      </p:sp>
      <p:cxnSp>
        <p:nvCxnSpPr>
          <p:cNvPr id="52" name="Connector 51"/>
          <p:cNvCxnSpPr/>
          <p:nvPr/>
        </p:nvCxnSpPr>
        <p:spPr>
          <a:xfrm>
            <a:off x="457200" y="4873752"/>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85216" y="4594859"/>
            <a:ext cx="2730764" cy="246888"/>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DeleteTaskPushNotificationConfig</a:t>
            </a:r>
          </a:p>
        </p:txBody>
      </p:sp>
      <p:sp>
        <p:nvSpPr>
          <p:cNvPr id="54" name="TextBox 53"/>
          <p:cNvSpPr txBox="1"/>
          <p:nvPr/>
        </p:nvSpPr>
        <p:spPr>
          <a:xfrm>
            <a:off x="3535436" y="4594859"/>
            <a:ext cx="2571292"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DELETE /tasks/{id}/pushNotificationConfigs/{cfg}</a:t>
            </a:r>
          </a:p>
        </p:txBody>
      </p:sp>
      <p:sp>
        <p:nvSpPr>
          <p:cNvPr id="55" name="TextBox 54"/>
          <p:cNvSpPr txBox="1"/>
          <p:nvPr/>
        </p:nvSpPr>
        <p:spPr>
          <a:xfrm>
            <a:off x="6326184" y="4594859"/>
            <a:ext cx="2013143"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tasks/pushNotificationConfig/delete</a:t>
            </a:r>
          </a:p>
        </p:txBody>
      </p:sp>
      <p:sp>
        <p:nvSpPr>
          <p:cNvPr id="56" name="Rectangle 55"/>
          <p:cNvSpPr/>
          <p:nvPr/>
        </p:nvSpPr>
        <p:spPr>
          <a:xfrm>
            <a:off x="457200" y="4873752"/>
            <a:ext cx="7973568" cy="329184"/>
          </a:xfrm>
          <a:prstGeom prst="rect">
            <a:avLst/>
          </a:prstGeom>
          <a:solidFill>
            <a:srgbClr val="F6F8FD"/>
          </a:solidFill>
          <a:ln>
            <a:noFill/>
          </a:ln>
          <a:effectLst/>
        </p:spPr>
        <p:txBody>
          <a:bodyPr wrap="square" rtlCol="0" anchor="ctr"/>
          <a:lstStyle/>
          <a:p>
            <a:endParaRPr/>
          </a:p>
        </p:txBody>
      </p:sp>
      <p:cxnSp>
        <p:nvCxnSpPr>
          <p:cNvPr id="57" name="Connector 56"/>
          <p:cNvCxnSpPr/>
          <p:nvPr/>
        </p:nvCxnSpPr>
        <p:spPr>
          <a:xfrm>
            <a:off x="457200" y="5202936"/>
            <a:ext cx="797356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85216" y="4924044"/>
            <a:ext cx="2730764" cy="246888"/>
          </a:xfrm>
          <a:prstGeom prst="rect">
            <a:avLst/>
          </a:prstGeom>
          <a:noFill/>
        </p:spPr>
        <p:txBody>
          <a:bodyPr wrap="square" lIns="0" tIns="0" rIns="0" bIns="0" anchor="ctr">
            <a:spAutoFit/>
          </a:bodyPr>
          <a:lstStyle/>
          <a:p>
            <a:pPr algn="l">
              <a:lnSpc>
                <a:spcPct val="112000"/>
              </a:lnSpc>
            </a:pPr>
            <a:r>
              <a:rPr sz="780" b="1" i="0" dirty="0">
                <a:solidFill>
                  <a:srgbClr val="101A3C"/>
                </a:solidFill>
                <a:latin typeface="Segoe UI"/>
                <a:cs typeface="Segoe UI"/>
              </a:rPr>
              <a:t>GetExtendedAgentCard</a:t>
            </a:r>
          </a:p>
        </p:txBody>
      </p:sp>
      <p:sp>
        <p:nvSpPr>
          <p:cNvPr id="59" name="TextBox 58"/>
          <p:cNvSpPr txBox="1"/>
          <p:nvPr/>
        </p:nvSpPr>
        <p:spPr>
          <a:xfrm>
            <a:off x="3535436" y="4924044"/>
            <a:ext cx="2571292"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GET /extendedAgentCard</a:t>
            </a:r>
          </a:p>
        </p:txBody>
      </p:sp>
      <p:sp>
        <p:nvSpPr>
          <p:cNvPr id="60" name="TextBox 59"/>
          <p:cNvSpPr txBox="1"/>
          <p:nvPr/>
        </p:nvSpPr>
        <p:spPr>
          <a:xfrm>
            <a:off x="6326184" y="4924044"/>
            <a:ext cx="2013143" cy="246888"/>
          </a:xfrm>
          <a:prstGeom prst="rect">
            <a:avLst/>
          </a:prstGeom>
          <a:noFill/>
        </p:spPr>
        <p:txBody>
          <a:bodyPr wrap="square" lIns="0" tIns="0" rIns="0" bIns="0" anchor="ctr">
            <a:spAutoFit/>
          </a:bodyPr>
          <a:lstStyle/>
          <a:p>
            <a:pPr algn="l">
              <a:lnSpc>
                <a:spcPct val="112000"/>
              </a:lnSpc>
            </a:pPr>
            <a:r>
              <a:rPr sz="780" b="0" i="0" dirty="0">
                <a:solidFill>
                  <a:srgbClr val="44495B"/>
                </a:solidFill>
                <a:latin typeface="Segoe UI"/>
                <a:cs typeface="Segoe UI"/>
              </a:rPr>
              <a:t>agent/getAuthenticatedExtendedCard</a:t>
            </a:r>
          </a:p>
        </p:txBody>
      </p:sp>
      <p:cxnSp>
        <p:nvCxnSpPr>
          <p:cNvPr id="61" name="Connector 60"/>
          <p:cNvCxnSpPr/>
          <p:nvPr/>
        </p:nvCxnSpPr>
        <p:spPr>
          <a:xfrm>
            <a:off x="3407420" y="1664208"/>
            <a:ext cx="0" cy="3538728"/>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198168" y="1664208"/>
            <a:ext cx="0" cy="3538728"/>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8705088" y="1353312"/>
            <a:ext cx="30175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TRANSPORT BINDINGS</a:t>
            </a:r>
          </a:p>
        </p:txBody>
      </p:sp>
      <p:sp>
        <p:nvSpPr>
          <p:cNvPr id="64" name="Rectangle 63"/>
          <p:cNvSpPr/>
          <p:nvPr/>
        </p:nvSpPr>
        <p:spPr>
          <a:xfrm>
            <a:off x="8705088" y="1591056"/>
            <a:ext cx="3026664" cy="530352"/>
          </a:xfrm>
          <a:prstGeom prst="rect">
            <a:avLst/>
          </a:prstGeom>
          <a:solidFill>
            <a:srgbClr val="F6F8FD"/>
          </a:solidFill>
          <a:ln w="9525">
            <a:solidFill>
              <a:srgbClr val="E1E7F4"/>
            </a:solidFill>
          </a:ln>
          <a:effectLst/>
        </p:spPr>
        <p:txBody>
          <a:bodyPr wrap="square" rtlCol="0" anchor="ctr"/>
          <a:lstStyle/>
          <a:p>
            <a:endParaRPr/>
          </a:p>
        </p:txBody>
      </p:sp>
      <p:sp>
        <p:nvSpPr>
          <p:cNvPr id="65" name="TextBox 64"/>
          <p:cNvSpPr txBox="1"/>
          <p:nvPr/>
        </p:nvSpPr>
        <p:spPr>
          <a:xfrm>
            <a:off x="8869680" y="1655064"/>
            <a:ext cx="2697480"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JSON-RPC 2.0</a:t>
            </a:r>
          </a:p>
        </p:txBody>
      </p:sp>
      <p:sp>
        <p:nvSpPr>
          <p:cNvPr id="66" name="TextBox 65"/>
          <p:cNvSpPr txBox="1"/>
          <p:nvPr/>
        </p:nvSpPr>
        <p:spPr>
          <a:xfrm>
            <a:off x="8869680" y="1837943"/>
            <a:ext cx="2697480" cy="237744"/>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Over HTTP. The binding required by Microsoft Foundry.</a:t>
            </a:r>
          </a:p>
        </p:txBody>
      </p:sp>
      <p:sp>
        <p:nvSpPr>
          <p:cNvPr id="67" name="Rectangle 66"/>
          <p:cNvSpPr/>
          <p:nvPr/>
        </p:nvSpPr>
        <p:spPr>
          <a:xfrm>
            <a:off x="8705088" y="2194560"/>
            <a:ext cx="3026664" cy="530352"/>
          </a:xfrm>
          <a:prstGeom prst="rect">
            <a:avLst/>
          </a:prstGeom>
          <a:solidFill>
            <a:srgbClr val="FFFFFF"/>
          </a:solidFill>
          <a:ln w="9525">
            <a:solidFill>
              <a:srgbClr val="E1E7F4"/>
            </a:solidFill>
          </a:ln>
          <a:effectLst/>
        </p:spPr>
        <p:txBody>
          <a:bodyPr wrap="square" rtlCol="0" anchor="ctr"/>
          <a:lstStyle/>
          <a:p>
            <a:endParaRPr/>
          </a:p>
        </p:txBody>
      </p:sp>
      <p:sp>
        <p:nvSpPr>
          <p:cNvPr id="68" name="TextBox 67"/>
          <p:cNvSpPr txBox="1"/>
          <p:nvPr/>
        </p:nvSpPr>
        <p:spPr>
          <a:xfrm>
            <a:off x="8869680" y="2258568"/>
            <a:ext cx="2697480"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gRPC</a:t>
            </a:r>
          </a:p>
        </p:txBody>
      </p:sp>
      <p:sp>
        <p:nvSpPr>
          <p:cNvPr id="69" name="TextBox 68"/>
          <p:cNvSpPr txBox="1"/>
          <p:nvPr/>
        </p:nvSpPr>
        <p:spPr>
          <a:xfrm>
            <a:off x="8869680" y="2441448"/>
            <a:ext cx="2697480" cy="237744"/>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Protocol buffers over HTTP/2.</a:t>
            </a:r>
          </a:p>
        </p:txBody>
      </p:sp>
      <p:sp>
        <p:nvSpPr>
          <p:cNvPr id="70" name="Rectangle 69"/>
          <p:cNvSpPr/>
          <p:nvPr/>
        </p:nvSpPr>
        <p:spPr>
          <a:xfrm>
            <a:off x="8705088" y="2798064"/>
            <a:ext cx="3026664" cy="530352"/>
          </a:xfrm>
          <a:prstGeom prst="rect">
            <a:avLst/>
          </a:prstGeom>
          <a:solidFill>
            <a:srgbClr val="F6F8FD"/>
          </a:solidFill>
          <a:ln w="9525">
            <a:solidFill>
              <a:srgbClr val="E1E7F4"/>
            </a:solidFill>
          </a:ln>
          <a:effectLst/>
        </p:spPr>
        <p:txBody>
          <a:bodyPr wrap="square" rtlCol="0" anchor="ctr"/>
          <a:lstStyle/>
          <a:p>
            <a:endParaRPr/>
          </a:p>
        </p:txBody>
      </p:sp>
      <p:sp>
        <p:nvSpPr>
          <p:cNvPr id="71" name="TextBox 70"/>
          <p:cNvSpPr txBox="1"/>
          <p:nvPr/>
        </p:nvSpPr>
        <p:spPr>
          <a:xfrm>
            <a:off x="8869680" y="2862072"/>
            <a:ext cx="2697480"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HTTP+JSON / REST</a:t>
            </a:r>
          </a:p>
        </p:txBody>
      </p:sp>
      <p:sp>
        <p:nvSpPr>
          <p:cNvPr id="72" name="TextBox 71"/>
          <p:cNvSpPr txBox="1"/>
          <p:nvPr/>
        </p:nvSpPr>
        <p:spPr>
          <a:xfrm>
            <a:off x="8869680" y="3044952"/>
            <a:ext cx="2697480" cy="237744"/>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Resource paths as listed, using the application/a2a+json media type.</a:t>
            </a:r>
          </a:p>
        </p:txBody>
      </p:sp>
      <p:sp>
        <p:nvSpPr>
          <p:cNvPr id="73" name="TextBox 72"/>
          <p:cNvSpPr txBox="1"/>
          <p:nvPr/>
        </p:nvSpPr>
        <p:spPr>
          <a:xfrm>
            <a:off x="8705088" y="3456432"/>
            <a:ext cx="30175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VERSION NEGOTIATION</a:t>
            </a:r>
          </a:p>
        </p:txBody>
      </p:sp>
      <p:sp>
        <p:nvSpPr>
          <p:cNvPr id="74" name="TextBox 73"/>
          <p:cNvSpPr txBox="1"/>
          <p:nvPr/>
        </p:nvSpPr>
        <p:spPr>
          <a:xfrm>
            <a:off x="8705088" y="3694176"/>
            <a:ext cx="1179758"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Header</a:t>
            </a:r>
          </a:p>
        </p:txBody>
      </p:sp>
      <p:sp>
        <p:nvSpPr>
          <p:cNvPr id="75" name="TextBox 74"/>
          <p:cNvSpPr txBox="1"/>
          <p:nvPr/>
        </p:nvSpPr>
        <p:spPr>
          <a:xfrm>
            <a:off x="9976286" y="3694176"/>
            <a:ext cx="175546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A2A-Version: 1.0</a:t>
            </a:r>
          </a:p>
        </p:txBody>
      </p:sp>
      <p:cxnSp>
        <p:nvCxnSpPr>
          <p:cNvPr id="76" name="Connector 75"/>
          <p:cNvCxnSpPr/>
          <p:nvPr/>
        </p:nvCxnSpPr>
        <p:spPr>
          <a:xfrm>
            <a:off x="8705088" y="4041648"/>
            <a:ext cx="30266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8705088" y="4059936"/>
            <a:ext cx="1179758"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Query form</a:t>
            </a:r>
          </a:p>
        </p:txBody>
      </p:sp>
      <p:sp>
        <p:nvSpPr>
          <p:cNvPr id="78" name="TextBox 77"/>
          <p:cNvSpPr txBox="1"/>
          <p:nvPr/>
        </p:nvSpPr>
        <p:spPr>
          <a:xfrm>
            <a:off x="9976286" y="4059936"/>
            <a:ext cx="175546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?A2A-Version=1.0</a:t>
            </a:r>
          </a:p>
        </p:txBody>
      </p:sp>
      <p:cxnSp>
        <p:nvCxnSpPr>
          <p:cNvPr id="79" name="Connector 78"/>
          <p:cNvCxnSpPr/>
          <p:nvPr/>
        </p:nvCxnSpPr>
        <p:spPr>
          <a:xfrm>
            <a:off x="8705088" y="4407408"/>
            <a:ext cx="30266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8705088" y="4425696"/>
            <a:ext cx="1179758"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Header absent</a:t>
            </a:r>
          </a:p>
        </p:txBody>
      </p:sp>
      <p:sp>
        <p:nvSpPr>
          <p:cNvPr id="81" name="TextBox 80"/>
          <p:cNvSpPr txBox="1"/>
          <p:nvPr/>
        </p:nvSpPr>
        <p:spPr>
          <a:xfrm>
            <a:off x="9976286" y="4425696"/>
            <a:ext cx="175546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Interpreted as 0.3</a:t>
            </a:r>
          </a:p>
        </p:txBody>
      </p:sp>
      <p:cxnSp>
        <p:nvCxnSpPr>
          <p:cNvPr id="82" name="Connector 81"/>
          <p:cNvCxnSpPr/>
          <p:nvPr/>
        </p:nvCxnSpPr>
        <p:spPr>
          <a:xfrm>
            <a:off x="8705088" y="4773168"/>
            <a:ext cx="30266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8705088" y="4791456"/>
            <a:ext cx="1179758"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Unsupported</a:t>
            </a:r>
          </a:p>
        </p:txBody>
      </p:sp>
      <p:sp>
        <p:nvSpPr>
          <p:cNvPr id="84" name="TextBox 83"/>
          <p:cNvSpPr txBox="1"/>
          <p:nvPr/>
        </p:nvSpPr>
        <p:spPr>
          <a:xfrm>
            <a:off x="9976286" y="4791456"/>
            <a:ext cx="175546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VersionNotSupportedError</a:t>
            </a:r>
          </a:p>
        </p:txBody>
      </p:sp>
      <p:cxnSp>
        <p:nvCxnSpPr>
          <p:cNvPr id="85" name="Connector 84"/>
          <p:cNvCxnSpPr/>
          <p:nvPr/>
        </p:nvCxnSpPr>
        <p:spPr>
          <a:xfrm>
            <a:off x="8705088" y="5138928"/>
            <a:ext cx="30266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6" name="Rectangle 85"/>
          <p:cNvSpPr/>
          <p:nvPr/>
        </p:nvSpPr>
        <p:spPr>
          <a:xfrm>
            <a:off x="8705088" y="5266944"/>
            <a:ext cx="3026664" cy="420624"/>
          </a:xfrm>
          <a:prstGeom prst="rect">
            <a:avLst/>
          </a:prstGeom>
          <a:solidFill>
            <a:srgbClr val="EBEFF7"/>
          </a:solidFill>
          <a:ln>
            <a:noFill/>
          </a:ln>
          <a:effectLst/>
        </p:spPr>
        <p:txBody>
          <a:bodyPr wrap="square" rtlCol="0" anchor="ctr"/>
          <a:lstStyle/>
          <a:p>
            <a:endParaRPr/>
          </a:p>
        </p:txBody>
      </p:sp>
      <p:sp>
        <p:nvSpPr>
          <p:cNvPr id="87" name="Rectangle 86"/>
          <p:cNvSpPr/>
          <p:nvPr/>
        </p:nvSpPr>
        <p:spPr>
          <a:xfrm>
            <a:off x="8705088" y="5266944"/>
            <a:ext cx="41148" cy="420624"/>
          </a:xfrm>
          <a:prstGeom prst="rect">
            <a:avLst/>
          </a:prstGeom>
          <a:solidFill>
            <a:srgbClr val="00B39F"/>
          </a:solidFill>
          <a:ln>
            <a:noFill/>
          </a:ln>
          <a:effectLst/>
        </p:spPr>
        <p:txBody>
          <a:bodyPr wrap="square" rtlCol="0" anchor="ctr"/>
          <a:lstStyle/>
          <a:p>
            <a:endParaRPr/>
          </a:p>
        </p:txBody>
      </p:sp>
      <p:sp>
        <p:nvSpPr>
          <p:cNvPr id="88" name="TextBox 87"/>
          <p:cNvSpPr txBox="1"/>
          <p:nvPr/>
        </p:nvSpPr>
        <p:spPr>
          <a:xfrm>
            <a:off x="8942832" y="5367528"/>
            <a:ext cx="2606039" cy="237744"/>
          </a:xfrm>
          <a:prstGeom prst="rect">
            <a:avLst/>
          </a:prstGeom>
          <a:noFill/>
        </p:spPr>
        <p:txBody>
          <a:bodyPr wrap="square" lIns="0" tIns="0" rIns="0" bIns="0" anchor="t">
            <a:spAutoFit/>
          </a:bodyPr>
          <a:lstStyle/>
          <a:p>
            <a:pPr algn="l">
              <a:lnSpc>
                <a:spcPct val="120000"/>
              </a:lnSpc>
            </a:pPr>
            <a:r>
              <a:rPr sz="800" b="0" i="0" dirty="0">
                <a:solidFill>
                  <a:srgbClr val="101A3C"/>
                </a:solidFill>
                <a:latin typeface="Segoe UI"/>
                <a:cs typeface="Segoe UI"/>
              </a:rPr>
              <a:t>Patch versions are excluded from negotiation.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PROTOCOL MECHANICS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Task state model</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server-owned state machine, read identically by both parties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a2a-protocol.org/latest/topics/life-of-a-task</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9</a:t>
            </a:r>
          </a:p>
        </p:txBody>
      </p:sp>
      <p:sp>
        <p:nvSpPr>
          <p:cNvPr id="7" name="Rectangle 6"/>
          <p:cNvSpPr/>
          <p:nvPr/>
        </p:nvSpPr>
        <p:spPr>
          <a:xfrm>
            <a:off x="457200" y="1883664"/>
            <a:ext cx="1755648" cy="566928"/>
          </a:xfrm>
          <a:prstGeom prst="rect">
            <a:avLst/>
          </a:prstGeom>
          <a:solidFill>
            <a:srgbClr val="101A3C"/>
          </a:solidFill>
          <a:ln>
            <a:noFill/>
          </a:ln>
          <a:effectLst/>
        </p:spPr>
        <p:txBody>
          <a:bodyPr wrap="square" lIns="54864" tIns="18288" rIns="54864" bIns="18288" rtlCol="0" anchor="ctr"/>
          <a:lstStyle/>
          <a:p>
            <a:pPr algn="ctr">
              <a:lnSpc>
                <a:spcPct val="100000"/>
              </a:lnSpc>
            </a:pPr>
            <a:r>
              <a:rPr sz="850" b="1" i="0" dirty="0">
                <a:solidFill>
                  <a:srgbClr val="FFFFFF"/>
                </a:solidFill>
                <a:latin typeface="Segoe UI"/>
                <a:cs typeface="Segoe UI"/>
              </a:rPr>
              <a:t>SUBMITTED</a:t>
            </a:r>
          </a:p>
        </p:txBody>
      </p:sp>
      <p:sp>
        <p:nvSpPr>
          <p:cNvPr id="8" name="Rectangle 7"/>
          <p:cNvSpPr/>
          <p:nvPr/>
        </p:nvSpPr>
        <p:spPr>
          <a:xfrm>
            <a:off x="2944368" y="1883664"/>
            <a:ext cx="1755648" cy="566928"/>
          </a:xfrm>
          <a:prstGeom prst="rect">
            <a:avLst/>
          </a:prstGeom>
          <a:solidFill>
            <a:srgbClr val="101A3C"/>
          </a:solidFill>
          <a:ln>
            <a:noFill/>
          </a:ln>
          <a:effectLst/>
        </p:spPr>
        <p:txBody>
          <a:bodyPr wrap="square" lIns="54864" tIns="18288" rIns="54864" bIns="18288" rtlCol="0" anchor="ctr"/>
          <a:lstStyle/>
          <a:p>
            <a:pPr algn="ctr">
              <a:lnSpc>
                <a:spcPct val="100000"/>
              </a:lnSpc>
            </a:pPr>
            <a:r>
              <a:rPr sz="850" b="1" i="0" dirty="0">
                <a:solidFill>
                  <a:srgbClr val="FFFFFF"/>
                </a:solidFill>
                <a:latin typeface="Segoe UI"/>
                <a:cs typeface="Segoe UI"/>
              </a:rPr>
              <a:t>WORKING</a:t>
            </a:r>
          </a:p>
        </p:txBody>
      </p:sp>
      <p:cxnSp>
        <p:nvCxnSpPr>
          <p:cNvPr id="9" name="Connector 8"/>
          <p:cNvCxnSpPr/>
          <p:nvPr/>
        </p:nvCxnSpPr>
        <p:spPr>
          <a:xfrm>
            <a:off x="2212848" y="2167128"/>
            <a:ext cx="731520"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157984" y="1947672"/>
            <a:ext cx="841248" cy="182880"/>
          </a:xfrm>
          <a:prstGeom prst="rect">
            <a:avLst/>
          </a:prstGeom>
          <a:noFill/>
        </p:spPr>
        <p:txBody>
          <a:bodyPr wrap="square" lIns="0" tIns="0" rIns="0" bIns="0" anchor="t">
            <a:spAutoFit/>
          </a:bodyPr>
          <a:lstStyle/>
          <a:p>
            <a:pPr algn="ctr">
              <a:lnSpc>
                <a:spcPct val="100000"/>
              </a:lnSpc>
            </a:pPr>
            <a:r>
              <a:rPr sz="750" b="0" i="0" dirty="0">
                <a:solidFill>
                  <a:srgbClr val="44495B"/>
                </a:solidFill>
                <a:latin typeface="Segoe UI"/>
                <a:cs typeface="Segoe UI"/>
              </a:rPr>
              <a:t>accepted</a:t>
            </a:r>
          </a:p>
        </p:txBody>
      </p:sp>
      <p:sp>
        <p:nvSpPr>
          <p:cNvPr id="11" name="Rectangle 10"/>
          <p:cNvSpPr/>
          <p:nvPr/>
        </p:nvSpPr>
        <p:spPr>
          <a:xfrm>
            <a:off x="5541264" y="1883664"/>
            <a:ext cx="2615184" cy="74980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28000"/>
              </a:lnSpc>
            </a:pPr>
            <a:r>
              <a:rPr sz="850" b="1" i="0" dirty="0">
                <a:solidFill>
                  <a:srgbClr val="101A3C"/>
                </a:solidFill>
                <a:latin typeface="Segoe UI"/>
                <a:cs typeface="Segoe UI"/>
              </a:rPr>
              <a:t>COMPLETED   ·   FAILED</a:t>
            </a:r>
          </a:p>
          <a:p>
            <a:pPr algn="ctr">
              <a:lnSpc>
                <a:spcPct val="128000"/>
              </a:lnSpc>
            </a:pPr>
            <a:r>
              <a:rPr sz="850" b="1" i="0" dirty="0">
                <a:solidFill>
                  <a:srgbClr val="101A3C"/>
                </a:solidFill>
                <a:latin typeface="Segoe UI"/>
                <a:cs typeface="Segoe UI"/>
              </a:rPr>
              <a:t>CANCELED   ·   REJECTED</a:t>
            </a:r>
          </a:p>
        </p:txBody>
      </p:sp>
      <p:cxnSp>
        <p:nvCxnSpPr>
          <p:cNvPr id="12" name="Connector 11"/>
          <p:cNvCxnSpPr/>
          <p:nvPr/>
        </p:nvCxnSpPr>
        <p:spPr>
          <a:xfrm>
            <a:off x="4700016" y="2167128"/>
            <a:ext cx="841248"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645152" y="1947672"/>
            <a:ext cx="950976" cy="182880"/>
          </a:xfrm>
          <a:prstGeom prst="rect">
            <a:avLst/>
          </a:prstGeom>
          <a:noFill/>
        </p:spPr>
        <p:txBody>
          <a:bodyPr wrap="square" lIns="0" tIns="0" rIns="0" bIns="0" anchor="t">
            <a:spAutoFit/>
          </a:bodyPr>
          <a:lstStyle/>
          <a:p>
            <a:pPr algn="ctr">
              <a:lnSpc>
                <a:spcPct val="100000"/>
              </a:lnSpc>
            </a:pPr>
            <a:r>
              <a:rPr sz="750" b="0" i="0" dirty="0">
                <a:solidFill>
                  <a:srgbClr val="44495B"/>
                </a:solidFill>
                <a:latin typeface="Segoe UI"/>
                <a:cs typeface="Segoe UI"/>
              </a:rPr>
              <a:t>resolved</a:t>
            </a:r>
          </a:p>
        </p:txBody>
      </p:sp>
      <p:sp>
        <p:nvSpPr>
          <p:cNvPr id="14" name="TextBox 13"/>
          <p:cNvSpPr txBox="1"/>
          <p:nvPr/>
        </p:nvSpPr>
        <p:spPr>
          <a:xfrm>
            <a:off x="5541264" y="2706624"/>
            <a:ext cx="2615184" cy="310896"/>
          </a:xfrm>
          <a:prstGeom prst="rect">
            <a:avLst/>
          </a:prstGeom>
          <a:noFill/>
        </p:spPr>
        <p:txBody>
          <a:bodyPr wrap="square" lIns="0" tIns="0" rIns="0" bIns="0" anchor="t">
            <a:spAutoFit/>
          </a:bodyPr>
          <a:lstStyle/>
          <a:p>
            <a:pPr algn="ctr">
              <a:lnSpc>
                <a:spcPct val="116000"/>
              </a:lnSpc>
            </a:pPr>
            <a:r>
              <a:rPr sz="750" b="0" i="0" dirty="0">
                <a:solidFill>
                  <a:srgbClr val="44495B"/>
                </a:solidFill>
                <a:latin typeface="Segoe UI"/>
                <a:cs typeface="Segoe UI"/>
              </a:rPr>
              <a:t>Terminal. These states cannot resume; refinement</a:t>
            </a:r>
          </a:p>
          <a:p>
            <a:pPr algn="ctr">
              <a:lnSpc>
                <a:spcPct val="116000"/>
              </a:lnSpc>
            </a:pPr>
            <a:r>
              <a:rPr sz="750" b="0" i="0" dirty="0">
                <a:solidFill>
                  <a:srgbClr val="44495B"/>
                </a:solidFill>
                <a:latin typeface="Segoe UI"/>
                <a:cs typeface="Segoe UI"/>
              </a:rPr>
              <a:t>requires a new task in the same context.</a:t>
            </a:r>
          </a:p>
        </p:txBody>
      </p:sp>
      <p:sp>
        <p:nvSpPr>
          <p:cNvPr id="15" name="Rectangle 14"/>
          <p:cNvSpPr/>
          <p:nvPr/>
        </p:nvSpPr>
        <p:spPr>
          <a:xfrm>
            <a:off x="3383280" y="3054096"/>
            <a:ext cx="2743200" cy="603504"/>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26000"/>
              </a:lnSpc>
            </a:pPr>
            <a:r>
              <a:rPr sz="850" b="1" i="0" dirty="0">
                <a:solidFill>
                  <a:srgbClr val="101A3C"/>
                </a:solidFill>
                <a:latin typeface="Segoe UI"/>
                <a:cs typeface="Segoe UI"/>
              </a:rPr>
              <a:t>INPUT_REQUIRED   ·   AUTH_REQUIRED</a:t>
            </a:r>
          </a:p>
          <a:p>
            <a:pPr algn="ctr">
              <a:lnSpc>
                <a:spcPct val="126000"/>
              </a:lnSpc>
            </a:pPr>
            <a:r>
              <a:rPr sz="750" b="0" i="0" dirty="0">
                <a:solidFill>
                  <a:srgbClr val="44495B"/>
                </a:solidFill>
                <a:latin typeface="Segoe UI"/>
                <a:cs typeface="Segoe UI"/>
              </a:rPr>
              <a:t>suspended, not failed</a:t>
            </a:r>
          </a:p>
        </p:txBody>
      </p:sp>
      <p:cxnSp>
        <p:nvCxnSpPr>
          <p:cNvPr id="16" name="Connector 15"/>
          <p:cNvCxnSpPr/>
          <p:nvPr/>
        </p:nvCxnSpPr>
        <p:spPr>
          <a:xfrm>
            <a:off x="3931920" y="2450592"/>
            <a:ext cx="0" cy="603504"/>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023360" y="2633472"/>
            <a:ext cx="1005840" cy="182880"/>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suspends</a:t>
            </a:r>
          </a:p>
        </p:txBody>
      </p:sp>
      <p:cxnSp>
        <p:nvCxnSpPr>
          <p:cNvPr id="18" name="Connector 17"/>
          <p:cNvCxnSpPr/>
          <p:nvPr/>
        </p:nvCxnSpPr>
        <p:spPr>
          <a:xfrm flipV="1">
            <a:off x="5120640" y="2468880"/>
            <a:ext cx="0" cy="585216"/>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443984" y="2633472"/>
            <a:ext cx="603504" cy="182880"/>
          </a:xfrm>
          <a:prstGeom prst="rect">
            <a:avLst/>
          </a:prstGeom>
          <a:noFill/>
        </p:spPr>
        <p:txBody>
          <a:bodyPr wrap="square" lIns="0" tIns="0" rIns="0" bIns="0" anchor="t">
            <a:spAutoFit/>
          </a:bodyPr>
          <a:lstStyle/>
          <a:p>
            <a:pPr algn="r">
              <a:lnSpc>
                <a:spcPct val="100000"/>
              </a:lnSpc>
            </a:pPr>
            <a:r>
              <a:rPr sz="750" b="0" i="0" dirty="0">
                <a:solidFill>
                  <a:srgbClr val="44495B"/>
                </a:solidFill>
                <a:latin typeface="Segoe UI"/>
                <a:cs typeface="Segoe UI"/>
              </a:rPr>
              <a:t>resumes</a:t>
            </a:r>
          </a:p>
        </p:txBody>
      </p:sp>
      <p:sp>
        <p:nvSpPr>
          <p:cNvPr id="20" name="Rectangle 19"/>
          <p:cNvSpPr/>
          <p:nvPr/>
        </p:nvSpPr>
        <p:spPr>
          <a:xfrm>
            <a:off x="3383280" y="4005072"/>
            <a:ext cx="2743200"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Artifacts appended as output is produced</a:t>
            </a:r>
          </a:p>
        </p:txBody>
      </p:sp>
      <p:cxnSp>
        <p:nvCxnSpPr>
          <p:cNvPr id="21" name="Connector 20"/>
          <p:cNvCxnSpPr/>
          <p:nvPr/>
        </p:nvCxnSpPr>
        <p:spPr>
          <a:xfrm>
            <a:off x="3108960" y="2450592"/>
            <a:ext cx="0" cy="1810512"/>
          </a:xfrm>
          <a:prstGeom prst="line">
            <a:avLst/>
          </a:prstGeom>
          <a:ln w="1270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08960" y="4261104"/>
            <a:ext cx="274320" cy="0"/>
          </a:xfrm>
          <a:prstGeom prst="line">
            <a:avLst/>
          </a:prstGeom>
          <a:ln w="1270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57200" y="4658868"/>
            <a:ext cx="146304" cy="91440"/>
          </a:xfrm>
          <a:prstGeom prst="rect">
            <a:avLst/>
          </a:prstGeom>
          <a:solidFill>
            <a:srgbClr val="101A3C"/>
          </a:solidFill>
          <a:ln>
            <a:noFill/>
          </a:ln>
          <a:effectLst/>
        </p:spPr>
        <p:txBody>
          <a:bodyPr wrap="square" rtlCol="0" anchor="ctr"/>
          <a:lstStyle/>
          <a:p>
            <a:endParaRPr/>
          </a:p>
        </p:txBody>
      </p:sp>
      <p:sp>
        <p:nvSpPr>
          <p:cNvPr id="24" name="TextBox 23"/>
          <p:cNvSpPr txBox="1"/>
          <p:nvPr/>
        </p:nvSpPr>
        <p:spPr>
          <a:xfrm>
            <a:off x="676656" y="46314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Active state</a:t>
            </a:r>
          </a:p>
        </p:txBody>
      </p:sp>
      <p:sp>
        <p:nvSpPr>
          <p:cNvPr id="25" name="Rectangle 24"/>
          <p:cNvSpPr/>
          <p:nvPr/>
        </p:nvSpPr>
        <p:spPr>
          <a:xfrm>
            <a:off x="1392631" y="4658868"/>
            <a:ext cx="146304" cy="91440"/>
          </a:xfrm>
          <a:prstGeom prst="rect">
            <a:avLst/>
          </a:prstGeom>
          <a:solidFill>
            <a:srgbClr val="EBEFF7"/>
          </a:solidFill>
          <a:ln>
            <a:noFill/>
          </a:ln>
          <a:effectLst/>
        </p:spPr>
        <p:txBody>
          <a:bodyPr wrap="square" rtlCol="0" anchor="ctr"/>
          <a:lstStyle/>
          <a:p>
            <a:endParaRPr/>
          </a:p>
        </p:txBody>
      </p:sp>
      <p:sp>
        <p:nvSpPr>
          <p:cNvPr id="26" name="TextBox 25"/>
          <p:cNvSpPr txBox="1"/>
          <p:nvPr/>
        </p:nvSpPr>
        <p:spPr>
          <a:xfrm>
            <a:off x="1612087" y="46314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Interrupted state</a:t>
            </a:r>
          </a:p>
        </p:txBody>
      </p:sp>
      <p:sp>
        <p:nvSpPr>
          <p:cNvPr id="27" name="Rectangle 26"/>
          <p:cNvSpPr/>
          <p:nvPr/>
        </p:nvSpPr>
        <p:spPr>
          <a:xfrm>
            <a:off x="2592095" y="4658868"/>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28" name="TextBox 27"/>
          <p:cNvSpPr txBox="1"/>
          <p:nvPr/>
        </p:nvSpPr>
        <p:spPr>
          <a:xfrm>
            <a:off x="2811551" y="46314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Terminal group</a:t>
            </a:r>
          </a:p>
        </p:txBody>
      </p:sp>
      <p:cxnSp>
        <p:nvCxnSpPr>
          <p:cNvPr id="29" name="Connector 28"/>
          <p:cNvCxnSpPr/>
          <p:nvPr/>
        </p:nvCxnSpPr>
        <p:spPr>
          <a:xfrm>
            <a:off x="3633139" y="4704588"/>
            <a:ext cx="164592" cy="0"/>
          </a:xfrm>
          <a:prstGeom prst="line">
            <a:avLst/>
          </a:prstGeom>
          <a:ln w="13970">
            <a:solidFill>
              <a:srgbClr val="44495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852595" y="46314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Transition</a:t>
            </a:r>
          </a:p>
        </p:txBody>
      </p:sp>
      <p:cxnSp>
        <p:nvCxnSpPr>
          <p:cNvPr id="31" name="Connector 30"/>
          <p:cNvCxnSpPr/>
          <p:nvPr/>
        </p:nvCxnSpPr>
        <p:spPr>
          <a:xfrm>
            <a:off x="4462957" y="4704588"/>
            <a:ext cx="164592" cy="0"/>
          </a:xfrm>
          <a:prstGeom prst="line">
            <a:avLst/>
          </a:prstGeom>
          <a:ln w="1397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682413" y="46314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Output</a:t>
            </a:r>
          </a:p>
        </p:txBody>
      </p:sp>
      <p:sp>
        <p:nvSpPr>
          <p:cNvPr id="33" name="TextBox 32"/>
          <p:cNvSpPr txBox="1"/>
          <p:nvPr/>
        </p:nvSpPr>
        <p:spPr>
          <a:xfrm>
            <a:off x="8375904" y="1353312"/>
            <a:ext cx="33832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ENUMERATION VALUES AND CLASSIFICATION</a:t>
            </a:r>
          </a:p>
        </p:txBody>
      </p:sp>
      <p:sp>
        <p:nvSpPr>
          <p:cNvPr id="34" name="Rectangle 33"/>
          <p:cNvSpPr/>
          <p:nvPr/>
        </p:nvSpPr>
        <p:spPr>
          <a:xfrm>
            <a:off x="8375904" y="1591056"/>
            <a:ext cx="3355848" cy="310896"/>
          </a:xfrm>
          <a:prstGeom prst="rect">
            <a:avLst/>
          </a:prstGeom>
          <a:solidFill>
            <a:srgbClr val="101A3C"/>
          </a:solidFill>
          <a:ln>
            <a:noFill/>
          </a:ln>
          <a:effectLst/>
        </p:spPr>
        <p:txBody>
          <a:bodyPr wrap="square" rtlCol="0" anchor="ctr"/>
          <a:lstStyle/>
          <a:p>
            <a:endParaRPr/>
          </a:p>
        </p:txBody>
      </p:sp>
      <p:sp>
        <p:nvSpPr>
          <p:cNvPr id="35" name="TextBox 34"/>
          <p:cNvSpPr txBox="1"/>
          <p:nvPr/>
        </p:nvSpPr>
        <p:spPr>
          <a:xfrm>
            <a:off x="8503920" y="1668780"/>
            <a:ext cx="1931304"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Value</a:t>
            </a:r>
          </a:p>
        </p:txBody>
      </p:sp>
      <p:sp>
        <p:nvSpPr>
          <p:cNvPr id="36" name="TextBox 35"/>
          <p:cNvSpPr txBox="1"/>
          <p:nvPr/>
        </p:nvSpPr>
        <p:spPr>
          <a:xfrm>
            <a:off x="10618104" y="1668780"/>
            <a:ext cx="1058783"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Class</a:t>
            </a:r>
          </a:p>
        </p:txBody>
      </p:sp>
      <p:sp>
        <p:nvSpPr>
          <p:cNvPr id="37" name="Rectangle 36"/>
          <p:cNvSpPr/>
          <p:nvPr/>
        </p:nvSpPr>
        <p:spPr>
          <a:xfrm>
            <a:off x="8375904" y="1901952"/>
            <a:ext cx="3355848" cy="365760"/>
          </a:xfrm>
          <a:prstGeom prst="rect">
            <a:avLst/>
          </a:prstGeom>
          <a:solidFill>
            <a:srgbClr val="F6F8FD"/>
          </a:solidFill>
          <a:ln>
            <a:noFill/>
          </a:ln>
          <a:effectLst/>
        </p:spPr>
        <p:txBody>
          <a:bodyPr wrap="square" rtlCol="0" anchor="ctr"/>
          <a:lstStyle/>
          <a:p>
            <a:endParaRPr/>
          </a:p>
        </p:txBody>
      </p:sp>
      <p:cxnSp>
        <p:nvCxnSpPr>
          <p:cNvPr id="38" name="Connector 37"/>
          <p:cNvCxnSpPr/>
          <p:nvPr/>
        </p:nvCxnSpPr>
        <p:spPr>
          <a:xfrm>
            <a:off x="8375904" y="226771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503920" y="195224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TASK_STATE_SUBMITTED</a:t>
            </a:r>
          </a:p>
        </p:txBody>
      </p:sp>
      <p:sp>
        <p:nvSpPr>
          <p:cNvPr id="40" name="TextBox 39"/>
          <p:cNvSpPr txBox="1"/>
          <p:nvPr/>
        </p:nvSpPr>
        <p:spPr>
          <a:xfrm>
            <a:off x="10618104" y="195224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Active</a:t>
            </a:r>
          </a:p>
        </p:txBody>
      </p:sp>
      <p:cxnSp>
        <p:nvCxnSpPr>
          <p:cNvPr id="41" name="Connector 40"/>
          <p:cNvCxnSpPr/>
          <p:nvPr/>
        </p:nvCxnSpPr>
        <p:spPr>
          <a:xfrm>
            <a:off x="8375904" y="263347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03920" y="231800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TASK_STATE_WORKING</a:t>
            </a:r>
          </a:p>
        </p:txBody>
      </p:sp>
      <p:sp>
        <p:nvSpPr>
          <p:cNvPr id="43" name="TextBox 42"/>
          <p:cNvSpPr txBox="1"/>
          <p:nvPr/>
        </p:nvSpPr>
        <p:spPr>
          <a:xfrm>
            <a:off x="10618104" y="231800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Active</a:t>
            </a:r>
          </a:p>
        </p:txBody>
      </p:sp>
      <p:sp>
        <p:nvSpPr>
          <p:cNvPr id="44" name="Rectangle 43"/>
          <p:cNvSpPr/>
          <p:nvPr/>
        </p:nvSpPr>
        <p:spPr>
          <a:xfrm>
            <a:off x="8375904" y="2633472"/>
            <a:ext cx="3355848" cy="365760"/>
          </a:xfrm>
          <a:prstGeom prst="rect">
            <a:avLst/>
          </a:prstGeom>
          <a:solidFill>
            <a:srgbClr val="F6F8FD"/>
          </a:solidFill>
          <a:ln>
            <a:noFill/>
          </a:ln>
          <a:effectLst/>
        </p:spPr>
        <p:txBody>
          <a:bodyPr wrap="square" rtlCol="0" anchor="ctr"/>
          <a:lstStyle/>
          <a:p>
            <a:endParaRPr/>
          </a:p>
        </p:txBody>
      </p:sp>
      <p:cxnSp>
        <p:nvCxnSpPr>
          <p:cNvPr id="45" name="Connector 44"/>
          <p:cNvCxnSpPr/>
          <p:nvPr/>
        </p:nvCxnSpPr>
        <p:spPr>
          <a:xfrm>
            <a:off x="8375904" y="299923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503920" y="268376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TASK_STATE_INPUT_REQUIRED</a:t>
            </a:r>
          </a:p>
        </p:txBody>
      </p:sp>
      <p:sp>
        <p:nvSpPr>
          <p:cNvPr id="47" name="TextBox 46"/>
          <p:cNvSpPr txBox="1"/>
          <p:nvPr/>
        </p:nvSpPr>
        <p:spPr>
          <a:xfrm>
            <a:off x="10618104" y="268376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Interrupted</a:t>
            </a:r>
          </a:p>
        </p:txBody>
      </p:sp>
      <p:cxnSp>
        <p:nvCxnSpPr>
          <p:cNvPr id="48" name="Connector 47"/>
          <p:cNvCxnSpPr/>
          <p:nvPr/>
        </p:nvCxnSpPr>
        <p:spPr>
          <a:xfrm>
            <a:off x="8375904" y="3364991"/>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503920" y="304952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TASK_STATE_AUTH_REQUIRED</a:t>
            </a:r>
          </a:p>
        </p:txBody>
      </p:sp>
      <p:sp>
        <p:nvSpPr>
          <p:cNvPr id="50" name="TextBox 49"/>
          <p:cNvSpPr txBox="1"/>
          <p:nvPr/>
        </p:nvSpPr>
        <p:spPr>
          <a:xfrm>
            <a:off x="10618104" y="304952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Interrupted</a:t>
            </a:r>
          </a:p>
        </p:txBody>
      </p:sp>
      <p:sp>
        <p:nvSpPr>
          <p:cNvPr id="51" name="Rectangle 50"/>
          <p:cNvSpPr/>
          <p:nvPr/>
        </p:nvSpPr>
        <p:spPr>
          <a:xfrm>
            <a:off x="8375904" y="3364991"/>
            <a:ext cx="3355848" cy="365760"/>
          </a:xfrm>
          <a:prstGeom prst="rect">
            <a:avLst/>
          </a:prstGeom>
          <a:solidFill>
            <a:srgbClr val="F6F8FD"/>
          </a:solidFill>
          <a:ln>
            <a:noFill/>
          </a:ln>
          <a:effectLst/>
        </p:spPr>
        <p:txBody>
          <a:bodyPr wrap="square" rtlCol="0" anchor="ctr"/>
          <a:lstStyle/>
          <a:p>
            <a:endParaRPr/>
          </a:p>
        </p:txBody>
      </p:sp>
      <p:cxnSp>
        <p:nvCxnSpPr>
          <p:cNvPr id="52" name="Connector 51"/>
          <p:cNvCxnSpPr/>
          <p:nvPr/>
        </p:nvCxnSpPr>
        <p:spPr>
          <a:xfrm>
            <a:off x="8375904" y="373075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503920" y="341528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TASK_STATE_COMPLETED</a:t>
            </a:r>
          </a:p>
        </p:txBody>
      </p:sp>
      <p:sp>
        <p:nvSpPr>
          <p:cNvPr id="54" name="TextBox 53"/>
          <p:cNvSpPr txBox="1"/>
          <p:nvPr/>
        </p:nvSpPr>
        <p:spPr>
          <a:xfrm>
            <a:off x="10618104" y="341528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Terminal</a:t>
            </a:r>
          </a:p>
        </p:txBody>
      </p:sp>
      <p:cxnSp>
        <p:nvCxnSpPr>
          <p:cNvPr id="55" name="Connector 54"/>
          <p:cNvCxnSpPr/>
          <p:nvPr/>
        </p:nvCxnSpPr>
        <p:spPr>
          <a:xfrm>
            <a:off x="8375904" y="409651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503920" y="378104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TASK_STATE_FAILED</a:t>
            </a:r>
          </a:p>
        </p:txBody>
      </p:sp>
      <p:sp>
        <p:nvSpPr>
          <p:cNvPr id="57" name="TextBox 56"/>
          <p:cNvSpPr txBox="1"/>
          <p:nvPr/>
        </p:nvSpPr>
        <p:spPr>
          <a:xfrm>
            <a:off x="10618104" y="378104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Terminal</a:t>
            </a:r>
          </a:p>
        </p:txBody>
      </p:sp>
      <p:sp>
        <p:nvSpPr>
          <p:cNvPr id="58" name="Rectangle 57"/>
          <p:cNvSpPr/>
          <p:nvPr/>
        </p:nvSpPr>
        <p:spPr>
          <a:xfrm>
            <a:off x="8375904" y="4096512"/>
            <a:ext cx="3355848" cy="365760"/>
          </a:xfrm>
          <a:prstGeom prst="rect">
            <a:avLst/>
          </a:prstGeom>
          <a:solidFill>
            <a:srgbClr val="F6F8FD"/>
          </a:solidFill>
          <a:ln>
            <a:noFill/>
          </a:ln>
          <a:effectLst/>
        </p:spPr>
        <p:txBody>
          <a:bodyPr wrap="square" rtlCol="0" anchor="ctr"/>
          <a:lstStyle/>
          <a:p>
            <a:endParaRPr/>
          </a:p>
        </p:txBody>
      </p:sp>
      <p:cxnSp>
        <p:nvCxnSpPr>
          <p:cNvPr id="59" name="Connector 58"/>
          <p:cNvCxnSpPr/>
          <p:nvPr/>
        </p:nvCxnSpPr>
        <p:spPr>
          <a:xfrm>
            <a:off x="8375904" y="446227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8503920" y="414680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TASK_STATE_CANCELED</a:t>
            </a:r>
          </a:p>
        </p:txBody>
      </p:sp>
      <p:sp>
        <p:nvSpPr>
          <p:cNvPr id="61" name="TextBox 60"/>
          <p:cNvSpPr txBox="1"/>
          <p:nvPr/>
        </p:nvSpPr>
        <p:spPr>
          <a:xfrm>
            <a:off x="10618104" y="414680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Terminal</a:t>
            </a:r>
          </a:p>
        </p:txBody>
      </p:sp>
      <p:cxnSp>
        <p:nvCxnSpPr>
          <p:cNvPr id="62" name="Connector 61"/>
          <p:cNvCxnSpPr/>
          <p:nvPr/>
        </p:nvCxnSpPr>
        <p:spPr>
          <a:xfrm>
            <a:off x="8375904" y="482803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8503920" y="451256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TASK_STATE_REJECTED</a:t>
            </a:r>
          </a:p>
        </p:txBody>
      </p:sp>
      <p:sp>
        <p:nvSpPr>
          <p:cNvPr id="64" name="TextBox 63"/>
          <p:cNvSpPr txBox="1"/>
          <p:nvPr/>
        </p:nvSpPr>
        <p:spPr>
          <a:xfrm>
            <a:off x="10618104" y="451256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Terminal</a:t>
            </a:r>
          </a:p>
        </p:txBody>
      </p:sp>
      <p:sp>
        <p:nvSpPr>
          <p:cNvPr id="65" name="Rectangle 64"/>
          <p:cNvSpPr/>
          <p:nvPr/>
        </p:nvSpPr>
        <p:spPr>
          <a:xfrm>
            <a:off x="8375904" y="4828032"/>
            <a:ext cx="3355848" cy="365760"/>
          </a:xfrm>
          <a:prstGeom prst="rect">
            <a:avLst/>
          </a:prstGeom>
          <a:solidFill>
            <a:srgbClr val="F6F8FD"/>
          </a:solidFill>
          <a:ln>
            <a:noFill/>
          </a:ln>
          <a:effectLst/>
        </p:spPr>
        <p:txBody>
          <a:bodyPr wrap="square" rtlCol="0" anchor="ctr"/>
          <a:lstStyle/>
          <a:p>
            <a:endParaRPr/>
          </a:p>
        </p:txBody>
      </p:sp>
      <p:cxnSp>
        <p:nvCxnSpPr>
          <p:cNvPr id="66" name="Connector 65"/>
          <p:cNvCxnSpPr/>
          <p:nvPr/>
        </p:nvCxnSpPr>
        <p:spPr>
          <a:xfrm>
            <a:off x="8375904" y="5193792"/>
            <a:ext cx="3355848"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8503920" y="4878324"/>
            <a:ext cx="1894728" cy="283464"/>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TASK_STATE_UNSPECIFIED</a:t>
            </a:r>
          </a:p>
        </p:txBody>
      </p:sp>
      <p:sp>
        <p:nvSpPr>
          <p:cNvPr id="68" name="TextBox 67"/>
          <p:cNvSpPr txBox="1"/>
          <p:nvPr/>
        </p:nvSpPr>
        <p:spPr>
          <a:xfrm>
            <a:off x="10618104" y="4878324"/>
            <a:ext cx="1022207" cy="28346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Indeterminate</a:t>
            </a:r>
          </a:p>
        </p:txBody>
      </p:sp>
      <p:cxnSp>
        <p:nvCxnSpPr>
          <p:cNvPr id="69" name="Connector 68"/>
          <p:cNvCxnSpPr/>
          <p:nvPr/>
        </p:nvCxnSpPr>
        <p:spPr>
          <a:xfrm>
            <a:off x="10490088" y="1901952"/>
            <a:ext cx="0" cy="329184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457200" y="5010912"/>
            <a:ext cx="7717536" cy="566928"/>
          </a:xfrm>
          <a:prstGeom prst="rect">
            <a:avLst/>
          </a:prstGeom>
          <a:solidFill>
            <a:srgbClr val="EBEFF7"/>
          </a:solidFill>
          <a:ln>
            <a:noFill/>
          </a:ln>
          <a:effectLst/>
        </p:spPr>
        <p:txBody>
          <a:bodyPr wrap="square" rtlCol="0" anchor="ctr"/>
          <a:lstStyle/>
          <a:p>
            <a:endParaRPr/>
          </a:p>
        </p:txBody>
      </p:sp>
      <p:sp>
        <p:nvSpPr>
          <p:cNvPr id="71" name="Rectangle 70"/>
          <p:cNvSpPr/>
          <p:nvPr/>
        </p:nvSpPr>
        <p:spPr>
          <a:xfrm>
            <a:off x="457200" y="5010912"/>
            <a:ext cx="41148" cy="566928"/>
          </a:xfrm>
          <a:prstGeom prst="rect">
            <a:avLst/>
          </a:prstGeom>
          <a:solidFill>
            <a:srgbClr val="00B39F"/>
          </a:solidFill>
          <a:ln>
            <a:noFill/>
          </a:ln>
          <a:effectLst/>
        </p:spPr>
        <p:txBody>
          <a:bodyPr wrap="square" rtlCol="0" anchor="ctr"/>
          <a:lstStyle/>
          <a:p>
            <a:endParaRPr/>
          </a:p>
        </p:txBody>
      </p:sp>
      <p:sp>
        <p:nvSpPr>
          <p:cNvPr id="72" name="TextBox 71"/>
          <p:cNvSpPr txBox="1"/>
          <p:nvPr/>
        </p:nvSpPr>
        <p:spPr>
          <a:xfrm>
            <a:off x="694944" y="5111496"/>
            <a:ext cx="7296912" cy="384048"/>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Version 1.0 serialises these values as the enumeration names shown, in accordance with the ProtoJSON convention. Version 0.3 used lowercase hyphenated forms such as input-required, which is a frequent source of migration defects.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PROTOCOL MECHANICS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Interaction modes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delivery mechanisms, selected by expected duration and whether the caller can hold a connection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a2a-protocol.org/latest/topics/streaming-and-async</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10</a:t>
            </a:r>
          </a:p>
        </p:txBody>
      </p:sp>
      <p:sp>
        <p:nvSpPr>
          <p:cNvPr id="7" name="Rectangle 6"/>
          <p:cNvSpPr/>
          <p:nvPr/>
        </p:nvSpPr>
        <p:spPr>
          <a:xfrm>
            <a:off x="457200" y="1371600"/>
            <a:ext cx="3621024" cy="3529584"/>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371600"/>
            <a:ext cx="3621024" cy="548640"/>
          </a:xfrm>
          <a:prstGeom prst="rect">
            <a:avLst/>
          </a:prstGeom>
          <a:solidFill>
            <a:srgbClr val="101A3C"/>
          </a:solidFill>
          <a:ln>
            <a:noFill/>
          </a:ln>
          <a:effectLst/>
        </p:spPr>
        <p:txBody>
          <a:bodyPr wrap="square" rtlCol="0" anchor="ctr"/>
          <a:lstStyle/>
          <a:p>
            <a:endParaRPr/>
          </a:p>
        </p:txBody>
      </p:sp>
      <p:sp>
        <p:nvSpPr>
          <p:cNvPr id="9" name="TextBox 8"/>
          <p:cNvSpPr txBox="1"/>
          <p:nvPr/>
        </p:nvSpPr>
        <p:spPr>
          <a:xfrm>
            <a:off x="640080" y="1463040"/>
            <a:ext cx="3255264" cy="201168"/>
          </a:xfrm>
          <a:prstGeom prst="rect">
            <a:avLst/>
          </a:prstGeom>
          <a:noFill/>
        </p:spPr>
        <p:txBody>
          <a:bodyPr wrap="square" lIns="0" tIns="0" rIns="0" bIns="0" anchor="t">
            <a:spAutoFit/>
          </a:bodyPr>
          <a:lstStyle/>
          <a:p>
            <a:pPr algn="l">
              <a:lnSpc>
                <a:spcPct val="100000"/>
              </a:lnSpc>
            </a:pPr>
            <a:r>
              <a:rPr sz="1200" b="1" i="0" dirty="0">
                <a:solidFill>
                  <a:srgbClr val="FFFFFF"/>
                </a:solidFill>
                <a:latin typeface="Segoe UI"/>
                <a:cs typeface="Segoe UI"/>
              </a:rPr>
              <a:t>Synchronous</a:t>
            </a:r>
          </a:p>
        </p:txBody>
      </p:sp>
      <p:sp>
        <p:nvSpPr>
          <p:cNvPr id="10" name="TextBox 9"/>
          <p:cNvSpPr txBox="1"/>
          <p:nvPr/>
        </p:nvSpPr>
        <p:spPr>
          <a:xfrm>
            <a:off x="640080" y="1691640"/>
            <a:ext cx="3255264" cy="164592"/>
          </a:xfrm>
          <a:prstGeom prst="rect">
            <a:avLst/>
          </a:prstGeom>
          <a:noFill/>
        </p:spPr>
        <p:txBody>
          <a:bodyPr wrap="square" lIns="0" tIns="0" rIns="0" bIns="0" anchor="t">
            <a:spAutoFit/>
          </a:bodyPr>
          <a:lstStyle/>
          <a:p>
            <a:pPr algn="l">
              <a:lnSpc>
                <a:spcPct val="100000"/>
              </a:lnSpc>
            </a:pPr>
            <a:r>
              <a:rPr sz="750" b="1" i="0" dirty="0">
                <a:solidFill>
                  <a:srgbClr val="00B39F"/>
                </a:solidFill>
                <a:latin typeface="Segoe UI"/>
                <a:cs typeface="Segoe UI"/>
              </a:rPr>
              <a:t>returnImmediately = false</a:t>
            </a:r>
          </a:p>
        </p:txBody>
      </p:sp>
      <p:sp>
        <p:nvSpPr>
          <p:cNvPr id="11" name="TextBox 10"/>
          <p:cNvSpPr txBox="1"/>
          <p:nvPr/>
        </p:nvSpPr>
        <p:spPr>
          <a:xfrm>
            <a:off x="640080" y="2066543"/>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MECHANISM</a:t>
            </a:r>
          </a:p>
        </p:txBody>
      </p:sp>
      <p:sp>
        <p:nvSpPr>
          <p:cNvPr id="12" name="TextBox 11"/>
          <p:cNvSpPr txBox="1"/>
          <p:nvPr/>
        </p:nvSpPr>
        <p:spPr>
          <a:xfrm>
            <a:off x="640080" y="2249424"/>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 single request that returns only when the task reaches a terminal or interrupted state.</a:t>
            </a:r>
          </a:p>
        </p:txBody>
      </p:sp>
      <p:sp>
        <p:nvSpPr>
          <p:cNvPr id="13" name="TextBox 12"/>
          <p:cNvSpPr txBox="1"/>
          <p:nvPr/>
        </p:nvSpPr>
        <p:spPr>
          <a:xfrm>
            <a:off x="640080" y="277977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TO</a:t>
            </a:r>
          </a:p>
        </p:txBody>
      </p:sp>
      <p:sp>
        <p:nvSpPr>
          <p:cNvPr id="14" name="TextBox 13"/>
          <p:cNvSpPr txBox="1"/>
          <p:nvPr/>
        </p:nvSpPr>
        <p:spPr>
          <a:xfrm>
            <a:off x="640080" y="2962656"/>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Work of short, bounded duration where the caller can hold the connection open.</a:t>
            </a:r>
          </a:p>
        </p:txBody>
      </p:sp>
      <p:sp>
        <p:nvSpPr>
          <p:cNvPr id="15" name="TextBox 14"/>
          <p:cNvSpPr txBox="1"/>
          <p:nvPr/>
        </p:nvSpPr>
        <p:spPr>
          <a:xfrm>
            <a:off x="640080" y="3493008"/>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PREREQUISITE</a:t>
            </a:r>
          </a:p>
        </p:txBody>
      </p:sp>
      <p:sp>
        <p:nvSpPr>
          <p:cNvPr id="16" name="TextBox 15"/>
          <p:cNvSpPr txBox="1"/>
          <p:nvPr/>
        </p:nvSpPr>
        <p:spPr>
          <a:xfrm>
            <a:off x="640080" y="3675888"/>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None beyond the base protocol.</a:t>
            </a:r>
          </a:p>
        </p:txBody>
      </p:sp>
      <p:sp>
        <p:nvSpPr>
          <p:cNvPr id="17" name="TextBox 16"/>
          <p:cNvSpPr txBox="1"/>
          <p:nvPr/>
        </p:nvSpPr>
        <p:spPr>
          <a:xfrm>
            <a:off x="640080" y="4206240"/>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DESIGN CONSIDERATION</a:t>
            </a:r>
          </a:p>
        </p:txBody>
      </p:sp>
      <p:sp>
        <p:nvSpPr>
          <p:cNvPr id="18" name="TextBox 17"/>
          <p:cNvSpPr txBox="1"/>
          <p:nvPr/>
        </p:nvSpPr>
        <p:spPr>
          <a:xfrm>
            <a:off x="640080" y="4389120"/>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effective limit is the connection and gateway timeout, not the protocol.</a:t>
            </a:r>
          </a:p>
        </p:txBody>
      </p:sp>
      <p:sp>
        <p:nvSpPr>
          <p:cNvPr id="19" name="Rectangle 18"/>
          <p:cNvSpPr/>
          <p:nvPr/>
        </p:nvSpPr>
        <p:spPr>
          <a:xfrm>
            <a:off x="4297680" y="1371600"/>
            <a:ext cx="3621024" cy="3529584"/>
          </a:xfrm>
          <a:prstGeom prst="rect">
            <a:avLst/>
          </a:prstGeom>
          <a:solidFill>
            <a:srgbClr val="F6F8FD"/>
          </a:solidFill>
          <a:ln w="9525">
            <a:solidFill>
              <a:srgbClr val="E1E7F4"/>
            </a:solidFill>
          </a:ln>
          <a:effectLst/>
        </p:spPr>
        <p:txBody>
          <a:bodyPr wrap="square" rtlCol="0" anchor="ctr"/>
          <a:lstStyle/>
          <a:p>
            <a:endParaRPr/>
          </a:p>
        </p:txBody>
      </p:sp>
      <p:sp>
        <p:nvSpPr>
          <p:cNvPr id="20" name="Rectangle 19"/>
          <p:cNvSpPr/>
          <p:nvPr/>
        </p:nvSpPr>
        <p:spPr>
          <a:xfrm>
            <a:off x="4297680" y="1371600"/>
            <a:ext cx="3621024" cy="548640"/>
          </a:xfrm>
          <a:prstGeom prst="rect">
            <a:avLst/>
          </a:prstGeom>
          <a:solidFill>
            <a:srgbClr val="101A3C"/>
          </a:solidFill>
          <a:ln>
            <a:noFill/>
          </a:ln>
          <a:effectLst/>
        </p:spPr>
        <p:txBody>
          <a:bodyPr wrap="square" rtlCol="0" anchor="ctr"/>
          <a:lstStyle/>
          <a:p>
            <a:endParaRPr/>
          </a:p>
        </p:txBody>
      </p:sp>
      <p:sp>
        <p:nvSpPr>
          <p:cNvPr id="21" name="TextBox 20"/>
          <p:cNvSpPr txBox="1"/>
          <p:nvPr/>
        </p:nvSpPr>
        <p:spPr>
          <a:xfrm>
            <a:off x="4480560" y="1463040"/>
            <a:ext cx="3255264" cy="201168"/>
          </a:xfrm>
          <a:prstGeom prst="rect">
            <a:avLst/>
          </a:prstGeom>
          <a:noFill/>
        </p:spPr>
        <p:txBody>
          <a:bodyPr wrap="square" lIns="0" tIns="0" rIns="0" bIns="0" anchor="t">
            <a:spAutoFit/>
          </a:bodyPr>
          <a:lstStyle/>
          <a:p>
            <a:pPr algn="l">
              <a:lnSpc>
                <a:spcPct val="100000"/>
              </a:lnSpc>
            </a:pPr>
            <a:r>
              <a:rPr sz="1200" b="1" i="0" dirty="0">
                <a:solidFill>
                  <a:srgbClr val="FFFFFF"/>
                </a:solidFill>
                <a:latin typeface="Segoe UI"/>
                <a:cs typeface="Segoe UI"/>
              </a:rPr>
              <a:t>Streaming</a:t>
            </a:r>
          </a:p>
        </p:txBody>
      </p:sp>
      <p:sp>
        <p:nvSpPr>
          <p:cNvPr id="22" name="TextBox 21"/>
          <p:cNvSpPr txBox="1"/>
          <p:nvPr/>
        </p:nvSpPr>
        <p:spPr>
          <a:xfrm>
            <a:off x="4480560" y="1691640"/>
            <a:ext cx="3255264" cy="164592"/>
          </a:xfrm>
          <a:prstGeom prst="rect">
            <a:avLst/>
          </a:prstGeom>
          <a:noFill/>
        </p:spPr>
        <p:txBody>
          <a:bodyPr wrap="square" lIns="0" tIns="0" rIns="0" bIns="0" anchor="t">
            <a:spAutoFit/>
          </a:bodyPr>
          <a:lstStyle/>
          <a:p>
            <a:pPr algn="l">
              <a:lnSpc>
                <a:spcPct val="100000"/>
              </a:lnSpc>
            </a:pPr>
            <a:r>
              <a:rPr sz="750" b="1" i="0" dirty="0">
                <a:solidFill>
                  <a:srgbClr val="00B39F"/>
                </a:solidFill>
                <a:latin typeface="Segoe UI"/>
                <a:cs typeface="Segoe UI"/>
              </a:rPr>
              <a:t>Server-Sent Events</a:t>
            </a:r>
          </a:p>
        </p:txBody>
      </p:sp>
      <p:sp>
        <p:nvSpPr>
          <p:cNvPr id="23" name="TextBox 22"/>
          <p:cNvSpPr txBox="1"/>
          <p:nvPr/>
        </p:nvSpPr>
        <p:spPr>
          <a:xfrm>
            <a:off x="4480560" y="2066543"/>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MECHANISM</a:t>
            </a:r>
          </a:p>
        </p:txBody>
      </p:sp>
      <p:sp>
        <p:nvSpPr>
          <p:cNvPr id="24" name="TextBox 23"/>
          <p:cNvSpPr txBox="1"/>
          <p:nvPr/>
        </p:nvSpPr>
        <p:spPr>
          <a:xfrm>
            <a:off x="4480560" y="2249424"/>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server opens a text/event-stream response and emits status and artifact update events.</a:t>
            </a:r>
          </a:p>
        </p:txBody>
      </p:sp>
      <p:sp>
        <p:nvSpPr>
          <p:cNvPr id="25" name="TextBox 24"/>
          <p:cNvSpPr txBox="1"/>
          <p:nvPr/>
        </p:nvSpPr>
        <p:spPr>
          <a:xfrm>
            <a:off x="4480560" y="277977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TO</a:t>
            </a:r>
          </a:p>
        </p:txBody>
      </p:sp>
      <p:sp>
        <p:nvSpPr>
          <p:cNvPr id="26" name="TextBox 25"/>
          <p:cNvSpPr txBox="1"/>
          <p:nvPr/>
        </p:nvSpPr>
        <p:spPr>
          <a:xfrm>
            <a:off x="4480560" y="2962656"/>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Incremental output and progress indication while a user is present.</a:t>
            </a:r>
          </a:p>
        </p:txBody>
      </p:sp>
      <p:sp>
        <p:nvSpPr>
          <p:cNvPr id="27" name="TextBox 26"/>
          <p:cNvSpPr txBox="1"/>
          <p:nvPr/>
        </p:nvSpPr>
        <p:spPr>
          <a:xfrm>
            <a:off x="4480560" y="3493008"/>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PREREQUISITE</a:t>
            </a:r>
          </a:p>
        </p:txBody>
      </p:sp>
      <p:sp>
        <p:nvSpPr>
          <p:cNvPr id="28" name="TextBox 27"/>
          <p:cNvSpPr txBox="1"/>
          <p:nvPr/>
        </p:nvSpPr>
        <p:spPr>
          <a:xfrm>
            <a:off x="4480560" y="3675888"/>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capabilities.streaming declared true in the Agent Card.</a:t>
            </a:r>
          </a:p>
        </p:txBody>
      </p:sp>
      <p:sp>
        <p:nvSpPr>
          <p:cNvPr id="29" name="TextBox 28"/>
          <p:cNvSpPr txBox="1"/>
          <p:nvPr/>
        </p:nvSpPr>
        <p:spPr>
          <a:xfrm>
            <a:off x="4480560" y="4206240"/>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DESIGN CONSIDERATION</a:t>
            </a:r>
          </a:p>
        </p:txBody>
      </p:sp>
      <p:sp>
        <p:nvSpPr>
          <p:cNvPr id="30" name="TextBox 29"/>
          <p:cNvSpPr txBox="1"/>
          <p:nvPr/>
        </p:nvSpPr>
        <p:spPr>
          <a:xfrm>
            <a:off x="4480560" y="4389120"/>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Event order is normative. Reconnection replays from the task, not from an offset.</a:t>
            </a:r>
          </a:p>
        </p:txBody>
      </p:sp>
      <p:sp>
        <p:nvSpPr>
          <p:cNvPr id="31" name="Rectangle 30"/>
          <p:cNvSpPr/>
          <p:nvPr/>
        </p:nvSpPr>
        <p:spPr>
          <a:xfrm>
            <a:off x="8138160" y="1371600"/>
            <a:ext cx="3621024" cy="3529584"/>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8138160" y="1371600"/>
            <a:ext cx="3621024" cy="548640"/>
          </a:xfrm>
          <a:prstGeom prst="rect">
            <a:avLst/>
          </a:prstGeom>
          <a:solidFill>
            <a:srgbClr val="101A3C"/>
          </a:solidFill>
          <a:ln>
            <a:noFill/>
          </a:ln>
          <a:effectLst/>
        </p:spPr>
        <p:txBody>
          <a:bodyPr wrap="square" rtlCol="0" anchor="ctr"/>
          <a:lstStyle/>
          <a:p>
            <a:endParaRPr/>
          </a:p>
        </p:txBody>
      </p:sp>
      <p:sp>
        <p:nvSpPr>
          <p:cNvPr id="33" name="TextBox 32"/>
          <p:cNvSpPr txBox="1"/>
          <p:nvPr/>
        </p:nvSpPr>
        <p:spPr>
          <a:xfrm>
            <a:off x="8321040" y="1463040"/>
            <a:ext cx="3255264" cy="201168"/>
          </a:xfrm>
          <a:prstGeom prst="rect">
            <a:avLst/>
          </a:prstGeom>
          <a:noFill/>
        </p:spPr>
        <p:txBody>
          <a:bodyPr wrap="square" lIns="0" tIns="0" rIns="0" bIns="0" anchor="t">
            <a:spAutoFit/>
          </a:bodyPr>
          <a:lstStyle/>
          <a:p>
            <a:pPr algn="l">
              <a:lnSpc>
                <a:spcPct val="100000"/>
              </a:lnSpc>
            </a:pPr>
            <a:r>
              <a:rPr sz="1200" b="1" i="0" dirty="0">
                <a:solidFill>
                  <a:srgbClr val="FFFFFF"/>
                </a:solidFill>
                <a:latin typeface="Segoe UI"/>
                <a:cs typeface="Segoe UI"/>
              </a:rPr>
              <a:t>Asynchronous</a:t>
            </a:r>
          </a:p>
        </p:txBody>
      </p:sp>
      <p:sp>
        <p:nvSpPr>
          <p:cNvPr id="34" name="TextBox 33"/>
          <p:cNvSpPr txBox="1"/>
          <p:nvPr/>
        </p:nvSpPr>
        <p:spPr>
          <a:xfrm>
            <a:off x="8321040" y="1691640"/>
            <a:ext cx="3255264" cy="164592"/>
          </a:xfrm>
          <a:prstGeom prst="rect">
            <a:avLst/>
          </a:prstGeom>
          <a:noFill/>
        </p:spPr>
        <p:txBody>
          <a:bodyPr wrap="square" lIns="0" tIns="0" rIns="0" bIns="0" anchor="t">
            <a:spAutoFit/>
          </a:bodyPr>
          <a:lstStyle/>
          <a:p>
            <a:pPr algn="l">
              <a:lnSpc>
                <a:spcPct val="100000"/>
              </a:lnSpc>
            </a:pPr>
            <a:r>
              <a:rPr sz="750" b="1" i="0" dirty="0">
                <a:solidFill>
                  <a:srgbClr val="00B39F"/>
                </a:solidFill>
                <a:latin typeface="Segoe UI"/>
                <a:cs typeface="Segoe UI"/>
              </a:rPr>
              <a:t>Push notification webhook</a:t>
            </a:r>
          </a:p>
        </p:txBody>
      </p:sp>
      <p:sp>
        <p:nvSpPr>
          <p:cNvPr id="35" name="TextBox 34"/>
          <p:cNvSpPr txBox="1"/>
          <p:nvPr/>
        </p:nvSpPr>
        <p:spPr>
          <a:xfrm>
            <a:off x="8321040" y="2066543"/>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MECHANISM</a:t>
            </a:r>
          </a:p>
        </p:txBody>
      </p:sp>
      <p:sp>
        <p:nvSpPr>
          <p:cNvPr id="36" name="TextBox 35"/>
          <p:cNvSpPr txBox="1"/>
          <p:nvPr/>
        </p:nvSpPr>
        <p:spPr>
          <a:xfrm>
            <a:off x="8321040" y="2249424"/>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server issues an HTTP POST to a client-registered endpoint on each state change.</a:t>
            </a:r>
          </a:p>
        </p:txBody>
      </p:sp>
      <p:sp>
        <p:nvSpPr>
          <p:cNvPr id="37" name="TextBox 36"/>
          <p:cNvSpPr txBox="1"/>
          <p:nvPr/>
        </p:nvSpPr>
        <p:spPr>
          <a:xfrm>
            <a:off x="8321040" y="277977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TO</a:t>
            </a:r>
          </a:p>
        </p:txBody>
      </p:sp>
      <p:sp>
        <p:nvSpPr>
          <p:cNvPr id="38" name="TextBox 37"/>
          <p:cNvSpPr txBox="1"/>
          <p:nvPr/>
        </p:nvSpPr>
        <p:spPr>
          <a:xfrm>
            <a:off x="8321040" y="2962656"/>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Long-running work and server-to-server integration with no held connection.</a:t>
            </a:r>
          </a:p>
        </p:txBody>
      </p:sp>
      <p:sp>
        <p:nvSpPr>
          <p:cNvPr id="39" name="TextBox 38"/>
          <p:cNvSpPr txBox="1"/>
          <p:nvPr/>
        </p:nvSpPr>
        <p:spPr>
          <a:xfrm>
            <a:off x="8321040" y="3493008"/>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PREREQUISITE</a:t>
            </a:r>
          </a:p>
        </p:txBody>
      </p:sp>
      <p:sp>
        <p:nvSpPr>
          <p:cNvPr id="40" name="TextBox 39"/>
          <p:cNvSpPr txBox="1"/>
          <p:nvPr/>
        </p:nvSpPr>
        <p:spPr>
          <a:xfrm>
            <a:off x="8321040" y="3675888"/>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capabilities.pushNotifications declared true, plus a webhook authentication scheme.</a:t>
            </a:r>
          </a:p>
        </p:txBody>
      </p:sp>
      <p:sp>
        <p:nvSpPr>
          <p:cNvPr id="41" name="TextBox 40"/>
          <p:cNvSpPr txBox="1"/>
          <p:nvPr/>
        </p:nvSpPr>
        <p:spPr>
          <a:xfrm>
            <a:off x="8321040" y="4206240"/>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DESIGN CONSIDERATION</a:t>
            </a:r>
          </a:p>
        </p:txBody>
      </p:sp>
      <p:sp>
        <p:nvSpPr>
          <p:cNvPr id="42" name="TextBox 41"/>
          <p:cNvSpPr txBox="1"/>
          <p:nvPr/>
        </p:nvSpPr>
        <p:spPr>
          <a:xfrm>
            <a:off x="8321040" y="4389120"/>
            <a:ext cx="3255264" cy="493776"/>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sender authenticates to the webhook; the receiver must verify every request.</a:t>
            </a:r>
          </a:p>
        </p:txBody>
      </p:sp>
      <p:sp>
        <p:nvSpPr>
          <p:cNvPr id="43" name="Rectangle 42"/>
          <p:cNvSpPr/>
          <p:nvPr/>
        </p:nvSpPr>
        <p:spPr>
          <a:xfrm>
            <a:off x="457200" y="5047488"/>
            <a:ext cx="11277295" cy="512064"/>
          </a:xfrm>
          <a:prstGeom prst="rect">
            <a:avLst/>
          </a:prstGeom>
          <a:solidFill>
            <a:srgbClr val="EBEFF7"/>
          </a:solidFill>
          <a:ln>
            <a:noFill/>
          </a:ln>
          <a:effectLst/>
        </p:spPr>
        <p:txBody>
          <a:bodyPr wrap="square" rtlCol="0" anchor="ctr"/>
          <a:lstStyle/>
          <a:p>
            <a:endParaRPr/>
          </a:p>
        </p:txBody>
      </p:sp>
      <p:sp>
        <p:nvSpPr>
          <p:cNvPr id="44" name="Rectangle 43"/>
          <p:cNvSpPr/>
          <p:nvPr/>
        </p:nvSpPr>
        <p:spPr>
          <a:xfrm>
            <a:off x="457200" y="5047488"/>
            <a:ext cx="41148" cy="512064"/>
          </a:xfrm>
          <a:prstGeom prst="rect">
            <a:avLst/>
          </a:prstGeom>
          <a:solidFill>
            <a:srgbClr val="00B39F"/>
          </a:solidFill>
          <a:ln>
            <a:noFill/>
          </a:ln>
          <a:effectLst/>
        </p:spPr>
        <p:txBody>
          <a:bodyPr wrap="square" rtlCol="0" anchor="ctr"/>
          <a:lstStyle/>
          <a:p>
            <a:endParaRPr/>
          </a:p>
        </p:txBody>
      </p:sp>
      <p:sp>
        <p:nvSpPr>
          <p:cNvPr id="45" name="TextBox 44"/>
          <p:cNvSpPr txBox="1"/>
          <p:nvPr/>
        </p:nvSpPr>
        <p:spPr>
          <a:xfrm>
            <a:off x="694944" y="5148072"/>
            <a:ext cx="10856671" cy="329184"/>
          </a:xfrm>
          <a:prstGeom prst="rect">
            <a:avLst/>
          </a:prstGeom>
          <a:noFill/>
        </p:spPr>
        <p:txBody>
          <a:bodyPr wrap="square" lIns="0" tIns="0" rIns="0" bIns="0" anchor="t">
            <a:spAutoFit/>
          </a:bodyPr>
          <a:lstStyle/>
          <a:p>
            <a:pPr algn="l">
              <a:lnSpc>
                <a:spcPct val="120000"/>
              </a:lnSpc>
            </a:pPr>
            <a:r>
              <a:rPr sz="900" b="0" i="0" dirty="0">
                <a:solidFill>
                  <a:srgbClr val="101A3C"/>
                </a:solidFill>
                <a:latin typeface="Segoe UI"/>
                <a:cs typeface="Segoe UI"/>
              </a:rPr>
              <a:t>Microsoft Foundry currently supports the synchronous mode only for A2A targets: JSON-RPC binding, text modality, and no Server-Sent Events. Remote units of work must therefore complete within the caller’s timeout.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MICROSOFT FOUNDRY IMPLEMENTATION</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Implementation architecture in Microsoft Foundry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Two independent capabilities: outbound invocation of a remote agent, and inbound exposure of a Foundry agent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learn.microsoft.com/azure/foundry/agents/how-to/tools/agent-to-agent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11</a:t>
            </a:r>
          </a:p>
        </p:txBody>
      </p:sp>
      <p:sp>
        <p:nvSpPr>
          <p:cNvPr id="7" name="Rectangle 6"/>
          <p:cNvSpPr/>
          <p:nvPr/>
        </p:nvSpPr>
        <p:spPr>
          <a:xfrm>
            <a:off x="3163824" y="1426464"/>
            <a:ext cx="5870448" cy="2249424"/>
          </a:xfrm>
          <a:prstGeom prst="rect">
            <a:avLst/>
          </a:prstGeom>
          <a:noFill/>
          <a:ln w="9525">
            <a:solidFill>
              <a:srgbClr val="44495B"/>
            </a:solidFill>
            <a:prstDash val="dash"/>
          </a:ln>
          <a:effectLst/>
        </p:spPr>
        <p:txBody>
          <a:bodyPr wrap="square" rtlCol="0" anchor="ctr"/>
          <a:lstStyle/>
          <a:p>
            <a:endParaRPr/>
          </a:p>
        </p:txBody>
      </p:sp>
      <p:sp>
        <p:nvSpPr>
          <p:cNvPr id="8" name="TextBox 7"/>
          <p:cNvSpPr txBox="1"/>
          <p:nvPr/>
        </p:nvSpPr>
        <p:spPr>
          <a:xfrm>
            <a:off x="3291840" y="1499616"/>
            <a:ext cx="3657600" cy="164592"/>
          </a:xfrm>
          <a:prstGeom prst="rect">
            <a:avLst/>
          </a:prstGeom>
          <a:noFill/>
        </p:spPr>
        <p:txBody>
          <a:bodyPr wrap="square" lIns="0" tIns="0" rIns="0" bIns="0" anchor="t">
            <a:spAutoFit/>
          </a:bodyPr>
          <a:lstStyle/>
          <a:p>
            <a:pPr algn="l">
              <a:lnSpc>
                <a:spcPct val="100000"/>
              </a:lnSpc>
            </a:pPr>
            <a:r>
              <a:rPr sz="750" b="1" i="0" spc="110" dirty="0">
                <a:solidFill>
                  <a:srgbClr val="44495B"/>
                </a:solidFill>
                <a:latin typeface="Segoe UI"/>
                <a:cs typeface="Segoe UI"/>
              </a:rPr>
              <a:t>MICROSOFT FOUNDRY PROJECT</a:t>
            </a:r>
          </a:p>
        </p:txBody>
      </p:sp>
      <p:sp>
        <p:nvSpPr>
          <p:cNvPr id="9" name="Rectangle 8"/>
          <p:cNvSpPr/>
          <p:nvPr/>
        </p:nvSpPr>
        <p:spPr>
          <a:xfrm>
            <a:off x="457200" y="1938528"/>
            <a:ext cx="2395728" cy="786384"/>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20000"/>
              </a:lnSpc>
            </a:pPr>
            <a:r>
              <a:rPr sz="1000" b="1" i="0" dirty="0">
                <a:solidFill>
                  <a:srgbClr val="101A3C"/>
                </a:solidFill>
                <a:latin typeface="Segoe UI"/>
                <a:cs typeface="Segoe UI"/>
              </a:rPr>
              <a:t>External client agent</a:t>
            </a:r>
          </a:p>
          <a:p>
            <a:pPr algn="ctr">
              <a:lnSpc>
                <a:spcPct val="120000"/>
              </a:lnSpc>
            </a:pPr>
            <a:r>
              <a:rPr sz="750" b="0" i="0" dirty="0">
                <a:solidFill>
                  <a:srgbClr val="44495B"/>
                </a:solidFill>
                <a:latin typeface="Segoe UI"/>
                <a:cs typeface="Segoe UI"/>
              </a:rPr>
              <a:t>any A2A-compliant runtime</a:t>
            </a:r>
          </a:p>
        </p:txBody>
      </p:sp>
      <p:sp>
        <p:nvSpPr>
          <p:cNvPr id="10" name="Rectangle 9"/>
          <p:cNvSpPr/>
          <p:nvPr/>
        </p:nvSpPr>
        <p:spPr>
          <a:xfrm>
            <a:off x="9345168" y="1938528"/>
            <a:ext cx="2386584" cy="786384"/>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20000"/>
              </a:lnSpc>
            </a:pPr>
            <a:r>
              <a:rPr sz="1000" b="1" i="0" dirty="0">
                <a:solidFill>
                  <a:srgbClr val="101A3C"/>
                </a:solidFill>
                <a:latin typeface="Segoe UI"/>
                <a:cs typeface="Segoe UI"/>
              </a:rPr>
              <a:t>Remote A2A agent</a:t>
            </a:r>
          </a:p>
          <a:p>
            <a:pPr algn="ctr">
              <a:lnSpc>
                <a:spcPct val="120000"/>
              </a:lnSpc>
            </a:pPr>
            <a:r>
              <a:rPr sz="750" b="0" i="0" dirty="0">
                <a:solidFill>
                  <a:srgbClr val="44495B"/>
                </a:solidFill>
                <a:latin typeface="Segoe UI"/>
                <a:cs typeface="Segoe UI"/>
              </a:rPr>
              <a:t>any vendor or framework</a:t>
            </a:r>
          </a:p>
        </p:txBody>
      </p:sp>
      <p:sp>
        <p:nvSpPr>
          <p:cNvPr id="11" name="Rectangle 10"/>
          <p:cNvSpPr/>
          <p:nvPr/>
        </p:nvSpPr>
        <p:spPr>
          <a:xfrm>
            <a:off x="3401568" y="1938528"/>
            <a:ext cx="2157984" cy="78638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20000"/>
              </a:lnSpc>
            </a:pPr>
            <a:r>
              <a:rPr sz="900" b="1" i="0" dirty="0">
                <a:solidFill>
                  <a:srgbClr val="101A3C"/>
                </a:solidFill>
                <a:latin typeface="Segoe UI"/>
                <a:cs typeface="Segoe UI"/>
              </a:rPr>
              <a:t>Inbound A2A endpoint*</a:t>
            </a:r>
          </a:p>
          <a:p>
            <a:pPr algn="ctr">
              <a:lnSpc>
                <a:spcPct val="120000"/>
              </a:lnSpc>
            </a:pPr>
            <a:r>
              <a:rPr sz="750" b="0" i="0" dirty="0">
                <a:solidFill>
                  <a:srgbClr val="44495B"/>
                </a:solidFill>
                <a:latin typeface="Segoe UI"/>
                <a:cs typeface="Segoe UI"/>
              </a:rPr>
              <a:t>/endpoint/protocols/a2a</a:t>
            </a:r>
          </a:p>
        </p:txBody>
      </p:sp>
      <p:sp>
        <p:nvSpPr>
          <p:cNvPr id="12" name="Rectangle 11"/>
          <p:cNvSpPr/>
          <p:nvPr/>
        </p:nvSpPr>
        <p:spPr>
          <a:xfrm>
            <a:off x="3401568" y="2871216"/>
            <a:ext cx="2157984"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Published Agent Card</a:t>
            </a:r>
          </a:p>
        </p:txBody>
      </p:sp>
      <p:sp>
        <p:nvSpPr>
          <p:cNvPr id="13" name="Rectangle 12"/>
          <p:cNvSpPr/>
          <p:nvPr/>
        </p:nvSpPr>
        <p:spPr>
          <a:xfrm>
            <a:off x="5779008" y="1938528"/>
            <a:ext cx="1737360" cy="1499616"/>
          </a:xfrm>
          <a:prstGeom prst="rect">
            <a:avLst/>
          </a:prstGeom>
          <a:solidFill>
            <a:srgbClr val="101A3C"/>
          </a:solidFill>
          <a:ln>
            <a:noFill/>
          </a:ln>
          <a:effectLst/>
        </p:spPr>
        <p:txBody>
          <a:bodyPr wrap="square" lIns="36576" tIns="18288" rIns="36576" bIns="18288" rtlCol="0" anchor="ctr"/>
          <a:lstStyle/>
          <a:p>
            <a:pPr algn="ctr">
              <a:lnSpc>
                <a:spcPct val="134000"/>
              </a:lnSpc>
            </a:pPr>
            <a:r>
              <a:rPr sz="1100" b="1" i="0" dirty="0">
                <a:solidFill>
                  <a:srgbClr val="FFFFFF"/>
                </a:solidFill>
                <a:latin typeface="Segoe UI"/>
                <a:cs typeface="Segoe UI"/>
              </a:rPr>
              <a:t>Foundry agent</a:t>
            </a:r>
          </a:p>
          <a:p>
            <a:pPr algn="ctr">
              <a:lnSpc>
                <a:spcPct val="134000"/>
              </a:lnSpc>
            </a:pPr>
            <a:r>
              <a:rPr sz="750" b="0" i="0" dirty="0">
                <a:solidFill>
                  <a:srgbClr val="00B39F"/>
                </a:solidFill>
                <a:latin typeface="Segoe UI"/>
                <a:cs typeface="Segoe UI"/>
              </a:rPr>
              <a:t>responses protocol</a:t>
            </a:r>
          </a:p>
        </p:txBody>
      </p:sp>
      <p:sp>
        <p:nvSpPr>
          <p:cNvPr id="14" name="Rectangle 13"/>
          <p:cNvSpPr/>
          <p:nvPr/>
        </p:nvSpPr>
        <p:spPr>
          <a:xfrm>
            <a:off x="7735824" y="1938528"/>
            <a:ext cx="1188720" cy="78638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900" b="1" i="0" dirty="0">
                <a:solidFill>
                  <a:srgbClr val="101A3C"/>
                </a:solidFill>
                <a:latin typeface="Segoe UI"/>
                <a:cs typeface="Segoe UI"/>
              </a:rPr>
              <a:t>a2a tool</a:t>
            </a:r>
          </a:p>
        </p:txBody>
      </p:sp>
      <p:sp>
        <p:nvSpPr>
          <p:cNvPr id="15" name="Rectangle 14"/>
          <p:cNvSpPr/>
          <p:nvPr/>
        </p:nvSpPr>
        <p:spPr>
          <a:xfrm>
            <a:off x="7735824" y="2871216"/>
            <a:ext cx="118872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6000"/>
              </a:lnSpc>
            </a:pPr>
            <a:r>
              <a:rPr sz="750" b="0" i="0" dirty="0">
                <a:solidFill>
                  <a:srgbClr val="101A3C"/>
                </a:solidFill>
                <a:latin typeface="Segoe UI"/>
                <a:cs typeface="Segoe UI"/>
              </a:rPr>
              <a:t>RemoteA2A</a:t>
            </a:r>
          </a:p>
          <a:p>
            <a:pPr algn="ctr">
              <a:lnSpc>
                <a:spcPct val="116000"/>
              </a:lnSpc>
            </a:pPr>
            <a:r>
              <a:rPr sz="750" b="0" i="0" dirty="0">
                <a:solidFill>
                  <a:srgbClr val="101A3C"/>
                </a:solidFill>
                <a:latin typeface="Segoe UI"/>
                <a:cs typeface="Segoe UI"/>
              </a:rPr>
              <a:t>connection</a:t>
            </a:r>
          </a:p>
        </p:txBody>
      </p:sp>
      <p:cxnSp>
        <p:nvCxnSpPr>
          <p:cNvPr id="16" name="Connector 15"/>
          <p:cNvCxnSpPr/>
          <p:nvPr/>
        </p:nvCxnSpPr>
        <p:spPr>
          <a:xfrm>
            <a:off x="2852928" y="2331720"/>
            <a:ext cx="548640"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022091" y="22265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cxnSp>
        <p:nvCxnSpPr>
          <p:cNvPr id="18" name="Connector 17"/>
          <p:cNvCxnSpPr/>
          <p:nvPr/>
        </p:nvCxnSpPr>
        <p:spPr>
          <a:xfrm>
            <a:off x="5559552" y="2331720"/>
            <a:ext cx="219456"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564124" y="22265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cxnSp>
        <p:nvCxnSpPr>
          <p:cNvPr id="20" name="Connector 19"/>
          <p:cNvCxnSpPr/>
          <p:nvPr/>
        </p:nvCxnSpPr>
        <p:spPr>
          <a:xfrm>
            <a:off x="7516368" y="2331720"/>
            <a:ext cx="219456"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520940" y="22265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cxnSp>
        <p:nvCxnSpPr>
          <p:cNvPr id="22" name="Connector 21"/>
          <p:cNvCxnSpPr/>
          <p:nvPr/>
        </p:nvCxnSpPr>
        <p:spPr>
          <a:xfrm>
            <a:off x="8924544" y="2331720"/>
            <a:ext cx="420624"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9029700" y="222656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cxnSp>
        <p:nvCxnSpPr>
          <p:cNvPr id="24" name="Connector 23"/>
          <p:cNvCxnSpPr/>
          <p:nvPr/>
        </p:nvCxnSpPr>
        <p:spPr>
          <a:xfrm flipV="1">
            <a:off x="4480560" y="2724912"/>
            <a:ext cx="0" cy="146304"/>
          </a:xfrm>
          <a:prstGeom prst="line">
            <a:avLst/>
          </a:prstGeom>
          <a:ln w="1270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330183" y="2724912"/>
            <a:ext cx="0" cy="146304"/>
          </a:xfrm>
          <a:prstGeom prst="line">
            <a:avLst/>
          </a:prstGeom>
          <a:ln w="1270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57200" y="3931920"/>
            <a:ext cx="11277295" cy="640080"/>
          </a:xfrm>
          <a:prstGeom prst="rect">
            <a:avLst/>
          </a:prstGeom>
          <a:solidFill>
            <a:srgbClr val="0B1229"/>
          </a:solidFill>
          <a:ln>
            <a:noFill/>
          </a:ln>
          <a:effectLst/>
        </p:spPr>
        <p:txBody>
          <a:bodyPr wrap="square" lIns="54864" tIns="18288" rIns="54864" bIns="18288" rtlCol="0" anchor="ctr"/>
          <a:lstStyle/>
          <a:p>
            <a:pPr algn="ctr">
              <a:lnSpc>
                <a:spcPct val="126000"/>
              </a:lnSpc>
            </a:pPr>
            <a:r>
              <a:rPr sz="950" b="1" i="0" dirty="0">
                <a:solidFill>
                  <a:srgbClr val="FFFFFF"/>
                </a:solidFill>
                <a:latin typeface="Segoe UI"/>
                <a:cs typeface="Segoe UI"/>
              </a:rPr>
              <a:t>Microsoft Entra ID  ·  agent identity, project managed identity, OAuth identity passthrough</a:t>
            </a:r>
          </a:p>
          <a:p>
            <a:pPr algn="ctr">
              <a:lnSpc>
                <a:spcPct val="126000"/>
              </a:lnSpc>
            </a:pPr>
            <a:r>
              <a:rPr sz="750" b="0" i="0" dirty="0">
                <a:solidFill>
                  <a:srgbClr val="B9C2D6"/>
                </a:solidFill>
                <a:latin typeface="Segoe UI"/>
                <a:cs typeface="Segoe UI"/>
              </a:rPr>
              <a:t>Every A2A endpoint on the Foundry side requires Entra ID authentication; anonymous retrieval of the agent card is not supported</a:t>
            </a:r>
          </a:p>
        </p:txBody>
      </p:sp>
      <p:cxnSp>
        <p:nvCxnSpPr>
          <p:cNvPr id="27" name="Connector 26"/>
          <p:cNvCxnSpPr/>
          <p:nvPr/>
        </p:nvCxnSpPr>
        <p:spPr>
          <a:xfrm>
            <a:off x="1655064" y="2724912"/>
            <a:ext cx="0" cy="1207008"/>
          </a:xfrm>
          <a:prstGeom prst="line">
            <a:avLst/>
          </a:prstGeom>
          <a:ln w="1143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47688" y="3438144"/>
            <a:ext cx="0" cy="493776"/>
          </a:xfrm>
          <a:prstGeom prst="line">
            <a:avLst/>
          </a:prstGeom>
          <a:ln w="1143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533888" y="2724912"/>
            <a:ext cx="0" cy="1207008"/>
          </a:xfrm>
          <a:prstGeom prst="line">
            <a:avLst/>
          </a:prstGeom>
          <a:ln w="1143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291840" y="3712463"/>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preview — no service level agreement.</a:t>
            </a:r>
          </a:p>
        </p:txBody>
      </p:sp>
      <p:sp>
        <p:nvSpPr>
          <p:cNvPr id="31" name="TextBox 30"/>
          <p:cNvSpPr txBox="1"/>
          <p:nvPr/>
        </p:nvSpPr>
        <p:spPr>
          <a:xfrm>
            <a:off x="457200" y="464515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REQUEST PATHS</a:t>
            </a:r>
          </a:p>
        </p:txBody>
      </p:sp>
      <p:sp>
        <p:nvSpPr>
          <p:cNvPr id="32" name="TextBox 31"/>
          <p:cNvSpPr txBox="1"/>
          <p:nvPr/>
        </p:nvSpPr>
        <p:spPr>
          <a:xfrm>
            <a:off x="457200" y="4882896"/>
            <a:ext cx="548640" cy="182880"/>
          </a:xfrm>
          <a:prstGeom prst="rect">
            <a:avLst/>
          </a:prstGeom>
          <a:noFill/>
        </p:spPr>
        <p:txBody>
          <a:bodyPr wrap="square" lIns="0" tIns="0" rIns="0" bIns="0" anchor="t">
            <a:spAutoFit/>
          </a:bodyPr>
          <a:lstStyle/>
          <a:p>
            <a:pPr algn="l">
              <a:lnSpc>
                <a:spcPct val="100000"/>
              </a:lnSpc>
            </a:pPr>
            <a:r>
              <a:rPr sz="900" b="1" i="0" dirty="0">
                <a:solidFill>
                  <a:srgbClr val="008173"/>
                </a:solidFill>
                <a:latin typeface="Segoe UI"/>
                <a:cs typeface="Segoe UI"/>
              </a:rPr>
              <a:t>1–2</a:t>
            </a:r>
          </a:p>
        </p:txBody>
      </p:sp>
      <p:sp>
        <p:nvSpPr>
          <p:cNvPr id="33" name="TextBox 32"/>
          <p:cNvSpPr txBox="1"/>
          <p:nvPr/>
        </p:nvSpPr>
        <p:spPr>
          <a:xfrm>
            <a:off x="1024128" y="4864608"/>
            <a:ext cx="484632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Inbound — the Foundry agent is the A2A server</a:t>
            </a:r>
          </a:p>
        </p:txBody>
      </p:sp>
      <p:sp>
        <p:nvSpPr>
          <p:cNvPr id="34" name="TextBox 33"/>
          <p:cNvSpPr txBox="1"/>
          <p:nvPr/>
        </p:nvSpPr>
        <p:spPr>
          <a:xfrm>
            <a:off x="1024128" y="5084064"/>
            <a:ext cx="4846320" cy="384048"/>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external client retrieves the published Agent Card, authenticates with Microsoft Entra ID, and submits a task to the agent’s A2A endpoint.</a:t>
            </a:r>
          </a:p>
        </p:txBody>
      </p:sp>
      <p:sp>
        <p:nvSpPr>
          <p:cNvPr id="35" name="TextBox 34"/>
          <p:cNvSpPr txBox="1"/>
          <p:nvPr/>
        </p:nvSpPr>
        <p:spPr>
          <a:xfrm>
            <a:off x="6217920" y="4882896"/>
            <a:ext cx="548640" cy="182880"/>
          </a:xfrm>
          <a:prstGeom prst="rect">
            <a:avLst/>
          </a:prstGeom>
          <a:noFill/>
        </p:spPr>
        <p:txBody>
          <a:bodyPr wrap="square" lIns="0" tIns="0" rIns="0" bIns="0" anchor="t">
            <a:spAutoFit/>
          </a:bodyPr>
          <a:lstStyle/>
          <a:p>
            <a:pPr algn="l">
              <a:lnSpc>
                <a:spcPct val="100000"/>
              </a:lnSpc>
            </a:pPr>
            <a:r>
              <a:rPr sz="900" b="1" i="0" dirty="0">
                <a:solidFill>
                  <a:srgbClr val="008173"/>
                </a:solidFill>
                <a:latin typeface="Segoe UI"/>
                <a:cs typeface="Segoe UI"/>
              </a:rPr>
              <a:t>3–4</a:t>
            </a:r>
          </a:p>
        </p:txBody>
      </p:sp>
      <p:sp>
        <p:nvSpPr>
          <p:cNvPr id="36" name="TextBox 35"/>
          <p:cNvSpPr txBox="1"/>
          <p:nvPr/>
        </p:nvSpPr>
        <p:spPr>
          <a:xfrm>
            <a:off x="6784848" y="4864608"/>
            <a:ext cx="484632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Outbound — the Foundry agent is the A2A client</a:t>
            </a:r>
          </a:p>
        </p:txBody>
      </p:sp>
      <p:sp>
        <p:nvSpPr>
          <p:cNvPr id="37" name="TextBox 36"/>
          <p:cNvSpPr txBox="1"/>
          <p:nvPr/>
        </p:nvSpPr>
        <p:spPr>
          <a:xfrm>
            <a:off x="6784848" y="5084064"/>
            <a:ext cx="4846320" cy="384048"/>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agent invokes its a2a tool, which resolves a RemoteA2A project connection holding the target endpoint and credential, and calls the remote agent.</a:t>
            </a:r>
          </a:p>
        </p:txBody>
      </p:sp>
      <p:sp>
        <p:nvSpPr>
          <p:cNvPr id="38" name="Rectangle 37"/>
          <p:cNvSpPr/>
          <p:nvPr/>
        </p:nvSpPr>
        <p:spPr>
          <a:xfrm>
            <a:off x="457200" y="5609844"/>
            <a:ext cx="146304" cy="91440"/>
          </a:xfrm>
          <a:prstGeom prst="rect">
            <a:avLst/>
          </a:prstGeom>
          <a:solidFill>
            <a:srgbClr val="101A3C"/>
          </a:solidFill>
          <a:ln>
            <a:noFill/>
          </a:ln>
          <a:effectLst/>
        </p:spPr>
        <p:txBody>
          <a:bodyPr wrap="square" rtlCol="0" anchor="ctr"/>
          <a:lstStyle/>
          <a:p>
            <a:endParaRPr/>
          </a:p>
        </p:txBody>
      </p:sp>
      <p:sp>
        <p:nvSpPr>
          <p:cNvPr id="39" name="TextBox 38"/>
          <p:cNvSpPr txBox="1"/>
          <p:nvPr/>
        </p:nvSpPr>
        <p:spPr>
          <a:xfrm>
            <a:off x="676656"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Foundry agent</a:t>
            </a:r>
          </a:p>
        </p:txBody>
      </p:sp>
      <p:sp>
        <p:nvSpPr>
          <p:cNvPr id="40" name="Rectangle 39"/>
          <p:cNvSpPr/>
          <p:nvPr/>
        </p:nvSpPr>
        <p:spPr>
          <a:xfrm>
            <a:off x="1445437" y="5609844"/>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41" name="TextBox 40"/>
          <p:cNvSpPr txBox="1"/>
          <p:nvPr/>
        </p:nvSpPr>
        <p:spPr>
          <a:xfrm>
            <a:off x="1664893"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Foundry capability</a:t>
            </a:r>
          </a:p>
        </p:txBody>
      </p:sp>
      <p:sp>
        <p:nvSpPr>
          <p:cNvPr id="42" name="Rectangle 41"/>
          <p:cNvSpPr/>
          <p:nvPr/>
        </p:nvSpPr>
        <p:spPr>
          <a:xfrm>
            <a:off x="2697708" y="5609844"/>
            <a:ext cx="146304" cy="91440"/>
          </a:xfrm>
          <a:prstGeom prst="rect">
            <a:avLst/>
          </a:prstGeom>
          <a:solidFill>
            <a:srgbClr val="EBEFF7"/>
          </a:solidFill>
          <a:ln>
            <a:noFill/>
          </a:ln>
          <a:effectLst/>
        </p:spPr>
        <p:txBody>
          <a:bodyPr wrap="square" rtlCol="0" anchor="ctr"/>
          <a:lstStyle/>
          <a:p>
            <a:endParaRPr/>
          </a:p>
        </p:txBody>
      </p:sp>
      <p:sp>
        <p:nvSpPr>
          <p:cNvPr id="43" name="TextBox 42"/>
          <p:cNvSpPr txBox="1"/>
          <p:nvPr/>
        </p:nvSpPr>
        <p:spPr>
          <a:xfrm>
            <a:off x="2917164"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External party</a:t>
            </a:r>
          </a:p>
        </p:txBody>
      </p:sp>
      <p:sp>
        <p:nvSpPr>
          <p:cNvPr id="44" name="Rectangle 43"/>
          <p:cNvSpPr/>
          <p:nvPr/>
        </p:nvSpPr>
        <p:spPr>
          <a:xfrm>
            <a:off x="3738753" y="5609844"/>
            <a:ext cx="146304" cy="91440"/>
          </a:xfrm>
          <a:prstGeom prst="rect">
            <a:avLst/>
          </a:prstGeom>
          <a:solidFill>
            <a:srgbClr val="0B1229"/>
          </a:solidFill>
          <a:ln>
            <a:noFill/>
          </a:ln>
          <a:effectLst/>
        </p:spPr>
        <p:txBody>
          <a:bodyPr wrap="square" rtlCol="0" anchor="ctr"/>
          <a:lstStyle/>
          <a:p>
            <a:endParaRPr/>
          </a:p>
        </p:txBody>
      </p:sp>
      <p:sp>
        <p:nvSpPr>
          <p:cNvPr id="45" name="TextBox 44"/>
          <p:cNvSpPr txBox="1"/>
          <p:nvPr/>
        </p:nvSpPr>
        <p:spPr>
          <a:xfrm>
            <a:off x="3958209"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Identity layer</a:t>
            </a:r>
          </a:p>
        </p:txBody>
      </p:sp>
      <p:sp>
        <p:nvSpPr>
          <p:cNvPr id="46" name="Rectangle 45"/>
          <p:cNvSpPr/>
          <p:nvPr/>
        </p:nvSpPr>
        <p:spPr>
          <a:xfrm>
            <a:off x="4779797" y="5596127"/>
            <a:ext cx="146304" cy="118872"/>
          </a:xfrm>
          <a:prstGeom prst="rect">
            <a:avLst/>
          </a:prstGeom>
          <a:noFill/>
          <a:ln w="9525">
            <a:solidFill>
              <a:srgbClr val="44495B"/>
            </a:solidFill>
            <a:prstDash val="dash"/>
          </a:ln>
          <a:effectLst/>
        </p:spPr>
        <p:txBody>
          <a:bodyPr wrap="square" rtlCol="0" anchor="ctr"/>
          <a:lstStyle/>
          <a:p>
            <a:endParaRPr/>
          </a:p>
        </p:txBody>
      </p:sp>
      <p:sp>
        <p:nvSpPr>
          <p:cNvPr id="47" name="TextBox 46"/>
          <p:cNvSpPr txBox="1"/>
          <p:nvPr/>
        </p:nvSpPr>
        <p:spPr>
          <a:xfrm>
            <a:off x="4999253"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Project boundary</a:t>
            </a:r>
          </a:p>
        </p:txBody>
      </p:sp>
      <p:cxnSp>
        <p:nvCxnSpPr>
          <p:cNvPr id="48" name="Connector 47"/>
          <p:cNvCxnSpPr/>
          <p:nvPr/>
        </p:nvCxnSpPr>
        <p:spPr>
          <a:xfrm>
            <a:off x="5926455" y="5655564"/>
            <a:ext cx="164592" cy="0"/>
          </a:xfrm>
          <a:prstGeom prst="line">
            <a:avLst/>
          </a:prstGeom>
          <a:ln w="13970">
            <a:solidFill>
              <a:srgbClr val="44495B"/>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145911"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A2A request</a:t>
            </a:r>
          </a:p>
        </p:txBody>
      </p:sp>
      <p:cxnSp>
        <p:nvCxnSpPr>
          <p:cNvPr id="50" name="Connector 49"/>
          <p:cNvCxnSpPr/>
          <p:nvPr/>
        </p:nvCxnSpPr>
        <p:spPr>
          <a:xfrm>
            <a:off x="6809079" y="5655564"/>
            <a:ext cx="164592" cy="0"/>
          </a:xfrm>
          <a:prstGeom prst="line">
            <a:avLst/>
          </a:prstGeom>
          <a:ln w="1397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028535"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Configuration, identity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MICROSOFT FOUNDRY IMPLEMENTATION</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Outbound integration: consuming a remote agent</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configuration artefacts — a project connection, a tool definition, and the agent version that carries it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learn.microsoft.com/azure/foundry/agents/how-to/tools/agent-to-agent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12</a:t>
            </a:r>
          </a:p>
        </p:txBody>
      </p:sp>
      <p:sp>
        <p:nvSpPr>
          <p:cNvPr id="7" name="Rectangle 6"/>
          <p:cNvSpPr/>
          <p:nvPr/>
        </p:nvSpPr>
        <p:spPr>
          <a:xfrm>
            <a:off x="457200" y="1426464"/>
            <a:ext cx="4846320" cy="1115568"/>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426464"/>
            <a:ext cx="41148" cy="1115568"/>
          </a:xfrm>
          <a:prstGeom prst="rect">
            <a:avLst/>
          </a:prstGeom>
          <a:solidFill>
            <a:srgbClr val="00B39F"/>
          </a:solidFill>
          <a:ln>
            <a:noFill/>
          </a:ln>
          <a:effectLst/>
        </p:spPr>
        <p:txBody>
          <a:bodyPr wrap="square" rtlCol="0" anchor="ctr"/>
          <a:lstStyle/>
          <a:p>
            <a:endParaRPr/>
          </a:p>
        </p:txBody>
      </p:sp>
      <p:sp>
        <p:nvSpPr>
          <p:cNvPr id="9" name="Oval 8"/>
          <p:cNvSpPr/>
          <p:nvPr/>
        </p:nvSpPr>
        <p:spPr>
          <a:xfrm>
            <a:off x="658368" y="1609344"/>
            <a:ext cx="310896" cy="310896"/>
          </a:xfrm>
          <a:prstGeom prst="ellipse">
            <a:avLst/>
          </a:prstGeom>
          <a:solidFill>
            <a:srgbClr val="00B39F"/>
          </a:solidFill>
          <a:ln>
            <a:noFill/>
          </a:ln>
          <a:effectLst/>
        </p:spPr>
        <p:txBody>
          <a:bodyPr wrap="square" lIns="0" tIns="18288" rIns="0" bIns="18288" rtlCol="0" anchor="ctr"/>
          <a:lstStyle/>
          <a:p>
            <a:pPr algn="ctr">
              <a:lnSpc>
                <a:spcPct val="100000"/>
              </a:lnSpc>
            </a:pPr>
            <a:r>
              <a:rPr sz="950" b="1" i="0" dirty="0">
                <a:solidFill>
                  <a:srgbClr val="FFFFFF"/>
                </a:solidFill>
                <a:latin typeface="Segoe UI"/>
                <a:cs typeface="Segoe UI"/>
              </a:rPr>
              <a:t>1</a:t>
            </a:r>
          </a:p>
        </p:txBody>
      </p:sp>
      <p:sp>
        <p:nvSpPr>
          <p:cNvPr id="10" name="TextBox 9"/>
          <p:cNvSpPr txBox="1"/>
          <p:nvPr/>
        </p:nvSpPr>
        <p:spPr>
          <a:xfrm>
            <a:off x="1097280" y="1627632"/>
            <a:ext cx="4023360" cy="182880"/>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Project connection</a:t>
            </a:r>
          </a:p>
        </p:txBody>
      </p:sp>
      <p:sp>
        <p:nvSpPr>
          <p:cNvPr id="11" name="TextBox 10"/>
          <p:cNvSpPr txBox="1"/>
          <p:nvPr/>
        </p:nvSpPr>
        <p:spPr>
          <a:xfrm>
            <a:off x="1097280" y="1883664"/>
            <a:ext cx="4059936" cy="548640"/>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Kind RemoteA2A, holding the target endpoint, the authentication type and the audience. Created in the portal, through the Azure Developer CLI, or by ARM template.</a:t>
            </a:r>
          </a:p>
        </p:txBody>
      </p:sp>
      <p:sp>
        <p:nvSpPr>
          <p:cNvPr id="12" name="Rectangle 11"/>
          <p:cNvSpPr/>
          <p:nvPr/>
        </p:nvSpPr>
        <p:spPr>
          <a:xfrm>
            <a:off x="457200" y="2670048"/>
            <a:ext cx="4846320" cy="1115568"/>
          </a:xfrm>
          <a:prstGeom prst="rect">
            <a:avLst/>
          </a:prstGeom>
          <a:solidFill>
            <a:srgbClr val="F6F8FD"/>
          </a:solidFill>
          <a:ln w="9525">
            <a:solidFill>
              <a:srgbClr val="E1E7F4"/>
            </a:solidFill>
          </a:ln>
          <a:effectLst/>
        </p:spPr>
        <p:txBody>
          <a:bodyPr wrap="square" rtlCol="0" anchor="ctr"/>
          <a:lstStyle/>
          <a:p>
            <a:endParaRPr/>
          </a:p>
        </p:txBody>
      </p:sp>
      <p:sp>
        <p:nvSpPr>
          <p:cNvPr id="13" name="Rectangle 12"/>
          <p:cNvSpPr/>
          <p:nvPr/>
        </p:nvSpPr>
        <p:spPr>
          <a:xfrm>
            <a:off x="457200" y="2670048"/>
            <a:ext cx="41148" cy="1115568"/>
          </a:xfrm>
          <a:prstGeom prst="rect">
            <a:avLst/>
          </a:prstGeom>
          <a:solidFill>
            <a:srgbClr val="00B39F"/>
          </a:solidFill>
          <a:ln>
            <a:noFill/>
          </a:ln>
          <a:effectLst/>
        </p:spPr>
        <p:txBody>
          <a:bodyPr wrap="square" rtlCol="0" anchor="ctr"/>
          <a:lstStyle/>
          <a:p>
            <a:endParaRPr/>
          </a:p>
        </p:txBody>
      </p:sp>
      <p:sp>
        <p:nvSpPr>
          <p:cNvPr id="14" name="Oval 13"/>
          <p:cNvSpPr/>
          <p:nvPr/>
        </p:nvSpPr>
        <p:spPr>
          <a:xfrm>
            <a:off x="658368" y="2852928"/>
            <a:ext cx="310896" cy="310896"/>
          </a:xfrm>
          <a:prstGeom prst="ellipse">
            <a:avLst/>
          </a:prstGeom>
          <a:solidFill>
            <a:srgbClr val="00B39F"/>
          </a:solidFill>
          <a:ln>
            <a:noFill/>
          </a:ln>
          <a:effectLst/>
        </p:spPr>
        <p:txBody>
          <a:bodyPr wrap="square" lIns="0" tIns="18288" rIns="0" bIns="18288" rtlCol="0" anchor="ctr"/>
          <a:lstStyle/>
          <a:p>
            <a:pPr algn="ctr">
              <a:lnSpc>
                <a:spcPct val="100000"/>
              </a:lnSpc>
            </a:pPr>
            <a:r>
              <a:rPr sz="950" b="1" i="0" dirty="0">
                <a:solidFill>
                  <a:srgbClr val="FFFFFF"/>
                </a:solidFill>
                <a:latin typeface="Segoe UI"/>
                <a:cs typeface="Segoe UI"/>
              </a:rPr>
              <a:t>2</a:t>
            </a:r>
          </a:p>
        </p:txBody>
      </p:sp>
      <p:sp>
        <p:nvSpPr>
          <p:cNvPr id="15" name="TextBox 14"/>
          <p:cNvSpPr txBox="1"/>
          <p:nvPr/>
        </p:nvSpPr>
        <p:spPr>
          <a:xfrm>
            <a:off x="1097280" y="2871216"/>
            <a:ext cx="4023360" cy="182880"/>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Tool definition</a:t>
            </a:r>
          </a:p>
        </p:txBody>
      </p:sp>
      <p:sp>
        <p:nvSpPr>
          <p:cNvPr id="16" name="TextBox 15"/>
          <p:cNvSpPr txBox="1"/>
          <p:nvPr/>
        </p:nvSpPr>
        <p:spPr>
          <a:xfrm>
            <a:off x="1097280" y="3127248"/>
            <a:ext cx="4059936" cy="548640"/>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Type a2a at protocol version 1.0, referencing the connection. Optional properties are the base URL and an agent card path.</a:t>
            </a:r>
          </a:p>
        </p:txBody>
      </p:sp>
      <p:sp>
        <p:nvSpPr>
          <p:cNvPr id="17" name="Rectangle 16"/>
          <p:cNvSpPr/>
          <p:nvPr/>
        </p:nvSpPr>
        <p:spPr>
          <a:xfrm>
            <a:off x="457200" y="3913632"/>
            <a:ext cx="4846320" cy="1115568"/>
          </a:xfrm>
          <a:prstGeom prst="rect">
            <a:avLst/>
          </a:prstGeom>
          <a:solidFill>
            <a:srgbClr val="F6F8FD"/>
          </a:solidFill>
          <a:ln w="9525">
            <a:solidFill>
              <a:srgbClr val="E1E7F4"/>
            </a:solidFill>
          </a:ln>
          <a:effectLst/>
        </p:spPr>
        <p:txBody>
          <a:bodyPr wrap="square" rtlCol="0" anchor="ctr"/>
          <a:lstStyle/>
          <a:p>
            <a:endParaRPr/>
          </a:p>
        </p:txBody>
      </p:sp>
      <p:sp>
        <p:nvSpPr>
          <p:cNvPr id="18" name="Rectangle 17"/>
          <p:cNvSpPr/>
          <p:nvPr/>
        </p:nvSpPr>
        <p:spPr>
          <a:xfrm>
            <a:off x="457200" y="3913632"/>
            <a:ext cx="41148" cy="1115568"/>
          </a:xfrm>
          <a:prstGeom prst="rect">
            <a:avLst/>
          </a:prstGeom>
          <a:solidFill>
            <a:srgbClr val="00B39F"/>
          </a:solidFill>
          <a:ln>
            <a:noFill/>
          </a:ln>
          <a:effectLst/>
        </p:spPr>
        <p:txBody>
          <a:bodyPr wrap="square" rtlCol="0" anchor="ctr"/>
          <a:lstStyle/>
          <a:p>
            <a:endParaRPr/>
          </a:p>
        </p:txBody>
      </p:sp>
      <p:sp>
        <p:nvSpPr>
          <p:cNvPr id="19" name="Oval 18"/>
          <p:cNvSpPr/>
          <p:nvPr/>
        </p:nvSpPr>
        <p:spPr>
          <a:xfrm>
            <a:off x="658368" y="4096512"/>
            <a:ext cx="310896" cy="310896"/>
          </a:xfrm>
          <a:prstGeom prst="ellipse">
            <a:avLst/>
          </a:prstGeom>
          <a:solidFill>
            <a:srgbClr val="00B39F"/>
          </a:solidFill>
          <a:ln>
            <a:noFill/>
          </a:ln>
          <a:effectLst/>
        </p:spPr>
        <p:txBody>
          <a:bodyPr wrap="square" lIns="0" tIns="18288" rIns="0" bIns="18288" rtlCol="0" anchor="ctr"/>
          <a:lstStyle/>
          <a:p>
            <a:pPr algn="ctr">
              <a:lnSpc>
                <a:spcPct val="100000"/>
              </a:lnSpc>
            </a:pPr>
            <a:r>
              <a:rPr sz="950" b="1" i="0" dirty="0">
                <a:solidFill>
                  <a:srgbClr val="FFFFFF"/>
                </a:solidFill>
                <a:latin typeface="Segoe UI"/>
                <a:cs typeface="Segoe UI"/>
              </a:rPr>
              <a:t>3</a:t>
            </a:r>
          </a:p>
        </p:txBody>
      </p:sp>
      <p:sp>
        <p:nvSpPr>
          <p:cNvPr id="20" name="TextBox 19"/>
          <p:cNvSpPr txBox="1"/>
          <p:nvPr/>
        </p:nvSpPr>
        <p:spPr>
          <a:xfrm>
            <a:off x="1097280" y="4114800"/>
            <a:ext cx="4023360" cy="182880"/>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Agent version</a:t>
            </a:r>
          </a:p>
        </p:txBody>
      </p:sp>
      <p:sp>
        <p:nvSpPr>
          <p:cNvPr id="21" name="TextBox 20"/>
          <p:cNvSpPr txBox="1"/>
          <p:nvPr/>
        </p:nvSpPr>
        <p:spPr>
          <a:xfrm>
            <a:off x="1097280" y="4370832"/>
            <a:ext cx="4059936" cy="548640"/>
          </a:xfrm>
          <a:prstGeom prst="rect">
            <a:avLst/>
          </a:prstGeom>
          <a:noFill/>
        </p:spPr>
        <p:txBody>
          <a:bodyPr wrap="square" lIns="0" tIns="0" rIns="0" bIns="0" anchor="t">
            <a:spAutoFit/>
          </a:bodyPr>
          <a:lstStyle/>
          <a:p>
            <a:pPr algn="l">
              <a:lnSpc>
                <a:spcPct val="120000"/>
              </a:lnSpc>
            </a:pPr>
            <a:r>
              <a:rPr sz="850" b="0" i="0" dirty="0">
                <a:solidFill>
                  <a:srgbClr val="44495B"/>
                </a:solidFill>
                <a:latin typeface="Segoe UI"/>
                <a:cs typeface="Segoe UI"/>
              </a:rPr>
              <a:t>The tool is attached to the agent definition and a new version created. Published samples attach it through a toolbox rather than directly.</a:t>
            </a:r>
          </a:p>
        </p:txBody>
      </p:sp>
      <p:sp>
        <p:nvSpPr>
          <p:cNvPr id="22" name="Rectangle 21"/>
          <p:cNvSpPr/>
          <p:nvPr/>
        </p:nvSpPr>
        <p:spPr>
          <a:xfrm>
            <a:off x="5687568" y="1426464"/>
            <a:ext cx="6044184" cy="1115568"/>
          </a:xfrm>
          <a:prstGeom prst="rect">
            <a:avLst/>
          </a:prstGeom>
          <a:solidFill>
            <a:srgbClr val="0B1229"/>
          </a:solidFill>
          <a:ln>
            <a:noFill/>
          </a:ln>
          <a:effectLst/>
        </p:spPr>
        <p:txBody>
          <a:bodyPr wrap="square" rtlCol="0" anchor="ctr"/>
          <a:lstStyle/>
          <a:p>
            <a:endParaRPr/>
          </a:p>
        </p:txBody>
      </p:sp>
      <p:sp>
        <p:nvSpPr>
          <p:cNvPr id="23" name="TextBox 22"/>
          <p:cNvSpPr txBox="1"/>
          <p:nvPr/>
        </p:nvSpPr>
        <p:spPr>
          <a:xfrm>
            <a:off x="5907024" y="1572768"/>
            <a:ext cx="5605272"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1 · PROJECT CONNECTION</a:t>
            </a:r>
          </a:p>
        </p:txBody>
      </p:sp>
      <p:sp>
        <p:nvSpPr>
          <p:cNvPr id="24" name="TextBox 23"/>
          <p:cNvSpPr txBox="1"/>
          <p:nvPr/>
        </p:nvSpPr>
        <p:spPr>
          <a:xfrm>
            <a:off x="5907024" y="1810512"/>
            <a:ext cx="5605272" cy="603504"/>
          </a:xfrm>
          <a:prstGeom prst="rect">
            <a:avLst/>
          </a:prstGeom>
          <a:noFill/>
        </p:spPr>
        <p:txBody>
          <a:bodyPr wrap="none" lIns="0" tIns="0" rIns="0" bIns="0" anchor="t">
            <a:spAutoFit/>
          </a:bodyPr>
          <a:lstStyle/>
          <a:p>
            <a:pPr algn="l">
              <a:lnSpc>
                <a:spcPct val="128000"/>
              </a:lnSpc>
            </a:pPr>
            <a:r>
              <a:rPr sz="800" b="0" i="0" dirty="0">
                <a:solidFill>
                  <a:srgbClr val="D6DEEE"/>
                </a:solidFill>
                <a:latin typeface="Consolas"/>
                <a:cs typeface="Consolas"/>
              </a:rPr>
              <a:t>azd ai connection create claims-a2a \</a:t>
            </a:r>
          </a:p>
          <a:p>
            <a:pPr algn="l">
              <a:lnSpc>
                <a:spcPct val="128000"/>
              </a:lnSpc>
            </a:pPr>
            <a:r>
              <a:rPr sz="800" b="0" i="0" dirty="0">
                <a:solidFill>
                  <a:srgbClr val="D6DEEE"/>
                </a:solidFill>
                <a:latin typeface="Consolas"/>
                <a:cs typeface="Consolas"/>
              </a:rPr>
              <a:t>  --kind remote-a2a \</a:t>
            </a:r>
          </a:p>
          <a:p>
            <a:pPr algn="l">
              <a:lnSpc>
                <a:spcPct val="128000"/>
              </a:lnSpc>
            </a:pPr>
            <a:r>
              <a:rPr sz="800" b="0" i="0" dirty="0">
                <a:solidFill>
                  <a:srgbClr val="D6DEEE"/>
                </a:solidFill>
                <a:latin typeface="Consolas"/>
                <a:cs typeface="Consolas"/>
              </a:rPr>
              <a:t>  --target https://claims.example.com/a2a \</a:t>
            </a:r>
          </a:p>
          <a:p>
            <a:pPr algn="l">
              <a:lnSpc>
                <a:spcPct val="128000"/>
              </a:lnSpc>
            </a:pPr>
            <a:r>
              <a:rPr sz="800" b="0" i="0" dirty="0">
                <a:solidFill>
                  <a:srgbClr val="D6DEEE"/>
                </a:solidFill>
                <a:latin typeface="Consolas"/>
                <a:cs typeface="Consolas"/>
              </a:rPr>
              <a:t>  --auth-type project-managed-identity</a:t>
            </a:r>
          </a:p>
        </p:txBody>
      </p:sp>
      <p:sp>
        <p:nvSpPr>
          <p:cNvPr id="25" name="Rectangle 24"/>
          <p:cNvSpPr/>
          <p:nvPr/>
        </p:nvSpPr>
        <p:spPr>
          <a:xfrm>
            <a:off x="5687568" y="2670048"/>
            <a:ext cx="6044184" cy="1243584"/>
          </a:xfrm>
          <a:prstGeom prst="rect">
            <a:avLst/>
          </a:prstGeom>
          <a:solidFill>
            <a:srgbClr val="0B1229"/>
          </a:solidFill>
          <a:ln>
            <a:noFill/>
          </a:ln>
          <a:effectLst/>
        </p:spPr>
        <p:txBody>
          <a:bodyPr wrap="square" rtlCol="0" anchor="ctr"/>
          <a:lstStyle/>
          <a:p>
            <a:endParaRPr/>
          </a:p>
        </p:txBody>
      </p:sp>
      <p:sp>
        <p:nvSpPr>
          <p:cNvPr id="26" name="TextBox 25"/>
          <p:cNvSpPr txBox="1"/>
          <p:nvPr/>
        </p:nvSpPr>
        <p:spPr>
          <a:xfrm>
            <a:off x="5907024" y="2816352"/>
            <a:ext cx="5605272"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2 · TOOL DEFINITION</a:t>
            </a:r>
          </a:p>
        </p:txBody>
      </p:sp>
      <p:sp>
        <p:nvSpPr>
          <p:cNvPr id="27" name="TextBox 26"/>
          <p:cNvSpPr txBox="1"/>
          <p:nvPr/>
        </p:nvSpPr>
        <p:spPr>
          <a:xfrm>
            <a:off x="5907024" y="3054096"/>
            <a:ext cx="5605272" cy="731520"/>
          </a:xfrm>
          <a:prstGeom prst="rect">
            <a:avLst/>
          </a:prstGeom>
          <a:noFill/>
        </p:spPr>
        <p:txBody>
          <a:bodyPr wrap="none" lIns="0" tIns="0" rIns="0" bIns="0" anchor="t">
            <a:spAutoFit/>
          </a:bodyPr>
          <a:lstStyle/>
          <a:p>
            <a:pPr algn="l">
              <a:lnSpc>
                <a:spcPct val="128000"/>
              </a:lnSpc>
            </a:pPr>
            <a:r>
              <a:rPr sz="800" b="0" i="0" dirty="0">
                <a:solidFill>
                  <a:srgbClr val="D6DEEE"/>
                </a:solidFill>
                <a:latin typeface="Consolas"/>
                <a:cs typeface="Consolas"/>
              </a:rPr>
              <a:t>{ "type": "a2a",</a:t>
            </a:r>
          </a:p>
          <a:p>
            <a:pPr algn="l">
              <a:lnSpc>
                <a:spcPct val="128000"/>
              </a:lnSpc>
            </a:pPr>
            <a:r>
              <a:rPr sz="800" b="0" i="0" dirty="0">
                <a:solidFill>
                  <a:srgbClr val="D6DEEE"/>
                </a:solidFill>
                <a:latin typeface="Consolas"/>
                <a:cs typeface="Consolas"/>
              </a:rPr>
              <a:t>  "a2a_version": "1.0",</a:t>
            </a:r>
          </a:p>
          <a:p>
            <a:pPr algn="l">
              <a:lnSpc>
                <a:spcPct val="128000"/>
              </a:lnSpc>
            </a:pPr>
            <a:r>
              <a:rPr sz="800" b="0" i="0" dirty="0">
                <a:solidFill>
                  <a:srgbClr val="D6DEEE"/>
                </a:solidFill>
                <a:latin typeface="Consolas"/>
                <a:cs typeface="Consolas"/>
              </a:rPr>
              <a:t>  "base_url": "https://claims.example.com/a2a",</a:t>
            </a:r>
          </a:p>
          <a:p>
            <a:pPr algn="l">
              <a:lnSpc>
                <a:spcPct val="128000"/>
              </a:lnSpc>
            </a:pPr>
            <a:r>
              <a:rPr sz="800" b="0" i="0" dirty="0">
                <a:solidFill>
                  <a:srgbClr val="D6DEEE"/>
                </a:solidFill>
                <a:latin typeface="Consolas"/>
                <a:cs typeface="Consolas"/>
              </a:rPr>
              <a:t>  "project_connection_id": "&lt;connection-id&gt;",</a:t>
            </a:r>
          </a:p>
          <a:p>
            <a:pPr algn="l">
              <a:lnSpc>
                <a:spcPct val="128000"/>
              </a:lnSpc>
            </a:pPr>
            <a:r>
              <a:rPr sz="800" b="0" i="0" dirty="0">
                <a:solidFill>
                  <a:srgbClr val="D6DEEE"/>
                </a:solidFill>
                <a:latin typeface="Consolas"/>
                <a:cs typeface="Consolas"/>
              </a:rPr>
              <a:t>  "send_credentials_for_agent_card": true }</a:t>
            </a:r>
          </a:p>
        </p:txBody>
      </p:sp>
      <p:sp>
        <p:nvSpPr>
          <p:cNvPr id="28" name="Rectangle 27"/>
          <p:cNvSpPr/>
          <p:nvPr/>
        </p:nvSpPr>
        <p:spPr>
          <a:xfrm>
            <a:off x="5687568" y="4242816"/>
            <a:ext cx="6044184" cy="841248"/>
          </a:xfrm>
          <a:prstGeom prst="rect">
            <a:avLst/>
          </a:prstGeom>
          <a:solidFill>
            <a:srgbClr val="0B1229"/>
          </a:solidFill>
          <a:ln>
            <a:noFill/>
          </a:ln>
          <a:effectLst/>
        </p:spPr>
        <p:txBody>
          <a:bodyPr wrap="square" rtlCol="0" anchor="ctr"/>
          <a:lstStyle/>
          <a:p>
            <a:endParaRPr/>
          </a:p>
        </p:txBody>
      </p:sp>
      <p:sp>
        <p:nvSpPr>
          <p:cNvPr id="29" name="TextBox 28"/>
          <p:cNvSpPr txBox="1"/>
          <p:nvPr/>
        </p:nvSpPr>
        <p:spPr>
          <a:xfrm>
            <a:off x="5907024" y="4389120"/>
            <a:ext cx="5605272"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3 · PYTHON — AZURE-AI-PROJECTS 2.5.0 OR LATER</a:t>
            </a:r>
          </a:p>
        </p:txBody>
      </p:sp>
      <p:sp>
        <p:nvSpPr>
          <p:cNvPr id="30" name="TextBox 29"/>
          <p:cNvSpPr txBox="1"/>
          <p:nvPr/>
        </p:nvSpPr>
        <p:spPr>
          <a:xfrm>
            <a:off x="5907024" y="4626864"/>
            <a:ext cx="5605272" cy="329184"/>
          </a:xfrm>
          <a:prstGeom prst="rect">
            <a:avLst/>
          </a:prstGeom>
          <a:noFill/>
        </p:spPr>
        <p:txBody>
          <a:bodyPr wrap="none" lIns="0" tIns="0" rIns="0" bIns="0" anchor="t">
            <a:spAutoFit/>
          </a:bodyPr>
          <a:lstStyle/>
          <a:p>
            <a:pPr algn="l">
              <a:lnSpc>
                <a:spcPct val="128000"/>
              </a:lnSpc>
            </a:pPr>
            <a:r>
              <a:rPr sz="800" b="0" i="0" dirty="0">
                <a:solidFill>
                  <a:srgbClr val="D6DEEE"/>
                </a:solidFill>
                <a:latin typeface="Consolas"/>
                <a:cs typeface="Consolas"/>
              </a:rPr>
              <a:t>tool = A2ATool(a2a_version=A2AProtocolVersion.V1_0,</a:t>
            </a:r>
          </a:p>
          <a:p>
            <a:pPr algn="l">
              <a:lnSpc>
                <a:spcPct val="128000"/>
              </a:lnSpc>
            </a:pPr>
            <a:r>
              <a:rPr sz="800" b="0" i="0" dirty="0">
                <a:solidFill>
                  <a:srgbClr val="D6DEEE"/>
                </a:solidFill>
                <a:latin typeface="Consolas"/>
                <a:cs typeface="Consolas"/>
              </a:rPr>
              <a:t>               project_connection_id=conn.id)</a:t>
            </a:r>
          </a:p>
        </p:txBody>
      </p:sp>
      <p:sp>
        <p:nvSpPr>
          <p:cNvPr id="31" name="Rectangle 30"/>
          <p:cNvSpPr/>
          <p:nvPr/>
        </p:nvSpPr>
        <p:spPr>
          <a:xfrm>
            <a:off x="457200" y="5230368"/>
            <a:ext cx="11277295" cy="420624"/>
          </a:xfrm>
          <a:prstGeom prst="rect">
            <a:avLst/>
          </a:prstGeom>
          <a:solidFill>
            <a:srgbClr val="EBEFF7"/>
          </a:solidFill>
          <a:ln>
            <a:noFill/>
          </a:ln>
          <a:effectLst/>
        </p:spPr>
        <p:txBody>
          <a:bodyPr wrap="square" rtlCol="0" anchor="ctr"/>
          <a:lstStyle/>
          <a:p>
            <a:endParaRPr/>
          </a:p>
        </p:txBody>
      </p:sp>
      <p:sp>
        <p:nvSpPr>
          <p:cNvPr id="32" name="Rectangle 31"/>
          <p:cNvSpPr/>
          <p:nvPr/>
        </p:nvSpPr>
        <p:spPr>
          <a:xfrm>
            <a:off x="457200" y="5230368"/>
            <a:ext cx="41148" cy="420624"/>
          </a:xfrm>
          <a:prstGeom prst="rect">
            <a:avLst/>
          </a:prstGeom>
          <a:solidFill>
            <a:srgbClr val="00B39F"/>
          </a:solidFill>
          <a:ln>
            <a:noFill/>
          </a:ln>
          <a:effectLst/>
        </p:spPr>
        <p:txBody>
          <a:bodyPr wrap="square" rtlCol="0" anchor="ctr"/>
          <a:lstStyle/>
          <a:p>
            <a:endParaRPr/>
          </a:p>
        </p:txBody>
      </p:sp>
      <p:sp>
        <p:nvSpPr>
          <p:cNvPr id="33" name="TextBox 32"/>
          <p:cNvSpPr txBox="1"/>
          <p:nvPr/>
        </p:nvSpPr>
        <p:spPr>
          <a:xfrm>
            <a:off x="694944" y="5330952"/>
            <a:ext cx="10856671" cy="237744"/>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The generally available a2a tool type targets protocol version 1.0. The earlier a2a_preview type targets version 0.3 and remains in preview for existing integrations only.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MICROSOFT FOUNDRY IMPLEMENTATION</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Inbound integration: exposing a Foundry agent*</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single PATCH operation sets the agent card and enables the protocol; Foundry then serves discovery and accepts tasks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learn.microsoft.com/azure/foundry/agents/how-to/enable-agent-to-agent-endpoint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13</a:t>
            </a:r>
          </a:p>
        </p:txBody>
      </p:sp>
      <p:sp>
        <p:nvSpPr>
          <p:cNvPr id="7" name="Rectangle 6"/>
          <p:cNvSpPr/>
          <p:nvPr/>
        </p:nvSpPr>
        <p:spPr>
          <a:xfrm>
            <a:off x="457200" y="1371600"/>
            <a:ext cx="6272784" cy="2432304"/>
          </a:xfrm>
          <a:prstGeom prst="rect">
            <a:avLst/>
          </a:prstGeom>
          <a:solidFill>
            <a:srgbClr val="0B1229"/>
          </a:solidFill>
          <a:ln>
            <a:noFill/>
          </a:ln>
          <a:effectLst/>
        </p:spPr>
        <p:txBody>
          <a:bodyPr wrap="square" rtlCol="0" anchor="ctr"/>
          <a:lstStyle/>
          <a:p>
            <a:endParaRPr/>
          </a:p>
        </p:txBody>
      </p:sp>
      <p:sp>
        <p:nvSpPr>
          <p:cNvPr id="8" name="TextBox 7"/>
          <p:cNvSpPr txBox="1"/>
          <p:nvPr/>
        </p:nvSpPr>
        <p:spPr>
          <a:xfrm>
            <a:off x="676656" y="1517904"/>
            <a:ext cx="5833872"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ENABLING THE INBOUND ENDPOINT</a:t>
            </a:r>
          </a:p>
        </p:txBody>
      </p:sp>
      <p:sp>
        <p:nvSpPr>
          <p:cNvPr id="9" name="TextBox 8"/>
          <p:cNvSpPr txBox="1"/>
          <p:nvPr/>
        </p:nvSpPr>
        <p:spPr>
          <a:xfrm>
            <a:off x="676656" y="1755648"/>
            <a:ext cx="5833872" cy="1920240"/>
          </a:xfrm>
          <a:prstGeom prst="rect">
            <a:avLst/>
          </a:prstGeom>
          <a:noFill/>
        </p:spPr>
        <p:txBody>
          <a:bodyPr wrap="none" lIns="0" tIns="0" rIns="0" bIns="0" anchor="t">
            <a:spAutoFit/>
          </a:bodyPr>
          <a:lstStyle/>
          <a:p>
            <a:pPr algn="l">
              <a:lnSpc>
                <a:spcPct val="128000"/>
              </a:lnSpc>
            </a:pPr>
            <a:r>
              <a:rPr sz="800" b="0" i="0" dirty="0">
                <a:solidFill>
                  <a:srgbClr val="D6DEEE"/>
                </a:solidFill>
                <a:latin typeface="Consolas"/>
                <a:cs typeface="Consolas"/>
              </a:rPr>
              <a:t>PATCH {BASE_URL}/agents/{agent}?api-version=v1</a:t>
            </a:r>
          </a:p>
          <a:p>
            <a:pPr algn="l">
              <a:lnSpc>
                <a:spcPct val="128000"/>
              </a:lnSpc>
            </a:pPr>
            <a:endParaRPr sz="800" b="0" i="0" dirty="0">
              <a:solidFill>
                <a:srgbClr val="D6DEEE"/>
              </a:solidFill>
              <a:latin typeface="Consolas"/>
              <a:cs typeface="Consolas"/>
            </a:endParaRPr>
          </a:p>
          <a:p>
            <a:pPr algn="l">
              <a:lnSpc>
                <a:spcPct val="128000"/>
              </a:lnSpc>
            </a:pPr>
            <a:r>
              <a:rPr sz="800" b="0" i="0" dirty="0">
                <a:solidFill>
                  <a:srgbClr val="D6DEEE"/>
                </a:solidFill>
                <a:latin typeface="Consolas"/>
                <a:cs typeface="Consolas"/>
              </a:rPr>
              <a:t>{ "agent_card": {</a:t>
            </a:r>
          </a:p>
          <a:p>
            <a:pPr algn="l">
              <a:lnSpc>
                <a:spcPct val="128000"/>
              </a:lnSpc>
            </a:pPr>
            <a:r>
              <a:rPr sz="800" b="0" i="0" dirty="0">
                <a:solidFill>
                  <a:srgbClr val="D6DEEE"/>
                </a:solidFill>
                <a:latin typeface="Consolas"/>
                <a:cs typeface="Consolas"/>
              </a:rPr>
              <a:t>    "description": "Answers claims policy questions",</a:t>
            </a:r>
          </a:p>
          <a:p>
            <a:pPr algn="l">
              <a:lnSpc>
                <a:spcPct val="128000"/>
              </a:lnSpc>
            </a:pPr>
            <a:r>
              <a:rPr sz="800" b="0" i="0" dirty="0">
                <a:solidFill>
                  <a:srgbClr val="D6DEEE"/>
                </a:solidFill>
                <a:latin typeface="Consolas"/>
                <a:cs typeface="Consolas"/>
              </a:rPr>
              <a:t>    "version": "1.0",</a:t>
            </a:r>
          </a:p>
          <a:p>
            <a:pPr algn="l">
              <a:lnSpc>
                <a:spcPct val="128000"/>
              </a:lnSpc>
            </a:pPr>
            <a:r>
              <a:rPr sz="800" b="0" i="0" dirty="0">
                <a:solidFill>
                  <a:srgbClr val="D6DEEE"/>
                </a:solidFill>
                <a:latin typeface="Consolas"/>
                <a:cs typeface="Consolas"/>
              </a:rPr>
              <a:t>    "skills": [ { "id": "claims-qa",</a:t>
            </a:r>
          </a:p>
          <a:p>
            <a:pPr algn="l">
              <a:lnSpc>
                <a:spcPct val="128000"/>
              </a:lnSpc>
            </a:pPr>
            <a:r>
              <a:rPr sz="800" b="0" i="0" dirty="0">
                <a:solidFill>
                  <a:srgbClr val="D6DEEE"/>
                </a:solidFill>
                <a:latin typeface="Consolas"/>
                <a:cs typeface="Consolas"/>
              </a:rPr>
              <a:t>                  "name": "Claims Q&amp;A",</a:t>
            </a:r>
          </a:p>
          <a:p>
            <a:pPr algn="l">
              <a:lnSpc>
                <a:spcPct val="128000"/>
              </a:lnSpc>
            </a:pPr>
            <a:r>
              <a:rPr sz="800" b="0" i="0" dirty="0">
                <a:solidFill>
                  <a:srgbClr val="D6DEEE"/>
                </a:solidFill>
                <a:latin typeface="Consolas"/>
                <a:cs typeface="Consolas"/>
              </a:rPr>
              <a:t>                  "description": "..." } ] },</a:t>
            </a:r>
          </a:p>
          <a:p>
            <a:pPr algn="l">
              <a:lnSpc>
                <a:spcPct val="128000"/>
              </a:lnSpc>
            </a:pPr>
            <a:r>
              <a:rPr sz="800" b="0" i="0" dirty="0">
                <a:solidFill>
                  <a:srgbClr val="D6DEEE"/>
                </a:solidFill>
                <a:latin typeface="Consolas"/>
                <a:cs typeface="Consolas"/>
              </a:rPr>
              <a:t>  "agent_endpoint": {</a:t>
            </a:r>
          </a:p>
          <a:p>
            <a:pPr algn="l">
              <a:lnSpc>
                <a:spcPct val="128000"/>
              </a:lnSpc>
            </a:pPr>
            <a:r>
              <a:rPr sz="800" b="0" i="0" dirty="0">
                <a:solidFill>
                  <a:srgbClr val="D6DEEE"/>
                </a:solidFill>
                <a:latin typeface="Consolas"/>
                <a:cs typeface="Consolas"/>
              </a:rPr>
              <a:t>    "protocol_configuration": {</a:t>
            </a:r>
          </a:p>
          <a:p>
            <a:pPr algn="l">
              <a:lnSpc>
                <a:spcPct val="128000"/>
              </a:lnSpc>
            </a:pPr>
            <a:r>
              <a:rPr sz="800" b="0" i="0" dirty="0">
                <a:solidFill>
                  <a:srgbClr val="D6DEEE"/>
                </a:solidFill>
                <a:latin typeface="Consolas"/>
                <a:cs typeface="Consolas"/>
              </a:rPr>
              <a:t>      "responses": {}, "a2a": {} } } }</a:t>
            </a:r>
          </a:p>
        </p:txBody>
      </p:sp>
      <p:sp>
        <p:nvSpPr>
          <p:cNvPr id="10" name="TextBox 9"/>
          <p:cNvSpPr txBox="1"/>
          <p:nvPr/>
        </p:nvSpPr>
        <p:spPr>
          <a:xfrm>
            <a:off x="6967728" y="1517904"/>
            <a:ext cx="48463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RESULTING SERVICE SURFACE</a:t>
            </a:r>
          </a:p>
        </p:txBody>
      </p:sp>
      <p:sp>
        <p:nvSpPr>
          <p:cNvPr id="11" name="TextBox 10"/>
          <p:cNvSpPr txBox="1"/>
          <p:nvPr/>
        </p:nvSpPr>
        <p:spPr>
          <a:xfrm>
            <a:off x="6967728" y="1773936"/>
            <a:ext cx="1623608" cy="402336"/>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Agent card path</a:t>
            </a:r>
          </a:p>
        </p:txBody>
      </p:sp>
      <p:sp>
        <p:nvSpPr>
          <p:cNvPr id="12" name="TextBox 11"/>
          <p:cNvSpPr txBox="1"/>
          <p:nvPr/>
        </p:nvSpPr>
        <p:spPr>
          <a:xfrm>
            <a:off x="8682776" y="1773936"/>
            <a:ext cx="3048975" cy="402336"/>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.../protocols/a2a/agentCard/v1.0</a:t>
            </a:r>
          </a:p>
        </p:txBody>
      </p:sp>
      <p:cxnSp>
        <p:nvCxnSpPr>
          <p:cNvPr id="13" name="Connector 12"/>
          <p:cNvCxnSpPr/>
          <p:nvPr/>
        </p:nvCxnSpPr>
        <p:spPr>
          <a:xfrm>
            <a:off x="6967728" y="2157984"/>
            <a:ext cx="47640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967728" y="2176272"/>
            <a:ext cx="1623608" cy="402336"/>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Task endpoint</a:t>
            </a:r>
          </a:p>
        </p:txBody>
      </p:sp>
      <p:sp>
        <p:nvSpPr>
          <p:cNvPr id="15" name="TextBox 14"/>
          <p:cNvSpPr txBox="1"/>
          <p:nvPr/>
        </p:nvSpPr>
        <p:spPr>
          <a:xfrm>
            <a:off x="8682776" y="2176272"/>
            <a:ext cx="3048975" cy="402336"/>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.../agents/{agent}/endpoint/protocols/a2a</a:t>
            </a:r>
          </a:p>
        </p:txBody>
      </p:sp>
      <p:cxnSp>
        <p:nvCxnSpPr>
          <p:cNvPr id="16" name="Connector 15"/>
          <p:cNvCxnSpPr/>
          <p:nvPr/>
        </p:nvCxnSpPr>
        <p:spPr>
          <a:xfrm>
            <a:off x="6967728" y="2560320"/>
            <a:ext cx="47640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967728" y="2578608"/>
            <a:ext cx="1623608" cy="402336"/>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Version selection</a:t>
            </a:r>
          </a:p>
        </p:txBody>
      </p:sp>
      <p:sp>
        <p:nvSpPr>
          <p:cNvPr id="18" name="TextBox 17"/>
          <p:cNvSpPr txBox="1"/>
          <p:nvPr/>
        </p:nvSpPr>
        <p:spPr>
          <a:xfrm>
            <a:off x="8682776" y="2578608"/>
            <a:ext cx="3048975" cy="402336"/>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Card discovery, A2A-Version header, or query string</a:t>
            </a:r>
          </a:p>
        </p:txBody>
      </p:sp>
      <p:cxnSp>
        <p:nvCxnSpPr>
          <p:cNvPr id="19" name="Connector 18"/>
          <p:cNvCxnSpPr/>
          <p:nvPr/>
        </p:nvCxnSpPr>
        <p:spPr>
          <a:xfrm>
            <a:off x="6967728" y="2962656"/>
            <a:ext cx="47640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967728" y="2980944"/>
            <a:ext cx="1623608" cy="402336"/>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Unversioned request</a:t>
            </a:r>
          </a:p>
        </p:txBody>
      </p:sp>
      <p:sp>
        <p:nvSpPr>
          <p:cNvPr id="21" name="TextBox 20"/>
          <p:cNvSpPr txBox="1"/>
          <p:nvPr/>
        </p:nvSpPr>
        <p:spPr>
          <a:xfrm>
            <a:off x="8682776" y="2980944"/>
            <a:ext cx="3048975" cy="402336"/>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Served as preview protocol version 0.3</a:t>
            </a:r>
          </a:p>
        </p:txBody>
      </p:sp>
      <p:cxnSp>
        <p:nvCxnSpPr>
          <p:cNvPr id="22" name="Connector 21"/>
          <p:cNvCxnSpPr/>
          <p:nvPr/>
        </p:nvCxnSpPr>
        <p:spPr>
          <a:xfrm>
            <a:off x="6967728" y="3364991"/>
            <a:ext cx="47640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967728" y="3383279"/>
            <a:ext cx="1623608" cy="402336"/>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Conflicting version</a:t>
            </a:r>
          </a:p>
        </p:txBody>
      </p:sp>
      <p:sp>
        <p:nvSpPr>
          <p:cNvPr id="24" name="TextBox 23"/>
          <p:cNvSpPr txBox="1"/>
          <p:nvPr/>
        </p:nvSpPr>
        <p:spPr>
          <a:xfrm>
            <a:off x="8682776" y="3383279"/>
            <a:ext cx="3048975" cy="402336"/>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HTTP 400, VERSION_AMBIGUOUS</a:t>
            </a:r>
          </a:p>
        </p:txBody>
      </p:sp>
      <p:cxnSp>
        <p:nvCxnSpPr>
          <p:cNvPr id="25" name="Connector 24"/>
          <p:cNvCxnSpPr/>
          <p:nvPr/>
        </p:nvCxnSpPr>
        <p:spPr>
          <a:xfrm>
            <a:off x="6967728" y="3767328"/>
            <a:ext cx="47640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400507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CONSTRAINTS</a:t>
            </a:r>
          </a:p>
        </p:txBody>
      </p:sp>
      <p:sp>
        <p:nvSpPr>
          <p:cNvPr id="27" name="Rectangle 26"/>
          <p:cNvSpPr/>
          <p:nvPr/>
        </p:nvSpPr>
        <p:spPr>
          <a:xfrm>
            <a:off x="457200" y="4242816"/>
            <a:ext cx="2651760" cy="932688"/>
          </a:xfrm>
          <a:prstGeom prst="rect">
            <a:avLst/>
          </a:prstGeom>
          <a:solidFill>
            <a:srgbClr val="F6F8FD"/>
          </a:solidFill>
          <a:ln w="9525">
            <a:solidFill>
              <a:srgbClr val="E1E7F4"/>
            </a:solidFill>
          </a:ln>
          <a:effectLst/>
        </p:spPr>
        <p:txBody>
          <a:bodyPr wrap="square" rtlCol="0" anchor="ctr"/>
          <a:lstStyle/>
          <a:p>
            <a:endParaRPr/>
          </a:p>
        </p:txBody>
      </p:sp>
      <p:sp>
        <p:nvSpPr>
          <p:cNvPr id="28" name="Rectangle 27"/>
          <p:cNvSpPr/>
          <p:nvPr/>
        </p:nvSpPr>
        <p:spPr>
          <a:xfrm>
            <a:off x="457200" y="4242816"/>
            <a:ext cx="2651760" cy="41148"/>
          </a:xfrm>
          <a:prstGeom prst="rect">
            <a:avLst/>
          </a:prstGeom>
          <a:solidFill>
            <a:srgbClr val="00B39F"/>
          </a:solidFill>
          <a:ln>
            <a:noFill/>
          </a:ln>
          <a:effectLst/>
        </p:spPr>
        <p:txBody>
          <a:bodyPr wrap="square" rtlCol="0" anchor="ctr"/>
          <a:lstStyle/>
          <a:p>
            <a:endParaRPr/>
          </a:p>
        </p:txBody>
      </p:sp>
      <p:sp>
        <p:nvSpPr>
          <p:cNvPr id="29" name="TextBox 28"/>
          <p:cNvSpPr txBox="1"/>
          <p:nvPr/>
        </p:nvSpPr>
        <p:spPr>
          <a:xfrm>
            <a:off x="621792" y="4389120"/>
            <a:ext cx="2322576" cy="310896"/>
          </a:xfrm>
          <a:prstGeom prst="rect">
            <a:avLst/>
          </a:prstGeom>
          <a:noFill/>
        </p:spPr>
        <p:txBody>
          <a:bodyPr wrap="square" lIns="0" tIns="0" rIns="0" bIns="0" anchor="t">
            <a:spAutoFit/>
          </a:bodyPr>
          <a:lstStyle/>
          <a:p>
            <a:pPr algn="l">
              <a:lnSpc>
                <a:spcPct val="110000"/>
              </a:lnSpc>
            </a:pPr>
            <a:r>
              <a:rPr sz="900" b="1" i="0" dirty="0">
                <a:solidFill>
                  <a:srgbClr val="101A3C"/>
                </a:solidFill>
                <a:latin typeface="Segoe UI"/>
                <a:cs typeface="Segoe UI"/>
              </a:rPr>
              <a:t>Responses protocol required</a:t>
            </a:r>
          </a:p>
        </p:txBody>
      </p:sp>
      <p:sp>
        <p:nvSpPr>
          <p:cNvPr id="30" name="TextBox 29"/>
          <p:cNvSpPr txBox="1"/>
          <p:nvPr/>
        </p:nvSpPr>
        <p:spPr>
          <a:xfrm>
            <a:off x="621792" y="4736592"/>
            <a:ext cx="2322576" cy="384048"/>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Prompt agents support it by default; other agent types must be verified before enabling.</a:t>
            </a:r>
          </a:p>
        </p:txBody>
      </p:sp>
      <p:sp>
        <p:nvSpPr>
          <p:cNvPr id="31" name="Rectangle 30"/>
          <p:cNvSpPr/>
          <p:nvPr/>
        </p:nvSpPr>
        <p:spPr>
          <a:xfrm>
            <a:off x="3300984" y="4242816"/>
            <a:ext cx="2651760" cy="932688"/>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3300984" y="4242816"/>
            <a:ext cx="2651760" cy="41148"/>
          </a:xfrm>
          <a:prstGeom prst="rect">
            <a:avLst/>
          </a:prstGeom>
          <a:solidFill>
            <a:srgbClr val="00B39F"/>
          </a:solidFill>
          <a:ln>
            <a:noFill/>
          </a:ln>
          <a:effectLst/>
        </p:spPr>
        <p:txBody>
          <a:bodyPr wrap="square" rtlCol="0" anchor="ctr"/>
          <a:lstStyle/>
          <a:p>
            <a:endParaRPr/>
          </a:p>
        </p:txBody>
      </p:sp>
      <p:sp>
        <p:nvSpPr>
          <p:cNvPr id="33" name="TextBox 32"/>
          <p:cNvSpPr txBox="1"/>
          <p:nvPr/>
        </p:nvSpPr>
        <p:spPr>
          <a:xfrm>
            <a:off x="3465576" y="4389120"/>
            <a:ext cx="2322576" cy="310896"/>
          </a:xfrm>
          <a:prstGeom prst="rect">
            <a:avLst/>
          </a:prstGeom>
          <a:noFill/>
        </p:spPr>
        <p:txBody>
          <a:bodyPr wrap="square" lIns="0" tIns="0" rIns="0" bIns="0" anchor="t">
            <a:spAutoFit/>
          </a:bodyPr>
          <a:lstStyle/>
          <a:p>
            <a:pPr algn="l">
              <a:lnSpc>
                <a:spcPct val="110000"/>
              </a:lnSpc>
            </a:pPr>
            <a:r>
              <a:rPr sz="900" b="1" i="0" dirty="0">
                <a:solidFill>
                  <a:srgbClr val="101A3C"/>
                </a:solidFill>
                <a:latin typeface="Segoe UI"/>
                <a:cs typeface="Segoe UI"/>
              </a:rPr>
              <a:t>No portal support</a:t>
            </a:r>
          </a:p>
        </p:txBody>
      </p:sp>
      <p:sp>
        <p:nvSpPr>
          <p:cNvPr id="34" name="TextBox 33"/>
          <p:cNvSpPr txBox="1"/>
          <p:nvPr/>
        </p:nvSpPr>
        <p:spPr>
          <a:xfrm>
            <a:off x="3465576" y="4736592"/>
            <a:ext cx="2322576" cy="384048"/>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Configuration is available through the REST API and the Python SDK only.</a:t>
            </a:r>
          </a:p>
        </p:txBody>
      </p:sp>
      <p:sp>
        <p:nvSpPr>
          <p:cNvPr id="35" name="Rectangle 34"/>
          <p:cNvSpPr/>
          <p:nvPr/>
        </p:nvSpPr>
        <p:spPr>
          <a:xfrm>
            <a:off x="6144768" y="4242816"/>
            <a:ext cx="2651760" cy="932688"/>
          </a:xfrm>
          <a:prstGeom prst="rect">
            <a:avLst/>
          </a:prstGeom>
          <a:solidFill>
            <a:srgbClr val="F6F8FD"/>
          </a:solidFill>
          <a:ln w="9525">
            <a:solidFill>
              <a:srgbClr val="E1E7F4"/>
            </a:solidFill>
          </a:ln>
          <a:effectLst/>
        </p:spPr>
        <p:txBody>
          <a:bodyPr wrap="square" rtlCol="0" anchor="ctr"/>
          <a:lstStyle/>
          <a:p>
            <a:endParaRPr/>
          </a:p>
        </p:txBody>
      </p:sp>
      <p:sp>
        <p:nvSpPr>
          <p:cNvPr id="36" name="Rectangle 35"/>
          <p:cNvSpPr/>
          <p:nvPr/>
        </p:nvSpPr>
        <p:spPr>
          <a:xfrm>
            <a:off x="6144768" y="4242816"/>
            <a:ext cx="2651760" cy="41148"/>
          </a:xfrm>
          <a:prstGeom prst="rect">
            <a:avLst/>
          </a:prstGeom>
          <a:solidFill>
            <a:srgbClr val="00B39F"/>
          </a:solidFill>
          <a:ln>
            <a:noFill/>
          </a:ln>
          <a:effectLst/>
        </p:spPr>
        <p:txBody>
          <a:bodyPr wrap="square" rtlCol="0" anchor="ctr"/>
          <a:lstStyle/>
          <a:p>
            <a:endParaRPr/>
          </a:p>
        </p:txBody>
      </p:sp>
      <p:sp>
        <p:nvSpPr>
          <p:cNvPr id="37" name="TextBox 36"/>
          <p:cNvSpPr txBox="1"/>
          <p:nvPr/>
        </p:nvSpPr>
        <p:spPr>
          <a:xfrm>
            <a:off x="6309359" y="4389120"/>
            <a:ext cx="2322576" cy="310896"/>
          </a:xfrm>
          <a:prstGeom prst="rect">
            <a:avLst/>
          </a:prstGeom>
          <a:noFill/>
        </p:spPr>
        <p:txBody>
          <a:bodyPr wrap="square" lIns="0" tIns="0" rIns="0" bIns="0" anchor="t">
            <a:spAutoFit/>
          </a:bodyPr>
          <a:lstStyle/>
          <a:p>
            <a:pPr algn="l">
              <a:lnSpc>
                <a:spcPct val="110000"/>
              </a:lnSpc>
            </a:pPr>
            <a:r>
              <a:rPr sz="900" b="1" i="0" dirty="0">
                <a:solidFill>
                  <a:srgbClr val="101A3C"/>
                </a:solidFill>
                <a:latin typeface="Segoe UI"/>
                <a:cs typeface="Segoe UI"/>
              </a:rPr>
              <a:t>Entra ID authentication only</a:t>
            </a:r>
          </a:p>
        </p:txBody>
      </p:sp>
      <p:sp>
        <p:nvSpPr>
          <p:cNvPr id="38" name="TextBox 37"/>
          <p:cNvSpPr txBox="1"/>
          <p:nvPr/>
        </p:nvSpPr>
        <p:spPr>
          <a:xfrm>
            <a:off x="6309359" y="4736592"/>
            <a:ext cx="2322576" cy="384048"/>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Key-based authentication and anonymous access are not supported, including for the agent card.</a:t>
            </a:r>
          </a:p>
        </p:txBody>
      </p:sp>
      <p:sp>
        <p:nvSpPr>
          <p:cNvPr id="39" name="Rectangle 38"/>
          <p:cNvSpPr/>
          <p:nvPr/>
        </p:nvSpPr>
        <p:spPr>
          <a:xfrm>
            <a:off x="8988552" y="4242816"/>
            <a:ext cx="2651760" cy="932688"/>
          </a:xfrm>
          <a:prstGeom prst="rect">
            <a:avLst/>
          </a:prstGeom>
          <a:solidFill>
            <a:srgbClr val="F6F8FD"/>
          </a:solidFill>
          <a:ln w="9525">
            <a:solidFill>
              <a:srgbClr val="E1E7F4"/>
            </a:solidFill>
          </a:ln>
          <a:effectLst/>
        </p:spPr>
        <p:txBody>
          <a:bodyPr wrap="square" rtlCol="0" anchor="ctr"/>
          <a:lstStyle/>
          <a:p>
            <a:endParaRPr/>
          </a:p>
        </p:txBody>
      </p:sp>
      <p:sp>
        <p:nvSpPr>
          <p:cNvPr id="40" name="Rectangle 39"/>
          <p:cNvSpPr/>
          <p:nvPr/>
        </p:nvSpPr>
        <p:spPr>
          <a:xfrm>
            <a:off x="8988552" y="4242816"/>
            <a:ext cx="2651760" cy="41148"/>
          </a:xfrm>
          <a:prstGeom prst="rect">
            <a:avLst/>
          </a:prstGeom>
          <a:solidFill>
            <a:srgbClr val="00B39F"/>
          </a:solidFill>
          <a:ln>
            <a:noFill/>
          </a:ln>
          <a:effectLst/>
        </p:spPr>
        <p:txBody>
          <a:bodyPr wrap="square" rtlCol="0" anchor="ctr"/>
          <a:lstStyle/>
          <a:p>
            <a:endParaRPr/>
          </a:p>
        </p:txBody>
      </p:sp>
      <p:sp>
        <p:nvSpPr>
          <p:cNvPr id="41" name="TextBox 40"/>
          <p:cNvSpPr txBox="1"/>
          <p:nvPr/>
        </p:nvSpPr>
        <p:spPr>
          <a:xfrm>
            <a:off x="9153144" y="4389120"/>
            <a:ext cx="2322576" cy="310896"/>
          </a:xfrm>
          <a:prstGeom prst="rect">
            <a:avLst/>
          </a:prstGeom>
          <a:noFill/>
        </p:spPr>
        <p:txBody>
          <a:bodyPr wrap="square" lIns="0" tIns="0" rIns="0" bIns="0" anchor="t">
            <a:spAutoFit/>
          </a:bodyPr>
          <a:lstStyle/>
          <a:p>
            <a:pPr algn="l">
              <a:lnSpc>
                <a:spcPct val="110000"/>
              </a:lnSpc>
            </a:pPr>
            <a:r>
              <a:rPr sz="900" b="1" i="0" dirty="0">
                <a:solidFill>
                  <a:srgbClr val="101A3C"/>
                </a:solidFill>
                <a:latin typeface="Segoe UI"/>
                <a:cs typeface="Segoe UI"/>
              </a:rPr>
              <a:t>Caller authorisation</a:t>
            </a:r>
          </a:p>
        </p:txBody>
      </p:sp>
      <p:sp>
        <p:nvSpPr>
          <p:cNvPr id="42" name="TextBox 41"/>
          <p:cNvSpPr txBox="1"/>
          <p:nvPr/>
        </p:nvSpPr>
        <p:spPr>
          <a:xfrm>
            <a:off x="9153144" y="4736592"/>
            <a:ext cx="2322576" cy="384048"/>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The calling principal requires the Foundry Agent Consumer role at project or agent scope.</a:t>
            </a:r>
          </a:p>
        </p:txBody>
      </p:sp>
      <p:sp>
        <p:nvSpPr>
          <p:cNvPr id="43" name="TextBox 42"/>
          <p:cNvSpPr txBox="1"/>
          <p:nvPr/>
        </p:nvSpPr>
        <p:spPr>
          <a:xfrm>
            <a:off x="457200" y="5303520"/>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SECURITY AND OPERATIONS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Authentication and identity propagation</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Identity is established at the transport layer and is never carried inside the A2A payload</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learn.microsoft.com/azure/foundry/agents/concepts/agent-to-agent-authentication</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14</a:t>
            </a:r>
          </a:p>
        </p:txBody>
      </p:sp>
      <p:sp>
        <p:nvSpPr>
          <p:cNvPr id="7" name="TextBox 6"/>
          <p:cNvSpPr txBox="1"/>
          <p:nvPr/>
        </p:nvSpPr>
        <p:spPr>
          <a:xfrm>
            <a:off x="457200" y="1353312"/>
            <a:ext cx="694944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OUTBOUND — HOW FOUNDRY AUTHENTICATES TO A REMOTE AGENT</a:t>
            </a:r>
          </a:p>
        </p:txBody>
      </p:sp>
      <p:sp>
        <p:nvSpPr>
          <p:cNvPr id="8" name="Rectangle 7"/>
          <p:cNvSpPr/>
          <p:nvPr/>
        </p:nvSpPr>
        <p:spPr>
          <a:xfrm>
            <a:off x="457200" y="1591056"/>
            <a:ext cx="6931152" cy="310896"/>
          </a:xfrm>
          <a:prstGeom prst="rect">
            <a:avLst/>
          </a:prstGeom>
          <a:solidFill>
            <a:srgbClr val="101A3C"/>
          </a:solidFill>
          <a:ln>
            <a:noFill/>
          </a:ln>
          <a:effectLst/>
        </p:spPr>
        <p:txBody>
          <a:bodyPr wrap="square" rtlCol="0" anchor="ctr"/>
          <a:lstStyle/>
          <a:p>
            <a:endParaRPr/>
          </a:p>
        </p:txBody>
      </p:sp>
      <p:sp>
        <p:nvSpPr>
          <p:cNvPr id="9" name="TextBox 8"/>
          <p:cNvSpPr txBox="1"/>
          <p:nvPr/>
        </p:nvSpPr>
        <p:spPr>
          <a:xfrm>
            <a:off x="585216" y="1668780"/>
            <a:ext cx="1757842"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Method</a:t>
            </a:r>
          </a:p>
        </p:txBody>
      </p:sp>
      <p:sp>
        <p:nvSpPr>
          <p:cNvPr id="10" name="TextBox 9"/>
          <p:cNvSpPr txBox="1"/>
          <p:nvPr/>
        </p:nvSpPr>
        <p:spPr>
          <a:xfrm>
            <a:off x="2525938" y="1668780"/>
            <a:ext cx="3144072"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Credential presented to the remote agent</a:t>
            </a:r>
          </a:p>
        </p:txBody>
      </p:sp>
      <p:sp>
        <p:nvSpPr>
          <p:cNvPr id="11" name="TextBox 10"/>
          <p:cNvSpPr txBox="1"/>
          <p:nvPr/>
        </p:nvSpPr>
        <p:spPr>
          <a:xfrm>
            <a:off x="5852891" y="1668780"/>
            <a:ext cx="1480596"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End-user context</a:t>
            </a:r>
          </a:p>
        </p:txBody>
      </p:sp>
      <p:sp>
        <p:nvSpPr>
          <p:cNvPr id="12" name="Rectangle 11"/>
          <p:cNvSpPr/>
          <p:nvPr/>
        </p:nvSpPr>
        <p:spPr>
          <a:xfrm>
            <a:off x="457200" y="1901952"/>
            <a:ext cx="6931152" cy="384048"/>
          </a:xfrm>
          <a:prstGeom prst="rect">
            <a:avLst/>
          </a:prstGeom>
          <a:solidFill>
            <a:srgbClr val="F6F8FD"/>
          </a:solidFill>
          <a:ln>
            <a:noFill/>
          </a:ln>
          <a:effectLst/>
        </p:spPr>
        <p:txBody>
          <a:bodyPr wrap="square" rtlCol="0" anchor="ctr"/>
          <a:lstStyle/>
          <a:p>
            <a:endParaRPr/>
          </a:p>
        </p:txBody>
      </p:sp>
      <p:cxnSp>
        <p:nvCxnSpPr>
          <p:cNvPr id="13" name="Connector 12"/>
          <p:cNvCxnSpPr/>
          <p:nvPr/>
        </p:nvCxnSpPr>
        <p:spPr>
          <a:xfrm>
            <a:off x="457200" y="2286000"/>
            <a:ext cx="693115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85216" y="1952244"/>
            <a:ext cx="1721266" cy="301751"/>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Key-based</a:t>
            </a:r>
          </a:p>
        </p:txBody>
      </p:sp>
      <p:sp>
        <p:nvSpPr>
          <p:cNvPr id="15" name="TextBox 14"/>
          <p:cNvSpPr txBox="1"/>
          <p:nvPr/>
        </p:nvSpPr>
        <p:spPr>
          <a:xfrm>
            <a:off x="2525938" y="1952244"/>
            <a:ext cx="3107496"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 header name and secret value, for example an API key</a:t>
            </a:r>
          </a:p>
        </p:txBody>
      </p:sp>
      <p:sp>
        <p:nvSpPr>
          <p:cNvPr id="16" name="TextBox 15"/>
          <p:cNvSpPr txBox="1"/>
          <p:nvPr/>
        </p:nvSpPr>
        <p:spPr>
          <a:xfrm>
            <a:off x="5852891" y="1952244"/>
            <a:ext cx="1444020"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preserved</a:t>
            </a:r>
          </a:p>
        </p:txBody>
      </p:sp>
      <p:cxnSp>
        <p:nvCxnSpPr>
          <p:cNvPr id="17" name="Connector 16"/>
          <p:cNvCxnSpPr/>
          <p:nvPr/>
        </p:nvCxnSpPr>
        <p:spPr>
          <a:xfrm>
            <a:off x="457200" y="2670048"/>
            <a:ext cx="693115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85216" y="2336292"/>
            <a:ext cx="1721266" cy="301751"/>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Entra ID — agent identity</a:t>
            </a:r>
          </a:p>
        </p:txBody>
      </p:sp>
      <p:sp>
        <p:nvSpPr>
          <p:cNvPr id="19" name="TextBox 18"/>
          <p:cNvSpPr txBox="1"/>
          <p:nvPr/>
        </p:nvSpPr>
        <p:spPr>
          <a:xfrm>
            <a:off x="2525938" y="2336292"/>
            <a:ext cx="3107496"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 token for the agent’s own managed identity</a:t>
            </a:r>
          </a:p>
        </p:txBody>
      </p:sp>
      <p:sp>
        <p:nvSpPr>
          <p:cNvPr id="20" name="TextBox 19"/>
          <p:cNvSpPr txBox="1"/>
          <p:nvPr/>
        </p:nvSpPr>
        <p:spPr>
          <a:xfrm>
            <a:off x="5852891" y="2336292"/>
            <a:ext cx="1444020"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preserved</a:t>
            </a:r>
          </a:p>
        </p:txBody>
      </p:sp>
      <p:sp>
        <p:nvSpPr>
          <p:cNvPr id="21" name="Rectangle 20"/>
          <p:cNvSpPr/>
          <p:nvPr/>
        </p:nvSpPr>
        <p:spPr>
          <a:xfrm>
            <a:off x="457200" y="2670048"/>
            <a:ext cx="6931152" cy="384048"/>
          </a:xfrm>
          <a:prstGeom prst="rect">
            <a:avLst/>
          </a:prstGeom>
          <a:solidFill>
            <a:srgbClr val="F6F8FD"/>
          </a:solidFill>
          <a:ln>
            <a:noFill/>
          </a:ln>
          <a:effectLst/>
        </p:spPr>
        <p:txBody>
          <a:bodyPr wrap="square" rtlCol="0" anchor="ctr"/>
          <a:lstStyle/>
          <a:p>
            <a:endParaRPr/>
          </a:p>
        </p:txBody>
      </p:sp>
      <p:cxnSp>
        <p:nvCxnSpPr>
          <p:cNvPr id="22" name="Connector 21"/>
          <p:cNvCxnSpPr/>
          <p:nvPr/>
        </p:nvCxnSpPr>
        <p:spPr>
          <a:xfrm>
            <a:off x="457200" y="3054096"/>
            <a:ext cx="693115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85216" y="2720340"/>
            <a:ext cx="1721266" cy="301751"/>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Entra ID — project identity</a:t>
            </a:r>
          </a:p>
        </p:txBody>
      </p:sp>
      <p:sp>
        <p:nvSpPr>
          <p:cNvPr id="24" name="TextBox 23"/>
          <p:cNvSpPr txBox="1"/>
          <p:nvPr/>
        </p:nvSpPr>
        <p:spPr>
          <a:xfrm>
            <a:off x="2525938" y="2720340"/>
            <a:ext cx="3107496"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 token for the project managed identity</a:t>
            </a:r>
          </a:p>
        </p:txBody>
      </p:sp>
      <p:sp>
        <p:nvSpPr>
          <p:cNvPr id="25" name="TextBox 24"/>
          <p:cNvSpPr txBox="1"/>
          <p:nvPr/>
        </p:nvSpPr>
        <p:spPr>
          <a:xfrm>
            <a:off x="5852891" y="2720340"/>
            <a:ext cx="1444020"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preserved</a:t>
            </a:r>
          </a:p>
        </p:txBody>
      </p:sp>
      <p:cxnSp>
        <p:nvCxnSpPr>
          <p:cNvPr id="26" name="Connector 25"/>
          <p:cNvCxnSpPr/>
          <p:nvPr/>
        </p:nvCxnSpPr>
        <p:spPr>
          <a:xfrm>
            <a:off x="457200" y="3438144"/>
            <a:ext cx="693115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85216" y="3104388"/>
            <a:ext cx="1721266" cy="301751"/>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OAuth identity passthrough</a:t>
            </a:r>
          </a:p>
        </p:txBody>
      </p:sp>
      <p:sp>
        <p:nvSpPr>
          <p:cNvPr id="28" name="TextBox 27"/>
          <p:cNvSpPr txBox="1"/>
          <p:nvPr/>
        </p:nvSpPr>
        <p:spPr>
          <a:xfrm>
            <a:off x="2525938" y="3104388"/>
            <a:ext cx="3107496"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calling user’s own token, forwarded unchanged</a:t>
            </a:r>
          </a:p>
        </p:txBody>
      </p:sp>
      <p:sp>
        <p:nvSpPr>
          <p:cNvPr id="29" name="TextBox 28"/>
          <p:cNvSpPr txBox="1"/>
          <p:nvPr/>
        </p:nvSpPr>
        <p:spPr>
          <a:xfrm>
            <a:off x="5852891" y="3104388"/>
            <a:ext cx="1444020"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Preserved</a:t>
            </a:r>
          </a:p>
        </p:txBody>
      </p:sp>
      <p:sp>
        <p:nvSpPr>
          <p:cNvPr id="30" name="Rectangle 29"/>
          <p:cNvSpPr/>
          <p:nvPr/>
        </p:nvSpPr>
        <p:spPr>
          <a:xfrm>
            <a:off x="457200" y="3438144"/>
            <a:ext cx="6931152" cy="384048"/>
          </a:xfrm>
          <a:prstGeom prst="rect">
            <a:avLst/>
          </a:prstGeom>
          <a:solidFill>
            <a:srgbClr val="F6F8FD"/>
          </a:solidFill>
          <a:ln>
            <a:noFill/>
          </a:ln>
          <a:effectLst/>
        </p:spPr>
        <p:txBody>
          <a:bodyPr wrap="square" rtlCol="0" anchor="ctr"/>
          <a:lstStyle/>
          <a:p>
            <a:endParaRPr/>
          </a:p>
        </p:txBody>
      </p:sp>
      <p:cxnSp>
        <p:nvCxnSpPr>
          <p:cNvPr id="31" name="Connector 30"/>
          <p:cNvCxnSpPr/>
          <p:nvPr/>
        </p:nvCxnSpPr>
        <p:spPr>
          <a:xfrm>
            <a:off x="457200" y="3822191"/>
            <a:ext cx="693115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5216" y="3488436"/>
            <a:ext cx="1721266" cy="301751"/>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Unauthenticated</a:t>
            </a:r>
          </a:p>
        </p:txBody>
      </p:sp>
      <p:sp>
        <p:nvSpPr>
          <p:cNvPr id="33" name="TextBox 32"/>
          <p:cNvSpPr txBox="1"/>
          <p:nvPr/>
        </p:nvSpPr>
        <p:spPr>
          <a:xfrm>
            <a:off x="2525938" y="3488436"/>
            <a:ext cx="3107496"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 credential</a:t>
            </a:r>
          </a:p>
        </p:txBody>
      </p:sp>
      <p:sp>
        <p:nvSpPr>
          <p:cNvPr id="34" name="TextBox 33"/>
          <p:cNvSpPr txBox="1"/>
          <p:nvPr/>
        </p:nvSpPr>
        <p:spPr>
          <a:xfrm>
            <a:off x="5852891" y="3488436"/>
            <a:ext cx="1444020" cy="301751"/>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preserved</a:t>
            </a:r>
          </a:p>
        </p:txBody>
      </p:sp>
      <p:cxnSp>
        <p:nvCxnSpPr>
          <p:cNvPr id="35" name="Connector 34"/>
          <p:cNvCxnSpPr/>
          <p:nvPr/>
        </p:nvCxnSpPr>
        <p:spPr>
          <a:xfrm>
            <a:off x="2397922" y="1901952"/>
            <a:ext cx="0" cy="1920239"/>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24875" y="1901952"/>
            <a:ext cx="0" cy="1920239"/>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57200" y="3950207"/>
            <a:ext cx="6931152" cy="182880"/>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Agent cards are retrieved anonymously unless send_credentials_for_agent_card is set; credentials reach only the host named in base_url.</a:t>
            </a:r>
          </a:p>
        </p:txBody>
      </p:sp>
      <p:sp>
        <p:nvSpPr>
          <p:cNvPr id="38" name="TextBox 37"/>
          <p:cNvSpPr txBox="1"/>
          <p:nvPr/>
        </p:nvSpPr>
        <p:spPr>
          <a:xfrm>
            <a:off x="457200" y="4187952"/>
            <a:ext cx="694944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PROTOCOL-LEVEL PRINCIPLES</a:t>
            </a:r>
          </a:p>
        </p:txBody>
      </p:sp>
      <p:sp>
        <p:nvSpPr>
          <p:cNvPr id="39" name="Rectangle 38"/>
          <p:cNvSpPr/>
          <p:nvPr/>
        </p:nvSpPr>
        <p:spPr>
          <a:xfrm>
            <a:off x="457200" y="4425696"/>
            <a:ext cx="6931152" cy="384048"/>
          </a:xfrm>
          <a:prstGeom prst="rect">
            <a:avLst/>
          </a:prstGeom>
          <a:solidFill>
            <a:srgbClr val="F6F8FD"/>
          </a:solidFill>
          <a:ln w="9525">
            <a:solidFill>
              <a:srgbClr val="E1E7F4"/>
            </a:solidFill>
          </a:ln>
          <a:effectLst/>
        </p:spPr>
        <p:txBody>
          <a:bodyPr wrap="square" rtlCol="0" anchor="ctr"/>
          <a:lstStyle/>
          <a:p>
            <a:endParaRPr/>
          </a:p>
        </p:txBody>
      </p:sp>
      <p:sp>
        <p:nvSpPr>
          <p:cNvPr id="40" name="TextBox 39"/>
          <p:cNvSpPr txBox="1"/>
          <p:nvPr/>
        </p:nvSpPr>
        <p:spPr>
          <a:xfrm>
            <a:off x="621792" y="4462272"/>
            <a:ext cx="2103120" cy="310896"/>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Transport-layer identity</a:t>
            </a:r>
          </a:p>
        </p:txBody>
      </p:sp>
      <p:sp>
        <p:nvSpPr>
          <p:cNvPr id="41" name="TextBox 40"/>
          <p:cNvSpPr txBox="1"/>
          <p:nvPr/>
        </p:nvSpPr>
        <p:spPr>
          <a:xfrm>
            <a:off x="2798064" y="4462272"/>
            <a:ext cx="4443984" cy="31089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A2A payloads carry no user or client identity. Credentials are obtained out of band and presented in standard HTTP headers.</a:t>
            </a:r>
          </a:p>
        </p:txBody>
      </p:sp>
      <p:sp>
        <p:nvSpPr>
          <p:cNvPr id="42" name="Rectangle 41"/>
          <p:cNvSpPr/>
          <p:nvPr/>
        </p:nvSpPr>
        <p:spPr>
          <a:xfrm>
            <a:off x="457200" y="4846320"/>
            <a:ext cx="6931152" cy="384048"/>
          </a:xfrm>
          <a:prstGeom prst="rect">
            <a:avLst/>
          </a:prstGeom>
          <a:solidFill>
            <a:srgbClr val="FFFFFF"/>
          </a:solidFill>
          <a:ln w="9525">
            <a:solidFill>
              <a:srgbClr val="E1E7F4"/>
            </a:solidFill>
          </a:ln>
          <a:effectLst/>
        </p:spPr>
        <p:txBody>
          <a:bodyPr wrap="square" rtlCol="0" anchor="ctr"/>
          <a:lstStyle/>
          <a:p>
            <a:endParaRPr/>
          </a:p>
        </p:txBody>
      </p:sp>
      <p:sp>
        <p:nvSpPr>
          <p:cNvPr id="43" name="TextBox 42"/>
          <p:cNvSpPr txBox="1"/>
          <p:nvPr/>
        </p:nvSpPr>
        <p:spPr>
          <a:xfrm>
            <a:off x="621792" y="4882896"/>
            <a:ext cx="2103120" cy="310896"/>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Schemes declared in the card</a:t>
            </a:r>
          </a:p>
        </p:txBody>
      </p:sp>
      <p:sp>
        <p:nvSpPr>
          <p:cNvPr id="44" name="TextBox 43"/>
          <p:cNvSpPr txBox="1"/>
          <p:nvPr/>
        </p:nvSpPr>
        <p:spPr>
          <a:xfrm>
            <a:off x="2798064" y="4882896"/>
            <a:ext cx="4443984" cy="31089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API key, HTTP bearer, OAuth 2.0, OpenID Connect or mutual TLS. Version 1.0 removed implicit and password flows and added device code and PKCE.</a:t>
            </a:r>
          </a:p>
        </p:txBody>
      </p:sp>
      <p:sp>
        <p:nvSpPr>
          <p:cNvPr id="45" name="Rectangle 44"/>
          <p:cNvSpPr/>
          <p:nvPr/>
        </p:nvSpPr>
        <p:spPr>
          <a:xfrm>
            <a:off x="457200" y="5266944"/>
            <a:ext cx="6931152" cy="384048"/>
          </a:xfrm>
          <a:prstGeom prst="rect">
            <a:avLst/>
          </a:prstGeom>
          <a:solidFill>
            <a:srgbClr val="F6F8FD"/>
          </a:solidFill>
          <a:ln w="9525">
            <a:solidFill>
              <a:srgbClr val="E1E7F4"/>
            </a:solidFill>
          </a:ln>
          <a:effectLst/>
        </p:spPr>
        <p:txBody>
          <a:bodyPr wrap="square" rtlCol="0" anchor="ctr"/>
          <a:lstStyle/>
          <a:p>
            <a:endParaRPr/>
          </a:p>
        </p:txBody>
      </p:sp>
      <p:sp>
        <p:nvSpPr>
          <p:cNvPr id="46" name="TextBox 45"/>
          <p:cNvSpPr txBox="1"/>
          <p:nvPr/>
        </p:nvSpPr>
        <p:spPr>
          <a:xfrm>
            <a:off x="621792" y="5303520"/>
            <a:ext cx="2103120" cy="310896"/>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Non-disclosing failures</a:t>
            </a:r>
          </a:p>
        </p:txBody>
      </p:sp>
      <p:sp>
        <p:nvSpPr>
          <p:cNvPr id="47" name="TextBox 46"/>
          <p:cNvSpPr txBox="1"/>
          <p:nvPr/>
        </p:nvSpPr>
        <p:spPr>
          <a:xfrm>
            <a:off x="2798064" y="5303520"/>
            <a:ext cx="4443984" cy="31089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HTTP 401 with a challenge where credentials are absent, HTTP 403 where insufficient, and no distinction between absent and unauthorised resources.</a:t>
            </a:r>
          </a:p>
        </p:txBody>
      </p:sp>
      <p:sp>
        <p:nvSpPr>
          <p:cNvPr id="48" name="TextBox 47"/>
          <p:cNvSpPr txBox="1"/>
          <p:nvPr/>
        </p:nvSpPr>
        <p:spPr>
          <a:xfrm>
            <a:off x="7717536" y="1353312"/>
            <a:ext cx="40233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INBOUND — AUTHORISING EXTERNAL CALLERS</a:t>
            </a:r>
          </a:p>
        </p:txBody>
      </p:sp>
      <p:sp>
        <p:nvSpPr>
          <p:cNvPr id="49" name="TextBox 48"/>
          <p:cNvSpPr txBox="1"/>
          <p:nvPr/>
        </p:nvSpPr>
        <p:spPr>
          <a:xfrm>
            <a:off x="7717536" y="159105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Authentication</a:t>
            </a:r>
          </a:p>
        </p:txBody>
      </p:sp>
      <p:sp>
        <p:nvSpPr>
          <p:cNvPr id="50" name="TextBox 49"/>
          <p:cNvSpPr txBox="1"/>
          <p:nvPr/>
        </p:nvSpPr>
        <p:spPr>
          <a:xfrm>
            <a:off x="9162653" y="159105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Microsoft Entra ID only</a:t>
            </a:r>
          </a:p>
        </p:txBody>
      </p:sp>
      <p:cxnSp>
        <p:nvCxnSpPr>
          <p:cNvPr id="51" name="Connector 50"/>
          <p:cNvCxnSpPr/>
          <p:nvPr/>
        </p:nvCxnSpPr>
        <p:spPr>
          <a:xfrm>
            <a:off x="7717536" y="193852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717536" y="195681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Anonymous card</a:t>
            </a:r>
          </a:p>
        </p:txBody>
      </p:sp>
      <p:sp>
        <p:nvSpPr>
          <p:cNvPr id="53" name="TextBox 52"/>
          <p:cNvSpPr txBox="1"/>
          <p:nvPr/>
        </p:nvSpPr>
        <p:spPr>
          <a:xfrm>
            <a:off x="9162653" y="195681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Not supported</a:t>
            </a:r>
          </a:p>
        </p:txBody>
      </p:sp>
      <p:cxnSp>
        <p:nvCxnSpPr>
          <p:cNvPr id="54" name="Connector 53"/>
          <p:cNvCxnSpPr/>
          <p:nvPr/>
        </p:nvCxnSpPr>
        <p:spPr>
          <a:xfrm>
            <a:off x="7717536" y="230428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7717536" y="232257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Role required</a:t>
            </a:r>
          </a:p>
        </p:txBody>
      </p:sp>
      <p:sp>
        <p:nvSpPr>
          <p:cNvPr id="56" name="TextBox 55"/>
          <p:cNvSpPr txBox="1"/>
          <p:nvPr/>
        </p:nvSpPr>
        <p:spPr>
          <a:xfrm>
            <a:off x="9162653" y="232257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Foundry Agent Consumer</a:t>
            </a:r>
          </a:p>
        </p:txBody>
      </p:sp>
      <p:cxnSp>
        <p:nvCxnSpPr>
          <p:cNvPr id="57" name="Connector 56"/>
          <p:cNvCxnSpPr/>
          <p:nvPr/>
        </p:nvCxnSpPr>
        <p:spPr>
          <a:xfrm>
            <a:off x="7717536" y="267004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717536" y="268833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Role scope</a:t>
            </a:r>
          </a:p>
        </p:txBody>
      </p:sp>
      <p:sp>
        <p:nvSpPr>
          <p:cNvPr id="59" name="TextBox 58"/>
          <p:cNvSpPr txBox="1"/>
          <p:nvPr/>
        </p:nvSpPr>
        <p:spPr>
          <a:xfrm>
            <a:off x="9162653" y="268833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Project, or an individual agent</a:t>
            </a:r>
          </a:p>
        </p:txBody>
      </p:sp>
      <p:cxnSp>
        <p:nvCxnSpPr>
          <p:cNvPr id="60" name="Connector 59"/>
          <p:cNvCxnSpPr/>
          <p:nvPr/>
        </p:nvCxnSpPr>
        <p:spPr>
          <a:xfrm>
            <a:off x="7717536" y="303580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7717536" y="305409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Token scope</a:t>
            </a:r>
          </a:p>
        </p:txBody>
      </p:sp>
      <p:sp>
        <p:nvSpPr>
          <p:cNvPr id="62" name="TextBox 61"/>
          <p:cNvSpPr txBox="1"/>
          <p:nvPr/>
        </p:nvSpPr>
        <p:spPr>
          <a:xfrm>
            <a:off x="9162653" y="305409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https://ai.azure.com/.default</a:t>
            </a:r>
          </a:p>
        </p:txBody>
      </p:sp>
      <p:cxnSp>
        <p:nvCxnSpPr>
          <p:cNvPr id="63" name="Connector 62"/>
          <p:cNvCxnSpPr/>
          <p:nvPr/>
        </p:nvCxnSpPr>
        <p:spPr>
          <a:xfrm>
            <a:off x="7717536" y="340156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7717536" y="3419856"/>
            <a:ext cx="1353677"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Supported patterns</a:t>
            </a:r>
          </a:p>
        </p:txBody>
      </p:sp>
      <p:sp>
        <p:nvSpPr>
          <p:cNvPr id="65" name="TextBox 64"/>
          <p:cNvSpPr txBox="1"/>
          <p:nvPr/>
        </p:nvSpPr>
        <p:spPr>
          <a:xfrm>
            <a:off x="9162653" y="3419856"/>
            <a:ext cx="2569098"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On-behalf-of the end user, or a service identity</a:t>
            </a:r>
          </a:p>
        </p:txBody>
      </p:sp>
      <p:cxnSp>
        <p:nvCxnSpPr>
          <p:cNvPr id="66" name="Connector 65"/>
          <p:cNvCxnSpPr/>
          <p:nvPr/>
        </p:nvCxnSpPr>
        <p:spPr>
          <a:xfrm>
            <a:off x="7717536" y="3767328"/>
            <a:ext cx="401421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7717536" y="4059936"/>
            <a:ext cx="40233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NETWORK PLACEMENT</a:t>
            </a:r>
          </a:p>
        </p:txBody>
      </p:sp>
      <p:sp>
        <p:nvSpPr>
          <p:cNvPr id="68" name="Rectangle 67"/>
          <p:cNvSpPr/>
          <p:nvPr/>
        </p:nvSpPr>
        <p:spPr>
          <a:xfrm>
            <a:off x="7717536" y="4297680"/>
            <a:ext cx="4014215" cy="566928"/>
          </a:xfrm>
          <a:prstGeom prst="rect">
            <a:avLst/>
          </a:prstGeom>
          <a:solidFill>
            <a:srgbClr val="F6F8FD"/>
          </a:solidFill>
          <a:ln w="9525">
            <a:solidFill>
              <a:srgbClr val="E1E7F4"/>
            </a:solidFill>
          </a:ln>
          <a:effectLst/>
        </p:spPr>
        <p:txBody>
          <a:bodyPr wrap="square" rtlCol="0" anchor="ctr"/>
          <a:lstStyle/>
          <a:p>
            <a:endParaRPr/>
          </a:p>
        </p:txBody>
      </p:sp>
      <p:sp>
        <p:nvSpPr>
          <p:cNvPr id="69" name="TextBox 68"/>
          <p:cNvSpPr txBox="1"/>
          <p:nvPr/>
        </p:nvSpPr>
        <p:spPr>
          <a:xfrm>
            <a:off x="7882127" y="4379976"/>
            <a:ext cx="3685032"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Virtual network integration</a:t>
            </a:r>
          </a:p>
        </p:txBody>
      </p:sp>
      <p:sp>
        <p:nvSpPr>
          <p:cNvPr id="70" name="TextBox 69"/>
          <p:cNvSpPr txBox="1"/>
          <p:nvPr/>
        </p:nvSpPr>
        <p:spPr>
          <a:xfrm>
            <a:off x="7882127" y="4562856"/>
            <a:ext cx="3685032" cy="256032"/>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A2A is listed as supported through a delegated virtual-network subnet in the toolbox network isolation matrix.</a:t>
            </a:r>
          </a:p>
        </p:txBody>
      </p:sp>
      <p:sp>
        <p:nvSpPr>
          <p:cNvPr id="71" name="Rectangle 70"/>
          <p:cNvSpPr/>
          <p:nvPr/>
        </p:nvSpPr>
        <p:spPr>
          <a:xfrm>
            <a:off x="7717536" y="4937760"/>
            <a:ext cx="4014215" cy="566928"/>
          </a:xfrm>
          <a:prstGeom prst="rect">
            <a:avLst/>
          </a:prstGeom>
          <a:solidFill>
            <a:srgbClr val="F6F8FD"/>
          </a:solidFill>
          <a:ln w="9525">
            <a:solidFill>
              <a:srgbClr val="E1E7F4"/>
            </a:solidFill>
          </a:ln>
          <a:effectLst/>
        </p:spPr>
        <p:txBody>
          <a:bodyPr wrap="square" rtlCol="0" anchor="ctr"/>
          <a:lstStyle/>
          <a:p>
            <a:endParaRPr/>
          </a:p>
        </p:txBody>
      </p:sp>
      <p:sp>
        <p:nvSpPr>
          <p:cNvPr id="72" name="TextBox 71"/>
          <p:cNvSpPr txBox="1"/>
          <p:nvPr/>
        </p:nvSpPr>
        <p:spPr>
          <a:xfrm>
            <a:off x="7882127" y="5020056"/>
            <a:ext cx="3685032"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Reachability of remote targets</a:t>
            </a:r>
          </a:p>
        </p:txBody>
      </p:sp>
      <p:sp>
        <p:nvSpPr>
          <p:cNvPr id="73" name="TextBox 72"/>
          <p:cNvSpPr txBox="1"/>
          <p:nvPr/>
        </p:nvSpPr>
        <p:spPr>
          <a:xfrm>
            <a:off x="7882127" y="5202936"/>
            <a:ext cx="3685032" cy="256032"/>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Troubleshooting guidance assumes a publicly resolvable endpoint with a valid certificate; verify before assuming private-only targets.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SECURITY AND OPERATIONS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Operational constraints and observability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Documented service limits that constrain design, and the signals that indicate correct operation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learn.microsoft.com/azure/foundry/agents/concepts/limits-quotas-regions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15</a:t>
            </a:r>
          </a:p>
        </p:txBody>
      </p:sp>
      <p:sp>
        <p:nvSpPr>
          <p:cNvPr id="7" name="TextBox 6"/>
          <p:cNvSpPr txBox="1"/>
          <p:nvPr/>
        </p:nvSpPr>
        <p:spPr>
          <a:xfrm>
            <a:off x="457200" y="135331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DOCUMENTED CONSTRAINTS FOR A2A TARGETS</a:t>
            </a:r>
          </a:p>
        </p:txBody>
      </p:sp>
      <p:sp>
        <p:nvSpPr>
          <p:cNvPr id="8" name="TextBox 7"/>
          <p:cNvSpPr txBox="1"/>
          <p:nvPr/>
        </p:nvSpPr>
        <p:spPr>
          <a:xfrm>
            <a:off x="457200" y="1591056"/>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Transport binding</a:t>
            </a:r>
          </a:p>
        </p:txBody>
      </p:sp>
      <p:sp>
        <p:nvSpPr>
          <p:cNvPr id="9" name="TextBox 8"/>
          <p:cNvSpPr txBox="1"/>
          <p:nvPr/>
        </p:nvSpPr>
        <p:spPr>
          <a:xfrm>
            <a:off x="2481681" y="1591056"/>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Protocol version 1.0 supports JSON-RPC only; version 0.3 also permitted HTTP+JSON</a:t>
            </a:r>
          </a:p>
        </p:txBody>
      </p:sp>
      <p:cxnSp>
        <p:nvCxnSpPr>
          <p:cNvPr id="10" name="Connector 9"/>
          <p:cNvCxnSpPr/>
          <p:nvPr/>
        </p:nvCxnSpPr>
        <p:spPr>
          <a:xfrm>
            <a:off x="457200" y="1975104"/>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993392"/>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Content modality</a:t>
            </a:r>
          </a:p>
        </p:txBody>
      </p:sp>
      <p:sp>
        <p:nvSpPr>
          <p:cNvPr id="12" name="TextBox 11"/>
          <p:cNvSpPr txBox="1"/>
          <p:nvPr/>
        </p:nvSpPr>
        <p:spPr>
          <a:xfrm>
            <a:off x="2481681" y="1993392"/>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Text only — file and structured data parts are not carried</a:t>
            </a:r>
          </a:p>
        </p:txBody>
      </p:sp>
      <p:cxnSp>
        <p:nvCxnSpPr>
          <p:cNvPr id="13" name="Connector 12"/>
          <p:cNvCxnSpPr/>
          <p:nvPr/>
        </p:nvCxnSpPr>
        <p:spPr>
          <a:xfrm>
            <a:off x="457200" y="2377440"/>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395728"/>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Streaming</a:t>
            </a:r>
          </a:p>
        </p:txBody>
      </p:sp>
      <p:sp>
        <p:nvSpPr>
          <p:cNvPr id="15" name="TextBox 14"/>
          <p:cNvSpPr txBox="1"/>
          <p:nvPr/>
        </p:nvSpPr>
        <p:spPr>
          <a:xfrm>
            <a:off x="2481681" y="2395728"/>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Server-Sent Events are not supported for A2A targets</a:t>
            </a:r>
          </a:p>
        </p:txBody>
      </p:sp>
      <p:cxnSp>
        <p:nvCxnSpPr>
          <p:cNvPr id="16" name="Connector 15"/>
          <p:cNvCxnSpPr/>
          <p:nvPr/>
        </p:nvCxnSpPr>
        <p:spPr>
          <a:xfrm>
            <a:off x="457200" y="2779776"/>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2798064"/>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Task retention</a:t>
            </a:r>
          </a:p>
        </p:txBody>
      </p:sp>
      <p:sp>
        <p:nvSpPr>
          <p:cNvPr id="18" name="TextBox 17"/>
          <p:cNvSpPr txBox="1"/>
          <p:nvPr/>
        </p:nvSpPr>
        <p:spPr>
          <a:xfrm>
            <a:off x="2481681" y="2798064"/>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Tasks and contexts retained 60 days from the most recent write</a:t>
            </a:r>
          </a:p>
        </p:txBody>
      </p:sp>
      <p:cxnSp>
        <p:nvCxnSpPr>
          <p:cNvPr id="19" name="Connector 18"/>
          <p:cNvCxnSpPr/>
          <p:nvPr/>
        </p:nvCxnSpPr>
        <p:spPr>
          <a:xfrm>
            <a:off x="457200" y="3182112"/>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3200400"/>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Tools per agent</a:t>
            </a:r>
          </a:p>
        </p:txBody>
      </p:sp>
      <p:sp>
        <p:nvSpPr>
          <p:cNvPr id="21" name="TextBox 20"/>
          <p:cNvSpPr txBox="1"/>
          <p:nvPr/>
        </p:nvSpPr>
        <p:spPr>
          <a:xfrm>
            <a:off x="2481681" y="3200400"/>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128 registered tools; no A2A-specific quota is published</a:t>
            </a:r>
          </a:p>
        </p:txBody>
      </p:sp>
      <p:cxnSp>
        <p:nvCxnSpPr>
          <p:cNvPr id="22" name="Connector 21"/>
          <p:cNvCxnSpPr/>
          <p:nvPr/>
        </p:nvCxnSpPr>
        <p:spPr>
          <a:xfrm>
            <a:off x="457200" y="3584448"/>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200" y="3602736"/>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Regional availability</a:t>
            </a:r>
          </a:p>
        </p:txBody>
      </p:sp>
      <p:sp>
        <p:nvSpPr>
          <p:cNvPr id="24" name="TextBox 23"/>
          <p:cNvSpPr txBox="1"/>
          <p:nvPr/>
        </p:nvSpPr>
        <p:spPr>
          <a:xfrm>
            <a:off x="2481681" y="3602736"/>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Listed as available in every region in the tool-by-region matrix</a:t>
            </a:r>
          </a:p>
        </p:txBody>
      </p:sp>
      <p:cxnSp>
        <p:nvCxnSpPr>
          <p:cNvPr id="25" name="Connector 24"/>
          <p:cNvCxnSpPr/>
          <p:nvPr/>
        </p:nvCxnSpPr>
        <p:spPr>
          <a:xfrm>
            <a:off x="457200" y="3986784"/>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4005072"/>
            <a:ext cx="1933041" cy="402336"/>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Request timeout</a:t>
            </a:r>
          </a:p>
        </p:txBody>
      </p:sp>
      <p:sp>
        <p:nvSpPr>
          <p:cNvPr id="27" name="TextBox 26"/>
          <p:cNvSpPr txBox="1"/>
          <p:nvPr/>
        </p:nvSpPr>
        <p:spPr>
          <a:xfrm>
            <a:off x="2481681" y="4005072"/>
            <a:ext cx="4723790" cy="402336"/>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No numeric value documented; retry with exponential backoff is the stated guidance</a:t>
            </a:r>
          </a:p>
        </p:txBody>
      </p:sp>
      <p:cxnSp>
        <p:nvCxnSpPr>
          <p:cNvPr id="28" name="Connector 27"/>
          <p:cNvCxnSpPr/>
          <p:nvPr/>
        </p:nvCxnSpPr>
        <p:spPr>
          <a:xfrm>
            <a:off x="457200" y="4389120"/>
            <a:ext cx="6748272"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534656" y="1353312"/>
            <a:ext cx="420624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RECOMMENDED INSTRUMENTATION</a:t>
            </a:r>
          </a:p>
        </p:txBody>
      </p:sp>
      <p:sp>
        <p:nvSpPr>
          <p:cNvPr id="30" name="Rectangle 29"/>
          <p:cNvSpPr/>
          <p:nvPr/>
        </p:nvSpPr>
        <p:spPr>
          <a:xfrm>
            <a:off x="7534656" y="1591056"/>
            <a:ext cx="4197096" cy="877824"/>
          </a:xfrm>
          <a:prstGeom prst="rect">
            <a:avLst/>
          </a:prstGeom>
          <a:solidFill>
            <a:srgbClr val="F6F8FD"/>
          </a:solidFill>
          <a:ln w="9525">
            <a:solidFill>
              <a:srgbClr val="E1E7F4"/>
            </a:solidFill>
          </a:ln>
          <a:effectLst/>
        </p:spPr>
        <p:txBody>
          <a:bodyPr wrap="square" rtlCol="0" anchor="ctr"/>
          <a:lstStyle/>
          <a:p>
            <a:endParaRPr/>
          </a:p>
        </p:txBody>
      </p:sp>
      <p:sp>
        <p:nvSpPr>
          <p:cNvPr id="31" name="Rectangle 30"/>
          <p:cNvSpPr/>
          <p:nvPr/>
        </p:nvSpPr>
        <p:spPr>
          <a:xfrm>
            <a:off x="7534656" y="1591056"/>
            <a:ext cx="41148" cy="877824"/>
          </a:xfrm>
          <a:prstGeom prst="rect">
            <a:avLst/>
          </a:prstGeom>
          <a:solidFill>
            <a:srgbClr val="00B39F"/>
          </a:solidFill>
          <a:ln>
            <a:noFill/>
          </a:ln>
          <a:effectLst/>
        </p:spPr>
        <p:txBody>
          <a:bodyPr wrap="square" rtlCol="0" anchor="ctr"/>
          <a:lstStyle/>
          <a:p>
            <a:endParaRPr/>
          </a:p>
        </p:txBody>
      </p:sp>
      <p:sp>
        <p:nvSpPr>
          <p:cNvPr id="32" name="TextBox 31"/>
          <p:cNvSpPr txBox="1"/>
          <p:nvPr/>
        </p:nvSpPr>
        <p:spPr>
          <a:xfrm>
            <a:off x="7717536" y="1709928"/>
            <a:ext cx="383133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Terminal state distribution</a:t>
            </a:r>
          </a:p>
        </p:txBody>
      </p:sp>
      <p:sp>
        <p:nvSpPr>
          <p:cNvPr id="33" name="TextBox 32"/>
          <p:cNvSpPr txBox="1"/>
          <p:nvPr/>
        </p:nvSpPr>
        <p:spPr>
          <a:xfrm>
            <a:off x="7717536" y="1920240"/>
            <a:ext cx="3831336" cy="45720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Count tasks entering each terminal state. A rising proportion of rejected tasks indicates a contract defect rather than a capacity problem.</a:t>
            </a:r>
          </a:p>
        </p:txBody>
      </p:sp>
      <p:sp>
        <p:nvSpPr>
          <p:cNvPr id="34" name="Rectangle 33"/>
          <p:cNvSpPr/>
          <p:nvPr/>
        </p:nvSpPr>
        <p:spPr>
          <a:xfrm>
            <a:off x="7534656" y="2578608"/>
            <a:ext cx="4197096" cy="877824"/>
          </a:xfrm>
          <a:prstGeom prst="rect">
            <a:avLst/>
          </a:prstGeom>
          <a:solidFill>
            <a:srgbClr val="F6F8FD"/>
          </a:solidFill>
          <a:ln w="9525">
            <a:solidFill>
              <a:srgbClr val="E1E7F4"/>
            </a:solidFill>
          </a:ln>
          <a:effectLst/>
        </p:spPr>
        <p:txBody>
          <a:bodyPr wrap="square" rtlCol="0" anchor="ctr"/>
          <a:lstStyle/>
          <a:p>
            <a:endParaRPr/>
          </a:p>
        </p:txBody>
      </p:sp>
      <p:sp>
        <p:nvSpPr>
          <p:cNvPr id="35" name="Rectangle 34"/>
          <p:cNvSpPr/>
          <p:nvPr/>
        </p:nvSpPr>
        <p:spPr>
          <a:xfrm>
            <a:off x="7534656" y="2578608"/>
            <a:ext cx="41148" cy="877824"/>
          </a:xfrm>
          <a:prstGeom prst="rect">
            <a:avLst/>
          </a:prstGeom>
          <a:solidFill>
            <a:srgbClr val="00B39F"/>
          </a:solidFill>
          <a:ln>
            <a:noFill/>
          </a:ln>
          <a:effectLst/>
        </p:spPr>
        <p:txBody>
          <a:bodyPr wrap="square" rtlCol="0" anchor="ctr"/>
          <a:lstStyle/>
          <a:p>
            <a:endParaRPr/>
          </a:p>
        </p:txBody>
      </p:sp>
      <p:sp>
        <p:nvSpPr>
          <p:cNvPr id="36" name="TextBox 35"/>
          <p:cNvSpPr txBox="1"/>
          <p:nvPr/>
        </p:nvSpPr>
        <p:spPr>
          <a:xfrm>
            <a:off x="7717536" y="2697480"/>
            <a:ext cx="383133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Unresolved interrupted tasks</a:t>
            </a:r>
          </a:p>
        </p:txBody>
      </p:sp>
      <p:sp>
        <p:nvSpPr>
          <p:cNvPr id="37" name="TextBox 36"/>
          <p:cNvSpPr txBox="1"/>
          <p:nvPr/>
        </p:nvSpPr>
        <p:spPr>
          <a:xfrm>
            <a:off x="7717536" y="2907792"/>
            <a:ext cx="3831336" cy="45720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Tasks held in input-required or auth-required that never resume represent silent failure in most implementations.</a:t>
            </a:r>
          </a:p>
        </p:txBody>
      </p:sp>
      <p:sp>
        <p:nvSpPr>
          <p:cNvPr id="38" name="Rectangle 37"/>
          <p:cNvSpPr/>
          <p:nvPr/>
        </p:nvSpPr>
        <p:spPr>
          <a:xfrm>
            <a:off x="7534656" y="3566160"/>
            <a:ext cx="4197096" cy="877824"/>
          </a:xfrm>
          <a:prstGeom prst="rect">
            <a:avLst/>
          </a:prstGeom>
          <a:solidFill>
            <a:srgbClr val="F6F8FD"/>
          </a:solidFill>
          <a:ln w="9525">
            <a:solidFill>
              <a:srgbClr val="E1E7F4"/>
            </a:solidFill>
          </a:ln>
          <a:effectLst/>
        </p:spPr>
        <p:txBody>
          <a:bodyPr wrap="square" rtlCol="0" anchor="ctr"/>
          <a:lstStyle/>
          <a:p>
            <a:endParaRPr/>
          </a:p>
        </p:txBody>
      </p:sp>
      <p:sp>
        <p:nvSpPr>
          <p:cNvPr id="39" name="Rectangle 38"/>
          <p:cNvSpPr/>
          <p:nvPr/>
        </p:nvSpPr>
        <p:spPr>
          <a:xfrm>
            <a:off x="7534656" y="3566160"/>
            <a:ext cx="41148" cy="877824"/>
          </a:xfrm>
          <a:prstGeom prst="rect">
            <a:avLst/>
          </a:prstGeom>
          <a:solidFill>
            <a:srgbClr val="00B39F"/>
          </a:solidFill>
          <a:ln>
            <a:noFill/>
          </a:ln>
          <a:effectLst/>
        </p:spPr>
        <p:txBody>
          <a:bodyPr wrap="square" rtlCol="0" anchor="ctr"/>
          <a:lstStyle/>
          <a:p>
            <a:endParaRPr/>
          </a:p>
        </p:txBody>
      </p:sp>
      <p:sp>
        <p:nvSpPr>
          <p:cNvPr id="40" name="TextBox 39"/>
          <p:cNvSpPr txBox="1"/>
          <p:nvPr/>
        </p:nvSpPr>
        <p:spPr>
          <a:xfrm>
            <a:off x="7717536" y="3685032"/>
            <a:ext cx="383133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Agent card version</a:t>
            </a:r>
          </a:p>
        </p:txBody>
      </p:sp>
      <p:sp>
        <p:nvSpPr>
          <p:cNvPr id="41" name="TextBox 40"/>
          <p:cNvSpPr txBox="1"/>
          <p:nvPr/>
        </p:nvSpPr>
        <p:spPr>
          <a:xfrm>
            <a:off x="7717536" y="3895344"/>
            <a:ext cx="3831336" cy="45720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Cache the card and alert on version change; declared skills and security schemes can change without notice.</a:t>
            </a:r>
          </a:p>
        </p:txBody>
      </p:sp>
      <p:sp>
        <p:nvSpPr>
          <p:cNvPr id="42" name="Rectangle 41"/>
          <p:cNvSpPr/>
          <p:nvPr/>
        </p:nvSpPr>
        <p:spPr>
          <a:xfrm>
            <a:off x="7534656" y="4553712"/>
            <a:ext cx="4197096" cy="877824"/>
          </a:xfrm>
          <a:prstGeom prst="rect">
            <a:avLst/>
          </a:prstGeom>
          <a:solidFill>
            <a:srgbClr val="F6F8FD"/>
          </a:solidFill>
          <a:ln w="9525">
            <a:solidFill>
              <a:srgbClr val="E1E7F4"/>
            </a:solidFill>
          </a:ln>
          <a:effectLst/>
        </p:spPr>
        <p:txBody>
          <a:bodyPr wrap="square" rtlCol="0" anchor="ctr"/>
          <a:lstStyle/>
          <a:p>
            <a:endParaRPr/>
          </a:p>
        </p:txBody>
      </p:sp>
      <p:sp>
        <p:nvSpPr>
          <p:cNvPr id="43" name="Rectangle 42"/>
          <p:cNvSpPr/>
          <p:nvPr/>
        </p:nvSpPr>
        <p:spPr>
          <a:xfrm>
            <a:off x="7534656" y="4553712"/>
            <a:ext cx="41148" cy="877824"/>
          </a:xfrm>
          <a:prstGeom prst="rect">
            <a:avLst/>
          </a:prstGeom>
          <a:solidFill>
            <a:srgbClr val="00B39F"/>
          </a:solidFill>
          <a:ln>
            <a:noFill/>
          </a:ln>
          <a:effectLst/>
        </p:spPr>
        <p:txBody>
          <a:bodyPr wrap="square" rtlCol="0" anchor="ctr"/>
          <a:lstStyle/>
          <a:p>
            <a:endParaRPr/>
          </a:p>
        </p:txBody>
      </p:sp>
      <p:sp>
        <p:nvSpPr>
          <p:cNvPr id="44" name="TextBox 43"/>
          <p:cNvSpPr txBox="1"/>
          <p:nvPr/>
        </p:nvSpPr>
        <p:spPr>
          <a:xfrm>
            <a:off x="7717536" y="4672584"/>
            <a:ext cx="383133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Latency and retry rate</a:t>
            </a:r>
          </a:p>
        </p:txBody>
      </p:sp>
      <p:sp>
        <p:nvSpPr>
          <p:cNvPr id="45" name="TextBox 44"/>
          <p:cNvSpPr txBox="1"/>
          <p:nvPr/>
        </p:nvSpPr>
        <p:spPr>
          <a:xfrm>
            <a:off x="7717536" y="4882896"/>
            <a:ext cx="3831336" cy="45720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The remote agent is an external dependency and should be instrumented as one, with its own error budget.</a:t>
            </a:r>
          </a:p>
        </p:txBody>
      </p:sp>
      <p:sp>
        <p:nvSpPr>
          <p:cNvPr id="46" name="TextBox 45"/>
          <p:cNvSpPr txBox="1"/>
          <p:nvPr/>
        </p:nvSpPr>
        <p:spPr>
          <a:xfrm>
            <a:off x="457200" y="4681728"/>
            <a:ext cx="67665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PLACEMENT BEHIND AZURE API MANAGEMENT</a:t>
            </a:r>
          </a:p>
        </p:txBody>
      </p:sp>
      <p:sp>
        <p:nvSpPr>
          <p:cNvPr id="47" name="TextBox 46"/>
          <p:cNvSpPr txBox="1"/>
          <p:nvPr/>
        </p:nvSpPr>
        <p:spPr>
          <a:xfrm>
            <a:off x="457200" y="4919472"/>
            <a:ext cx="6748272" cy="658368"/>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API Management can publish an A2A agent API from its agent card, mediate JSON-RPC to the backend, and emit the agent identifier and name as OpenTelemetry attributes. It rewrites the card it serves — host name, preferred transport and security scheme — and supports JSON-RPC agents only. The same component underlies custom agent registration in the Foundry control plane.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05 · ARCHITECTURAL POSITIONING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Protocol comparison: A2A and the Model Context Protocol</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same criteria applied to both specifications; they address different integration problems and compose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a2a-protocol.org/latest/topics/a2a-and-mcp</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16</a:t>
            </a:r>
          </a:p>
        </p:txBody>
      </p:sp>
      <p:sp>
        <p:nvSpPr>
          <p:cNvPr id="7" name="Rectangle 6"/>
          <p:cNvSpPr/>
          <p:nvPr/>
        </p:nvSpPr>
        <p:spPr>
          <a:xfrm>
            <a:off x="457200" y="1371600"/>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49324"/>
            <a:ext cx="2298124"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Criterion</a:t>
            </a:r>
          </a:p>
        </p:txBody>
      </p:sp>
      <p:sp>
        <p:nvSpPr>
          <p:cNvPr id="9" name="TextBox 8"/>
          <p:cNvSpPr txBox="1"/>
          <p:nvPr/>
        </p:nvSpPr>
        <p:spPr>
          <a:xfrm>
            <a:off x="3066220" y="1449324"/>
            <a:ext cx="4102492"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Model Context Protocol (MCP)</a:t>
            </a:r>
          </a:p>
        </p:txBody>
      </p:sp>
      <p:sp>
        <p:nvSpPr>
          <p:cNvPr id="10" name="TextBox 9"/>
          <p:cNvSpPr txBox="1"/>
          <p:nvPr/>
        </p:nvSpPr>
        <p:spPr>
          <a:xfrm>
            <a:off x="7351593" y="1449324"/>
            <a:ext cx="4328038"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Agent2Agent (A2A)</a:t>
            </a:r>
          </a:p>
        </p:txBody>
      </p:sp>
      <p:sp>
        <p:nvSpPr>
          <p:cNvPr id="11" name="Rectangle 10"/>
          <p:cNvSpPr/>
          <p:nvPr/>
        </p:nvSpPr>
        <p:spPr>
          <a:xfrm>
            <a:off x="457200" y="1682496"/>
            <a:ext cx="11277295" cy="402336"/>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08483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1732788"/>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Integration axis</a:t>
            </a:r>
          </a:p>
        </p:txBody>
      </p:sp>
      <p:sp>
        <p:nvSpPr>
          <p:cNvPr id="14" name="TextBox 13"/>
          <p:cNvSpPr txBox="1"/>
          <p:nvPr/>
        </p:nvSpPr>
        <p:spPr>
          <a:xfrm>
            <a:off x="3066220" y="1732788"/>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Increases the capability of a single agent</a:t>
            </a:r>
          </a:p>
        </p:txBody>
      </p:sp>
      <p:sp>
        <p:nvSpPr>
          <p:cNvPr id="15" name="TextBox 14"/>
          <p:cNvSpPr txBox="1"/>
          <p:nvPr/>
        </p:nvSpPr>
        <p:spPr>
          <a:xfrm>
            <a:off x="7351593" y="1732788"/>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Increases the set of agents a system can coordinate</a:t>
            </a:r>
          </a:p>
        </p:txBody>
      </p:sp>
      <p:cxnSp>
        <p:nvCxnSpPr>
          <p:cNvPr id="16" name="Connector 15"/>
          <p:cNvCxnSpPr/>
          <p:nvPr/>
        </p:nvCxnSpPr>
        <p:spPr>
          <a:xfrm>
            <a:off x="457200" y="248716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5216" y="2135124"/>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Counterpart</a:t>
            </a:r>
          </a:p>
        </p:txBody>
      </p:sp>
      <p:sp>
        <p:nvSpPr>
          <p:cNvPr id="18" name="TextBox 17"/>
          <p:cNvSpPr txBox="1"/>
          <p:nvPr/>
        </p:nvSpPr>
        <p:spPr>
          <a:xfrm>
            <a:off x="3066220" y="2135124"/>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 tool, resource or data source</a:t>
            </a:r>
          </a:p>
        </p:txBody>
      </p:sp>
      <p:sp>
        <p:nvSpPr>
          <p:cNvPr id="19" name="TextBox 18"/>
          <p:cNvSpPr txBox="1"/>
          <p:nvPr/>
        </p:nvSpPr>
        <p:spPr>
          <a:xfrm>
            <a:off x="7351593" y="2135124"/>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An autonomous agent that reasons and plans</a:t>
            </a:r>
          </a:p>
        </p:txBody>
      </p:sp>
      <p:sp>
        <p:nvSpPr>
          <p:cNvPr id="20" name="Rectangle 19"/>
          <p:cNvSpPr/>
          <p:nvPr/>
        </p:nvSpPr>
        <p:spPr>
          <a:xfrm>
            <a:off x="457200" y="2487168"/>
            <a:ext cx="11277295" cy="457200"/>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294436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2537460"/>
            <a:ext cx="2261548" cy="37490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Call semantics</a:t>
            </a:r>
          </a:p>
        </p:txBody>
      </p:sp>
      <p:sp>
        <p:nvSpPr>
          <p:cNvPr id="23" name="TextBox 22"/>
          <p:cNvSpPr txBox="1"/>
          <p:nvPr/>
        </p:nvSpPr>
        <p:spPr>
          <a:xfrm>
            <a:off x="3066220" y="2537460"/>
            <a:ext cx="4065916" cy="37490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Structured input and output, predominantly stateless</a:t>
            </a:r>
          </a:p>
        </p:txBody>
      </p:sp>
      <p:sp>
        <p:nvSpPr>
          <p:cNvPr id="24" name="TextBox 23"/>
          <p:cNvSpPr txBox="1"/>
          <p:nvPr/>
        </p:nvSpPr>
        <p:spPr>
          <a:xfrm>
            <a:off x="7351593" y="2537460"/>
            <a:ext cx="4291462" cy="37490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 task with a defined lifecycle, multi-turn, potentially long-running</a:t>
            </a:r>
          </a:p>
        </p:txBody>
      </p:sp>
      <p:cxnSp>
        <p:nvCxnSpPr>
          <p:cNvPr id="25" name="Connector 24"/>
          <p:cNvCxnSpPr/>
          <p:nvPr/>
        </p:nvCxnSpPr>
        <p:spPr>
          <a:xfrm>
            <a:off x="457200" y="3346704"/>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5216" y="2994660"/>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Typical ownership</a:t>
            </a:r>
          </a:p>
        </p:txBody>
      </p:sp>
      <p:sp>
        <p:nvSpPr>
          <p:cNvPr id="27" name="TextBox 26"/>
          <p:cNvSpPr txBox="1"/>
          <p:nvPr/>
        </p:nvSpPr>
        <p:spPr>
          <a:xfrm>
            <a:off x="3066220" y="2994660"/>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The same team, or a trusted library</a:t>
            </a:r>
          </a:p>
        </p:txBody>
      </p:sp>
      <p:sp>
        <p:nvSpPr>
          <p:cNvPr id="28" name="TextBox 27"/>
          <p:cNvSpPr txBox="1"/>
          <p:nvPr/>
        </p:nvSpPr>
        <p:spPr>
          <a:xfrm>
            <a:off x="7351593" y="2994660"/>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Another team, business unit or organisation</a:t>
            </a:r>
          </a:p>
        </p:txBody>
      </p:sp>
      <p:sp>
        <p:nvSpPr>
          <p:cNvPr id="29" name="Rectangle 28"/>
          <p:cNvSpPr/>
          <p:nvPr/>
        </p:nvSpPr>
        <p:spPr>
          <a:xfrm>
            <a:off x="457200" y="3346704"/>
            <a:ext cx="11277295" cy="402336"/>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749040"/>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85216" y="3396996"/>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Expressive range</a:t>
            </a:r>
          </a:p>
        </p:txBody>
      </p:sp>
      <p:sp>
        <p:nvSpPr>
          <p:cNvPr id="32" name="TextBox 31"/>
          <p:cNvSpPr txBox="1"/>
          <p:nvPr/>
        </p:nvSpPr>
        <p:spPr>
          <a:xfrm>
            <a:off x="3066220" y="3396996"/>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Invoke this capability with these arguments</a:t>
            </a:r>
          </a:p>
        </p:txBody>
      </p:sp>
      <p:sp>
        <p:nvSpPr>
          <p:cNvPr id="33" name="TextBox 32"/>
          <p:cNvSpPr txBox="1"/>
          <p:nvPr/>
        </p:nvSpPr>
        <p:spPr>
          <a:xfrm>
            <a:off x="7351593" y="3396996"/>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Accept this objective; request further input if required</a:t>
            </a:r>
          </a:p>
        </p:txBody>
      </p:sp>
      <p:cxnSp>
        <p:nvCxnSpPr>
          <p:cNvPr id="34" name="Connector 33"/>
          <p:cNvCxnSpPr/>
          <p:nvPr/>
        </p:nvCxnSpPr>
        <p:spPr>
          <a:xfrm>
            <a:off x="457200" y="4151376"/>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85216" y="3799332"/>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Discovery</a:t>
            </a:r>
          </a:p>
        </p:txBody>
      </p:sp>
      <p:sp>
        <p:nvSpPr>
          <p:cNvPr id="36" name="TextBox 35"/>
          <p:cNvSpPr txBox="1"/>
          <p:nvPr/>
        </p:nvSpPr>
        <p:spPr>
          <a:xfrm>
            <a:off x="3066220" y="3799332"/>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The server enumerates its tools and resources</a:t>
            </a:r>
          </a:p>
        </p:txBody>
      </p:sp>
      <p:sp>
        <p:nvSpPr>
          <p:cNvPr id="37" name="TextBox 36"/>
          <p:cNvSpPr txBox="1"/>
          <p:nvPr/>
        </p:nvSpPr>
        <p:spPr>
          <a:xfrm>
            <a:off x="7351593" y="3799332"/>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An Agent Card at a well-known URI, a registry, or direct configuration</a:t>
            </a:r>
          </a:p>
        </p:txBody>
      </p:sp>
      <p:sp>
        <p:nvSpPr>
          <p:cNvPr id="38" name="Rectangle 37"/>
          <p:cNvSpPr/>
          <p:nvPr/>
        </p:nvSpPr>
        <p:spPr>
          <a:xfrm>
            <a:off x="457200" y="4151376"/>
            <a:ext cx="11277295" cy="402336"/>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455371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5216" y="4201668"/>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Failure modes designed for</a:t>
            </a:r>
          </a:p>
        </p:txBody>
      </p:sp>
      <p:sp>
        <p:nvSpPr>
          <p:cNvPr id="41" name="TextBox 40"/>
          <p:cNvSpPr txBox="1"/>
          <p:nvPr/>
        </p:nvSpPr>
        <p:spPr>
          <a:xfrm>
            <a:off x="3066220" y="4201668"/>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Invalid argument or unavailable dependency</a:t>
            </a:r>
          </a:p>
        </p:txBody>
      </p:sp>
      <p:sp>
        <p:nvSpPr>
          <p:cNvPr id="42" name="TextBox 41"/>
          <p:cNvSpPr txBox="1"/>
          <p:nvPr/>
        </p:nvSpPr>
        <p:spPr>
          <a:xfrm>
            <a:off x="7351593" y="4201668"/>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Rejected task, suspension pending input, extended execution time</a:t>
            </a:r>
          </a:p>
        </p:txBody>
      </p:sp>
      <p:cxnSp>
        <p:nvCxnSpPr>
          <p:cNvPr id="43" name="Connector 42"/>
          <p:cNvCxnSpPr/>
          <p:nvPr/>
        </p:nvCxnSpPr>
        <p:spPr>
          <a:xfrm>
            <a:off x="457200" y="495604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85216" y="4604004"/>
            <a:ext cx="2261548" cy="320040"/>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Execution boundary</a:t>
            </a:r>
          </a:p>
        </p:txBody>
      </p:sp>
      <p:sp>
        <p:nvSpPr>
          <p:cNvPr id="45" name="TextBox 44"/>
          <p:cNvSpPr txBox="1"/>
          <p:nvPr/>
        </p:nvSpPr>
        <p:spPr>
          <a:xfrm>
            <a:off x="3066220" y="4604004"/>
            <a:ext cx="4065916"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Within the agent’s own trust boundary</a:t>
            </a:r>
          </a:p>
        </p:txBody>
      </p:sp>
      <p:sp>
        <p:nvSpPr>
          <p:cNvPr id="46" name="TextBox 45"/>
          <p:cNvSpPr txBox="1"/>
          <p:nvPr/>
        </p:nvSpPr>
        <p:spPr>
          <a:xfrm>
            <a:off x="7351593" y="4604004"/>
            <a:ext cx="4291462" cy="320040"/>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Across a trust boundary the caller does not control</a:t>
            </a:r>
          </a:p>
        </p:txBody>
      </p:sp>
      <p:cxnSp>
        <p:nvCxnSpPr>
          <p:cNvPr id="47" name="Connector 46"/>
          <p:cNvCxnSpPr/>
          <p:nvPr/>
        </p:nvCxnSpPr>
        <p:spPr>
          <a:xfrm>
            <a:off x="2938204" y="1682496"/>
            <a:ext cx="0" cy="3273552"/>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223577" y="1682496"/>
            <a:ext cx="0" cy="3273552"/>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457200" y="5120640"/>
            <a:ext cx="11277295" cy="566928"/>
          </a:xfrm>
          <a:prstGeom prst="rect">
            <a:avLst/>
          </a:prstGeom>
          <a:solidFill>
            <a:srgbClr val="101A3C"/>
          </a:solidFill>
          <a:ln>
            <a:noFill/>
          </a:ln>
          <a:effectLst/>
        </p:spPr>
        <p:txBody>
          <a:bodyPr wrap="square" rtlCol="0" anchor="ctr"/>
          <a:lstStyle/>
          <a:p>
            <a:endParaRPr/>
          </a:p>
        </p:txBody>
      </p:sp>
      <p:sp>
        <p:nvSpPr>
          <p:cNvPr id="50" name="TextBox 49"/>
          <p:cNvSpPr txBox="1"/>
          <p:nvPr/>
        </p:nvSpPr>
        <p:spPr>
          <a:xfrm>
            <a:off x="694944" y="5248656"/>
            <a:ext cx="10801807" cy="329184"/>
          </a:xfrm>
          <a:prstGeom prst="rect">
            <a:avLst/>
          </a:prstGeom>
          <a:noFill/>
        </p:spPr>
        <p:txBody>
          <a:bodyPr wrap="square" lIns="0" tIns="0" rIns="0" bIns="0" anchor="t">
            <a:spAutoFit/>
          </a:bodyPr>
          <a:lstStyle/>
          <a:p>
            <a:pPr algn="l">
              <a:lnSpc>
                <a:spcPct val="122000"/>
              </a:lnSpc>
            </a:pPr>
            <a:r>
              <a:rPr sz="950" b="0" i="0" dirty="0">
                <a:solidFill>
                  <a:srgbClr val="FFFFFF"/>
                </a:solidFill>
                <a:latin typeface="Segoe UI"/>
                <a:cs typeface="Segoe UI"/>
              </a:rPr>
              <a:t>The two are complementary: the Model Context Protocol operates within an agent, A2A operates between agents. Both are hosted by the Agentic AI Foundation, and a single agent is commonly a client of the first and a client or server of the second.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05 · ARCHITECTURAL POSITIONING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Selecting an integration mechanism in Microsoft Foundry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supported mechanisms for agent-to-agent interaction, and one that has been withdrawn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learn.microsoft.com/azure/foundry/agents/concepts/workflow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17</a:t>
            </a:r>
          </a:p>
        </p:txBody>
      </p:sp>
      <p:sp>
        <p:nvSpPr>
          <p:cNvPr id="7" name="Rectangle 6"/>
          <p:cNvSpPr/>
          <p:nvPr/>
        </p:nvSpPr>
        <p:spPr>
          <a:xfrm>
            <a:off x="457200" y="1371600"/>
            <a:ext cx="3621024" cy="3291840"/>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371600"/>
            <a:ext cx="3621024" cy="548640"/>
          </a:xfrm>
          <a:prstGeom prst="rect">
            <a:avLst/>
          </a:prstGeom>
          <a:solidFill>
            <a:srgbClr val="101A3C"/>
          </a:solidFill>
          <a:ln>
            <a:noFill/>
          </a:ln>
          <a:effectLst/>
        </p:spPr>
        <p:txBody>
          <a:bodyPr wrap="square" rtlCol="0" anchor="ctr"/>
          <a:lstStyle/>
          <a:p>
            <a:endParaRPr/>
          </a:p>
        </p:txBody>
      </p:sp>
      <p:sp>
        <p:nvSpPr>
          <p:cNvPr id="9" name="TextBox 8"/>
          <p:cNvSpPr txBox="1"/>
          <p:nvPr/>
        </p:nvSpPr>
        <p:spPr>
          <a:xfrm>
            <a:off x="640080" y="1463040"/>
            <a:ext cx="3255264" cy="201168"/>
          </a:xfrm>
          <a:prstGeom prst="rect">
            <a:avLst/>
          </a:prstGeom>
          <a:noFill/>
        </p:spPr>
        <p:txBody>
          <a:bodyPr wrap="square" lIns="0" tIns="0" rIns="0" bIns="0" anchor="t">
            <a:spAutoFit/>
          </a:bodyPr>
          <a:lstStyle/>
          <a:p>
            <a:pPr algn="l">
              <a:lnSpc>
                <a:spcPct val="100000"/>
              </a:lnSpc>
            </a:pPr>
            <a:r>
              <a:rPr sz="1150" b="1" i="0" dirty="0">
                <a:solidFill>
                  <a:srgbClr val="FFFFFF"/>
                </a:solidFill>
                <a:latin typeface="Segoe UI"/>
                <a:cs typeface="Segoe UI"/>
              </a:rPr>
              <a:t>A2A tool</a:t>
            </a:r>
          </a:p>
        </p:txBody>
      </p:sp>
      <p:sp>
        <p:nvSpPr>
          <p:cNvPr id="10" name="TextBox 9"/>
          <p:cNvSpPr txBox="1"/>
          <p:nvPr/>
        </p:nvSpPr>
        <p:spPr>
          <a:xfrm>
            <a:off x="640080" y="1691640"/>
            <a:ext cx="3255264"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GENERALLY AVAILABLE</a:t>
            </a:r>
          </a:p>
        </p:txBody>
      </p:sp>
      <p:sp>
        <p:nvSpPr>
          <p:cNvPr id="11" name="TextBox 10"/>
          <p:cNvSpPr txBox="1"/>
          <p:nvPr/>
        </p:nvSpPr>
        <p:spPr>
          <a:xfrm>
            <a:off x="640080" y="204825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WHEN</a:t>
            </a:r>
          </a:p>
        </p:txBody>
      </p:sp>
      <p:sp>
        <p:nvSpPr>
          <p:cNvPr id="12" name="TextBox 11"/>
          <p:cNvSpPr txBox="1"/>
          <p:nvPr/>
        </p:nvSpPr>
        <p:spPr>
          <a:xfrm>
            <a:off x="640080" y="222199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One agent delegates to another without a defined multi-step process.</a:t>
            </a:r>
          </a:p>
        </p:txBody>
      </p:sp>
      <p:sp>
        <p:nvSpPr>
          <p:cNvPr id="13" name="TextBox 12"/>
          <p:cNvSpPr txBox="1"/>
          <p:nvPr/>
        </p:nvSpPr>
        <p:spPr>
          <a:xfrm>
            <a:off x="640080" y="268833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ORCHESTRATION</a:t>
            </a:r>
          </a:p>
        </p:txBody>
      </p:sp>
      <p:sp>
        <p:nvSpPr>
          <p:cNvPr id="14" name="TextBox 13"/>
          <p:cNvSpPr txBox="1"/>
          <p:nvPr/>
        </p:nvSpPr>
        <p:spPr>
          <a:xfrm>
            <a:off x="640080" y="286207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Retained by the calling agent, which remains in control of the interaction.</a:t>
            </a:r>
          </a:p>
        </p:txBody>
      </p:sp>
      <p:sp>
        <p:nvSpPr>
          <p:cNvPr id="15" name="TextBox 14"/>
          <p:cNvSpPr txBox="1"/>
          <p:nvPr/>
        </p:nvSpPr>
        <p:spPr>
          <a:xfrm>
            <a:off x="640080" y="332841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COUPLING</a:t>
            </a:r>
          </a:p>
        </p:txBody>
      </p:sp>
      <p:sp>
        <p:nvSpPr>
          <p:cNvPr id="16" name="TextBox 15"/>
          <p:cNvSpPr txBox="1"/>
          <p:nvPr/>
        </p:nvSpPr>
        <p:spPr>
          <a:xfrm>
            <a:off x="640080" y="350215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Loose — an endpoint and a capability manifest. The counterpart may be any implementation.</a:t>
            </a:r>
          </a:p>
        </p:txBody>
      </p:sp>
      <p:sp>
        <p:nvSpPr>
          <p:cNvPr id="17" name="TextBox 16"/>
          <p:cNvSpPr txBox="1"/>
          <p:nvPr/>
        </p:nvSpPr>
        <p:spPr>
          <a:xfrm>
            <a:off x="640080" y="396849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REACH</a:t>
            </a:r>
          </a:p>
        </p:txBody>
      </p:sp>
      <p:sp>
        <p:nvSpPr>
          <p:cNvPr id="18" name="TextBox 17"/>
          <p:cNvSpPr txBox="1"/>
          <p:nvPr/>
        </p:nvSpPr>
        <p:spPr>
          <a:xfrm>
            <a:off x="640080" y="414223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Any A2A-compliant agent, including another Foundry agent exposed for inbound A2A.</a:t>
            </a:r>
          </a:p>
        </p:txBody>
      </p:sp>
      <p:sp>
        <p:nvSpPr>
          <p:cNvPr id="19" name="Rectangle 18"/>
          <p:cNvSpPr/>
          <p:nvPr/>
        </p:nvSpPr>
        <p:spPr>
          <a:xfrm>
            <a:off x="4297680" y="1371600"/>
            <a:ext cx="3621024" cy="3291840"/>
          </a:xfrm>
          <a:prstGeom prst="rect">
            <a:avLst/>
          </a:prstGeom>
          <a:solidFill>
            <a:srgbClr val="F6F8FD"/>
          </a:solidFill>
          <a:ln w="9525">
            <a:solidFill>
              <a:srgbClr val="E1E7F4"/>
            </a:solidFill>
          </a:ln>
          <a:effectLst/>
        </p:spPr>
        <p:txBody>
          <a:bodyPr wrap="square" rtlCol="0" anchor="ctr"/>
          <a:lstStyle/>
          <a:p>
            <a:endParaRPr/>
          </a:p>
        </p:txBody>
      </p:sp>
      <p:sp>
        <p:nvSpPr>
          <p:cNvPr id="20" name="Rectangle 19"/>
          <p:cNvSpPr/>
          <p:nvPr/>
        </p:nvSpPr>
        <p:spPr>
          <a:xfrm>
            <a:off x="4297680" y="1371600"/>
            <a:ext cx="3621024" cy="548640"/>
          </a:xfrm>
          <a:prstGeom prst="rect">
            <a:avLst/>
          </a:prstGeom>
          <a:solidFill>
            <a:srgbClr val="2A3355"/>
          </a:solidFill>
          <a:ln>
            <a:noFill/>
          </a:ln>
          <a:effectLst/>
        </p:spPr>
        <p:txBody>
          <a:bodyPr wrap="square" rtlCol="0" anchor="ctr"/>
          <a:lstStyle/>
          <a:p>
            <a:endParaRPr/>
          </a:p>
        </p:txBody>
      </p:sp>
      <p:sp>
        <p:nvSpPr>
          <p:cNvPr id="21" name="TextBox 20"/>
          <p:cNvSpPr txBox="1"/>
          <p:nvPr/>
        </p:nvSpPr>
        <p:spPr>
          <a:xfrm>
            <a:off x="4480560" y="1463040"/>
            <a:ext cx="3255264" cy="201168"/>
          </a:xfrm>
          <a:prstGeom prst="rect">
            <a:avLst/>
          </a:prstGeom>
          <a:noFill/>
        </p:spPr>
        <p:txBody>
          <a:bodyPr wrap="square" lIns="0" tIns="0" rIns="0" bIns="0" anchor="t">
            <a:spAutoFit/>
          </a:bodyPr>
          <a:lstStyle/>
          <a:p>
            <a:pPr algn="l">
              <a:lnSpc>
                <a:spcPct val="100000"/>
              </a:lnSpc>
            </a:pPr>
            <a:r>
              <a:rPr sz="1150" b="1" i="0" dirty="0">
                <a:solidFill>
                  <a:srgbClr val="FFFFFF"/>
                </a:solidFill>
                <a:latin typeface="Segoe UI"/>
                <a:cs typeface="Segoe UI"/>
              </a:rPr>
              <a:t>Microsoft Agent Framework</a:t>
            </a:r>
          </a:p>
        </p:txBody>
      </p:sp>
      <p:sp>
        <p:nvSpPr>
          <p:cNvPr id="22" name="TextBox 21"/>
          <p:cNvSpPr txBox="1"/>
          <p:nvPr/>
        </p:nvSpPr>
        <p:spPr>
          <a:xfrm>
            <a:off x="4480560" y="1691640"/>
            <a:ext cx="3255264"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CODE-FIRST ORCHESTRATION</a:t>
            </a:r>
          </a:p>
        </p:txBody>
      </p:sp>
      <p:sp>
        <p:nvSpPr>
          <p:cNvPr id="23" name="TextBox 22"/>
          <p:cNvSpPr txBox="1"/>
          <p:nvPr/>
        </p:nvSpPr>
        <p:spPr>
          <a:xfrm>
            <a:off x="4480560" y="204825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WHEN</a:t>
            </a:r>
          </a:p>
        </p:txBody>
      </p:sp>
      <p:sp>
        <p:nvSpPr>
          <p:cNvPr id="24" name="TextBox 23"/>
          <p:cNvSpPr txBox="1"/>
          <p:nvPr/>
        </p:nvSpPr>
        <p:spPr>
          <a:xfrm>
            <a:off x="4480560" y="222199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 defined multi-agent process is required: sequential, concurrent, hand-off or group chat.</a:t>
            </a:r>
          </a:p>
        </p:txBody>
      </p:sp>
      <p:sp>
        <p:nvSpPr>
          <p:cNvPr id="25" name="TextBox 24"/>
          <p:cNvSpPr txBox="1"/>
          <p:nvPr/>
        </p:nvSpPr>
        <p:spPr>
          <a:xfrm>
            <a:off x="4480560" y="268833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ORCHESTRATION</a:t>
            </a:r>
          </a:p>
        </p:txBody>
      </p:sp>
      <p:sp>
        <p:nvSpPr>
          <p:cNvPr id="26" name="TextBox 25"/>
          <p:cNvSpPr txBox="1"/>
          <p:nvPr/>
        </p:nvSpPr>
        <p:spPr>
          <a:xfrm>
            <a:off x="4480560" y="286207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Explicit, expressed in application code on a supported runtime.</a:t>
            </a:r>
          </a:p>
        </p:txBody>
      </p:sp>
      <p:sp>
        <p:nvSpPr>
          <p:cNvPr id="27" name="TextBox 26"/>
          <p:cNvSpPr txBox="1"/>
          <p:nvPr/>
        </p:nvSpPr>
        <p:spPr>
          <a:xfrm>
            <a:off x="4480560" y="332841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COUPLING</a:t>
            </a:r>
          </a:p>
        </p:txBody>
      </p:sp>
      <p:sp>
        <p:nvSpPr>
          <p:cNvPr id="28" name="TextBox 27"/>
          <p:cNvSpPr txBox="1"/>
          <p:nvPr/>
        </p:nvSpPr>
        <p:spPr>
          <a:xfrm>
            <a:off x="4480560" y="350215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Tighter — though a remote A2A agent participates as a first-class member of a workflow.</a:t>
            </a:r>
          </a:p>
        </p:txBody>
      </p:sp>
      <p:sp>
        <p:nvSpPr>
          <p:cNvPr id="29" name="TextBox 28"/>
          <p:cNvSpPr txBox="1"/>
          <p:nvPr/>
        </p:nvSpPr>
        <p:spPr>
          <a:xfrm>
            <a:off x="4480560" y="396849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REACH</a:t>
            </a:r>
          </a:p>
        </p:txBody>
      </p:sp>
      <p:sp>
        <p:nvSpPr>
          <p:cNvPr id="30" name="TextBox 29"/>
          <p:cNvSpPr txBox="1"/>
          <p:nvPr/>
        </p:nvSpPr>
        <p:spPr>
          <a:xfrm>
            <a:off x="4480560" y="414223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Agents from any provider, composed within a single workflow definition.</a:t>
            </a:r>
          </a:p>
        </p:txBody>
      </p:sp>
      <p:sp>
        <p:nvSpPr>
          <p:cNvPr id="31" name="Rectangle 30"/>
          <p:cNvSpPr/>
          <p:nvPr/>
        </p:nvSpPr>
        <p:spPr>
          <a:xfrm>
            <a:off x="8138160" y="1371600"/>
            <a:ext cx="3621024" cy="3291840"/>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8138160" y="1371600"/>
            <a:ext cx="3621024" cy="548640"/>
          </a:xfrm>
          <a:prstGeom prst="rect">
            <a:avLst/>
          </a:prstGeom>
          <a:solidFill>
            <a:srgbClr val="2A3355"/>
          </a:solidFill>
          <a:ln>
            <a:noFill/>
          </a:ln>
          <a:effectLst/>
        </p:spPr>
        <p:txBody>
          <a:bodyPr wrap="square" rtlCol="0" anchor="ctr"/>
          <a:lstStyle/>
          <a:p>
            <a:endParaRPr/>
          </a:p>
        </p:txBody>
      </p:sp>
      <p:sp>
        <p:nvSpPr>
          <p:cNvPr id="33" name="TextBox 32"/>
          <p:cNvSpPr txBox="1"/>
          <p:nvPr/>
        </p:nvSpPr>
        <p:spPr>
          <a:xfrm>
            <a:off x="8321040" y="1463040"/>
            <a:ext cx="3255264" cy="201168"/>
          </a:xfrm>
          <a:prstGeom prst="rect">
            <a:avLst/>
          </a:prstGeom>
          <a:noFill/>
        </p:spPr>
        <p:txBody>
          <a:bodyPr wrap="square" lIns="0" tIns="0" rIns="0" bIns="0" anchor="t">
            <a:spAutoFit/>
          </a:bodyPr>
          <a:lstStyle/>
          <a:p>
            <a:pPr algn="l">
              <a:lnSpc>
                <a:spcPct val="100000"/>
              </a:lnSpc>
            </a:pPr>
            <a:r>
              <a:rPr sz="1150" b="1" i="0" dirty="0">
                <a:solidFill>
                  <a:srgbClr val="FFFFFF"/>
                </a:solidFill>
                <a:latin typeface="Segoe UI"/>
                <a:cs typeface="Segoe UI"/>
              </a:rPr>
              <a:t>Azure Logic Apps</a:t>
            </a:r>
          </a:p>
        </p:txBody>
      </p:sp>
      <p:sp>
        <p:nvSpPr>
          <p:cNvPr id="34" name="TextBox 33"/>
          <p:cNvSpPr txBox="1"/>
          <p:nvPr/>
        </p:nvSpPr>
        <p:spPr>
          <a:xfrm>
            <a:off x="8321040" y="1691640"/>
            <a:ext cx="3255264"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LOW-CODE ORCHESTRATION</a:t>
            </a:r>
          </a:p>
        </p:txBody>
      </p:sp>
      <p:sp>
        <p:nvSpPr>
          <p:cNvPr id="35" name="TextBox 34"/>
          <p:cNvSpPr txBox="1"/>
          <p:nvPr/>
        </p:nvSpPr>
        <p:spPr>
          <a:xfrm>
            <a:off x="8321040" y="204825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APPLICABLE WHEN</a:t>
            </a:r>
          </a:p>
        </p:txBody>
      </p:sp>
      <p:sp>
        <p:nvSpPr>
          <p:cNvPr id="36" name="TextBox 35"/>
          <p:cNvSpPr txBox="1"/>
          <p:nvPr/>
        </p:nvSpPr>
        <p:spPr>
          <a:xfrm>
            <a:off x="8321040" y="222199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A visual designer is required and the process is business-process automation.</a:t>
            </a:r>
          </a:p>
        </p:txBody>
      </p:sp>
      <p:sp>
        <p:nvSpPr>
          <p:cNvPr id="37" name="TextBox 36"/>
          <p:cNvSpPr txBox="1"/>
          <p:nvPr/>
        </p:nvSpPr>
        <p:spPr>
          <a:xfrm>
            <a:off x="8321040" y="268833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ORCHESTRATION</a:t>
            </a:r>
          </a:p>
        </p:txBody>
      </p:sp>
      <p:sp>
        <p:nvSpPr>
          <p:cNvPr id="38" name="TextBox 37"/>
          <p:cNvSpPr txBox="1"/>
          <p:nvPr/>
        </p:nvSpPr>
        <p:spPr>
          <a:xfrm>
            <a:off x="8321040" y="286207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Held in the Logic App, external to the agent.</a:t>
            </a:r>
          </a:p>
        </p:txBody>
      </p:sp>
      <p:sp>
        <p:nvSpPr>
          <p:cNvPr id="39" name="TextBox 38"/>
          <p:cNvSpPr txBox="1"/>
          <p:nvPr/>
        </p:nvSpPr>
        <p:spPr>
          <a:xfrm>
            <a:off x="8321040" y="332841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COUPLING</a:t>
            </a:r>
          </a:p>
        </p:txBody>
      </p:sp>
      <p:sp>
        <p:nvSpPr>
          <p:cNvPr id="40" name="TextBox 39"/>
          <p:cNvSpPr txBox="1"/>
          <p:nvPr/>
        </p:nvSpPr>
        <p:spPr>
          <a:xfrm>
            <a:off x="8321040" y="350215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Connector-based, with the operational characteristics that implies.</a:t>
            </a:r>
          </a:p>
        </p:txBody>
      </p:sp>
      <p:sp>
        <p:nvSpPr>
          <p:cNvPr id="41" name="TextBox 40"/>
          <p:cNvSpPr txBox="1"/>
          <p:nvPr/>
        </p:nvSpPr>
        <p:spPr>
          <a:xfrm>
            <a:off x="8321040" y="3968496"/>
            <a:ext cx="3255264" cy="146304"/>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REACH</a:t>
            </a:r>
          </a:p>
        </p:txBody>
      </p:sp>
      <p:sp>
        <p:nvSpPr>
          <p:cNvPr id="42" name="TextBox 41"/>
          <p:cNvSpPr txBox="1"/>
          <p:nvPr/>
        </p:nvSpPr>
        <p:spPr>
          <a:xfrm>
            <a:off x="8321040" y="4142232"/>
            <a:ext cx="3255264" cy="438912"/>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The systems addressable by the available connectors.</a:t>
            </a:r>
          </a:p>
        </p:txBody>
      </p:sp>
      <p:sp>
        <p:nvSpPr>
          <p:cNvPr id="43" name="Rectangle 42"/>
          <p:cNvSpPr/>
          <p:nvPr/>
        </p:nvSpPr>
        <p:spPr>
          <a:xfrm>
            <a:off x="457200" y="4809744"/>
            <a:ext cx="11277295" cy="713232"/>
          </a:xfrm>
          <a:prstGeom prst="rect">
            <a:avLst/>
          </a:prstGeom>
          <a:solidFill>
            <a:srgbClr val="EBEFF7"/>
          </a:solidFill>
          <a:ln>
            <a:noFill/>
          </a:ln>
          <a:effectLst/>
        </p:spPr>
        <p:txBody>
          <a:bodyPr wrap="square" rtlCol="0" anchor="ctr"/>
          <a:lstStyle/>
          <a:p>
            <a:endParaRPr/>
          </a:p>
        </p:txBody>
      </p:sp>
      <p:sp>
        <p:nvSpPr>
          <p:cNvPr id="44" name="Rectangle 43"/>
          <p:cNvSpPr/>
          <p:nvPr/>
        </p:nvSpPr>
        <p:spPr>
          <a:xfrm>
            <a:off x="457200" y="4809744"/>
            <a:ext cx="41148" cy="713232"/>
          </a:xfrm>
          <a:prstGeom prst="rect">
            <a:avLst/>
          </a:prstGeom>
          <a:solidFill>
            <a:srgbClr val="00B39F"/>
          </a:solidFill>
          <a:ln>
            <a:noFill/>
          </a:ln>
          <a:effectLst/>
        </p:spPr>
        <p:txBody>
          <a:bodyPr wrap="square" rtlCol="0" anchor="ctr"/>
          <a:lstStyle/>
          <a:p>
            <a:endParaRPr/>
          </a:p>
        </p:txBody>
      </p:sp>
      <p:sp>
        <p:nvSpPr>
          <p:cNvPr id="45" name="TextBox 44"/>
          <p:cNvSpPr txBox="1"/>
          <p:nvPr/>
        </p:nvSpPr>
        <p:spPr>
          <a:xfrm>
            <a:off x="694944" y="4910328"/>
            <a:ext cx="10856671" cy="530352"/>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Two changes to note. The Connected Agents tool from the classic Agents API is not present in the new Foundry Agent Service; the documented replacements are the A2A tool and workflows. Visual workflows are scheduled for retirement on 1 December 2026, with new development directed to Microsoft Agent Framework.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05 · ARCHITECTURAL POSITIONING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Applicability criteria</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Conditions under which A2A is the appropriate mechanism, and conditions under which it is not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learn.microsoft.com/azure/foundry/agents/how-to/tools/agent-to-agent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18</a:t>
            </a:r>
          </a:p>
        </p:txBody>
      </p:sp>
      <p:sp>
        <p:nvSpPr>
          <p:cNvPr id="7" name="TextBox 6"/>
          <p:cNvSpPr txBox="1"/>
          <p:nvPr/>
        </p:nvSpPr>
        <p:spPr>
          <a:xfrm>
            <a:off x="457200" y="1353312"/>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A2A IS THE APPROPRIATE MECHANISM WHERE</a:t>
            </a:r>
          </a:p>
        </p:txBody>
      </p:sp>
      <p:sp>
        <p:nvSpPr>
          <p:cNvPr id="8" name="TextBox 7"/>
          <p:cNvSpPr txBox="1"/>
          <p:nvPr/>
        </p:nvSpPr>
        <p:spPr>
          <a:xfrm>
            <a:off x="6345936" y="1353312"/>
            <a:ext cx="5486400" cy="182880"/>
          </a:xfrm>
          <a:prstGeom prst="rect">
            <a:avLst/>
          </a:prstGeom>
          <a:noFill/>
        </p:spPr>
        <p:txBody>
          <a:bodyPr wrap="square" lIns="0" tIns="0" rIns="0" bIns="0" anchor="t">
            <a:spAutoFit/>
          </a:bodyPr>
          <a:lstStyle/>
          <a:p>
            <a:pPr algn="l">
              <a:lnSpc>
                <a:spcPct val="100000"/>
              </a:lnSpc>
            </a:pPr>
            <a:r>
              <a:rPr sz="800" b="1" i="0" spc="120" dirty="0">
                <a:solidFill>
                  <a:srgbClr val="44495B"/>
                </a:solidFill>
                <a:latin typeface="Segoe UI"/>
                <a:cs typeface="Segoe UI"/>
              </a:rPr>
              <a:t>A2A IS NOT THE APPROPRIATE MECHANISM WHERE</a:t>
            </a:r>
          </a:p>
        </p:txBody>
      </p:sp>
      <p:sp>
        <p:nvSpPr>
          <p:cNvPr id="9" name="Rectangle 8"/>
          <p:cNvSpPr/>
          <p:nvPr/>
        </p:nvSpPr>
        <p:spPr>
          <a:xfrm>
            <a:off x="457200" y="1609344"/>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10" name="Rectangle 9"/>
          <p:cNvSpPr/>
          <p:nvPr/>
        </p:nvSpPr>
        <p:spPr>
          <a:xfrm>
            <a:off x="457200" y="1609344"/>
            <a:ext cx="41148" cy="859536"/>
          </a:xfrm>
          <a:prstGeom prst="rect">
            <a:avLst/>
          </a:prstGeom>
          <a:solidFill>
            <a:srgbClr val="00B39F"/>
          </a:solidFill>
          <a:ln>
            <a:noFill/>
          </a:ln>
          <a:effectLst/>
        </p:spPr>
        <p:txBody>
          <a:bodyPr wrap="square" rtlCol="0" anchor="ctr"/>
          <a:lstStyle/>
          <a:p>
            <a:endParaRPr/>
          </a:p>
        </p:txBody>
      </p:sp>
      <p:sp>
        <p:nvSpPr>
          <p:cNvPr id="11" name="TextBox 10"/>
          <p:cNvSpPr txBox="1"/>
          <p:nvPr/>
        </p:nvSpPr>
        <p:spPr>
          <a:xfrm>
            <a:off x="658368" y="1728216"/>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External ownership</a:t>
            </a:r>
          </a:p>
        </p:txBody>
      </p:sp>
      <p:sp>
        <p:nvSpPr>
          <p:cNvPr id="12" name="TextBox 11"/>
          <p:cNvSpPr txBox="1"/>
          <p:nvPr/>
        </p:nvSpPr>
        <p:spPr>
          <a:xfrm>
            <a:off x="658368" y="1956816"/>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The counterpart is operated by another team, business unit or organisation and changes independently of your release cycle.</a:t>
            </a:r>
          </a:p>
        </p:txBody>
      </p:sp>
      <p:sp>
        <p:nvSpPr>
          <p:cNvPr id="13" name="Rectangle 12"/>
          <p:cNvSpPr/>
          <p:nvPr/>
        </p:nvSpPr>
        <p:spPr>
          <a:xfrm>
            <a:off x="6345936" y="1609344"/>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14" name="Rectangle 13"/>
          <p:cNvSpPr/>
          <p:nvPr/>
        </p:nvSpPr>
        <p:spPr>
          <a:xfrm>
            <a:off x="6345936" y="1609344"/>
            <a:ext cx="41148" cy="859536"/>
          </a:xfrm>
          <a:prstGeom prst="rect">
            <a:avLst/>
          </a:prstGeom>
          <a:solidFill>
            <a:srgbClr val="8A91A6"/>
          </a:solidFill>
          <a:ln>
            <a:noFill/>
          </a:ln>
          <a:effectLst/>
        </p:spPr>
        <p:txBody>
          <a:bodyPr wrap="square" rtlCol="0" anchor="ctr"/>
          <a:lstStyle/>
          <a:p>
            <a:endParaRPr/>
          </a:p>
        </p:txBody>
      </p:sp>
      <p:sp>
        <p:nvSpPr>
          <p:cNvPr id="15" name="TextBox 14"/>
          <p:cNvSpPr txBox="1"/>
          <p:nvPr/>
        </p:nvSpPr>
        <p:spPr>
          <a:xfrm>
            <a:off x="6547104" y="1728216"/>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Fixed-schema operation</a:t>
            </a:r>
          </a:p>
        </p:txBody>
      </p:sp>
      <p:sp>
        <p:nvSpPr>
          <p:cNvPr id="16" name="TextBox 15"/>
          <p:cNvSpPr txBox="1"/>
          <p:nvPr/>
        </p:nvSpPr>
        <p:spPr>
          <a:xfrm>
            <a:off x="6547104" y="1956816"/>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Defined inputs, defined outputs, no retained state. This is a tool; the Model Context Protocol applies and the failure model is simpler.</a:t>
            </a:r>
          </a:p>
        </p:txBody>
      </p:sp>
      <p:sp>
        <p:nvSpPr>
          <p:cNvPr id="17" name="Rectangle 16"/>
          <p:cNvSpPr/>
          <p:nvPr/>
        </p:nvSpPr>
        <p:spPr>
          <a:xfrm>
            <a:off x="457200" y="2560320"/>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18" name="Rectangle 17"/>
          <p:cNvSpPr/>
          <p:nvPr/>
        </p:nvSpPr>
        <p:spPr>
          <a:xfrm>
            <a:off x="457200" y="2560320"/>
            <a:ext cx="41148" cy="859536"/>
          </a:xfrm>
          <a:prstGeom prst="rect">
            <a:avLst/>
          </a:prstGeom>
          <a:solidFill>
            <a:srgbClr val="00B39F"/>
          </a:solidFill>
          <a:ln>
            <a:noFill/>
          </a:ln>
          <a:effectLst/>
        </p:spPr>
        <p:txBody>
          <a:bodyPr wrap="square" rtlCol="0" anchor="ctr"/>
          <a:lstStyle/>
          <a:p>
            <a:endParaRPr/>
          </a:p>
        </p:txBody>
      </p:sp>
      <p:sp>
        <p:nvSpPr>
          <p:cNvPr id="19" name="TextBox 18"/>
          <p:cNvSpPr txBox="1"/>
          <p:nvPr/>
        </p:nvSpPr>
        <p:spPr>
          <a:xfrm>
            <a:off x="658368" y="2679191"/>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Objective-level delegation</a:t>
            </a:r>
          </a:p>
        </p:txBody>
      </p:sp>
      <p:sp>
        <p:nvSpPr>
          <p:cNvPr id="20" name="TextBox 19"/>
          <p:cNvSpPr txBox="1"/>
          <p:nvPr/>
        </p:nvSpPr>
        <p:spPr>
          <a:xfrm>
            <a:off x="658368" y="2907791"/>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The remote agent may legitimately require clarification before it can proceed, and suspension must not be treated as failure.</a:t>
            </a:r>
          </a:p>
        </p:txBody>
      </p:sp>
      <p:sp>
        <p:nvSpPr>
          <p:cNvPr id="21" name="Rectangle 20"/>
          <p:cNvSpPr/>
          <p:nvPr/>
        </p:nvSpPr>
        <p:spPr>
          <a:xfrm>
            <a:off x="6345936" y="2560320"/>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22" name="Rectangle 21"/>
          <p:cNvSpPr/>
          <p:nvPr/>
        </p:nvSpPr>
        <p:spPr>
          <a:xfrm>
            <a:off x="6345936" y="2560320"/>
            <a:ext cx="41148" cy="859536"/>
          </a:xfrm>
          <a:prstGeom prst="rect">
            <a:avLst/>
          </a:prstGeom>
          <a:solidFill>
            <a:srgbClr val="8A91A6"/>
          </a:solidFill>
          <a:ln>
            <a:noFill/>
          </a:ln>
          <a:effectLst/>
        </p:spPr>
        <p:txBody>
          <a:bodyPr wrap="square" rtlCol="0" anchor="ctr"/>
          <a:lstStyle/>
          <a:p>
            <a:endParaRPr/>
          </a:p>
        </p:txBody>
      </p:sp>
      <p:sp>
        <p:nvSpPr>
          <p:cNvPr id="23" name="TextBox 22"/>
          <p:cNvSpPr txBox="1"/>
          <p:nvPr/>
        </p:nvSpPr>
        <p:spPr>
          <a:xfrm>
            <a:off x="6547104" y="2679191"/>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Defined multi-step process</a:t>
            </a:r>
          </a:p>
        </p:txBody>
      </p:sp>
      <p:sp>
        <p:nvSpPr>
          <p:cNvPr id="24" name="TextBox 23"/>
          <p:cNvSpPr txBox="1"/>
          <p:nvPr/>
        </p:nvSpPr>
        <p:spPr>
          <a:xfrm>
            <a:off x="6547104" y="2907791"/>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Branching, approval or compensation across several agents. Orchestration belongs in a workflow where the control flow is explicit.</a:t>
            </a:r>
          </a:p>
        </p:txBody>
      </p:sp>
      <p:sp>
        <p:nvSpPr>
          <p:cNvPr id="25" name="Rectangle 24"/>
          <p:cNvSpPr/>
          <p:nvPr/>
        </p:nvSpPr>
        <p:spPr>
          <a:xfrm>
            <a:off x="457200" y="3511296"/>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26" name="Rectangle 25"/>
          <p:cNvSpPr/>
          <p:nvPr/>
        </p:nvSpPr>
        <p:spPr>
          <a:xfrm>
            <a:off x="457200" y="3511296"/>
            <a:ext cx="41148" cy="859536"/>
          </a:xfrm>
          <a:prstGeom prst="rect">
            <a:avLst/>
          </a:prstGeom>
          <a:solidFill>
            <a:srgbClr val="00B39F"/>
          </a:solidFill>
          <a:ln>
            <a:noFill/>
          </a:ln>
          <a:effectLst/>
        </p:spPr>
        <p:txBody>
          <a:bodyPr wrap="square" rtlCol="0" anchor="ctr"/>
          <a:lstStyle/>
          <a:p>
            <a:endParaRPr/>
          </a:p>
        </p:txBody>
      </p:sp>
      <p:sp>
        <p:nvSpPr>
          <p:cNvPr id="27" name="TextBox 26"/>
          <p:cNvSpPr txBox="1"/>
          <p:nvPr/>
        </p:nvSpPr>
        <p:spPr>
          <a:xfrm>
            <a:off x="658368" y="3630168"/>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Uniform integration surface</a:t>
            </a:r>
          </a:p>
        </p:txBody>
      </p:sp>
      <p:sp>
        <p:nvSpPr>
          <p:cNvPr id="28" name="TextBox 27"/>
          <p:cNvSpPr txBox="1"/>
          <p:nvPr/>
        </p:nvSpPr>
        <p:spPr>
          <a:xfrm>
            <a:off x="658368" y="3858768"/>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A single discovery mechanism and task model is preferred over a bespoke contract negotiated per counterpart.</a:t>
            </a:r>
          </a:p>
        </p:txBody>
      </p:sp>
      <p:sp>
        <p:nvSpPr>
          <p:cNvPr id="29" name="Rectangle 28"/>
          <p:cNvSpPr/>
          <p:nvPr/>
        </p:nvSpPr>
        <p:spPr>
          <a:xfrm>
            <a:off x="6345936" y="3511296"/>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30" name="Rectangle 29"/>
          <p:cNvSpPr/>
          <p:nvPr/>
        </p:nvSpPr>
        <p:spPr>
          <a:xfrm>
            <a:off x="6345936" y="3511296"/>
            <a:ext cx="41148" cy="859536"/>
          </a:xfrm>
          <a:prstGeom prst="rect">
            <a:avLst/>
          </a:prstGeom>
          <a:solidFill>
            <a:srgbClr val="8A91A6"/>
          </a:solidFill>
          <a:ln>
            <a:noFill/>
          </a:ln>
          <a:effectLst/>
        </p:spPr>
        <p:txBody>
          <a:bodyPr wrap="square" rtlCol="0" anchor="ctr"/>
          <a:lstStyle/>
          <a:p>
            <a:endParaRPr/>
          </a:p>
        </p:txBody>
      </p:sp>
      <p:sp>
        <p:nvSpPr>
          <p:cNvPr id="31" name="TextBox 30"/>
          <p:cNvSpPr txBox="1"/>
          <p:nvPr/>
        </p:nvSpPr>
        <p:spPr>
          <a:xfrm>
            <a:off x="6547104" y="3630168"/>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Non-text payloads</a:t>
            </a:r>
          </a:p>
        </p:txBody>
      </p:sp>
      <p:sp>
        <p:nvSpPr>
          <p:cNvPr id="32" name="TextBox 31"/>
          <p:cNvSpPr txBox="1"/>
          <p:nvPr/>
        </p:nvSpPr>
        <p:spPr>
          <a:xfrm>
            <a:off x="6547104" y="3858768"/>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Foundry A2A targets carry the text modality only; file and structured data parts are not transmitted.</a:t>
            </a:r>
          </a:p>
        </p:txBody>
      </p:sp>
      <p:sp>
        <p:nvSpPr>
          <p:cNvPr id="33" name="Rectangle 32"/>
          <p:cNvSpPr/>
          <p:nvPr/>
        </p:nvSpPr>
        <p:spPr>
          <a:xfrm>
            <a:off x="457200" y="4462272"/>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34" name="Rectangle 33"/>
          <p:cNvSpPr/>
          <p:nvPr/>
        </p:nvSpPr>
        <p:spPr>
          <a:xfrm>
            <a:off x="457200" y="4462272"/>
            <a:ext cx="41148" cy="859536"/>
          </a:xfrm>
          <a:prstGeom prst="rect">
            <a:avLst/>
          </a:prstGeom>
          <a:solidFill>
            <a:srgbClr val="00B39F"/>
          </a:solidFill>
          <a:ln>
            <a:noFill/>
          </a:ln>
          <a:effectLst/>
        </p:spPr>
        <p:txBody>
          <a:bodyPr wrap="square" rtlCol="0" anchor="ctr"/>
          <a:lstStyle/>
          <a:p>
            <a:endParaRPr/>
          </a:p>
        </p:txBody>
      </p:sp>
      <p:sp>
        <p:nvSpPr>
          <p:cNvPr id="35" name="TextBox 34"/>
          <p:cNvSpPr txBox="1"/>
          <p:nvPr/>
        </p:nvSpPr>
        <p:spPr>
          <a:xfrm>
            <a:off x="658368" y="4581144"/>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Capability publication</a:t>
            </a:r>
          </a:p>
        </p:txBody>
      </p:sp>
      <p:sp>
        <p:nvSpPr>
          <p:cNvPr id="36" name="TextBox 35"/>
          <p:cNvSpPr txBox="1"/>
          <p:nvPr/>
        </p:nvSpPr>
        <p:spPr>
          <a:xfrm>
            <a:off x="658368" y="4809744"/>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Other parties should be able to discover and invoke your agent without a proprietary client library.</a:t>
            </a:r>
          </a:p>
        </p:txBody>
      </p:sp>
      <p:sp>
        <p:nvSpPr>
          <p:cNvPr id="37" name="Rectangle 36"/>
          <p:cNvSpPr/>
          <p:nvPr/>
        </p:nvSpPr>
        <p:spPr>
          <a:xfrm>
            <a:off x="6345936" y="4462272"/>
            <a:ext cx="5394960" cy="859536"/>
          </a:xfrm>
          <a:prstGeom prst="rect">
            <a:avLst/>
          </a:prstGeom>
          <a:solidFill>
            <a:srgbClr val="F6F8FD"/>
          </a:solidFill>
          <a:ln w="9525">
            <a:solidFill>
              <a:srgbClr val="E1E7F4"/>
            </a:solidFill>
          </a:ln>
          <a:effectLst/>
        </p:spPr>
        <p:txBody>
          <a:bodyPr wrap="square" rtlCol="0" anchor="ctr"/>
          <a:lstStyle/>
          <a:p>
            <a:endParaRPr/>
          </a:p>
        </p:txBody>
      </p:sp>
      <p:sp>
        <p:nvSpPr>
          <p:cNvPr id="38" name="Rectangle 37"/>
          <p:cNvSpPr/>
          <p:nvPr/>
        </p:nvSpPr>
        <p:spPr>
          <a:xfrm>
            <a:off x="6345936" y="4462272"/>
            <a:ext cx="41148" cy="859536"/>
          </a:xfrm>
          <a:prstGeom prst="rect">
            <a:avLst/>
          </a:prstGeom>
          <a:solidFill>
            <a:srgbClr val="8A91A6"/>
          </a:solidFill>
          <a:ln>
            <a:noFill/>
          </a:ln>
          <a:effectLst/>
        </p:spPr>
        <p:txBody>
          <a:bodyPr wrap="square" rtlCol="0" anchor="ctr"/>
          <a:lstStyle/>
          <a:p>
            <a:endParaRPr/>
          </a:p>
        </p:txBody>
      </p:sp>
      <p:sp>
        <p:nvSpPr>
          <p:cNvPr id="39" name="TextBox 38"/>
          <p:cNvSpPr txBox="1"/>
          <p:nvPr/>
        </p:nvSpPr>
        <p:spPr>
          <a:xfrm>
            <a:off x="6547104" y="4581144"/>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Progress reporting required</a:t>
            </a:r>
          </a:p>
        </p:txBody>
      </p:sp>
      <p:sp>
        <p:nvSpPr>
          <p:cNvPr id="40" name="TextBox 39"/>
          <p:cNvSpPr txBox="1"/>
          <p:nvPr/>
        </p:nvSpPr>
        <p:spPr>
          <a:xfrm>
            <a:off x="6547104" y="4809744"/>
            <a:ext cx="4992624" cy="420624"/>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Server-Sent Events are not supported for Foundry A2A targets, so no intermediate state is available to present.</a:t>
            </a:r>
          </a:p>
        </p:txBody>
      </p:sp>
      <p:sp>
        <p:nvSpPr>
          <p:cNvPr id="41" name="TextBox 40"/>
          <p:cNvSpPr txBox="1"/>
          <p:nvPr/>
        </p:nvSpPr>
        <p:spPr>
          <a:xfrm>
            <a:off x="457200" y="5449824"/>
            <a:ext cx="11277295" cy="182880"/>
          </a:xfrm>
          <a:prstGeom prst="rect">
            <a:avLst/>
          </a:prstGeom>
          <a:noFill/>
        </p:spPr>
        <p:txBody>
          <a:bodyPr wrap="square" lIns="0" tIns="0" rIns="0" bIns="0" anchor="t">
            <a:spAutoFit/>
          </a:bodyPr>
          <a:lstStyle/>
          <a:p>
            <a:pPr algn="l">
              <a:lnSpc>
                <a:spcPct val="100000"/>
              </a:lnSpc>
            </a:pPr>
            <a:r>
              <a:rPr sz="800" b="0" i="1" dirty="0">
                <a:solidFill>
                  <a:srgbClr val="44495B"/>
                </a:solidFill>
                <a:latin typeface="Segoe UI"/>
                <a:cs typeface="Segoe UI"/>
              </a:rPr>
              <a:t>Selection test: where the counterpart can be invoked with a fixed schema and requires no interaction until completion, it is a tool, not an agent.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06 · ADOPTION AND STATUS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Implementation phases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sequence in which each phase establishes a precondition for the next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learn.microsoft.com/azure/foundry/agents/how-to/tools/agent-to-agent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19</a:t>
            </a:r>
          </a:p>
        </p:txBody>
      </p:sp>
      <p:sp>
        <p:nvSpPr>
          <p:cNvPr id="7" name="Rectangle 6"/>
          <p:cNvSpPr/>
          <p:nvPr/>
        </p:nvSpPr>
        <p:spPr>
          <a:xfrm>
            <a:off x="457200" y="1554480"/>
            <a:ext cx="2148840" cy="2249424"/>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554480"/>
            <a:ext cx="2148840" cy="41148"/>
          </a:xfrm>
          <a:prstGeom prst="rect">
            <a:avLst/>
          </a:prstGeom>
          <a:solidFill>
            <a:srgbClr val="00B39F"/>
          </a:solidFill>
          <a:ln>
            <a:noFill/>
          </a:ln>
          <a:effectLst/>
        </p:spPr>
        <p:txBody>
          <a:bodyPr wrap="square" rtlCol="0" anchor="ctr"/>
          <a:lstStyle/>
          <a:p>
            <a:endParaRPr/>
          </a:p>
        </p:txBody>
      </p:sp>
      <p:sp>
        <p:nvSpPr>
          <p:cNvPr id="9" name="TextBox 8"/>
          <p:cNvSpPr txBox="1"/>
          <p:nvPr/>
        </p:nvSpPr>
        <p:spPr>
          <a:xfrm>
            <a:off x="640080" y="1755648"/>
            <a:ext cx="1783080" cy="256032"/>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01</a:t>
            </a:r>
          </a:p>
        </p:txBody>
      </p:sp>
      <p:sp>
        <p:nvSpPr>
          <p:cNvPr id="10" name="TextBox 9"/>
          <p:cNvSpPr txBox="1"/>
          <p:nvPr/>
        </p:nvSpPr>
        <p:spPr>
          <a:xfrm>
            <a:off x="640080" y="2121408"/>
            <a:ext cx="1783080" cy="420624"/>
          </a:xfrm>
          <a:prstGeom prst="rect">
            <a:avLst/>
          </a:prstGeom>
          <a:noFill/>
        </p:spPr>
        <p:txBody>
          <a:bodyPr wrap="square" lIns="0" tIns="0" rIns="0" bIns="0" anchor="t">
            <a:spAutoFit/>
          </a:bodyPr>
          <a:lstStyle/>
          <a:p>
            <a:pPr algn="l">
              <a:lnSpc>
                <a:spcPct val="110000"/>
              </a:lnSpc>
            </a:pPr>
            <a:r>
              <a:rPr sz="1000" b="1" i="0" dirty="0">
                <a:solidFill>
                  <a:srgbClr val="101A3C"/>
                </a:solidFill>
                <a:latin typeface="Segoe UI"/>
                <a:cs typeface="Segoe UI"/>
              </a:rPr>
              <a:t>Establish connectivity</a:t>
            </a:r>
          </a:p>
        </p:txBody>
      </p:sp>
      <p:sp>
        <p:nvSpPr>
          <p:cNvPr id="11" name="TextBox 10"/>
          <p:cNvSpPr txBox="1"/>
          <p:nvPr/>
        </p:nvSpPr>
        <p:spPr>
          <a:xfrm>
            <a:off x="640080" y="2670048"/>
            <a:ext cx="1783080" cy="106070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Attach the generally available a2a tool to a test agent and invoke a known-good remote endpoint. Confirm card resolution and completion of a single task.</a:t>
            </a:r>
          </a:p>
        </p:txBody>
      </p:sp>
      <p:cxnSp>
        <p:nvCxnSpPr>
          <p:cNvPr id="12" name="Connector 11"/>
          <p:cNvCxnSpPr/>
          <p:nvPr/>
        </p:nvCxnSpPr>
        <p:spPr>
          <a:xfrm>
            <a:off x="2610612" y="2679192"/>
            <a:ext cx="109728" cy="0"/>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724912" y="1554480"/>
            <a:ext cx="2148840" cy="2249424"/>
          </a:xfrm>
          <a:prstGeom prst="rect">
            <a:avLst/>
          </a:prstGeom>
          <a:solidFill>
            <a:srgbClr val="F6F8FD"/>
          </a:solidFill>
          <a:ln w="9525">
            <a:solidFill>
              <a:srgbClr val="E1E7F4"/>
            </a:solidFill>
          </a:ln>
          <a:effectLst/>
        </p:spPr>
        <p:txBody>
          <a:bodyPr wrap="square" rtlCol="0" anchor="ctr"/>
          <a:lstStyle/>
          <a:p>
            <a:endParaRPr/>
          </a:p>
        </p:txBody>
      </p:sp>
      <p:sp>
        <p:nvSpPr>
          <p:cNvPr id="14" name="Rectangle 13"/>
          <p:cNvSpPr/>
          <p:nvPr/>
        </p:nvSpPr>
        <p:spPr>
          <a:xfrm>
            <a:off x="2724912" y="1554480"/>
            <a:ext cx="2148840" cy="41148"/>
          </a:xfrm>
          <a:prstGeom prst="rect">
            <a:avLst/>
          </a:prstGeom>
          <a:solidFill>
            <a:srgbClr val="00B39F"/>
          </a:solidFill>
          <a:ln>
            <a:noFill/>
          </a:ln>
          <a:effectLst/>
        </p:spPr>
        <p:txBody>
          <a:bodyPr wrap="square" rtlCol="0" anchor="ctr"/>
          <a:lstStyle/>
          <a:p>
            <a:endParaRPr/>
          </a:p>
        </p:txBody>
      </p:sp>
      <p:sp>
        <p:nvSpPr>
          <p:cNvPr id="15" name="TextBox 14"/>
          <p:cNvSpPr txBox="1"/>
          <p:nvPr/>
        </p:nvSpPr>
        <p:spPr>
          <a:xfrm>
            <a:off x="2907792" y="1755648"/>
            <a:ext cx="1783080" cy="256032"/>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02</a:t>
            </a:r>
          </a:p>
        </p:txBody>
      </p:sp>
      <p:sp>
        <p:nvSpPr>
          <p:cNvPr id="16" name="TextBox 15"/>
          <p:cNvSpPr txBox="1"/>
          <p:nvPr/>
        </p:nvSpPr>
        <p:spPr>
          <a:xfrm>
            <a:off x="2907792" y="2121408"/>
            <a:ext cx="1783080" cy="420624"/>
          </a:xfrm>
          <a:prstGeom prst="rect">
            <a:avLst/>
          </a:prstGeom>
          <a:noFill/>
        </p:spPr>
        <p:txBody>
          <a:bodyPr wrap="square" lIns="0" tIns="0" rIns="0" bIns="0" anchor="t">
            <a:spAutoFit/>
          </a:bodyPr>
          <a:lstStyle/>
          <a:p>
            <a:pPr algn="l">
              <a:lnSpc>
                <a:spcPct val="110000"/>
              </a:lnSpc>
            </a:pPr>
            <a:r>
              <a:rPr sz="1000" b="1" i="0" dirty="0">
                <a:solidFill>
                  <a:srgbClr val="101A3C"/>
                </a:solidFill>
                <a:latin typeface="Segoe UI"/>
                <a:cs typeface="Segoe UI"/>
              </a:rPr>
              <a:t>Determine the identity model</a:t>
            </a:r>
          </a:p>
        </p:txBody>
      </p:sp>
      <p:sp>
        <p:nvSpPr>
          <p:cNvPr id="17" name="TextBox 16"/>
          <p:cNvSpPr txBox="1"/>
          <p:nvPr/>
        </p:nvSpPr>
        <p:spPr>
          <a:xfrm>
            <a:off x="2907792" y="2670048"/>
            <a:ext cx="1783080" cy="106070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Select the authentication type deliberately. Where the remote agent authorises per user, validate OAuth identity passthrough now.</a:t>
            </a:r>
          </a:p>
        </p:txBody>
      </p:sp>
      <p:cxnSp>
        <p:nvCxnSpPr>
          <p:cNvPr id="18" name="Connector 17"/>
          <p:cNvCxnSpPr/>
          <p:nvPr/>
        </p:nvCxnSpPr>
        <p:spPr>
          <a:xfrm>
            <a:off x="4878324" y="2679192"/>
            <a:ext cx="109728" cy="0"/>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992624" y="1554480"/>
            <a:ext cx="2148840" cy="2249424"/>
          </a:xfrm>
          <a:prstGeom prst="rect">
            <a:avLst/>
          </a:prstGeom>
          <a:solidFill>
            <a:srgbClr val="F6F8FD"/>
          </a:solidFill>
          <a:ln w="9525">
            <a:solidFill>
              <a:srgbClr val="E1E7F4"/>
            </a:solidFill>
          </a:ln>
          <a:effectLst/>
        </p:spPr>
        <p:txBody>
          <a:bodyPr wrap="square" rtlCol="0" anchor="ctr"/>
          <a:lstStyle/>
          <a:p>
            <a:endParaRPr/>
          </a:p>
        </p:txBody>
      </p:sp>
      <p:sp>
        <p:nvSpPr>
          <p:cNvPr id="20" name="Rectangle 19"/>
          <p:cNvSpPr/>
          <p:nvPr/>
        </p:nvSpPr>
        <p:spPr>
          <a:xfrm>
            <a:off x="4992624" y="1554480"/>
            <a:ext cx="2148840" cy="41148"/>
          </a:xfrm>
          <a:prstGeom prst="rect">
            <a:avLst/>
          </a:prstGeom>
          <a:solidFill>
            <a:srgbClr val="00B39F"/>
          </a:solidFill>
          <a:ln>
            <a:noFill/>
          </a:ln>
          <a:effectLst/>
        </p:spPr>
        <p:txBody>
          <a:bodyPr wrap="square" rtlCol="0" anchor="ctr"/>
          <a:lstStyle/>
          <a:p>
            <a:endParaRPr/>
          </a:p>
        </p:txBody>
      </p:sp>
      <p:sp>
        <p:nvSpPr>
          <p:cNvPr id="21" name="TextBox 20"/>
          <p:cNvSpPr txBox="1"/>
          <p:nvPr/>
        </p:nvSpPr>
        <p:spPr>
          <a:xfrm>
            <a:off x="5175504" y="1755648"/>
            <a:ext cx="1783080" cy="256032"/>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03</a:t>
            </a:r>
          </a:p>
        </p:txBody>
      </p:sp>
      <p:sp>
        <p:nvSpPr>
          <p:cNvPr id="22" name="TextBox 21"/>
          <p:cNvSpPr txBox="1"/>
          <p:nvPr/>
        </p:nvSpPr>
        <p:spPr>
          <a:xfrm>
            <a:off x="5175504" y="2121408"/>
            <a:ext cx="1783080" cy="420624"/>
          </a:xfrm>
          <a:prstGeom prst="rect">
            <a:avLst/>
          </a:prstGeom>
          <a:noFill/>
        </p:spPr>
        <p:txBody>
          <a:bodyPr wrap="square" lIns="0" tIns="0" rIns="0" bIns="0" anchor="t">
            <a:spAutoFit/>
          </a:bodyPr>
          <a:lstStyle/>
          <a:p>
            <a:pPr algn="l">
              <a:lnSpc>
                <a:spcPct val="110000"/>
              </a:lnSpc>
            </a:pPr>
            <a:r>
              <a:rPr sz="1000" b="1" i="0" dirty="0">
                <a:solidFill>
                  <a:srgbClr val="101A3C"/>
                </a:solidFill>
                <a:latin typeface="Segoe UI"/>
                <a:cs typeface="Segoe UI"/>
              </a:rPr>
              <a:t>Establish observability</a:t>
            </a:r>
          </a:p>
        </p:txBody>
      </p:sp>
      <p:sp>
        <p:nvSpPr>
          <p:cNvPr id="23" name="TextBox 22"/>
          <p:cNvSpPr txBox="1"/>
          <p:nvPr/>
        </p:nvSpPr>
        <p:spPr>
          <a:xfrm>
            <a:off x="5175504" y="2670048"/>
            <a:ext cx="1783080" cy="106070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Record task and context identifiers and terminal states. Alert on rejected and on unresolved interrupted tasks. Monitor the remote card version.</a:t>
            </a:r>
          </a:p>
        </p:txBody>
      </p:sp>
      <p:cxnSp>
        <p:nvCxnSpPr>
          <p:cNvPr id="24" name="Connector 23"/>
          <p:cNvCxnSpPr/>
          <p:nvPr/>
        </p:nvCxnSpPr>
        <p:spPr>
          <a:xfrm>
            <a:off x="7146036" y="2679192"/>
            <a:ext cx="109728" cy="0"/>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260336" y="1554480"/>
            <a:ext cx="2148840" cy="2249424"/>
          </a:xfrm>
          <a:prstGeom prst="rect">
            <a:avLst/>
          </a:prstGeom>
          <a:solidFill>
            <a:srgbClr val="F6F8FD"/>
          </a:solidFill>
          <a:ln w="9525">
            <a:solidFill>
              <a:srgbClr val="E1E7F4"/>
            </a:solidFill>
          </a:ln>
          <a:effectLst/>
        </p:spPr>
        <p:txBody>
          <a:bodyPr wrap="square" rtlCol="0" anchor="ctr"/>
          <a:lstStyle/>
          <a:p>
            <a:endParaRPr/>
          </a:p>
        </p:txBody>
      </p:sp>
      <p:sp>
        <p:nvSpPr>
          <p:cNvPr id="26" name="Rectangle 25"/>
          <p:cNvSpPr/>
          <p:nvPr/>
        </p:nvSpPr>
        <p:spPr>
          <a:xfrm>
            <a:off x="7260336" y="1554480"/>
            <a:ext cx="2148840" cy="41148"/>
          </a:xfrm>
          <a:prstGeom prst="rect">
            <a:avLst/>
          </a:prstGeom>
          <a:solidFill>
            <a:srgbClr val="00B39F"/>
          </a:solidFill>
          <a:ln>
            <a:noFill/>
          </a:ln>
          <a:effectLst/>
        </p:spPr>
        <p:txBody>
          <a:bodyPr wrap="square" rtlCol="0" anchor="ctr"/>
          <a:lstStyle/>
          <a:p>
            <a:endParaRPr/>
          </a:p>
        </p:txBody>
      </p:sp>
      <p:sp>
        <p:nvSpPr>
          <p:cNvPr id="27" name="TextBox 26"/>
          <p:cNvSpPr txBox="1"/>
          <p:nvPr/>
        </p:nvSpPr>
        <p:spPr>
          <a:xfrm>
            <a:off x="7443215" y="1755648"/>
            <a:ext cx="1783080" cy="256032"/>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04</a:t>
            </a:r>
          </a:p>
        </p:txBody>
      </p:sp>
      <p:sp>
        <p:nvSpPr>
          <p:cNvPr id="28" name="TextBox 27"/>
          <p:cNvSpPr txBox="1"/>
          <p:nvPr/>
        </p:nvSpPr>
        <p:spPr>
          <a:xfrm>
            <a:off x="7443215" y="2121408"/>
            <a:ext cx="1783080" cy="420624"/>
          </a:xfrm>
          <a:prstGeom prst="rect">
            <a:avLst/>
          </a:prstGeom>
          <a:noFill/>
        </p:spPr>
        <p:txBody>
          <a:bodyPr wrap="square" lIns="0" tIns="0" rIns="0" bIns="0" anchor="t">
            <a:spAutoFit/>
          </a:bodyPr>
          <a:lstStyle/>
          <a:p>
            <a:pPr algn="l">
              <a:lnSpc>
                <a:spcPct val="110000"/>
              </a:lnSpc>
            </a:pPr>
            <a:r>
              <a:rPr sz="1000" b="1" i="0" dirty="0">
                <a:solidFill>
                  <a:srgbClr val="101A3C"/>
                </a:solidFill>
                <a:latin typeface="Segoe UI"/>
                <a:cs typeface="Segoe UI"/>
              </a:rPr>
              <a:t>Decide the orchestration topology</a:t>
            </a:r>
          </a:p>
        </p:txBody>
      </p:sp>
      <p:sp>
        <p:nvSpPr>
          <p:cNvPr id="29" name="TextBox 28"/>
          <p:cNvSpPr txBox="1"/>
          <p:nvPr/>
        </p:nvSpPr>
        <p:spPr>
          <a:xfrm>
            <a:off x="7443215" y="2670048"/>
            <a:ext cx="1783080" cy="106070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Single-agent delegation, or a workflow with A2A participants. Resolve this before the estate reaches three agents without a defined orchestration model.</a:t>
            </a:r>
          </a:p>
        </p:txBody>
      </p:sp>
      <p:cxnSp>
        <p:nvCxnSpPr>
          <p:cNvPr id="30" name="Connector 29"/>
          <p:cNvCxnSpPr/>
          <p:nvPr/>
        </p:nvCxnSpPr>
        <p:spPr>
          <a:xfrm>
            <a:off x="9413748" y="2679192"/>
            <a:ext cx="109728" cy="0"/>
          </a:xfrm>
          <a:prstGeom prst="line">
            <a:avLst/>
          </a:prstGeom>
          <a:ln w="1270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528048" y="1554480"/>
            <a:ext cx="2148840" cy="2249424"/>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9528048" y="1554480"/>
            <a:ext cx="2148840" cy="41148"/>
          </a:xfrm>
          <a:prstGeom prst="rect">
            <a:avLst/>
          </a:prstGeom>
          <a:solidFill>
            <a:srgbClr val="00B39F"/>
          </a:solidFill>
          <a:ln>
            <a:noFill/>
          </a:ln>
          <a:effectLst/>
        </p:spPr>
        <p:txBody>
          <a:bodyPr wrap="square" rtlCol="0" anchor="ctr"/>
          <a:lstStyle/>
          <a:p>
            <a:endParaRPr/>
          </a:p>
        </p:txBody>
      </p:sp>
      <p:sp>
        <p:nvSpPr>
          <p:cNvPr id="33" name="TextBox 32"/>
          <p:cNvSpPr txBox="1"/>
          <p:nvPr/>
        </p:nvSpPr>
        <p:spPr>
          <a:xfrm>
            <a:off x="9710928" y="1755648"/>
            <a:ext cx="1783080" cy="256032"/>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05</a:t>
            </a:r>
          </a:p>
        </p:txBody>
      </p:sp>
      <p:sp>
        <p:nvSpPr>
          <p:cNvPr id="34" name="TextBox 33"/>
          <p:cNvSpPr txBox="1"/>
          <p:nvPr/>
        </p:nvSpPr>
        <p:spPr>
          <a:xfrm>
            <a:off x="9710928" y="2121408"/>
            <a:ext cx="1783080" cy="420624"/>
          </a:xfrm>
          <a:prstGeom prst="rect">
            <a:avLst/>
          </a:prstGeom>
          <a:noFill/>
        </p:spPr>
        <p:txBody>
          <a:bodyPr wrap="square" lIns="0" tIns="0" rIns="0" bIns="0" anchor="t">
            <a:spAutoFit/>
          </a:bodyPr>
          <a:lstStyle/>
          <a:p>
            <a:pPr algn="l">
              <a:lnSpc>
                <a:spcPct val="110000"/>
              </a:lnSpc>
            </a:pPr>
            <a:r>
              <a:rPr sz="1000" b="1" i="0" dirty="0">
                <a:solidFill>
                  <a:srgbClr val="101A3C"/>
                </a:solidFill>
                <a:latin typeface="Segoe UI"/>
                <a:cs typeface="Segoe UI"/>
              </a:rPr>
              <a:t>Consider inbound exposure</a:t>
            </a:r>
          </a:p>
        </p:txBody>
      </p:sp>
      <p:sp>
        <p:nvSpPr>
          <p:cNvPr id="35" name="TextBox 34"/>
          <p:cNvSpPr txBox="1"/>
          <p:nvPr/>
        </p:nvSpPr>
        <p:spPr>
          <a:xfrm>
            <a:off x="9710928" y="2670048"/>
            <a:ext cx="1783080" cy="106070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Only at this point. The capability is preview, it creates a versioned public contract, and each consumer requires a tenant identity and a role assignment.</a:t>
            </a:r>
          </a:p>
        </p:txBody>
      </p:sp>
      <p:sp>
        <p:nvSpPr>
          <p:cNvPr id="36" name="TextBox 35"/>
          <p:cNvSpPr txBox="1"/>
          <p:nvPr/>
        </p:nvSpPr>
        <p:spPr>
          <a:xfrm>
            <a:off x="457200" y="3950208"/>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PRECONDITIONS FOR PHASE ONE</a:t>
            </a:r>
          </a:p>
        </p:txBody>
      </p:sp>
      <p:sp>
        <p:nvSpPr>
          <p:cNvPr id="37" name="Rectangle 36"/>
          <p:cNvSpPr/>
          <p:nvPr/>
        </p:nvSpPr>
        <p:spPr>
          <a:xfrm>
            <a:off x="457200" y="4187952"/>
            <a:ext cx="2651760" cy="950976"/>
          </a:xfrm>
          <a:prstGeom prst="rect">
            <a:avLst/>
          </a:prstGeom>
          <a:solidFill>
            <a:srgbClr val="FFFFFF"/>
          </a:solidFill>
          <a:ln w="9525">
            <a:solidFill>
              <a:srgbClr val="E1E7F4"/>
            </a:solidFill>
          </a:ln>
          <a:effectLst/>
        </p:spPr>
        <p:txBody>
          <a:bodyPr wrap="square" rtlCol="0" anchor="ctr"/>
          <a:lstStyle/>
          <a:p>
            <a:endParaRPr/>
          </a:p>
        </p:txBody>
      </p:sp>
      <p:sp>
        <p:nvSpPr>
          <p:cNvPr id="38" name="TextBox 37"/>
          <p:cNvSpPr txBox="1"/>
          <p:nvPr/>
        </p:nvSpPr>
        <p:spPr>
          <a:xfrm>
            <a:off x="621792" y="4315968"/>
            <a:ext cx="232257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Role assignments</a:t>
            </a:r>
          </a:p>
        </p:txBody>
      </p:sp>
      <p:sp>
        <p:nvSpPr>
          <p:cNvPr id="39" name="TextBox 38"/>
          <p:cNvSpPr txBox="1"/>
          <p:nvPr/>
        </p:nvSpPr>
        <p:spPr>
          <a:xfrm>
            <a:off x="621792" y="4517136"/>
            <a:ext cx="2322576" cy="54864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Foundry Project Manager to create the connection; Foundry User to create and test the agent.</a:t>
            </a:r>
          </a:p>
        </p:txBody>
      </p:sp>
      <p:sp>
        <p:nvSpPr>
          <p:cNvPr id="40" name="Rectangle 39"/>
          <p:cNvSpPr/>
          <p:nvPr/>
        </p:nvSpPr>
        <p:spPr>
          <a:xfrm>
            <a:off x="3300984" y="4187952"/>
            <a:ext cx="2651760" cy="950976"/>
          </a:xfrm>
          <a:prstGeom prst="rect">
            <a:avLst/>
          </a:prstGeom>
          <a:solidFill>
            <a:srgbClr val="FFFFFF"/>
          </a:solidFill>
          <a:ln w="9525">
            <a:solidFill>
              <a:srgbClr val="E1E7F4"/>
            </a:solidFill>
          </a:ln>
          <a:effectLst/>
        </p:spPr>
        <p:txBody>
          <a:bodyPr wrap="square" rtlCol="0" anchor="ctr"/>
          <a:lstStyle/>
          <a:p>
            <a:endParaRPr/>
          </a:p>
        </p:txBody>
      </p:sp>
      <p:sp>
        <p:nvSpPr>
          <p:cNvPr id="41" name="TextBox 40"/>
          <p:cNvSpPr txBox="1"/>
          <p:nvPr/>
        </p:nvSpPr>
        <p:spPr>
          <a:xfrm>
            <a:off x="3465576" y="4315968"/>
            <a:ext cx="232257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Software development kit</a:t>
            </a:r>
          </a:p>
        </p:txBody>
      </p:sp>
      <p:sp>
        <p:nvSpPr>
          <p:cNvPr id="42" name="TextBox 41"/>
          <p:cNvSpPr txBox="1"/>
          <p:nvPr/>
        </p:nvSpPr>
        <p:spPr>
          <a:xfrm>
            <a:off x="3465576" y="4517136"/>
            <a:ext cx="2322576" cy="54864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azure-ai-projects 2.5.0 or later for Python; the .NET packages exposing these models are prerelease.</a:t>
            </a:r>
          </a:p>
        </p:txBody>
      </p:sp>
      <p:sp>
        <p:nvSpPr>
          <p:cNvPr id="43" name="Rectangle 42"/>
          <p:cNvSpPr/>
          <p:nvPr/>
        </p:nvSpPr>
        <p:spPr>
          <a:xfrm>
            <a:off x="6144768" y="4187952"/>
            <a:ext cx="2651760" cy="950976"/>
          </a:xfrm>
          <a:prstGeom prst="rect">
            <a:avLst/>
          </a:prstGeom>
          <a:solidFill>
            <a:srgbClr val="FFFFFF"/>
          </a:solidFill>
          <a:ln w="9525">
            <a:solidFill>
              <a:srgbClr val="E1E7F4"/>
            </a:solidFill>
          </a:ln>
          <a:effectLst/>
        </p:spPr>
        <p:txBody>
          <a:bodyPr wrap="square" rtlCol="0" anchor="ctr"/>
          <a:lstStyle/>
          <a:p>
            <a:endParaRPr/>
          </a:p>
        </p:txBody>
      </p:sp>
      <p:sp>
        <p:nvSpPr>
          <p:cNvPr id="44" name="TextBox 43"/>
          <p:cNvSpPr txBox="1"/>
          <p:nvPr/>
        </p:nvSpPr>
        <p:spPr>
          <a:xfrm>
            <a:off x="6309359" y="4315968"/>
            <a:ext cx="232257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 validated target</a:t>
            </a:r>
          </a:p>
        </p:txBody>
      </p:sp>
      <p:sp>
        <p:nvSpPr>
          <p:cNvPr id="45" name="TextBox 44"/>
          <p:cNvSpPr txBox="1"/>
          <p:nvPr/>
        </p:nvSpPr>
        <p:spPr>
          <a:xfrm>
            <a:off x="6309359" y="4517136"/>
            <a:ext cx="2322576" cy="54864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A remote A2A endpoint under known ownership, with a valid certificate and a retrievable agent card.</a:t>
            </a:r>
          </a:p>
        </p:txBody>
      </p:sp>
      <p:sp>
        <p:nvSpPr>
          <p:cNvPr id="46" name="Rectangle 45"/>
          <p:cNvSpPr/>
          <p:nvPr/>
        </p:nvSpPr>
        <p:spPr>
          <a:xfrm>
            <a:off x="8988552" y="4187952"/>
            <a:ext cx="2651760" cy="950976"/>
          </a:xfrm>
          <a:prstGeom prst="rect">
            <a:avLst/>
          </a:prstGeom>
          <a:solidFill>
            <a:srgbClr val="FFFFFF"/>
          </a:solidFill>
          <a:ln w="9525">
            <a:solidFill>
              <a:srgbClr val="E1E7F4"/>
            </a:solidFill>
          </a:ln>
          <a:effectLst/>
        </p:spPr>
        <p:txBody>
          <a:bodyPr wrap="square" rtlCol="0" anchor="ctr"/>
          <a:lstStyle/>
          <a:p>
            <a:endParaRPr/>
          </a:p>
        </p:txBody>
      </p:sp>
      <p:sp>
        <p:nvSpPr>
          <p:cNvPr id="47" name="TextBox 46"/>
          <p:cNvSpPr txBox="1"/>
          <p:nvPr/>
        </p:nvSpPr>
        <p:spPr>
          <a:xfrm>
            <a:off x="9153144" y="4315968"/>
            <a:ext cx="2322576"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An identity decision</a:t>
            </a:r>
          </a:p>
        </p:txBody>
      </p:sp>
      <p:sp>
        <p:nvSpPr>
          <p:cNvPr id="48" name="TextBox 47"/>
          <p:cNvSpPr txBox="1"/>
          <p:nvPr/>
        </p:nvSpPr>
        <p:spPr>
          <a:xfrm>
            <a:off x="9153144" y="4517136"/>
            <a:ext cx="2322576" cy="54864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The authentication type, and whether the remote agent must enforce per-user authorisation.</a:t>
            </a:r>
          </a:p>
        </p:txBody>
      </p:sp>
      <p:sp>
        <p:nvSpPr>
          <p:cNvPr id="49" name="Rectangle 48"/>
          <p:cNvSpPr/>
          <p:nvPr/>
        </p:nvSpPr>
        <p:spPr>
          <a:xfrm>
            <a:off x="457200" y="5266944"/>
            <a:ext cx="11277295" cy="402336"/>
          </a:xfrm>
          <a:prstGeom prst="rect">
            <a:avLst/>
          </a:prstGeom>
          <a:solidFill>
            <a:srgbClr val="EBEFF7"/>
          </a:solidFill>
          <a:ln>
            <a:noFill/>
          </a:ln>
          <a:effectLst/>
        </p:spPr>
        <p:txBody>
          <a:bodyPr wrap="square" rtlCol="0" anchor="ctr"/>
          <a:lstStyle/>
          <a:p>
            <a:endParaRPr/>
          </a:p>
        </p:txBody>
      </p:sp>
      <p:sp>
        <p:nvSpPr>
          <p:cNvPr id="50" name="Rectangle 49"/>
          <p:cNvSpPr/>
          <p:nvPr/>
        </p:nvSpPr>
        <p:spPr>
          <a:xfrm>
            <a:off x="457200" y="5266944"/>
            <a:ext cx="41148" cy="402336"/>
          </a:xfrm>
          <a:prstGeom prst="rect">
            <a:avLst/>
          </a:prstGeom>
          <a:solidFill>
            <a:srgbClr val="00B39F"/>
          </a:solidFill>
          <a:ln>
            <a:noFill/>
          </a:ln>
          <a:effectLst/>
        </p:spPr>
        <p:txBody>
          <a:bodyPr wrap="square" rtlCol="0" anchor="ctr"/>
          <a:lstStyle/>
          <a:p>
            <a:endParaRPr/>
          </a:p>
        </p:txBody>
      </p:sp>
      <p:sp>
        <p:nvSpPr>
          <p:cNvPr id="51" name="TextBox 50"/>
          <p:cNvSpPr txBox="1"/>
          <p:nvPr/>
        </p:nvSpPr>
        <p:spPr>
          <a:xfrm>
            <a:off x="694944" y="5367528"/>
            <a:ext cx="10856671" cy="219456"/>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Microsoft does not test or verify third-party A2A endpoints. Prefer endpoints operated by the service provider itself rather than by an intermediary.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06 · ADOPTION AND STATUS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Release status and version compatibility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Current specification and implementation status, and the changes that invalidate earlier client code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learn.microsoft.com/azure/foundry/agents/how-to/migrate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20</a:t>
            </a:r>
          </a:p>
        </p:txBody>
      </p:sp>
      <p:sp>
        <p:nvSpPr>
          <p:cNvPr id="7" name="TextBox 6"/>
          <p:cNvSpPr txBox="1"/>
          <p:nvPr/>
        </p:nvSpPr>
        <p:spPr>
          <a:xfrm>
            <a:off x="457200" y="1353312"/>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SPECIFICATION</a:t>
            </a:r>
          </a:p>
        </p:txBody>
      </p:sp>
      <p:sp>
        <p:nvSpPr>
          <p:cNvPr id="8" name="TextBox 7"/>
          <p:cNvSpPr txBox="1"/>
          <p:nvPr/>
        </p:nvSpPr>
        <p:spPr>
          <a:xfrm>
            <a:off x="457200" y="1591056"/>
            <a:ext cx="1958644" cy="42062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Current specification</a:t>
            </a:r>
          </a:p>
        </p:txBody>
      </p:sp>
      <p:sp>
        <p:nvSpPr>
          <p:cNvPr id="9" name="TextBox 8"/>
          <p:cNvSpPr txBox="1"/>
          <p:nvPr/>
        </p:nvSpPr>
        <p:spPr>
          <a:xfrm>
            <a:off x="2507284" y="1591056"/>
            <a:ext cx="3344875" cy="42062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1.0.1, published May 2026</a:t>
            </a:r>
          </a:p>
        </p:txBody>
      </p:sp>
      <p:cxnSp>
        <p:nvCxnSpPr>
          <p:cNvPr id="10" name="Connector 9"/>
          <p:cNvCxnSpPr/>
          <p:nvPr/>
        </p:nvCxnSpPr>
        <p:spPr>
          <a:xfrm>
            <a:off x="457200" y="1993392"/>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011680"/>
            <a:ext cx="1958644" cy="42062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Negotiated version</a:t>
            </a:r>
          </a:p>
        </p:txBody>
      </p:sp>
      <p:sp>
        <p:nvSpPr>
          <p:cNvPr id="12" name="TextBox 11"/>
          <p:cNvSpPr txBox="1"/>
          <p:nvPr/>
        </p:nvSpPr>
        <p:spPr>
          <a:xfrm>
            <a:off x="2507284" y="2011680"/>
            <a:ext cx="3344875" cy="42062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1.0 — patch versions are excluded from negotiation</a:t>
            </a:r>
          </a:p>
        </p:txBody>
      </p:sp>
      <p:cxnSp>
        <p:nvCxnSpPr>
          <p:cNvPr id="13" name="Connector 12"/>
          <p:cNvCxnSpPr/>
          <p:nvPr/>
        </p:nvCxnSpPr>
        <p:spPr>
          <a:xfrm>
            <a:off x="457200" y="2414016"/>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432304"/>
            <a:ext cx="1958644" cy="42062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Preceding line</a:t>
            </a:r>
          </a:p>
        </p:txBody>
      </p:sp>
      <p:sp>
        <p:nvSpPr>
          <p:cNvPr id="15" name="TextBox 14"/>
          <p:cNvSpPr txBox="1"/>
          <p:nvPr/>
        </p:nvSpPr>
        <p:spPr>
          <a:xfrm>
            <a:off x="2507284" y="2432304"/>
            <a:ext cx="3344875" cy="42062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0.3, still widely implemented and supported</a:t>
            </a:r>
          </a:p>
        </p:txBody>
      </p:sp>
      <p:cxnSp>
        <p:nvCxnSpPr>
          <p:cNvPr id="16" name="Connector 15"/>
          <p:cNvCxnSpPr/>
          <p:nvPr/>
        </p:nvCxnSpPr>
        <p:spPr>
          <a:xfrm>
            <a:off x="457200" y="2834640"/>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2852928"/>
            <a:ext cx="1958644" cy="42062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Governance</a:t>
            </a:r>
          </a:p>
        </p:txBody>
      </p:sp>
      <p:sp>
        <p:nvSpPr>
          <p:cNvPr id="18" name="TextBox 17"/>
          <p:cNvSpPr txBox="1"/>
          <p:nvPr/>
        </p:nvSpPr>
        <p:spPr>
          <a:xfrm>
            <a:off x="2507284" y="2852928"/>
            <a:ext cx="3344875" cy="42062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Growth Stage project at the Agentic AI Foundation since 27 August 2026</a:t>
            </a:r>
          </a:p>
        </p:txBody>
      </p:sp>
      <p:cxnSp>
        <p:nvCxnSpPr>
          <p:cNvPr id="19" name="Connector 18"/>
          <p:cNvCxnSpPr/>
          <p:nvPr/>
        </p:nvCxnSpPr>
        <p:spPr>
          <a:xfrm>
            <a:off x="457200" y="3255264"/>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3273552"/>
            <a:ext cx="1958644" cy="42062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Official SDKs</a:t>
            </a:r>
          </a:p>
        </p:txBody>
      </p:sp>
      <p:sp>
        <p:nvSpPr>
          <p:cNvPr id="21" name="TextBox 20"/>
          <p:cNvSpPr txBox="1"/>
          <p:nvPr/>
        </p:nvSpPr>
        <p:spPr>
          <a:xfrm>
            <a:off x="2507284" y="3273552"/>
            <a:ext cx="3344875" cy="42062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Python, JavaScript, .NET, Go, Java and Rust</a:t>
            </a:r>
          </a:p>
        </p:txBody>
      </p:sp>
      <p:cxnSp>
        <p:nvCxnSpPr>
          <p:cNvPr id="22" name="Connector 21"/>
          <p:cNvCxnSpPr/>
          <p:nvPr/>
        </p:nvCxnSpPr>
        <p:spPr>
          <a:xfrm>
            <a:off x="457200" y="3675888"/>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200" y="3895344"/>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BREAKING CHANGES INTRODUCED IN VERSION 1.0</a:t>
            </a:r>
          </a:p>
        </p:txBody>
      </p:sp>
      <p:sp>
        <p:nvSpPr>
          <p:cNvPr id="24" name="Oval 23"/>
          <p:cNvSpPr/>
          <p:nvPr/>
        </p:nvSpPr>
        <p:spPr>
          <a:xfrm>
            <a:off x="457200" y="4206240"/>
            <a:ext cx="91440" cy="91440"/>
          </a:xfrm>
          <a:prstGeom prst="ellipse">
            <a:avLst/>
          </a:prstGeom>
          <a:solidFill>
            <a:srgbClr val="00B39F"/>
          </a:solidFill>
          <a:ln>
            <a:noFill/>
          </a:ln>
          <a:effectLst/>
        </p:spPr>
        <p:txBody>
          <a:bodyPr wrap="square" rtlCol="0" anchor="ctr"/>
          <a:lstStyle/>
          <a:p>
            <a:endParaRPr/>
          </a:p>
        </p:txBody>
      </p:sp>
      <p:sp>
        <p:nvSpPr>
          <p:cNvPr id="25" name="TextBox 24"/>
          <p:cNvSpPr txBox="1"/>
          <p:nvPr/>
        </p:nvSpPr>
        <p:spPr>
          <a:xfrm>
            <a:off x="676656" y="4151376"/>
            <a:ext cx="5175504" cy="201168"/>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JSON-RPC method names changed form: message/send became SendMessage</a:t>
            </a:r>
          </a:p>
        </p:txBody>
      </p:sp>
      <p:sp>
        <p:nvSpPr>
          <p:cNvPr id="26" name="Oval 25"/>
          <p:cNvSpPr/>
          <p:nvPr/>
        </p:nvSpPr>
        <p:spPr>
          <a:xfrm>
            <a:off x="457200" y="4462272"/>
            <a:ext cx="91440" cy="91440"/>
          </a:xfrm>
          <a:prstGeom prst="ellipse">
            <a:avLst/>
          </a:prstGeom>
          <a:solidFill>
            <a:srgbClr val="00B39F"/>
          </a:solidFill>
          <a:ln>
            <a:noFill/>
          </a:ln>
          <a:effectLst/>
        </p:spPr>
        <p:txBody>
          <a:bodyPr wrap="square" rtlCol="0" anchor="ctr"/>
          <a:lstStyle/>
          <a:p>
            <a:endParaRPr/>
          </a:p>
        </p:txBody>
      </p:sp>
      <p:sp>
        <p:nvSpPr>
          <p:cNvPr id="27" name="TextBox 26"/>
          <p:cNvSpPr txBox="1"/>
          <p:nvPr/>
        </p:nvSpPr>
        <p:spPr>
          <a:xfrm>
            <a:off x="676656" y="4407408"/>
            <a:ext cx="5175504" cy="201168"/>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TextPart, FilePart and DataPart consolidated into a single Part object</a:t>
            </a:r>
          </a:p>
        </p:txBody>
      </p:sp>
      <p:sp>
        <p:nvSpPr>
          <p:cNvPr id="28" name="Oval 27"/>
          <p:cNvSpPr/>
          <p:nvPr/>
        </p:nvSpPr>
        <p:spPr>
          <a:xfrm>
            <a:off x="457200" y="4718304"/>
            <a:ext cx="91440" cy="91440"/>
          </a:xfrm>
          <a:prstGeom prst="ellipse">
            <a:avLst/>
          </a:prstGeom>
          <a:solidFill>
            <a:srgbClr val="00B39F"/>
          </a:solidFill>
          <a:ln>
            <a:noFill/>
          </a:ln>
          <a:effectLst/>
        </p:spPr>
        <p:txBody>
          <a:bodyPr wrap="square" rtlCol="0" anchor="ctr"/>
          <a:lstStyle/>
          <a:p>
            <a:endParaRPr/>
          </a:p>
        </p:txBody>
      </p:sp>
      <p:sp>
        <p:nvSpPr>
          <p:cNvPr id="29" name="TextBox 28"/>
          <p:cNvSpPr txBox="1"/>
          <p:nvPr/>
        </p:nvSpPr>
        <p:spPr>
          <a:xfrm>
            <a:off x="676656" y="4663440"/>
            <a:ext cx="5175504" cy="201168"/>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Task states serialised as TASK_STATE_COMPLETED rather than completed</a:t>
            </a:r>
          </a:p>
        </p:txBody>
      </p:sp>
      <p:sp>
        <p:nvSpPr>
          <p:cNvPr id="30" name="Oval 29"/>
          <p:cNvSpPr/>
          <p:nvPr/>
        </p:nvSpPr>
        <p:spPr>
          <a:xfrm>
            <a:off x="457200" y="4974336"/>
            <a:ext cx="91440" cy="91440"/>
          </a:xfrm>
          <a:prstGeom prst="ellipse">
            <a:avLst/>
          </a:prstGeom>
          <a:solidFill>
            <a:srgbClr val="00B39F"/>
          </a:solidFill>
          <a:ln>
            <a:noFill/>
          </a:ln>
          <a:effectLst/>
        </p:spPr>
        <p:txBody>
          <a:bodyPr wrap="square" rtlCol="0" anchor="ctr"/>
          <a:lstStyle/>
          <a:p>
            <a:endParaRPr/>
          </a:p>
        </p:txBody>
      </p:sp>
      <p:sp>
        <p:nvSpPr>
          <p:cNvPr id="31" name="TextBox 30"/>
          <p:cNvSpPr txBox="1"/>
          <p:nvPr/>
        </p:nvSpPr>
        <p:spPr>
          <a:xfrm>
            <a:off x="676656" y="4919472"/>
            <a:ext cx="5175504" cy="201168"/>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url, preferredTransport and additionalInterfaces merged into supportedInterfaces</a:t>
            </a:r>
          </a:p>
        </p:txBody>
      </p:sp>
      <p:sp>
        <p:nvSpPr>
          <p:cNvPr id="32" name="Oval 31"/>
          <p:cNvSpPr/>
          <p:nvPr/>
        </p:nvSpPr>
        <p:spPr>
          <a:xfrm>
            <a:off x="457200" y="5230368"/>
            <a:ext cx="91440" cy="91440"/>
          </a:xfrm>
          <a:prstGeom prst="ellipse">
            <a:avLst/>
          </a:prstGeom>
          <a:solidFill>
            <a:srgbClr val="00B39F"/>
          </a:solidFill>
          <a:ln>
            <a:noFill/>
          </a:ln>
          <a:effectLst/>
        </p:spPr>
        <p:txBody>
          <a:bodyPr wrap="square" rtlCol="0" anchor="ctr"/>
          <a:lstStyle/>
          <a:p>
            <a:endParaRPr/>
          </a:p>
        </p:txBody>
      </p:sp>
      <p:sp>
        <p:nvSpPr>
          <p:cNvPr id="33" name="TextBox 32"/>
          <p:cNvSpPr txBox="1"/>
          <p:nvPr/>
        </p:nvSpPr>
        <p:spPr>
          <a:xfrm>
            <a:off x="676656" y="5175504"/>
            <a:ext cx="5175504" cy="201168"/>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The blocking parameter replaced by returnImmediately, with inverted sense</a:t>
            </a:r>
          </a:p>
        </p:txBody>
      </p:sp>
      <p:sp>
        <p:nvSpPr>
          <p:cNvPr id="34" name="TextBox 33"/>
          <p:cNvSpPr txBox="1"/>
          <p:nvPr/>
        </p:nvSpPr>
        <p:spPr>
          <a:xfrm>
            <a:off x="6345936" y="1353312"/>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MICROSOFT FOUNDRY</a:t>
            </a:r>
          </a:p>
        </p:txBody>
      </p:sp>
      <p:sp>
        <p:nvSpPr>
          <p:cNvPr id="35" name="Rectangle 34"/>
          <p:cNvSpPr/>
          <p:nvPr/>
        </p:nvSpPr>
        <p:spPr>
          <a:xfrm>
            <a:off x="6345936" y="1591056"/>
            <a:ext cx="5385816" cy="310896"/>
          </a:xfrm>
          <a:prstGeom prst="rect">
            <a:avLst/>
          </a:prstGeom>
          <a:solidFill>
            <a:srgbClr val="101A3C"/>
          </a:solidFill>
          <a:ln>
            <a:noFill/>
          </a:ln>
          <a:effectLst/>
        </p:spPr>
        <p:txBody>
          <a:bodyPr wrap="square" rtlCol="0" anchor="ctr"/>
          <a:lstStyle/>
          <a:p>
            <a:endParaRPr/>
          </a:p>
        </p:txBody>
      </p:sp>
      <p:sp>
        <p:nvSpPr>
          <p:cNvPr id="36" name="TextBox 35"/>
          <p:cNvSpPr txBox="1"/>
          <p:nvPr/>
        </p:nvSpPr>
        <p:spPr>
          <a:xfrm>
            <a:off x="6473952" y="1668780"/>
            <a:ext cx="2079162"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Capability</a:t>
            </a:r>
          </a:p>
        </p:txBody>
      </p:sp>
      <p:sp>
        <p:nvSpPr>
          <p:cNvPr id="37" name="TextBox 36"/>
          <p:cNvSpPr txBox="1"/>
          <p:nvPr/>
        </p:nvSpPr>
        <p:spPr>
          <a:xfrm>
            <a:off x="8735994" y="1668780"/>
            <a:ext cx="78656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Protocol</a:t>
            </a:r>
          </a:p>
        </p:txBody>
      </p:sp>
      <p:sp>
        <p:nvSpPr>
          <p:cNvPr id="38" name="TextBox 37"/>
          <p:cNvSpPr txBox="1"/>
          <p:nvPr/>
        </p:nvSpPr>
        <p:spPr>
          <a:xfrm>
            <a:off x="9705441" y="1668780"/>
            <a:ext cx="197144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Status</a:t>
            </a:r>
          </a:p>
        </p:txBody>
      </p:sp>
      <p:sp>
        <p:nvSpPr>
          <p:cNvPr id="39" name="Rectangle 38"/>
          <p:cNvSpPr/>
          <p:nvPr/>
        </p:nvSpPr>
        <p:spPr>
          <a:xfrm>
            <a:off x="6345936" y="1901952"/>
            <a:ext cx="5385816" cy="420624"/>
          </a:xfrm>
          <a:prstGeom prst="rect">
            <a:avLst/>
          </a:prstGeom>
          <a:solidFill>
            <a:srgbClr val="F6F8FD"/>
          </a:solidFill>
          <a:ln>
            <a:noFill/>
          </a:ln>
          <a:effectLst/>
        </p:spPr>
        <p:txBody>
          <a:bodyPr wrap="square" rtlCol="0" anchor="ctr"/>
          <a:lstStyle/>
          <a:p>
            <a:endParaRPr/>
          </a:p>
        </p:txBody>
      </p:sp>
      <p:cxnSp>
        <p:nvCxnSpPr>
          <p:cNvPr id="40" name="Connector 39"/>
          <p:cNvCxnSpPr/>
          <p:nvPr/>
        </p:nvCxnSpPr>
        <p:spPr>
          <a:xfrm>
            <a:off x="6345936" y="2322576"/>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73952" y="1952244"/>
            <a:ext cx="2042586"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a2a tool — outbound</a:t>
            </a:r>
          </a:p>
        </p:txBody>
      </p:sp>
      <p:sp>
        <p:nvSpPr>
          <p:cNvPr id="42" name="TextBox 41"/>
          <p:cNvSpPr txBox="1"/>
          <p:nvPr/>
        </p:nvSpPr>
        <p:spPr>
          <a:xfrm>
            <a:off x="8735994" y="1952244"/>
            <a:ext cx="74999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1.0</a:t>
            </a:r>
          </a:p>
        </p:txBody>
      </p:sp>
      <p:sp>
        <p:nvSpPr>
          <p:cNvPr id="43" name="TextBox 42"/>
          <p:cNvSpPr txBox="1"/>
          <p:nvPr/>
        </p:nvSpPr>
        <p:spPr>
          <a:xfrm>
            <a:off x="9705441" y="1952244"/>
            <a:ext cx="193487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Generally available</a:t>
            </a:r>
          </a:p>
        </p:txBody>
      </p:sp>
      <p:cxnSp>
        <p:nvCxnSpPr>
          <p:cNvPr id="44" name="Connector 43"/>
          <p:cNvCxnSpPr/>
          <p:nvPr/>
        </p:nvCxnSpPr>
        <p:spPr>
          <a:xfrm>
            <a:off x="6345936" y="2743200"/>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473952" y="2372868"/>
            <a:ext cx="2042586"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a2a_preview tool — outbound</a:t>
            </a:r>
          </a:p>
        </p:txBody>
      </p:sp>
      <p:sp>
        <p:nvSpPr>
          <p:cNvPr id="46" name="TextBox 45"/>
          <p:cNvSpPr txBox="1"/>
          <p:nvPr/>
        </p:nvSpPr>
        <p:spPr>
          <a:xfrm>
            <a:off x="8735994" y="2372868"/>
            <a:ext cx="74999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0.3</a:t>
            </a:r>
          </a:p>
        </p:txBody>
      </p:sp>
      <p:sp>
        <p:nvSpPr>
          <p:cNvPr id="47" name="TextBox 46"/>
          <p:cNvSpPr txBox="1"/>
          <p:nvPr/>
        </p:nvSpPr>
        <p:spPr>
          <a:xfrm>
            <a:off x="9705441" y="2372868"/>
            <a:ext cx="193487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Preview</a:t>
            </a:r>
          </a:p>
        </p:txBody>
      </p:sp>
      <p:sp>
        <p:nvSpPr>
          <p:cNvPr id="48" name="Rectangle 47"/>
          <p:cNvSpPr/>
          <p:nvPr/>
        </p:nvSpPr>
        <p:spPr>
          <a:xfrm>
            <a:off x="6345936" y="2743200"/>
            <a:ext cx="5385816" cy="420624"/>
          </a:xfrm>
          <a:prstGeom prst="rect">
            <a:avLst/>
          </a:prstGeom>
          <a:solidFill>
            <a:srgbClr val="F6F8FD"/>
          </a:solidFill>
          <a:ln>
            <a:noFill/>
          </a:ln>
          <a:effectLst/>
        </p:spPr>
        <p:txBody>
          <a:bodyPr wrap="square" rtlCol="0" anchor="ctr"/>
          <a:lstStyle/>
          <a:p>
            <a:endParaRPr/>
          </a:p>
        </p:txBody>
      </p:sp>
      <p:cxnSp>
        <p:nvCxnSpPr>
          <p:cNvPr id="49" name="Connector 48"/>
          <p:cNvCxnSpPr/>
          <p:nvPr/>
        </p:nvCxnSpPr>
        <p:spPr>
          <a:xfrm>
            <a:off x="6345936" y="3163824"/>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73952" y="2793492"/>
            <a:ext cx="2042586"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Inbound A2A endpoint</a:t>
            </a:r>
          </a:p>
        </p:txBody>
      </p:sp>
      <p:sp>
        <p:nvSpPr>
          <p:cNvPr id="51" name="TextBox 50"/>
          <p:cNvSpPr txBox="1"/>
          <p:nvPr/>
        </p:nvSpPr>
        <p:spPr>
          <a:xfrm>
            <a:off x="8735994" y="2793492"/>
            <a:ext cx="74999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1.0 and 0.3</a:t>
            </a:r>
          </a:p>
        </p:txBody>
      </p:sp>
      <p:sp>
        <p:nvSpPr>
          <p:cNvPr id="52" name="TextBox 51"/>
          <p:cNvSpPr txBox="1"/>
          <p:nvPr/>
        </p:nvSpPr>
        <p:spPr>
          <a:xfrm>
            <a:off x="9705441" y="2793492"/>
            <a:ext cx="193487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Preview</a:t>
            </a:r>
          </a:p>
        </p:txBody>
      </p:sp>
      <p:cxnSp>
        <p:nvCxnSpPr>
          <p:cNvPr id="53" name="Connector 52"/>
          <p:cNvCxnSpPr/>
          <p:nvPr/>
        </p:nvCxnSpPr>
        <p:spPr>
          <a:xfrm>
            <a:off x="6345936" y="358444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473952" y="3214116"/>
            <a:ext cx="2042586"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Connected Agents tool</a:t>
            </a:r>
          </a:p>
        </p:txBody>
      </p:sp>
      <p:sp>
        <p:nvSpPr>
          <p:cNvPr id="55" name="TextBox 54"/>
          <p:cNvSpPr txBox="1"/>
          <p:nvPr/>
        </p:nvSpPr>
        <p:spPr>
          <a:xfrm>
            <a:off x="8735994" y="3214116"/>
            <a:ext cx="74999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t>
            </a:r>
          </a:p>
        </p:txBody>
      </p:sp>
      <p:sp>
        <p:nvSpPr>
          <p:cNvPr id="56" name="TextBox 55"/>
          <p:cNvSpPr txBox="1"/>
          <p:nvPr/>
        </p:nvSpPr>
        <p:spPr>
          <a:xfrm>
            <a:off x="9705441" y="3214116"/>
            <a:ext cx="193487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Withdrawn from the new Agent Service</a:t>
            </a:r>
          </a:p>
        </p:txBody>
      </p:sp>
      <p:sp>
        <p:nvSpPr>
          <p:cNvPr id="57" name="Rectangle 56"/>
          <p:cNvSpPr/>
          <p:nvPr/>
        </p:nvSpPr>
        <p:spPr>
          <a:xfrm>
            <a:off x="6345936" y="3584448"/>
            <a:ext cx="5385816" cy="420624"/>
          </a:xfrm>
          <a:prstGeom prst="rect">
            <a:avLst/>
          </a:prstGeom>
          <a:solidFill>
            <a:srgbClr val="F6F8FD"/>
          </a:solidFill>
          <a:ln>
            <a:noFill/>
          </a:ln>
          <a:effectLst/>
        </p:spPr>
        <p:txBody>
          <a:bodyPr wrap="square" rtlCol="0" anchor="ctr"/>
          <a:lstStyle/>
          <a:p>
            <a:endParaRPr/>
          </a:p>
        </p:txBody>
      </p:sp>
      <p:cxnSp>
        <p:nvCxnSpPr>
          <p:cNvPr id="58" name="Connector 57"/>
          <p:cNvCxnSpPr/>
          <p:nvPr/>
        </p:nvCxnSpPr>
        <p:spPr>
          <a:xfrm>
            <a:off x="6345936" y="4005072"/>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473952" y="3634740"/>
            <a:ext cx="2042586"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Visual workflows</a:t>
            </a:r>
          </a:p>
        </p:txBody>
      </p:sp>
      <p:sp>
        <p:nvSpPr>
          <p:cNvPr id="60" name="TextBox 59"/>
          <p:cNvSpPr txBox="1"/>
          <p:nvPr/>
        </p:nvSpPr>
        <p:spPr>
          <a:xfrm>
            <a:off x="8735994" y="3634740"/>
            <a:ext cx="74999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t>
            </a:r>
          </a:p>
        </p:txBody>
      </p:sp>
      <p:sp>
        <p:nvSpPr>
          <p:cNvPr id="61" name="TextBox 60"/>
          <p:cNvSpPr txBox="1"/>
          <p:nvPr/>
        </p:nvSpPr>
        <p:spPr>
          <a:xfrm>
            <a:off x="9705441" y="3634740"/>
            <a:ext cx="193487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Retiring 1 December 2026</a:t>
            </a:r>
          </a:p>
        </p:txBody>
      </p:sp>
      <p:cxnSp>
        <p:nvCxnSpPr>
          <p:cNvPr id="62" name="Connector 61"/>
          <p:cNvCxnSpPr/>
          <p:nvPr/>
        </p:nvCxnSpPr>
        <p:spPr>
          <a:xfrm>
            <a:off x="8607978" y="1901952"/>
            <a:ext cx="0" cy="21031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577425" y="1901952"/>
            <a:ext cx="0" cy="21031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6345936" y="4206240"/>
            <a:ext cx="5385816" cy="1188720"/>
          </a:xfrm>
          <a:prstGeom prst="rect">
            <a:avLst/>
          </a:prstGeom>
          <a:solidFill>
            <a:srgbClr val="F6F8FD"/>
          </a:solidFill>
          <a:ln w="9525">
            <a:solidFill>
              <a:srgbClr val="E1E7F4"/>
            </a:solidFill>
          </a:ln>
          <a:effectLst/>
        </p:spPr>
        <p:txBody>
          <a:bodyPr wrap="square" rtlCol="0" anchor="ctr"/>
          <a:lstStyle/>
          <a:p>
            <a:endParaRPr/>
          </a:p>
        </p:txBody>
      </p:sp>
      <p:sp>
        <p:nvSpPr>
          <p:cNvPr id="65" name="Rectangle 64"/>
          <p:cNvSpPr/>
          <p:nvPr/>
        </p:nvSpPr>
        <p:spPr>
          <a:xfrm>
            <a:off x="6345936" y="4206240"/>
            <a:ext cx="41148" cy="1188720"/>
          </a:xfrm>
          <a:prstGeom prst="rect">
            <a:avLst/>
          </a:prstGeom>
          <a:solidFill>
            <a:srgbClr val="00B39F"/>
          </a:solidFill>
          <a:ln>
            <a:noFill/>
          </a:ln>
          <a:effectLst/>
        </p:spPr>
        <p:txBody>
          <a:bodyPr wrap="square" rtlCol="0" anchor="ctr"/>
          <a:lstStyle/>
          <a:p>
            <a:endParaRPr/>
          </a:p>
        </p:txBody>
      </p:sp>
      <p:sp>
        <p:nvSpPr>
          <p:cNvPr id="66" name="TextBox 65"/>
          <p:cNvSpPr txBox="1"/>
          <p:nvPr/>
        </p:nvSpPr>
        <p:spPr>
          <a:xfrm>
            <a:off x="6547104" y="4334256"/>
            <a:ext cx="4983480" cy="164592"/>
          </a:xfrm>
          <a:prstGeom prst="rect">
            <a:avLst/>
          </a:prstGeom>
          <a:noFill/>
        </p:spPr>
        <p:txBody>
          <a:bodyPr wrap="square" lIns="0" tIns="0" rIns="0" bIns="0" anchor="t">
            <a:spAutoFit/>
          </a:bodyPr>
          <a:lstStyle/>
          <a:p>
            <a:pPr algn="l">
              <a:lnSpc>
                <a:spcPct val="100000"/>
              </a:lnSpc>
            </a:pPr>
            <a:r>
              <a:rPr sz="750" b="1" i="0" spc="110" dirty="0">
                <a:solidFill>
                  <a:srgbClr val="008173"/>
                </a:solidFill>
                <a:latin typeface="Segoe UI"/>
                <a:cs typeface="Segoe UI"/>
              </a:rPr>
              <a:t>TWO ITEMS TO VERIFY BEFORE DEVELOPMENT</a:t>
            </a:r>
          </a:p>
        </p:txBody>
      </p:sp>
      <p:sp>
        <p:nvSpPr>
          <p:cNvPr id="67" name="TextBox 66"/>
          <p:cNvSpPr txBox="1"/>
          <p:nvPr/>
        </p:nvSpPr>
        <p:spPr>
          <a:xfrm>
            <a:off x="6547104" y="4553712"/>
            <a:ext cx="4983480" cy="786384"/>
          </a:xfrm>
          <a:prstGeom prst="rect">
            <a:avLst/>
          </a:prstGeom>
          <a:noFill/>
        </p:spPr>
        <p:txBody>
          <a:bodyPr wrap="square" lIns="0" tIns="0" rIns="0" bIns="0" anchor="t">
            <a:spAutoFit/>
          </a:bodyPr>
          <a:lstStyle/>
          <a:p>
            <a:pPr algn="l">
              <a:lnSpc>
                <a:spcPct val="120000"/>
              </a:lnSpc>
            </a:pPr>
            <a:r>
              <a:rPr sz="800" b="0" i="0" dirty="0">
                <a:solidFill>
                  <a:srgbClr val="44495B"/>
                </a:solidFill>
                <a:latin typeface="Segoe UI"/>
                <a:cs typeface="Segoe UI"/>
              </a:rPr>
              <a:t>Published samples and the Azure Developer CLI toolbox flow continue to create the preview a2a_preview tool at protocol version 0.3, while the documentation directs new development to the generally available a2a tool at version 1.0. A request that does not state a protocol version is served version 0.3 by default.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REFERENCES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Sources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All content verified against these pages on 17 September 2026</a:t>
            </a:r>
          </a:p>
        </p:txBody>
      </p:sp>
      <p:sp>
        <p:nvSpPr>
          <p:cNvPr id="5" name="TextBox 4"/>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Agent2Agent (A2A) · September 2026 · 21</a:t>
            </a:r>
          </a:p>
        </p:txBody>
      </p:sp>
      <p:sp>
        <p:nvSpPr>
          <p:cNvPr id="6" name="TextBox 5"/>
          <p:cNvSpPr txBox="1"/>
          <p:nvPr/>
        </p:nvSpPr>
        <p:spPr>
          <a:xfrm>
            <a:off x="457200" y="1353312"/>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SPECIFICATION AND PROTOCOL</a:t>
            </a:r>
          </a:p>
        </p:txBody>
      </p:sp>
      <p:sp>
        <p:nvSpPr>
          <p:cNvPr id="7" name="TextBox 6"/>
          <p:cNvSpPr txBox="1"/>
          <p:nvPr/>
        </p:nvSpPr>
        <p:spPr>
          <a:xfrm>
            <a:off x="457200" y="1627632"/>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Specification</a:t>
            </a:r>
          </a:p>
        </p:txBody>
      </p:sp>
      <p:sp>
        <p:nvSpPr>
          <p:cNvPr id="8" name="TextBox 7"/>
          <p:cNvSpPr txBox="1"/>
          <p:nvPr/>
        </p:nvSpPr>
        <p:spPr>
          <a:xfrm>
            <a:off x="457200" y="1810512"/>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a2a-protocol.org/latest/specification</a:t>
            </a:r>
          </a:p>
        </p:txBody>
      </p:sp>
      <p:cxnSp>
        <p:nvCxnSpPr>
          <p:cNvPr id="9" name="Connector 8"/>
          <p:cNvCxnSpPr/>
          <p:nvPr/>
        </p:nvCxnSpPr>
        <p:spPr>
          <a:xfrm>
            <a:off x="457200" y="2048256"/>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2139696"/>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Protocol overview</a:t>
            </a:r>
          </a:p>
        </p:txBody>
      </p:sp>
      <p:sp>
        <p:nvSpPr>
          <p:cNvPr id="11" name="TextBox 10"/>
          <p:cNvSpPr txBox="1"/>
          <p:nvPr/>
        </p:nvSpPr>
        <p:spPr>
          <a:xfrm>
            <a:off x="457200" y="2322576"/>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a2a-protocol.org/latest/topics/what-is-a2a</a:t>
            </a:r>
          </a:p>
        </p:txBody>
      </p:sp>
      <p:cxnSp>
        <p:nvCxnSpPr>
          <p:cNvPr id="12" name="Connector 11"/>
          <p:cNvCxnSpPr/>
          <p:nvPr/>
        </p:nvCxnSpPr>
        <p:spPr>
          <a:xfrm>
            <a:off x="457200" y="2560320"/>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2651760"/>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A2A and the Model Context Protocol</a:t>
            </a:r>
          </a:p>
        </p:txBody>
      </p:sp>
      <p:sp>
        <p:nvSpPr>
          <p:cNvPr id="14" name="TextBox 13"/>
          <p:cNvSpPr txBox="1"/>
          <p:nvPr/>
        </p:nvSpPr>
        <p:spPr>
          <a:xfrm>
            <a:off x="457200" y="2834640"/>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a2a-protocol.org/latest/topics/a2a-and-mcp</a:t>
            </a:r>
          </a:p>
        </p:txBody>
      </p:sp>
      <p:cxnSp>
        <p:nvCxnSpPr>
          <p:cNvPr id="15" name="Connector 14"/>
          <p:cNvCxnSpPr/>
          <p:nvPr/>
        </p:nvCxnSpPr>
        <p:spPr>
          <a:xfrm>
            <a:off x="457200" y="3072384"/>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3163824"/>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Task lifecycle</a:t>
            </a:r>
          </a:p>
        </p:txBody>
      </p:sp>
      <p:sp>
        <p:nvSpPr>
          <p:cNvPr id="17" name="TextBox 16"/>
          <p:cNvSpPr txBox="1"/>
          <p:nvPr/>
        </p:nvSpPr>
        <p:spPr>
          <a:xfrm>
            <a:off x="457200" y="3346704"/>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a2a-protocol.org/latest/topics/life-of-a-task</a:t>
            </a:r>
          </a:p>
        </p:txBody>
      </p:sp>
      <p:cxnSp>
        <p:nvCxnSpPr>
          <p:cNvPr id="18" name="Connector 17"/>
          <p:cNvCxnSpPr/>
          <p:nvPr/>
        </p:nvCxnSpPr>
        <p:spPr>
          <a:xfrm>
            <a:off x="457200" y="3584448"/>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3675887"/>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Agent discovery</a:t>
            </a:r>
          </a:p>
        </p:txBody>
      </p:sp>
      <p:sp>
        <p:nvSpPr>
          <p:cNvPr id="20" name="TextBox 19"/>
          <p:cNvSpPr txBox="1"/>
          <p:nvPr/>
        </p:nvSpPr>
        <p:spPr>
          <a:xfrm>
            <a:off x="457200" y="3858768"/>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a2a-protocol.org/latest/topics/agent-discovery</a:t>
            </a:r>
          </a:p>
        </p:txBody>
      </p:sp>
      <p:cxnSp>
        <p:nvCxnSpPr>
          <p:cNvPr id="21" name="Connector 20"/>
          <p:cNvCxnSpPr/>
          <p:nvPr/>
        </p:nvCxnSpPr>
        <p:spPr>
          <a:xfrm>
            <a:off x="457200" y="4096511"/>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4187952"/>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Streaming and asynchronous delivery</a:t>
            </a:r>
          </a:p>
        </p:txBody>
      </p:sp>
      <p:sp>
        <p:nvSpPr>
          <p:cNvPr id="23" name="TextBox 22"/>
          <p:cNvSpPr txBox="1"/>
          <p:nvPr/>
        </p:nvSpPr>
        <p:spPr>
          <a:xfrm>
            <a:off x="457200" y="4370832"/>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a2a-protocol.org/latest/topics/streaming-and-async</a:t>
            </a:r>
          </a:p>
        </p:txBody>
      </p:sp>
      <p:cxnSp>
        <p:nvCxnSpPr>
          <p:cNvPr id="24" name="Connector 23"/>
          <p:cNvCxnSpPr/>
          <p:nvPr/>
        </p:nvCxnSpPr>
        <p:spPr>
          <a:xfrm>
            <a:off x="457200" y="4608576"/>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 y="4700016"/>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Enterprise considerations</a:t>
            </a:r>
          </a:p>
        </p:txBody>
      </p:sp>
      <p:sp>
        <p:nvSpPr>
          <p:cNvPr id="26" name="TextBox 25"/>
          <p:cNvSpPr txBox="1"/>
          <p:nvPr/>
        </p:nvSpPr>
        <p:spPr>
          <a:xfrm>
            <a:off x="457200" y="4882896"/>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a2a-protocol.org/latest/topics/enterprise-ready</a:t>
            </a:r>
          </a:p>
        </p:txBody>
      </p:sp>
      <p:cxnSp>
        <p:nvCxnSpPr>
          <p:cNvPr id="27" name="Connector 26"/>
          <p:cNvCxnSpPr/>
          <p:nvPr/>
        </p:nvCxnSpPr>
        <p:spPr>
          <a:xfrm>
            <a:off x="457200" y="5120640"/>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5212080"/>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Normative data model and releases</a:t>
            </a:r>
          </a:p>
        </p:txBody>
      </p:sp>
      <p:sp>
        <p:nvSpPr>
          <p:cNvPr id="29" name="TextBox 28"/>
          <p:cNvSpPr txBox="1"/>
          <p:nvPr/>
        </p:nvSpPr>
        <p:spPr>
          <a:xfrm>
            <a:off x="457200" y="5394960"/>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github.com/a2aproject/A2A</a:t>
            </a:r>
          </a:p>
        </p:txBody>
      </p:sp>
      <p:cxnSp>
        <p:nvCxnSpPr>
          <p:cNvPr id="30" name="Connector 29"/>
          <p:cNvCxnSpPr/>
          <p:nvPr/>
        </p:nvCxnSpPr>
        <p:spPr>
          <a:xfrm>
            <a:off x="457200" y="5632704"/>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345936" y="1353312"/>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MICROSOFT FOUNDRY AND AGENT FRAMEWORK</a:t>
            </a:r>
          </a:p>
        </p:txBody>
      </p:sp>
      <p:sp>
        <p:nvSpPr>
          <p:cNvPr id="32" name="TextBox 31"/>
          <p:cNvSpPr txBox="1"/>
          <p:nvPr/>
        </p:nvSpPr>
        <p:spPr>
          <a:xfrm>
            <a:off x="6345936" y="1627632"/>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A2A tool</a:t>
            </a:r>
          </a:p>
        </p:txBody>
      </p:sp>
      <p:sp>
        <p:nvSpPr>
          <p:cNvPr id="33" name="TextBox 32"/>
          <p:cNvSpPr txBox="1"/>
          <p:nvPr/>
        </p:nvSpPr>
        <p:spPr>
          <a:xfrm>
            <a:off x="6345936" y="1810512"/>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learn.microsoft.com/azure/foundry/agents/how-to/tools/agent-to-agent</a:t>
            </a:r>
          </a:p>
        </p:txBody>
      </p:sp>
      <p:cxnSp>
        <p:nvCxnSpPr>
          <p:cNvPr id="34" name="Connector 33"/>
          <p:cNvCxnSpPr/>
          <p:nvPr/>
        </p:nvCxnSpPr>
        <p:spPr>
          <a:xfrm>
            <a:off x="6345936" y="2048256"/>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345936" y="2139696"/>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Inbound A2A endpoint</a:t>
            </a:r>
          </a:p>
        </p:txBody>
      </p:sp>
      <p:sp>
        <p:nvSpPr>
          <p:cNvPr id="36" name="TextBox 35"/>
          <p:cNvSpPr txBox="1"/>
          <p:nvPr/>
        </p:nvSpPr>
        <p:spPr>
          <a:xfrm>
            <a:off x="6345936" y="2322576"/>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learn.microsoft.com/azure/foundry/agents/how-to/enable-agent-to-agent-endpoint</a:t>
            </a:r>
          </a:p>
        </p:txBody>
      </p:sp>
      <p:cxnSp>
        <p:nvCxnSpPr>
          <p:cNvPr id="37" name="Connector 36"/>
          <p:cNvCxnSpPr/>
          <p:nvPr/>
        </p:nvCxnSpPr>
        <p:spPr>
          <a:xfrm>
            <a:off x="6345936" y="2560320"/>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345936" y="2651760"/>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A2A authentication</a:t>
            </a:r>
          </a:p>
        </p:txBody>
      </p:sp>
      <p:sp>
        <p:nvSpPr>
          <p:cNvPr id="39" name="TextBox 38"/>
          <p:cNvSpPr txBox="1"/>
          <p:nvPr/>
        </p:nvSpPr>
        <p:spPr>
          <a:xfrm>
            <a:off x="6345936" y="2834640"/>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learn.microsoft.com/azure/foundry/agents/concepts/agent-to-agent-authentication</a:t>
            </a:r>
          </a:p>
        </p:txBody>
      </p:sp>
      <p:cxnSp>
        <p:nvCxnSpPr>
          <p:cNvPr id="40" name="Connector 39"/>
          <p:cNvCxnSpPr/>
          <p:nvPr/>
        </p:nvCxnSpPr>
        <p:spPr>
          <a:xfrm>
            <a:off x="6345936" y="3072384"/>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45936" y="3163824"/>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Migration to the new Agent Service</a:t>
            </a:r>
          </a:p>
        </p:txBody>
      </p:sp>
      <p:sp>
        <p:nvSpPr>
          <p:cNvPr id="42" name="TextBox 41"/>
          <p:cNvSpPr txBox="1"/>
          <p:nvPr/>
        </p:nvSpPr>
        <p:spPr>
          <a:xfrm>
            <a:off x="6345936" y="3346704"/>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learn.microsoft.com/azure/foundry/agents/how-to/migrate</a:t>
            </a:r>
          </a:p>
        </p:txBody>
      </p:sp>
      <p:cxnSp>
        <p:nvCxnSpPr>
          <p:cNvPr id="43" name="Connector 42"/>
          <p:cNvCxnSpPr/>
          <p:nvPr/>
        </p:nvCxnSpPr>
        <p:spPr>
          <a:xfrm>
            <a:off x="6345936" y="3584448"/>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345936" y="3675887"/>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Workflows and mechanism selection</a:t>
            </a:r>
          </a:p>
        </p:txBody>
      </p:sp>
      <p:sp>
        <p:nvSpPr>
          <p:cNvPr id="45" name="TextBox 44"/>
          <p:cNvSpPr txBox="1"/>
          <p:nvPr/>
        </p:nvSpPr>
        <p:spPr>
          <a:xfrm>
            <a:off x="6345936" y="3858768"/>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learn.microsoft.com/azure/foundry/agents/concepts/workflow</a:t>
            </a:r>
          </a:p>
        </p:txBody>
      </p:sp>
      <p:cxnSp>
        <p:nvCxnSpPr>
          <p:cNvPr id="46" name="Connector 45"/>
          <p:cNvCxnSpPr/>
          <p:nvPr/>
        </p:nvCxnSpPr>
        <p:spPr>
          <a:xfrm>
            <a:off x="6345936" y="4096511"/>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345936" y="4187952"/>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Limits, quotas and regions</a:t>
            </a:r>
          </a:p>
        </p:txBody>
      </p:sp>
      <p:sp>
        <p:nvSpPr>
          <p:cNvPr id="48" name="TextBox 47"/>
          <p:cNvSpPr txBox="1"/>
          <p:nvPr/>
        </p:nvSpPr>
        <p:spPr>
          <a:xfrm>
            <a:off x="6345936" y="4370832"/>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learn.microsoft.com/azure/foundry/agents/concepts/limits-quotas-regions</a:t>
            </a:r>
          </a:p>
        </p:txBody>
      </p:sp>
      <p:cxnSp>
        <p:nvCxnSpPr>
          <p:cNvPr id="49" name="Connector 48"/>
          <p:cNvCxnSpPr/>
          <p:nvPr/>
        </p:nvCxnSpPr>
        <p:spPr>
          <a:xfrm>
            <a:off x="6345936" y="4608576"/>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345936" y="4700016"/>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Agent Framework A2A integration</a:t>
            </a:r>
          </a:p>
        </p:txBody>
      </p:sp>
      <p:sp>
        <p:nvSpPr>
          <p:cNvPr id="51" name="TextBox 50"/>
          <p:cNvSpPr txBox="1"/>
          <p:nvPr/>
        </p:nvSpPr>
        <p:spPr>
          <a:xfrm>
            <a:off x="6345936" y="4882896"/>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learn.microsoft.com/agent-framework/integrations/by-component/agent-services/a2a</a:t>
            </a:r>
          </a:p>
        </p:txBody>
      </p:sp>
      <p:cxnSp>
        <p:nvCxnSpPr>
          <p:cNvPr id="52" name="Connector 51"/>
          <p:cNvCxnSpPr/>
          <p:nvPr/>
        </p:nvCxnSpPr>
        <p:spPr>
          <a:xfrm>
            <a:off x="6345936" y="5120640"/>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345936" y="5212080"/>
            <a:ext cx="539496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Delegation reference sample</a:t>
            </a:r>
          </a:p>
        </p:txBody>
      </p:sp>
      <p:sp>
        <p:nvSpPr>
          <p:cNvPr id="54" name="TextBox 53"/>
          <p:cNvSpPr txBox="1"/>
          <p:nvPr/>
        </p:nvSpPr>
        <p:spPr>
          <a:xfrm>
            <a:off x="6345936" y="5394960"/>
            <a:ext cx="5394960" cy="164592"/>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github.com/microsoft-foundry/foundry-samples</a:t>
            </a:r>
          </a:p>
        </p:txBody>
      </p:sp>
      <p:cxnSp>
        <p:nvCxnSpPr>
          <p:cNvPr id="55" name="Connector 54"/>
          <p:cNvCxnSpPr/>
          <p:nvPr/>
        </p:nvCxnSpPr>
        <p:spPr>
          <a:xfrm>
            <a:off x="6345936" y="5632704"/>
            <a:ext cx="5394960"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10012</Words>
  <Application>Microsoft Office PowerPoint</Application>
  <PresentationFormat>Widescreen</PresentationFormat>
  <Paragraphs>854</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2</cp:revision>
  <dcterms:created xsi:type="dcterms:W3CDTF">2013-01-27T09:14:16Z</dcterms:created>
  <dcterms:modified xsi:type="dcterms:W3CDTF">2026-10-11T09:31:05Z</dcterms:modified>
  <cp:category/>
</cp:coreProperties>
</file>